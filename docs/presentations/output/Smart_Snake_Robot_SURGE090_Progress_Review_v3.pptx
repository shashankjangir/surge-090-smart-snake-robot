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 id="324" r:id="rId17"/>
    <p:sldId id="256" r:id="rId18"/>
    <p:sldId id="257" r:id="rId19"/>
    <p:sldId id="325" r:id="rId20"/>
    <p:sldId id="326" r:id="rId21"/>
    <p:sldId id="260" r:id="rId22"/>
    <p:sldId id="261" r:id="rId23"/>
    <p:sldId id="327" r:id="rId24"/>
    <p:sldId id="263" r:id="rId25"/>
    <p:sldId id="264" r:id="rId26"/>
    <p:sldId id="265" r:id="rId27"/>
    <p:sldId id="266" r:id="rId28"/>
    <p:sldId id="267" r:id="rId29"/>
    <p:sldId id="328"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varScale="1">
        <p:scale>
          <a:sx n="90" d="100"/>
          <a:sy n="90" d="100"/>
        </p:scale>
        <p:origin x="33" y="1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saying the deck up to this point is unchanged from the 25 percent review and is being left that way deliberately - those slides are a record of what we believed then, not a claim about now. Then walk the register top to bottom. It takes about forty seconds and it pre-empts every 'but slide 10 says' interruption in the second half. Say the honest version of the pivot out loud: this was a procurement failure, not an engineering preference, and a re-architecture under a supply constraint is a legitimate result. The follow-up question a reviewer asks is 'where is your torque budget' - it is slide 23, and it did not exist at the 25 percent review.</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92188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6688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46003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7174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58108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187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60253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398777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17257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3879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46953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project repository, current README and firmware notes. Gen 2 operation reported by project team. Simulation illustrations are not physical measurements.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38225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https://github.com/shashankjangir/SurGe-090-Smart-snake-robot. Supervisor: Prof. Amartansh Dubey. Slide 29 continues the roadmap referenced on slide 16.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34284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4068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5.xml.rels><?xml version="1.0" encoding="UTF-8" standalone="yes"?>
<Relationships xmlns="http://schemas.openxmlformats.org/package/2006/relationships"><Relationship Id="rId3" Type="http://schemas.openxmlformats.org/officeDocument/2006/relationships/image" Target="../media/image47.svg"/><Relationship Id="rId7" Type="http://schemas.openxmlformats.org/officeDocument/2006/relationships/image" Target="../media/image51.svg"/><Relationship Id="rId2" Type="http://schemas.openxmlformats.org/officeDocument/2006/relationships/image" Target="../media/image46.svg"/><Relationship Id="rId1" Type="http://schemas.openxmlformats.org/officeDocument/2006/relationships/slideLayout" Target="../slideLayouts/slideLayout1.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fontScale="77500" lnSpcReduction="20000"/>
          </a:bodyPr>
          <a:lstStyle/>
          <a:p>
            <a:r>
              <a:rPr lang="en-US" sz="1000" u="sng" dirty="0">
                <a:solidFill>
                  <a:srgbClr val="FFFFFF"/>
                </a:solidFill>
                <a:latin typeface="Calibri" pitchFamily="34" charset="0"/>
              </a:rPr>
              <a:t>https://github.com/shashankjangir/SurGe-090-Smart-snake-robot</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3" name="ImgFrame">
            <a:extLst>
              <a:ext uri="{FF2B5EF4-FFF2-40B4-BE49-F238E27FC236}">
                <a16:creationId xmlns:a16="http://schemas.microsoft.com/office/drawing/2014/main" id="{4BAB2F69-E5D7-47C1-A740-AD4ADA6781C8}"/>
              </a:ext>
            </a:extLst>
          </p:cNvPr>
          <p:cNvSpPr/>
          <p:nvPr/>
        </p:nvSpPr>
        <p:spPr>
          <a:xfrm>
            <a:off x="520700" y="1257300"/>
            <a:ext cx="6375400" cy="4800600"/>
          </a:xfrm>
          <a:prstGeom prst="rect">
            <a:avLst/>
          </a:prstGeom>
          <a:no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EAF7FA"/>
          </a:solid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solidFill>
          <a:ln w="9525">
            <a:solidFill>
              <a:srgbClr val="D0D7E5"/>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solidFill>
          <a:ln w="9525">
            <a:solidFill>
              <a:srgbClr val="D0D7E5"/>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solidFill>
          <a:ln w="9525">
            <a:solidFill>
              <a:srgbClr val="D0D7E5"/>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solidFill>
          <a:ln w="9525">
            <a:solidFill>
              <a:srgbClr val="D0D7E5"/>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solidFill>
          <a:ln w="9525">
            <a:solidFill>
              <a:srgbClr val="D0D7E5"/>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solidFill>
          <a:ln w="9525">
            <a:solidFill>
              <a:srgbClr val="D0D7E5"/>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7F9FC"/>
          </a:solidFill>
          <a:ln w="9525">
            <a:solidFill>
              <a:srgbClr val="D0D7E5"/>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EAF7FA"/>
          </a:solidFill>
          <a:ln w="19050">
            <a:solidFill>
              <a:srgbClr val="0E96AC"/>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WHAT CHANGED SINCE THIS REVIEW</a:t>
            </a:r>
            <a:endParaRPr lang="en-US" sz="1200" dirty="0"/>
          </a:p>
        </p:txBody>
      </p:sp>
      <p:sp>
        <p:nvSpPr>
          <p:cNvPr id="7" name="Text 5"/>
          <p:cNvSpPr/>
          <p:nvPr/>
        </p:nvSpPr>
        <p:spPr>
          <a:xfrm>
            <a:off x="777240" y="1170432"/>
            <a:ext cx="10881360" cy="9144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Generation 2 — Corrections &amp; Cause</a:t>
            </a:r>
            <a:endParaRPr lang="en-US" sz="5200" dirty="0"/>
          </a:p>
        </p:txBody>
      </p:sp>
      <p:sp>
        <p:nvSpPr>
          <p:cNvPr id="8" name="Text 6"/>
          <p:cNvSpPr/>
          <p:nvPr/>
        </p:nvSpPr>
        <p:spPr>
          <a:xfrm>
            <a:off x="804672" y="1938528"/>
            <a:ext cx="10881360" cy="457200"/>
          </a:xfrm>
          <a:prstGeom prst="rect">
            <a:avLst/>
          </a:prstGeom>
          <a:noFill/>
          <a:ln/>
        </p:spPr>
        <p:txBody>
          <a:bodyPr wrap="square" lIns="0" tIns="0" rIns="0" bIns="0" rtlCol="0" anchor="ctr"/>
          <a:lstStyle/>
          <a:p>
            <a:pPr marL="0" indent="0">
              <a:buNone/>
            </a:pPr>
            <a:r>
              <a:rPr lang="en-US" sz="1300" dirty="0">
                <a:solidFill>
                  <a:srgbClr val="2BD4E8"/>
                </a:solidFill>
                <a:latin typeface="Calibri" pitchFamily="34" charset="0"/>
                <a:ea typeface="Calibri" pitchFamily="34" charset="-122"/>
                <a:cs typeface="Calibri" pitchFamily="34" charset="-120"/>
              </a:rPr>
              <a:t>This slide records what has since been superseded.</a:t>
            </a:r>
            <a:endParaRPr lang="en-US" sz="2400" dirty="0"/>
          </a:p>
        </p:txBody>
      </p:sp>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Constraint</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WHAT HAPPENED</a:t>
            </a:r>
            <a:endParaRPr lang="en-US" sz="900" dirty="0"/>
          </a:p>
        </p:txBody>
      </p:sp>
      <p:sp>
        <p:nvSpPr>
          <p:cNvPr id="22" name="Text 19"/>
          <p:cNvSpPr/>
          <p:nvPr/>
        </p:nvSpPr>
        <p:spPr>
          <a:xfrm>
            <a:off x="978408"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2 of 10 XL330 received, then the part vanished</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Six-week stall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IMPACT</a:t>
            </a:r>
            <a:endParaRPr lang="en-US" sz="900" dirty="0"/>
          </a:p>
        </p:txBody>
      </p:sp>
      <p:sp>
        <p:nvSpPr>
          <p:cNvPr id="27" name="Text 24"/>
          <p:cNvSpPr/>
          <p:nvPr/>
        </p:nvSpPr>
        <p:spPr>
          <a:xfrm>
            <a:off x="3849624"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Control stack written against absent hardware</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Re-architecture</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COMMIT a32b675 · 2026-08-20</a:t>
            </a:r>
            <a:endParaRPr lang="en-US" sz="900" dirty="0"/>
          </a:p>
        </p:txBody>
      </p:sp>
      <p:sp>
        <p:nvSpPr>
          <p:cNvPr id="32" name="Text 29"/>
          <p:cNvSpPr/>
          <p:nvPr/>
        </p:nvSpPr>
        <p:spPr>
          <a:xfrm>
            <a:off x="6720840"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“No dynamixel in the market. So switched to Servos”</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3"/>
          <a:stretch>
            <a:fillRect/>
          </a:stretch>
        </p:blipFill>
        <p:spPr>
          <a:xfrm>
            <a:off x="10652760" y="159317"/>
            <a:ext cx="762000" cy="762000"/>
          </a:xfrm>
          <a:prstGeom prst="rect">
            <a:avLst/>
          </a:prstGeom>
        </p:spPr>
      </p:pic>
      <p:graphicFrame>
        <p:nvGraphicFramePr>
          <p:cNvPr id="33" name="CorrectionsRegister"/>
          <p:cNvGraphicFramePr>
            <a:graphicFrameLocks noGrp="1"/>
          </p:cNvGraphicFramePr>
          <p:nvPr>
            <p:extLst>
              <p:ext uri="{D42A27DB-BD31-4B8C-83A1-F6EECF244321}">
                <p14:modId xmlns:p14="http://schemas.microsoft.com/office/powerpoint/2010/main" val="1743092344"/>
              </p:ext>
            </p:extLst>
          </p:nvPr>
        </p:nvGraphicFramePr>
        <p:xfrm>
          <a:off x="530352" y="2432304"/>
          <a:ext cx="11128247" cy="2249424"/>
        </p:xfrm>
        <a:graphic>
          <a:graphicData uri="http://schemas.openxmlformats.org/drawingml/2006/table">
            <a:tbl>
              <a:tblPr>
                <a:tableStyleId>{5C22544A-7EE6-4342-B048-85BDC9FD1C3A}</a:tableStyleId>
              </a:tblPr>
              <a:tblGrid>
                <a:gridCol w="189992">
                  <a:extLst>
                    <a:ext uri="{9D8B030D-6E8A-4147-A177-3AD203B41FA5}">
                      <a16:colId xmlns:a16="http://schemas.microsoft.com/office/drawing/2014/main" val="20000"/>
                    </a:ext>
                  </a:extLst>
                </a:gridCol>
                <a:gridCol w="4747768">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tblGrid>
              <a:tr h="566928">
                <a:tc>
                  <a:txBody>
                    <a:bodyPr/>
                    <a:lstStyle/>
                    <a:p>
                      <a:endParaRPr sz="1000" b="1" dirty="0">
                        <a:solidFill>
                          <a:srgbClr val="0E96AC"/>
                        </a:solidFill>
                        <a:latin typeface="Calibri"/>
                      </a:endParaRPr>
                    </a:p>
                  </a:txBody>
                  <a:tcPr marR="73152" marT="36576" marB="36576">
                    <a:solidFill>
                      <a:srgbClr val="1A2440"/>
                    </a:solidFill>
                  </a:tcPr>
                </a:tc>
                <a:tc>
                  <a:txBody>
                    <a:bodyPr/>
                    <a:lstStyle/>
                    <a:p>
                      <a:r>
                        <a:rPr sz="1000" b="1">
                          <a:solidFill>
                            <a:srgbClr val="0E96AC"/>
                          </a:solidFill>
                          <a:latin typeface="Calibri"/>
                        </a:rPr>
                        <a:t>THAT DECK SAID</a:t>
                      </a:r>
                    </a:p>
                  </a:txBody>
                  <a:tcPr marR="73152" marT="36576" marB="36576">
                    <a:solidFill>
                      <a:srgbClr val="1A2440"/>
                    </a:solidFill>
                  </a:tcPr>
                </a:tc>
                <a:tc>
                  <a:txBody>
                    <a:bodyPr/>
                    <a:lstStyle/>
                    <a:p>
                      <a:r>
                        <a:rPr sz="1000" b="1">
                          <a:solidFill>
                            <a:srgbClr val="0E96AC"/>
                          </a:solidFill>
                          <a:latin typeface="Calibri"/>
                        </a:rPr>
                        <a:t>TODAY</a:t>
                      </a:r>
                    </a:p>
                  </a:txBody>
                  <a:tcPr marR="73152" marT="36576" marB="36576">
                    <a:solidFill>
                      <a:srgbClr val="1A2440"/>
                    </a:solidFill>
                  </a:tcPr>
                </a:tc>
                <a:tc>
                  <a:txBody>
                    <a:bodyPr/>
                    <a:lstStyle/>
                    <a:p>
                      <a:r>
                        <a:rPr sz="1000" b="1">
                          <a:solidFill>
                            <a:srgbClr val="0E96AC"/>
                          </a:solidFill>
                          <a:latin typeface="Calibri"/>
                        </a:rPr>
                        <a:t>WHY</a:t>
                      </a:r>
                    </a:p>
                  </a:txBody>
                  <a:tcPr marR="73152" marT="36576" marB="36576">
                    <a:solidFill>
                      <a:srgbClr val="1A2440"/>
                    </a:solidFill>
                  </a:tcPr>
                </a:tc>
                <a:extLst>
                  <a:ext uri="{0D108BD9-81ED-4DB2-BD59-A6C34878D82A}">
                    <a16:rowId xmlns:a16="http://schemas.microsoft.com/office/drawing/2014/main" val="10000"/>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XL330 · U2D2 · Power Hub — “ORDERED, AWAITING DELIVERY”</a:t>
                      </a:r>
                    </a:p>
                  </a:txBody>
                  <a:tcPr marR="73152" marT="36576" marB="36576">
                    <a:solidFill>
                      <a:srgbClr val="16223A"/>
                    </a:solidFill>
                  </a:tcPr>
                </a:tc>
                <a:tc>
                  <a:txBody>
                    <a:bodyPr/>
                    <a:lstStyle/>
                    <a:p>
                      <a:r>
                        <a:rPr sz="950" b="1">
                          <a:solidFill>
                            <a:srgbClr val="E2E8F0"/>
                          </a:solidFill>
                          <a:latin typeface="Calibri"/>
                        </a:rPr>
                        <a:t>Order cancelled. 10× ST3215 + Waveshare ESP32 driver in hand</a:t>
                      </a:r>
                    </a:p>
                  </a:txBody>
                  <a:tcPr marR="73152" marT="36576" marB="36576">
                    <a:solidFill>
                      <a:srgbClr val="16223A"/>
                    </a:solidFill>
                  </a:tcPr>
                </a:tc>
                <a:tc>
                  <a:txBody>
                    <a:bodyPr/>
                    <a:lstStyle/>
                    <a:p>
                      <a:r>
                        <a:rPr sz="950" b="0">
                          <a:solidFill>
                            <a:srgbClr val="6B7890"/>
                          </a:solidFill>
                          <a:latin typeface="Calibri"/>
                        </a:rPr>
                        <a:t>Part unobtainable in India</a:t>
                      </a:r>
                    </a:p>
                  </a:txBody>
                  <a:tcPr marR="73152" marT="36576" marB="36576">
                    <a:solidFill>
                      <a:srgbClr val="16223A"/>
                    </a:solidFill>
                  </a:tcPr>
                </a:tc>
                <a:extLst>
                  <a:ext uri="{0D108BD9-81ED-4DB2-BD59-A6C34878D82A}">
                    <a16:rowId xmlns:a16="http://schemas.microsoft.com/office/drawing/2014/main" val="10001"/>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“Eight Phases · Currently at 25%”</a:t>
                      </a:r>
                    </a:p>
                  </a:txBody>
                  <a:tcPr marR="73152" marT="36576" marB="36576">
                    <a:solidFill>
                      <a:srgbClr val="16223A"/>
                    </a:solidFill>
                  </a:tcPr>
                </a:tc>
                <a:tc>
                  <a:txBody>
                    <a:bodyPr/>
                    <a:lstStyle/>
                    <a:p>
                      <a:r>
                        <a:rPr sz="950" b="1">
                          <a:solidFill>
                            <a:srgbClr val="E2E8F0"/>
                          </a:solidFill>
                          <a:latin typeface="Calibri"/>
                        </a:rPr>
                        <a:t>Phase 3 — Fabrication &amp; Assembly</a:t>
                      </a:r>
                    </a:p>
                  </a:txBody>
                  <a:tcPr marR="73152" marT="36576" marB="36576">
                    <a:solidFill>
                      <a:srgbClr val="16223A"/>
                    </a:solidFill>
                  </a:tcPr>
                </a:tc>
                <a:tc>
                  <a:txBody>
                    <a:bodyPr/>
                    <a:lstStyle/>
                    <a:p>
                      <a:r>
                        <a:rPr sz="950" b="0">
                          <a:solidFill>
                            <a:srgbClr val="6B7890"/>
                          </a:solidFill>
                          <a:latin typeface="Calibri"/>
                        </a:rPr>
                        <a:t>Eight weeks of Gen 2 work since</a:t>
                      </a:r>
                    </a:p>
                  </a:txBody>
                  <a:tcPr marR="73152" marT="36576" marB="36576">
                    <a:solidFill>
                      <a:srgbClr val="16223A"/>
                    </a:solidFill>
                  </a:tcPr>
                </a:tc>
                <a:extLst>
                  <a:ext uri="{0D108BD9-81ED-4DB2-BD59-A6C34878D82A}">
                    <a16:rowId xmlns:a16="http://schemas.microsoft.com/office/drawing/2014/main" val="10002"/>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“Prototype fabrication started”</a:t>
                      </a:r>
                    </a:p>
                  </a:txBody>
                  <a:tcPr marR="73152" marT="36576" marB="36576">
                    <a:solidFill>
                      <a:srgbClr val="16223A"/>
                    </a:solidFill>
                  </a:tcPr>
                </a:tc>
                <a:tc>
                  <a:txBody>
                    <a:bodyPr/>
                    <a:lstStyle/>
                    <a:p>
                      <a:r>
                        <a:rPr sz="950" b="1" dirty="0">
                          <a:solidFill>
                            <a:srgbClr val="E2E8F0"/>
                          </a:solidFill>
                          <a:latin typeface="Calibri"/>
                        </a:rPr>
                        <a:t>Gen 1 segments printed; Gen 2 v6</a:t>
                      </a:r>
                      <a:r>
                        <a:rPr lang="en-IN" sz="950" b="1" dirty="0">
                          <a:solidFill>
                            <a:srgbClr val="E2E8F0"/>
                          </a:solidFill>
                          <a:latin typeface="Calibri"/>
                        </a:rPr>
                        <a:t> printed</a:t>
                      </a:r>
                      <a:endParaRPr sz="950" b="1" dirty="0">
                        <a:solidFill>
                          <a:srgbClr val="E2E8F0"/>
                        </a:solidFill>
                        <a:latin typeface="Calibri"/>
                      </a:endParaRPr>
                    </a:p>
                  </a:txBody>
                  <a:tcPr marR="73152" marT="36576" marB="36576">
                    <a:solidFill>
                      <a:srgbClr val="16223A"/>
                    </a:solidFill>
                  </a:tcPr>
                </a:tc>
                <a:tc>
                  <a:txBody>
                    <a:bodyPr/>
                    <a:lstStyle/>
                    <a:p>
                      <a:r>
                        <a:rPr sz="950" b="0" dirty="0">
                          <a:solidFill>
                            <a:srgbClr val="6B7890"/>
                          </a:solidFill>
                          <a:latin typeface="Calibri"/>
                        </a:rPr>
                        <a:t>Design of record changed</a:t>
                      </a:r>
                    </a:p>
                  </a:txBody>
                  <a:tcPr marR="73152" marT="36576" marB="36576">
                    <a:solidFill>
                      <a:srgbClr val="16223A"/>
                    </a:solidFill>
                  </a:tcPr>
                </a:tc>
                <a:extLst>
                  <a:ext uri="{0D108BD9-81ED-4DB2-BD59-A6C34878D82A}">
                    <a16:rowId xmlns:a16="http://schemas.microsoft.com/office/drawing/2014/main" val="10003"/>
                  </a:ext>
                </a:extLst>
              </a:tr>
              <a:tr h="420624">
                <a:tc>
                  <a:txBody>
                    <a:bodyPr/>
                    <a:lstStyle/>
                    <a:p>
                      <a:endParaRPr sz="1400" b="1" dirty="0">
                        <a:solidFill>
                          <a:srgbClr val="2BD4E8"/>
                        </a:solidFill>
                        <a:latin typeface="Calibri"/>
                      </a:endParaRPr>
                    </a:p>
                  </a:txBody>
                  <a:tcPr marR="73152" marT="36576" marB="36576">
                    <a:solidFill>
                      <a:srgbClr val="16223A"/>
                    </a:solidFill>
                  </a:tcPr>
                </a:tc>
                <a:tc>
                  <a:txBody>
                    <a:bodyPr/>
                    <a:lstStyle/>
                    <a:p>
                      <a:r>
                        <a:rPr sz="950" b="0">
                          <a:solidFill>
                            <a:srgbClr val="6B7890"/>
                          </a:solidFill>
                          <a:latin typeface="Calibri"/>
                        </a:rPr>
                        <a:t>Roadmap step 1 — “Receive Dynamixel XL330 motors”</a:t>
                      </a:r>
                    </a:p>
                  </a:txBody>
                  <a:tcPr marR="73152" marT="36576" marB="36576">
                    <a:solidFill>
                      <a:srgbClr val="16223A"/>
                    </a:solidFill>
                  </a:tcPr>
                </a:tc>
                <a:tc>
                  <a:txBody>
                    <a:bodyPr/>
                    <a:lstStyle/>
                    <a:p>
                      <a:r>
                        <a:rPr sz="950" b="1">
                          <a:solidFill>
                            <a:srgbClr val="E2E8F0"/>
                          </a:solidFill>
                          <a:latin typeface="Calibri"/>
                        </a:rPr>
                        <a:t>Superseded — see slide 29</a:t>
                      </a:r>
                    </a:p>
                  </a:txBody>
                  <a:tcPr marR="73152" marT="36576" marB="36576">
                    <a:solidFill>
                      <a:srgbClr val="16223A"/>
                    </a:solidFill>
                  </a:tcPr>
                </a:tc>
                <a:tc>
                  <a:txBody>
                    <a:bodyPr/>
                    <a:lstStyle/>
                    <a:p>
                      <a:r>
                        <a:rPr sz="950" b="0" dirty="0">
                          <a:solidFill>
                            <a:srgbClr val="6B7890"/>
                          </a:solidFill>
                          <a:latin typeface="Calibri"/>
                        </a:rPr>
                        <a:t>Different motors received</a:t>
                      </a:r>
                    </a:p>
                  </a:txBody>
                  <a:tcPr marR="73152" marT="36576" marB="36576">
                    <a:solidFill>
                      <a:srgbClr val="16223A"/>
                    </a:solidFill>
                  </a:tcPr>
                </a:tc>
                <a:extLst>
                  <a:ext uri="{0D108BD9-81ED-4DB2-BD59-A6C34878D82A}">
                    <a16:rowId xmlns:a16="http://schemas.microsoft.com/office/drawing/2014/main" val="10004"/>
                  </a:ext>
                </a:extLst>
              </a:tr>
            </a:tbl>
          </a:graphicData>
        </a:graphic>
      </p:graphicFrame>
      <p:sp>
        <p:nvSpPr>
          <p:cNvPr id="34" name="PivotCallout"/>
          <p:cNvSpPr txBox="1"/>
          <p:nvPr/>
        </p:nvSpPr>
        <p:spPr>
          <a:xfrm>
            <a:off x="777240" y="6345936"/>
            <a:ext cx="10607040" cy="384048"/>
          </a:xfrm>
          <a:prstGeom prst="rect">
            <a:avLst/>
          </a:prstGeom>
          <a:noFill/>
        </p:spPr>
        <p:txBody>
          <a:bodyPr wrap="square">
            <a:spAutoFit/>
          </a:bodyPr>
          <a:lstStyle/>
          <a:p>
            <a:r>
              <a:rPr sz="1050" b="1">
                <a:solidFill>
                  <a:srgbClr val="E8821E"/>
                </a:solidFill>
                <a:latin typeface="Calibri"/>
              </a:rPr>
              <a:t>WHAT IT BOUGHT   </a:t>
            </a:r>
            <a:r>
              <a:rPr sz="1050" b="0">
                <a:solidFill>
                  <a:srgbClr val="E2E8F0"/>
                </a:solidFill>
                <a:latin typeface="Calibri"/>
              </a:rPr>
              <a:t>5.7× joint torque (0.52 → 2.94 N·m)  ·  a 12 V rail  ·  sourceable in India  —  consequences of the switch, not its reason. Torque budget: slide 23.</a:t>
            </a:r>
          </a:p>
        </p:txBody>
      </p:sp>
    </p:spTree>
    <p:extLst>
      <p:ext uri="{BB962C8B-B14F-4D97-AF65-F5344CB8AC3E}">
        <p14:creationId xmlns:p14="http://schemas.microsoft.com/office/powerpoint/2010/main" val="1029810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4" name="text-1">
            <a:extLst>
              <a:ext uri="{FF2B5EF4-FFF2-40B4-BE49-F238E27FC236}">
                <a16:creationId xmlns:a16="http://schemas.microsoft.com/office/drawing/2014/main" id="{4E99702B-3A5F-43EA-9F94-B6DF185A752C}"/>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2">
            <a:extLst>
              <a:ext uri="{FF2B5EF4-FFF2-40B4-BE49-F238E27FC236}">
                <a16:creationId xmlns:a16="http://schemas.microsoft.com/office/drawing/2014/main" id="{EEE528DE-DF6A-4A87-A27C-90560B865406}"/>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The planar robot is working; Gen 3 is next</a:t>
            </a:r>
          </a:p>
        </p:txBody>
      </p:sp>
      <p:sp>
        <p:nvSpPr>
          <p:cNvPr id="3" name="text-3">
            <a:extLst>
              <a:ext uri="{FF2B5EF4-FFF2-40B4-BE49-F238E27FC236}">
                <a16:creationId xmlns:a16="http://schemas.microsoft.com/office/drawing/2014/main" id="{280E6054-336B-4247-91DD-F63F39B7F135}"/>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4">
            <a:extLst>
              <a:ext uri="{FF2B5EF4-FFF2-40B4-BE49-F238E27FC236}">
                <a16:creationId xmlns:a16="http://schemas.microsoft.com/office/drawing/2014/main" id="{8EA64DA2-851D-446E-8967-188F6710794E}"/>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17</a:t>
            </a:r>
          </a:p>
        </p:txBody>
      </p:sp>
      <p:sp>
        <p:nvSpPr>
          <p:cNvPr id="5" name="glass-5">
            <a:extLst>
              <a:ext uri="{FF2B5EF4-FFF2-40B4-BE49-F238E27FC236}">
                <a16:creationId xmlns:a16="http://schemas.microsoft.com/office/drawing/2014/main" id="{5979F96C-C216-4F76-B1F0-F30BF6983D23}"/>
              </a:ext>
            </a:extLst>
          </p:cNvPr>
          <p:cNvSpPr>
            <a:spLocks noGrp="1"/>
          </p:cNvSpPr>
          <p:nvPr/>
        </p:nvSpPr>
        <p:spPr>
          <a:xfrm>
            <a:off x="609600" y="1790700"/>
            <a:ext cx="4524375" cy="3924300"/>
          </a:xfrm>
          <a:prstGeom prst="roundRect">
            <a:avLst>
              <a:gd name="adj" fmla="val 1942"/>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6">
            <a:extLst>
              <a:ext uri="{FF2B5EF4-FFF2-40B4-BE49-F238E27FC236}">
                <a16:creationId xmlns:a16="http://schemas.microsoft.com/office/drawing/2014/main" id="{B09C2F07-E2C9-469B-AF2E-ACC5129F5F94}"/>
              </a:ext>
            </a:extLst>
          </p:cNvPr>
          <p:cNvSpPr>
            <a:spLocks noGrp="1"/>
          </p:cNvSpPr>
          <p:nvPr/>
        </p:nvSpPr>
        <p:spPr>
          <a:xfrm>
            <a:off x="857250" y="2085975"/>
            <a:ext cx="4000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Gen 2.0</a:t>
            </a:r>
          </a:p>
        </p:txBody>
      </p:sp>
      <p:sp>
        <p:nvSpPr>
          <p:cNvPr id="7" name="text-7">
            <a:extLst>
              <a:ext uri="{FF2B5EF4-FFF2-40B4-BE49-F238E27FC236}">
                <a16:creationId xmlns:a16="http://schemas.microsoft.com/office/drawing/2014/main" id="{DA588C9D-6E40-43DA-9CFD-8F7E3A94A70D}"/>
              </a:ext>
            </a:extLst>
          </p:cNvPr>
          <p:cNvSpPr>
            <a:spLocks noGrp="1"/>
          </p:cNvSpPr>
          <p:nvPr/>
        </p:nvSpPr>
        <p:spPr>
          <a:xfrm>
            <a:off x="857250" y="2495550"/>
            <a:ext cx="4000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Working planar robot with bench and onboard control.</a:t>
            </a:r>
          </a:p>
        </p:txBody>
      </p:sp>
      <p:sp>
        <p:nvSpPr>
          <p:cNvPr id="8" name="text-8">
            <a:extLst>
              <a:ext uri="{FF2B5EF4-FFF2-40B4-BE49-F238E27FC236}">
                <a16:creationId xmlns:a16="http://schemas.microsoft.com/office/drawing/2014/main" id="{146F87F7-90BF-494E-8220-5D102B069787}"/>
              </a:ext>
            </a:extLst>
          </p:cNvPr>
          <p:cNvSpPr>
            <a:spLocks noGrp="1"/>
          </p:cNvSpPr>
          <p:nvPr/>
        </p:nvSpPr>
        <p:spPr>
          <a:xfrm>
            <a:off x="857250" y="3314700"/>
            <a:ext cx="4000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Gen 2.1</a:t>
            </a:r>
          </a:p>
        </p:txBody>
      </p:sp>
      <p:sp>
        <p:nvSpPr>
          <p:cNvPr id="9" name="text-9">
            <a:extLst>
              <a:ext uri="{FF2B5EF4-FFF2-40B4-BE49-F238E27FC236}">
                <a16:creationId xmlns:a16="http://schemas.microsoft.com/office/drawing/2014/main" id="{A52CF892-9AA3-4D74-BA48-7148773EA3CA}"/>
              </a:ext>
            </a:extLst>
          </p:cNvPr>
          <p:cNvSpPr>
            <a:spLocks noGrp="1"/>
          </p:cNvSpPr>
          <p:nvPr/>
        </p:nvSpPr>
        <p:spPr>
          <a:xfrm>
            <a:off x="857250" y="3724275"/>
            <a:ext cx="4000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Shared host control, dashboard and gamepad.</a:t>
            </a:r>
          </a:p>
        </p:txBody>
      </p:sp>
      <p:sp>
        <p:nvSpPr>
          <p:cNvPr id="10" name="text-10">
            <a:extLst>
              <a:ext uri="{FF2B5EF4-FFF2-40B4-BE49-F238E27FC236}">
                <a16:creationId xmlns:a16="http://schemas.microsoft.com/office/drawing/2014/main" id="{C7EEF361-B82C-490A-8173-B7417B49E382}"/>
              </a:ext>
            </a:extLst>
          </p:cNvPr>
          <p:cNvSpPr>
            <a:spLocks noGrp="1"/>
          </p:cNvSpPr>
          <p:nvPr/>
        </p:nvSpPr>
        <p:spPr>
          <a:xfrm>
            <a:off x="857250" y="4543425"/>
            <a:ext cx="4000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Gen 3.0</a:t>
            </a:r>
          </a:p>
        </p:txBody>
      </p:sp>
      <p:sp>
        <p:nvSpPr>
          <p:cNvPr id="11" name="text-11">
            <a:extLst>
              <a:ext uri="{FF2B5EF4-FFF2-40B4-BE49-F238E27FC236}">
                <a16:creationId xmlns:a16="http://schemas.microsoft.com/office/drawing/2014/main" id="{D1DC98B1-E033-4958-9992-131F2FD3A046}"/>
              </a:ext>
            </a:extLst>
          </p:cNvPr>
          <p:cNvSpPr>
            <a:spLocks noGrp="1"/>
          </p:cNvSpPr>
          <p:nvPr/>
        </p:nvSpPr>
        <p:spPr>
          <a:xfrm>
            <a:off x="857250" y="4953000"/>
            <a:ext cx="4000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Alternating yaw and pitch joints in development.</a:t>
            </a:r>
          </a:p>
        </p:txBody>
      </p:sp>
      <p:pic>
        <p:nvPicPr>
          <p:cNvPr id="12" name="Picture 11">
            <a:extLst>
              <a:ext uri="{FF2B5EF4-FFF2-40B4-BE49-F238E27FC236}">
                <a16:creationId xmlns:a16="http://schemas.microsoft.com/office/drawing/2014/main" id="{FC585714-4B21-4C11-A64D-7C19AF05285A}"/>
              </a:ext>
            </a:extLst>
          </p:cNvPr>
          <p:cNvPicPr>
            <a:picLocks noChangeAspect="1"/>
          </p:cNvPicPr>
          <p:nvPr/>
        </p:nvPicPr>
        <p:blipFill>
          <a:blip r:embed="rId3"/>
          <a:stretch/>
        </p:blipFill>
        <p:spPr>
          <a:xfrm>
            <a:off x="5847522" y="1724025"/>
            <a:ext cx="5354707" cy="4105275"/>
          </a:xfrm>
          <a:prstGeom prst="rect">
            <a:avLst/>
          </a:prstGeom>
        </p:spPr>
      </p:pic>
      <p:sp>
        <p:nvSpPr>
          <p:cNvPr id="13" name="text-13">
            <a:extLst>
              <a:ext uri="{FF2B5EF4-FFF2-40B4-BE49-F238E27FC236}">
                <a16:creationId xmlns:a16="http://schemas.microsoft.com/office/drawing/2014/main" id="{1C95D9B9-BEFD-4F68-BFB1-C3D195468EB4}"/>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Current physical reference: the ST3215 planar robot.</a:t>
            </a:r>
          </a:p>
        </p:txBody>
      </p:sp>
    </p:spTree>
    <p:extLst>
      <p:ext uri="{BB962C8B-B14F-4D97-AF65-F5344CB8AC3E}">
        <p14:creationId xmlns:p14="http://schemas.microsoft.com/office/powerpoint/2010/main" val="373132789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3" name="text-14">
            <a:extLst>
              <a:ext uri="{FF2B5EF4-FFF2-40B4-BE49-F238E27FC236}">
                <a16:creationId xmlns:a16="http://schemas.microsoft.com/office/drawing/2014/main" id="{AD28A888-B8C1-4160-B680-C8BDCECA00DE}"/>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5">
            <a:extLst>
              <a:ext uri="{FF2B5EF4-FFF2-40B4-BE49-F238E27FC236}">
                <a16:creationId xmlns:a16="http://schemas.microsoft.com/office/drawing/2014/main" id="{666E7AE4-E4EF-4AB5-80AA-70AA51562D2D}"/>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The actuator changed; the modular idea stayed</a:t>
            </a:r>
          </a:p>
        </p:txBody>
      </p:sp>
      <p:sp>
        <p:nvSpPr>
          <p:cNvPr id="3" name="text-16">
            <a:extLst>
              <a:ext uri="{FF2B5EF4-FFF2-40B4-BE49-F238E27FC236}">
                <a16:creationId xmlns:a16="http://schemas.microsoft.com/office/drawing/2014/main" id="{3541E1B9-B0D7-4E15-8A3A-ED1BE92DAA47}"/>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7">
            <a:extLst>
              <a:ext uri="{FF2B5EF4-FFF2-40B4-BE49-F238E27FC236}">
                <a16:creationId xmlns:a16="http://schemas.microsoft.com/office/drawing/2014/main" id="{B8AD5522-131E-47CD-8BB6-B6DE3E1E146B}"/>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18</a:t>
            </a:r>
          </a:p>
        </p:txBody>
      </p:sp>
      <p:sp>
        <p:nvSpPr>
          <p:cNvPr id="5" name="glass-18">
            <a:extLst>
              <a:ext uri="{FF2B5EF4-FFF2-40B4-BE49-F238E27FC236}">
                <a16:creationId xmlns:a16="http://schemas.microsoft.com/office/drawing/2014/main" id="{2A82E283-8971-4CFF-9D49-65F4458C7427}"/>
              </a:ext>
            </a:extLst>
          </p:cNvPr>
          <p:cNvSpPr>
            <a:spLocks noGrp="1"/>
          </p:cNvSpPr>
          <p:nvPr/>
        </p:nvSpPr>
        <p:spPr>
          <a:xfrm>
            <a:off x="609600" y="1809750"/>
            <a:ext cx="7953375" cy="3933825"/>
          </a:xfrm>
          <a:prstGeom prst="roundRect">
            <a:avLst>
              <a:gd name="adj" fmla="val 1937"/>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19">
            <a:extLst>
              <a:ext uri="{FF2B5EF4-FFF2-40B4-BE49-F238E27FC236}">
                <a16:creationId xmlns:a16="http://schemas.microsoft.com/office/drawing/2014/main" id="{6E7D4C67-7A88-418D-AA09-231181C2E58F}"/>
              </a:ext>
            </a:extLst>
          </p:cNvPr>
          <p:cNvSpPr>
            <a:spLocks noGrp="1"/>
          </p:cNvSpPr>
          <p:nvPr/>
        </p:nvSpPr>
        <p:spPr>
          <a:xfrm>
            <a:off x="904875" y="2095500"/>
            <a:ext cx="7048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Gen 1 · Dynamixel XL330</a:t>
            </a:r>
          </a:p>
        </p:txBody>
      </p:sp>
      <p:sp>
        <p:nvSpPr>
          <p:cNvPr id="7" name="text-20">
            <a:extLst>
              <a:ext uri="{FF2B5EF4-FFF2-40B4-BE49-F238E27FC236}">
                <a16:creationId xmlns:a16="http://schemas.microsoft.com/office/drawing/2014/main" id="{0C1621F8-223D-4648-8898-A76DB3128245}"/>
              </a:ext>
            </a:extLst>
          </p:cNvPr>
          <p:cNvSpPr>
            <a:spLocks noGrp="1"/>
          </p:cNvSpPr>
          <p:nvPr/>
        </p:nvSpPr>
        <p:spPr>
          <a:xfrm>
            <a:off x="904875" y="2505075"/>
            <a:ext cx="7048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Ten-joint modular architecture and smart servo feedback.</a:t>
            </a:r>
          </a:p>
        </p:txBody>
      </p:sp>
      <p:sp>
        <p:nvSpPr>
          <p:cNvPr id="8" name="text-21">
            <a:extLst>
              <a:ext uri="{FF2B5EF4-FFF2-40B4-BE49-F238E27FC236}">
                <a16:creationId xmlns:a16="http://schemas.microsoft.com/office/drawing/2014/main" id="{CA674845-671D-4660-A601-D2DE454072F8}"/>
              </a:ext>
            </a:extLst>
          </p:cNvPr>
          <p:cNvSpPr>
            <a:spLocks noGrp="1"/>
          </p:cNvSpPr>
          <p:nvPr/>
        </p:nvSpPr>
        <p:spPr>
          <a:xfrm>
            <a:off x="904875" y="3543300"/>
            <a:ext cx="7048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Gen 2 · Waveshare ST3215</a:t>
            </a:r>
          </a:p>
        </p:txBody>
      </p:sp>
      <p:sp>
        <p:nvSpPr>
          <p:cNvPr id="9" name="text-22">
            <a:extLst>
              <a:ext uri="{FF2B5EF4-FFF2-40B4-BE49-F238E27FC236}">
                <a16:creationId xmlns:a16="http://schemas.microsoft.com/office/drawing/2014/main" id="{6F827BB9-FF10-4857-8AFA-1418399D42CF}"/>
              </a:ext>
            </a:extLst>
          </p:cNvPr>
          <p:cNvSpPr>
            <a:spLocks noGrp="1"/>
          </p:cNvSpPr>
          <p:nvPr/>
        </p:nvSpPr>
        <p:spPr>
          <a:xfrm>
            <a:off x="904875" y="3952875"/>
            <a:ext cx="7048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New motor mounts, bus interface and power distribution.</a:t>
            </a:r>
          </a:p>
        </p:txBody>
      </p:sp>
      <p:sp>
        <p:nvSpPr>
          <p:cNvPr id="10" name="text-23">
            <a:extLst>
              <a:ext uri="{FF2B5EF4-FFF2-40B4-BE49-F238E27FC236}">
                <a16:creationId xmlns:a16="http://schemas.microsoft.com/office/drawing/2014/main" id="{DD53C82D-C8A7-4F2B-9679-3AE79D711452}"/>
              </a:ext>
            </a:extLst>
          </p:cNvPr>
          <p:cNvSpPr>
            <a:spLocks noGrp="1"/>
          </p:cNvSpPr>
          <p:nvPr/>
        </p:nvSpPr>
        <p:spPr>
          <a:xfrm>
            <a:off x="904875" y="5124450"/>
            <a:ext cx="7048500" cy="476250"/>
          </a:xfrm>
          <a:prstGeom prst="rect">
            <a:avLst/>
          </a:prstGeom>
          <a:noFill/>
          <a:ln w="0">
            <a:noFill/>
            <a:prstDash val="solid"/>
          </a:ln>
        </p:spPr>
        <p:txBody>
          <a:bodyPr lIns="0" tIns="0" rIns="0" bIns="0"/>
          <a:lstStyle>
            <a:defPPr>
              <a:defRPr sz="1875" b="1">
                <a:solidFill>
                  <a:srgbClr val="FFC17A"/>
                </a:solidFill>
              </a:defRPr>
            </a:defPPr>
            <a:lvl1pPr>
              <a:defRPr sz="1875" b="1">
                <a:solidFill>
                  <a:srgbClr val="FFC17A"/>
                </a:solidFill>
              </a:defRPr>
            </a:lvl1pPr>
            <a:lvl2pPr>
              <a:defRPr sz="1875" b="1">
                <a:solidFill>
                  <a:srgbClr val="FFC17A"/>
                </a:solidFill>
              </a:defRPr>
            </a:lvl2pPr>
            <a:lvl3pPr>
              <a:defRPr sz="1875" b="1">
                <a:solidFill>
                  <a:srgbClr val="FFC17A"/>
                </a:solidFill>
              </a:defRPr>
            </a:lvl3pPr>
            <a:lvl4pPr>
              <a:defRPr sz="1875" b="1">
                <a:solidFill>
                  <a:srgbClr val="FFC17A"/>
                </a:solidFill>
              </a:defRPr>
            </a:lvl4pPr>
            <a:lvl5pPr>
              <a:defRPr sz="1875" b="1">
                <a:solidFill>
                  <a:srgbClr val="FFC17A"/>
                </a:solidFill>
              </a:defRPr>
            </a:lvl5pPr>
            <a:lvl6pPr>
              <a:defRPr sz="1875" b="1">
                <a:solidFill>
                  <a:srgbClr val="FFC17A"/>
                </a:solidFill>
              </a:defRPr>
            </a:lvl6pPr>
            <a:lvl7pPr>
              <a:defRPr sz="1875" b="1">
                <a:solidFill>
                  <a:srgbClr val="FFC17A"/>
                </a:solidFill>
              </a:defRPr>
            </a:lvl7pPr>
            <a:lvl8pPr>
              <a:defRPr sz="1875" b="1">
                <a:solidFill>
                  <a:srgbClr val="FFC17A"/>
                </a:solidFill>
              </a:defRPr>
            </a:lvl8pPr>
            <a:lvl9pPr>
              <a:defRPr sz="1875" b="1">
                <a:solidFill>
                  <a:srgbClr val="FFC17A"/>
                </a:solidFill>
              </a:defRPr>
            </a:lvl9pPr>
          </a:lstStyle>
          <a:p>
            <a:pPr>
              <a:defRPr sz="1875" b="1">
                <a:solidFill>
                  <a:srgbClr val="FFC17A"/>
                </a:solidFill>
              </a:defRPr>
            </a:pPr>
            <a:r>
              <a:rPr sz="1875" b="1">
                <a:solidFill>
                  <a:srgbClr val="FFC17A"/>
                </a:solidFill>
              </a:rPr>
              <a:t>The redesign connected mechanics, wiring and software.</a:t>
            </a:r>
          </a:p>
        </p:txBody>
      </p:sp>
      <p:pic>
        <p:nvPicPr>
          <p:cNvPr id="11" name="Picture 10">
            <a:extLst>
              <a:ext uri="{FF2B5EF4-FFF2-40B4-BE49-F238E27FC236}">
                <a16:creationId xmlns:a16="http://schemas.microsoft.com/office/drawing/2014/main" id="{56D31A7B-C084-40D8-B15B-F69987316BC5}"/>
              </a:ext>
            </a:extLst>
          </p:cNvPr>
          <p:cNvPicPr>
            <a:picLocks noChangeAspect="1"/>
          </p:cNvPicPr>
          <p:nvPr/>
        </p:nvPicPr>
        <p:blipFill>
          <a:blip r:embed="rId3"/>
          <a:stretch/>
        </p:blipFill>
        <p:spPr>
          <a:xfrm>
            <a:off x="8993660" y="2238375"/>
            <a:ext cx="2491429" cy="2667000"/>
          </a:xfrm>
          <a:prstGeom prst="rect">
            <a:avLst/>
          </a:prstGeom>
        </p:spPr>
      </p:pic>
      <p:sp>
        <p:nvSpPr>
          <p:cNvPr id="12" name="text-25">
            <a:extLst>
              <a:ext uri="{FF2B5EF4-FFF2-40B4-BE49-F238E27FC236}">
                <a16:creationId xmlns:a16="http://schemas.microsoft.com/office/drawing/2014/main" id="{163C9DAD-5C79-43F7-8E01-EB17FC3A5E1B}"/>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The supply constraint prompted the change; the coordinated-joint concept continued.</a:t>
            </a:r>
          </a:p>
        </p:txBody>
      </p:sp>
    </p:spTree>
    <p:extLst>
      <p:ext uri="{BB962C8B-B14F-4D97-AF65-F5344CB8AC3E}">
        <p14:creationId xmlns:p14="http://schemas.microsoft.com/office/powerpoint/2010/main" val="316285990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2" name="text-26">
            <a:extLst>
              <a:ext uri="{FF2B5EF4-FFF2-40B4-BE49-F238E27FC236}">
                <a16:creationId xmlns:a16="http://schemas.microsoft.com/office/drawing/2014/main" id="{932CEFF0-E4A1-4DBF-A63E-8A42704FFD24}"/>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27">
            <a:extLst>
              <a:ext uri="{FF2B5EF4-FFF2-40B4-BE49-F238E27FC236}">
                <a16:creationId xmlns:a16="http://schemas.microsoft.com/office/drawing/2014/main" id="{2171BE91-3C5F-499F-BFC9-002D16C719E7}"/>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Eleven segments, ten coordinated joints</a:t>
            </a:r>
          </a:p>
        </p:txBody>
      </p:sp>
      <p:sp>
        <p:nvSpPr>
          <p:cNvPr id="3" name="text-28">
            <a:extLst>
              <a:ext uri="{FF2B5EF4-FFF2-40B4-BE49-F238E27FC236}">
                <a16:creationId xmlns:a16="http://schemas.microsoft.com/office/drawing/2014/main" id="{C705D842-58E5-49B4-950D-73689D348CE0}"/>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29">
            <a:extLst>
              <a:ext uri="{FF2B5EF4-FFF2-40B4-BE49-F238E27FC236}">
                <a16:creationId xmlns:a16="http://schemas.microsoft.com/office/drawing/2014/main" id="{6CF7859B-C2E4-4B53-94EB-8420A95C2812}"/>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19</a:t>
            </a:r>
          </a:p>
        </p:txBody>
      </p:sp>
      <p:sp>
        <p:nvSpPr>
          <p:cNvPr id="5" name="glass-30">
            <a:extLst>
              <a:ext uri="{FF2B5EF4-FFF2-40B4-BE49-F238E27FC236}">
                <a16:creationId xmlns:a16="http://schemas.microsoft.com/office/drawing/2014/main" id="{9DD8DA37-0896-49ED-8548-B8109356FAD4}"/>
              </a:ext>
            </a:extLst>
          </p:cNvPr>
          <p:cNvSpPr>
            <a:spLocks noGrp="1"/>
          </p:cNvSpPr>
          <p:nvPr/>
        </p:nvSpPr>
        <p:spPr>
          <a:xfrm>
            <a:off x="609600" y="1762125"/>
            <a:ext cx="3238500" cy="4000500"/>
          </a:xfrm>
          <a:prstGeom prst="roundRect">
            <a:avLst>
              <a:gd name="adj" fmla="val 2353"/>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31">
            <a:extLst>
              <a:ext uri="{FF2B5EF4-FFF2-40B4-BE49-F238E27FC236}">
                <a16:creationId xmlns:a16="http://schemas.microsoft.com/office/drawing/2014/main" id="{BB6DC800-4A38-4B5B-8092-3F4D85E83F2E}"/>
              </a:ext>
            </a:extLst>
          </p:cNvPr>
          <p:cNvSpPr>
            <a:spLocks noGrp="1"/>
          </p:cNvSpPr>
          <p:nvPr/>
        </p:nvSpPr>
        <p:spPr>
          <a:xfrm>
            <a:off x="838200" y="2095500"/>
            <a:ext cx="276225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Modular body</a:t>
            </a:r>
          </a:p>
        </p:txBody>
      </p:sp>
      <p:sp>
        <p:nvSpPr>
          <p:cNvPr id="7" name="text-32">
            <a:extLst>
              <a:ext uri="{FF2B5EF4-FFF2-40B4-BE49-F238E27FC236}">
                <a16:creationId xmlns:a16="http://schemas.microsoft.com/office/drawing/2014/main" id="{F08F7627-044C-4734-8763-709E3A42454D}"/>
              </a:ext>
            </a:extLst>
          </p:cNvPr>
          <p:cNvSpPr>
            <a:spLocks noGrp="1"/>
          </p:cNvSpPr>
          <p:nvPr/>
        </p:nvSpPr>
        <p:spPr>
          <a:xfrm>
            <a:off x="838200" y="2505075"/>
            <a:ext cx="276225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Repeatable sections support the servo chain.</a:t>
            </a:r>
          </a:p>
        </p:txBody>
      </p:sp>
      <p:sp>
        <p:nvSpPr>
          <p:cNvPr id="8" name="text-33">
            <a:extLst>
              <a:ext uri="{FF2B5EF4-FFF2-40B4-BE49-F238E27FC236}">
                <a16:creationId xmlns:a16="http://schemas.microsoft.com/office/drawing/2014/main" id="{D823613C-41A4-4C96-989D-FD57EFC95BF8}"/>
              </a:ext>
            </a:extLst>
          </p:cNvPr>
          <p:cNvSpPr>
            <a:spLocks noGrp="1"/>
          </p:cNvSpPr>
          <p:nvPr/>
        </p:nvSpPr>
        <p:spPr>
          <a:xfrm>
            <a:off x="838200" y="3505200"/>
            <a:ext cx="276225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Planar motion</a:t>
            </a:r>
          </a:p>
        </p:txBody>
      </p:sp>
      <p:sp>
        <p:nvSpPr>
          <p:cNvPr id="9" name="text-34">
            <a:extLst>
              <a:ext uri="{FF2B5EF4-FFF2-40B4-BE49-F238E27FC236}">
                <a16:creationId xmlns:a16="http://schemas.microsoft.com/office/drawing/2014/main" id="{349B4D62-8AA9-4BA6-99BB-2F334FA9593E}"/>
              </a:ext>
            </a:extLst>
          </p:cNvPr>
          <p:cNvSpPr>
            <a:spLocks noGrp="1"/>
          </p:cNvSpPr>
          <p:nvPr/>
        </p:nvSpPr>
        <p:spPr>
          <a:xfrm>
            <a:off x="838200" y="3914775"/>
            <a:ext cx="276225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Ten yaw joints receive phase-shifted targets.</a:t>
            </a:r>
          </a:p>
        </p:txBody>
      </p:sp>
      <p:pic>
        <p:nvPicPr>
          <p:cNvPr id="10" name="Picture 9">
            <a:extLst>
              <a:ext uri="{FF2B5EF4-FFF2-40B4-BE49-F238E27FC236}">
                <a16:creationId xmlns:a16="http://schemas.microsoft.com/office/drawing/2014/main" id="{813F6C1C-498A-4307-B230-05BD765EA0B3}"/>
              </a:ext>
            </a:extLst>
          </p:cNvPr>
          <p:cNvPicPr>
            <a:picLocks noChangeAspect="1"/>
          </p:cNvPicPr>
          <p:nvPr/>
        </p:nvPicPr>
        <p:blipFill>
          <a:blip r:embed="rId3"/>
          <a:stretch/>
        </p:blipFill>
        <p:spPr>
          <a:xfrm>
            <a:off x="6671965" y="1695450"/>
            <a:ext cx="2277070" cy="4048125"/>
          </a:xfrm>
          <a:prstGeom prst="rect">
            <a:avLst/>
          </a:prstGeom>
        </p:spPr>
      </p:pic>
      <p:sp>
        <p:nvSpPr>
          <p:cNvPr id="11" name="text-36">
            <a:extLst>
              <a:ext uri="{FF2B5EF4-FFF2-40B4-BE49-F238E27FC236}">
                <a16:creationId xmlns:a16="http://schemas.microsoft.com/office/drawing/2014/main" id="{B2B258C8-59EF-4684-A91B-BF7C1F484B93}"/>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Full-chain photograph; architecture labels describe the Gen 2 design.</a:t>
            </a:r>
          </a:p>
        </p:txBody>
      </p:sp>
    </p:spTree>
    <p:extLst>
      <p:ext uri="{BB962C8B-B14F-4D97-AF65-F5344CB8AC3E}">
        <p14:creationId xmlns:p14="http://schemas.microsoft.com/office/powerpoint/2010/main" val="254477915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4" name="text-37">
            <a:extLst>
              <a:ext uri="{FF2B5EF4-FFF2-40B4-BE49-F238E27FC236}">
                <a16:creationId xmlns:a16="http://schemas.microsoft.com/office/drawing/2014/main" id="{2B31F949-E5CC-47AB-A3BE-9C4959EDEADC}"/>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38">
            <a:extLst>
              <a:ext uri="{FF2B5EF4-FFF2-40B4-BE49-F238E27FC236}">
                <a16:creationId xmlns:a16="http://schemas.microsoft.com/office/drawing/2014/main" id="{6F68509E-181C-45DD-80C7-79054F1A5CBE}"/>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Ground contact is part of the mechanism</a:t>
            </a:r>
          </a:p>
        </p:txBody>
      </p:sp>
      <p:sp>
        <p:nvSpPr>
          <p:cNvPr id="3" name="text-39">
            <a:extLst>
              <a:ext uri="{FF2B5EF4-FFF2-40B4-BE49-F238E27FC236}">
                <a16:creationId xmlns:a16="http://schemas.microsoft.com/office/drawing/2014/main" id="{40B60CEA-B54D-43F5-85D1-E2E32954F414}"/>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40">
            <a:extLst>
              <a:ext uri="{FF2B5EF4-FFF2-40B4-BE49-F238E27FC236}">
                <a16:creationId xmlns:a16="http://schemas.microsoft.com/office/drawing/2014/main" id="{74EAF3DE-4C96-43EA-8AB9-AED750CCE5E7}"/>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20</a:t>
            </a:r>
          </a:p>
        </p:txBody>
      </p:sp>
      <p:sp>
        <p:nvSpPr>
          <p:cNvPr id="5" name="glass-41">
            <a:extLst>
              <a:ext uri="{FF2B5EF4-FFF2-40B4-BE49-F238E27FC236}">
                <a16:creationId xmlns:a16="http://schemas.microsoft.com/office/drawing/2014/main" id="{8EC7DDA0-3D61-4E6A-80A5-FC0C2AA240A0}"/>
              </a:ext>
            </a:extLst>
          </p:cNvPr>
          <p:cNvSpPr>
            <a:spLocks noGrp="1"/>
          </p:cNvSpPr>
          <p:nvPr/>
        </p:nvSpPr>
        <p:spPr>
          <a:xfrm>
            <a:off x="609600" y="1809750"/>
            <a:ext cx="5667375" cy="3952875"/>
          </a:xfrm>
          <a:prstGeom prst="roundRect">
            <a:avLst>
              <a:gd name="adj" fmla="val 1928"/>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42">
            <a:extLst>
              <a:ext uri="{FF2B5EF4-FFF2-40B4-BE49-F238E27FC236}">
                <a16:creationId xmlns:a16="http://schemas.microsoft.com/office/drawing/2014/main" id="{CB5E0BBF-7C2C-4B87-8540-9E3152B36E05}"/>
              </a:ext>
            </a:extLst>
          </p:cNvPr>
          <p:cNvSpPr>
            <a:spLocks noGrp="1"/>
          </p:cNvSpPr>
          <p:nvPr/>
        </p:nvSpPr>
        <p:spPr>
          <a:xfrm>
            <a:off x="857250" y="2095500"/>
            <a:ext cx="5095875"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Joint support</a:t>
            </a:r>
          </a:p>
        </p:txBody>
      </p:sp>
      <p:sp>
        <p:nvSpPr>
          <p:cNvPr id="7" name="text-43">
            <a:extLst>
              <a:ext uri="{FF2B5EF4-FFF2-40B4-BE49-F238E27FC236}">
                <a16:creationId xmlns:a16="http://schemas.microsoft.com/office/drawing/2014/main" id="{C307E9C8-A9A7-4EEF-A689-9D77E069DC9B}"/>
              </a:ext>
            </a:extLst>
          </p:cNvPr>
          <p:cNvSpPr>
            <a:spLocks noGrp="1"/>
          </p:cNvSpPr>
          <p:nvPr/>
        </p:nvSpPr>
        <p:spPr>
          <a:xfrm>
            <a:off x="857250" y="2505075"/>
            <a:ext cx="5095875"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Yokes carry the joint load; retention keeps the motor seated.</a:t>
            </a:r>
          </a:p>
        </p:txBody>
      </p:sp>
      <p:sp>
        <p:nvSpPr>
          <p:cNvPr id="8" name="text-44">
            <a:extLst>
              <a:ext uri="{FF2B5EF4-FFF2-40B4-BE49-F238E27FC236}">
                <a16:creationId xmlns:a16="http://schemas.microsoft.com/office/drawing/2014/main" id="{3009B831-3376-496D-B674-6C3EBFC687EE}"/>
              </a:ext>
            </a:extLst>
          </p:cNvPr>
          <p:cNvSpPr>
            <a:spLocks noGrp="1"/>
          </p:cNvSpPr>
          <p:nvPr/>
        </p:nvSpPr>
        <p:spPr>
          <a:xfrm>
            <a:off x="857250" y="3562350"/>
            <a:ext cx="5095875"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Directional contact</a:t>
            </a:r>
          </a:p>
        </p:txBody>
      </p:sp>
      <p:sp>
        <p:nvSpPr>
          <p:cNvPr id="9" name="text-45">
            <a:extLst>
              <a:ext uri="{FF2B5EF4-FFF2-40B4-BE49-F238E27FC236}">
                <a16:creationId xmlns:a16="http://schemas.microsoft.com/office/drawing/2014/main" id="{1EE9474F-AB38-468D-9FC5-DC9D6E33AD96}"/>
              </a:ext>
            </a:extLst>
          </p:cNvPr>
          <p:cNvSpPr>
            <a:spLocks noGrp="1"/>
          </p:cNvSpPr>
          <p:nvPr/>
        </p:nvSpPr>
        <p:spPr>
          <a:xfrm>
            <a:off x="857250" y="3971925"/>
            <a:ext cx="5095875"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The belly design aims to resist lateral slip while allowing forward travel.</a:t>
            </a:r>
          </a:p>
        </p:txBody>
      </p:sp>
      <p:sp>
        <p:nvSpPr>
          <p:cNvPr id="10" name="reserved-closeup">
            <a:extLst>
              <a:ext uri="{FF2B5EF4-FFF2-40B4-BE49-F238E27FC236}">
                <a16:creationId xmlns:a16="http://schemas.microsoft.com/office/drawing/2014/main" id="{093FD4FD-7FA1-415A-9616-83CB69A17AF0}"/>
              </a:ext>
            </a:extLst>
          </p:cNvPr>
          <p:cNvSpPr>
            <a:spLocks noGrp="1"/>
          </p:cNvSpPr>
          <p:nvPr/>
        </p:nvSpPr>
        <p:spPr>
          <a:xfrm>
            <a:off x="6762750" y="1952625"/>
            <a:ext cx="4714875" cy="3333750"/>
          </a:xfrm>
          <a:prstGeom prst="roundRect">
            <a:avLst>
              <a:gd name="adj" fmla="val 2286"/>
            </a:avLst>
          </a:prstGeom>
          <a:solidFill>
            <a:srgbClr val="FFFFFF">
              <a:alpha val="6000"/>
            </a:srgbClr>
          </a:solidFill>
          <a:ln w="9525">
            <a:solidFill>
              <a:srgbClr val="FFFFFF">
                <a:alpha val="40000"/>
              </a:srgbClr>
            </a:solidFill>
            <a:prstDash val="solid"/>
          </a:ln>
        </p:spPr>
      </p:sp>
      <p:sp>
        <p:nvSpPr>
          <p:cNvPr id="11" name="text-46">
            <a:extLst>
              <a:ext uri="{FF2B5EF4-FFF2-40B4-BE49-F238E27FC236}">
                <a16:creationId xmlns:a16="http://schemas.microsoft.com/office/drawing/2014/main" id="{D8ADBA90-8029-4605-B151-02D46EF4C3F4}"/>
              </a:ext>
            </a:extLst>
          </p:cNvPr>
          <p:cNvSpPr>
            <a:spLocks noGrp="1"/>
          </p:cNvSpPr>
          <p:nvPr/>
        </p:nvSpPr>
        <p:spPr>
          <a:xfrm>
            <a:off x="7162800" y="3095625"/>
            <a:ext cx="4000500" cy="428625"/>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sz="2175" b="1">
                <a:solidFill>
                  <a:srgbClr val="F5FAFF"/>
                </a:solidFill>
              </a:rPr>
              <a:t>Joint and belly close-up</a:t>
            </a:r>
          </a:p>
        </p:txBody>
      </p:sp>
      <p:sp>
        <p:nvSpPr>
          <p:cNvPr id="12" name="text-47">
            <a:extLst>
              <a:ext uri="{FF2B5EF4-FFF2-40B4-BE49-F238E27FC236}">
                <a16:creationId xmlns:a16="http://schemas.microsoft.com/office/drawing/2014/main" id="{03E3AF6F-0193-43E3-A94F-85FE7EF65785}"/>
              </a:ext>
            </a:extLst>
          </p:cNvPr>
          <p:cNvSpPr>
            <a:spLocks noGrp="1"/>
          </p:cNvSpPr>
          <p:nvPr/>
        </p:nvSpPr>
        <p:spPr>
          <a:xfrm>
            <a:off x="7162800" y="3657600"/>
            <a:ext cx="4000500" cy="285750"/>
          </a:xfrm>
          <a:prstGeom prst="rect">
            <a:avLst/>
          </a:prstGeom>
          <a:noFill/>
          <a:ln w="0">
            <a:noFill/>
            <a:prstDash val="solid"/>
          </a:ln>
        </p:spPr>
        <p:txBody>
          <a:bodyPr lIns="0" tIns="0" rIns="0" bIns="0"/>
          <a:lstStyle>
            <a:defPPr>
              <a:defRPr sz="1650" b="0">
                <a:solidFill>
                  <a:srgbClr val="B9CDDF"/>
                </a:solidFill>
              </a:defRPr>
            </a:defPPr>
            <a:lvl1pPr>
              <a:defRPr sz="1650" b="0">
                <a:solidFill>
                  <a:srgbClr val="B9CDDF"/>
                </a:solidFill>
              </a:defRPr>
            </a:lvl1pPr>
            <a:lvl2pPr>
              <a:defRPr sz="1650" b="0">
                <a:solidFill>
                  <a:srgbClr val="B9CDDF"/>
                </a:solidFill>
              </a:defRPr>
            </a:lvl2pPr>
            <a:lvl3pPr>
              <a:defRPr sz="1650" b="0">
                <a:solidFill>
                  <a:srgbClr val="B9CDDF"/>
                </a:solidFill>
              </a:defRPr>
            </a:lvl3pPr>
            <a:lvl4pPr>
              <a:defRPr sz="1650" b="0">
                <a:solidFill>
                  <a:srgbClr val="B9CDDF"/>
                </a:solidFill>
              </a:defRPr>
            </a:lvl4pPr>
            <a:lvl5pPr>
              <a:defRPr sz="1650" b="0">
                <a:solidFill>
                  <a:srgbClr val="B9CDDF"/>
                </a:solidFill>
              </a:defRPr>
            </a:lvl5pPr>
            <a:lvl6pPr>
              <a:defRPr sz="1650" b="0">
                <a:solidFill>
                  <a:srgbClr val="B9CDDF"/>
                </a:solidFill>
              </a:defRPr>
            </a:lvl6pPr>
            <a:lvl7pPr>
              <a:defRPr sz="1650" b="0">
                <a:solidFill>
                  <a:srgbClr val="B9CDDF"/>
                </a:solidFill>
              </a:defRPr>
            </a:lvl7pPr>
            <a:lvl8pPr>
              <a:defRPr sz="1650" b="0">
                <a:solidFill>
                  <a:srgbClr val="B9CDDF"/>
                </a:solidFill>
              </a:defRPr>
            </a:lvl8pPr>
            <a:lvl9pPr>
              <a:defRPr sz="1650" b="0">
                <a:solidFill>
                  <a:srgbClr val="B9CDDF"/>
                </a:solidFill>
              </a:defRPr>
            </a:lvl9pPr>
          </a:lstStyle>
          <a:p>
            <a:pPr>
              <a:defRPr sz="1650" b="0">
                <a:solidFill>
                  <a:srgbClr val="B9CDDF"/>
                </a:solidFill>
              </a:defRPr>
            </a:pPr>
            <a:r>
              <a:rPr sz="1650" b="0">
                <a:solidFill>
                  <a:srgbClr val="B9CDDF"/>
                </a:solidFill>
              </a:rPr>
              <a:t>Photo pending</a:t>
            </a:r>
          </a:p>
        </p:txBody>
      </p:sp>
      <p:sp>
        <p:nvSpPr>
          <p:cNvPr id="13" name="text-48">
            <a:extLst>
              <a:ext uri="{FF2B5EF4-FFF2-40B4-BE49-F238E27FC236}">
                <a16:creationId xmlns:a16="http://schemas.microsoft.com/office/drawing/2014/main" id="{9433E82D-09B8-46D6-AF1B-A3DA116837F6}"/>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v6 design intent. Traction, motor fit and clearances require physical measurements.</a:t>
            </a:r>
          </a:p>
        </p:txBody>
      </p:sp>
    </p:spTree>
    <p:extLst>
      <p:ext uri="{BB962C8B-B14F-4D97-AF65-F5344CB8AC3E}">
        <p14:creationId xmlns:p14="http://schemas.microsoft.com/office/powerpoint/2010/main" val="295512080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26" name="text-49">
            <a:extLst>
              <a:ext uri="{FF2B5EF4-FFF2-40B4-BE49-F238E27FC236}">
                <a16:creationId xmlns:a16="http://schemas.microsoft.com/office/drawing/2014/main" id="{5D6FCF0D-C0F3-48EC-95B2-A877DA91D07F}"/>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50">
            <a:extLst>
              <a:ext uri="{FF2B5EF4-FFF2-40B4-BE49-F238E27FC236}">
                <a16:creationId xmlns:a16="http://schemas.microsoft.com/office/drawing/2014/main" id="{A61429CB-1A6C-4840-8858-B248E0193548}"/>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Power reaches the servos in five pairs</a:t>
            </a:r>
          </a:p>
        </p:txBody>
      </p:sp>
      <p:sp>
        <p:nvSpPr>
          <p:cNvPr id="3" name="text-51">
            <a:extLst>
              <a:ext uri="{FF2B5EF4-FFF2-40B4-BE49-F238E27FC236}">
                <a16:creationId xmlns:a16="http://schemas.microsoft.com/office/drawing/2014/main" id="{B40603B6-610F-4319-9EB4-69062A0DD565}"/>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52">
            <a:extLst>
              <a:ext uri="{FF2B5EF4-FFF2-40B4-BE49-F238E27FC236}">
                <a16:creationId xmlns:a16="http://schemas.microsoft.com/office/drawing/2014/main" id="{DA46F48B-6742-4211-A13B-51F4207E6A80}"/>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21</a:t>
            </a:r>
          </a:p>
        </p:txBody>
      </p:sp>
      <p:sp>
        <p:nvSpPr>
          <p:cNvPr id="5" name="glass-53">
            <a:extLst>
              <a:ext uri="{FF2B5EF4-FFF2-40B4-BE49-F238E27FC236}">
                <a16:creationId xmlns:a16="http://schemas.microsoft.com/office/drawing/2014/main" id="{9914F80A-835D-4DD5-88CE-9F0CB4C6011D}"/>
              </a:ext>
            </a:extLst>
          </p:cNvPr>
          <p:cNvSpPr>
            <a:spLocks noGrp="1"/>
          </p:cNvSpPr>
          <p:nvPr/>
        </p:nvSpPr>
        <p:spPr>
          <a:xfrm>
            <a:off x="609600" y="1714500"/>
            <a:ext cx="10972800" cy="4048125"/>
          </a:xfrm>
          <a:prstGeom prst="roundRect">
            <a:avLst>
              <a:gd name="adj" fmla="val 1882"/>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node-54">
            <a:extLst>
              <a:ext uri="{FF2B5EF4-FFF2-40B4-BE49-F238E27FC236}">
                <a16:creationId xmlns:a16="http://schemas.microsoft.com/office/drawing/2014/main" id="{CE478E73-9DA4-4584-B5A6-64695D039928}"/>
              </a:ext>
            </a:extLst>
          </p:cNvPr>
          <p:cNvSpPr>
            <a:spLocks noGrp="1"/>
          </p:cNvSpPr>
          <p:nvPr/>
        </p:nvSpPr>
        <p:spPr>
          <a:xfrm>
            <a:off x="857250" y="2238375"/>
            <a:ext cx="1524000" cy="762000"/>
          </a:xfrm>
          <a:prstGeom prst="roundRect">
            <a:avLst>
              <a:gd name="adj" fmla="val 10000"/>
            </a:avLst>
          </a:prstGeom>
          <a:solidFill>
            <a:srgbClr val="173B50"/>
          </a:solidFill>
          <a:ln w="9525">
            <a:solidFill>
              <a:srgbClr val="48D4DF"/>
            </a:solidFill>
            <a:prstDash val="solid"/>
          </a:ln>
        </p:spPr>
      </p:sp>
      <p:sp>
        <p:nvSpPr>
          <p:cNvPr id="7" name="text-55">
            <a:extLst>
              <a:ext uri="{FF2B5EF4-FFF2-40B4-BE49-F238E27FC236}">
                <a16:creationId xmlns:a16="http://schemas.microsoft.com/office/drawing/2014/main" id="{31F78AB8-F559-4DA7-85B9-39297A066908}"/>
              </a:ext>
            </a:extLst>
          </p:cNvPr>
          <p:cNvSpPr>
            <a:spLocks noGrp="1"/>
          </p:cNvSpPr>
          <p:nvPr/>
        </p:nvSpPr>
        <p:spPr>
          <a:xfrm>
            <a:off x="1009650" y="2381250"/>
            <a:ext cx="1219200" cy="5715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3S LiPo</a:t>
            </a:r>
          </a:p>
        </p:txBody>
      </p:sp>
      <p:sp>
        <p:nvSpPr>
          <p:cNvPr id="8" name="flow-56">
            <a:extLst>
              <a:ext uri="{FF2B5EF4-FFF2-40B4-BE49-F238E27FC236}">
                <a16:creationId xmlns:a16="http://schemas.microsoft.com/office/drawing/2014/main" id="{BFA11B41-54D6-40AB-9288-E7E59F1139EE}"/>
              </a:ext>
            </a:extLst>
          </p:cNvPr>
          <p:cNvSpPr>
            <a:spLocks noGrp="1"/>
          </p:cNvSpPr>
          <p:nvPr/>
        </p:nvSpPr>
        <p:spPr>
          <a:xfrm>
            <a:off x="2428875" y="2562225"/>
            <a:ext cx="381000" cy="133350"/>
          </a:xfrm>
          <a:prstGeom prst="rightArrow">
            <a:avLst/>
          </a:prstGeom>
          <a:solidFill>
            <a:srgbClr val="FFC17A"/>
          </a:solidFill>
          <a:ln w="0">
            <a:noFill/>
            <a:prstDash val="solid"/>
          </a:ln>
        </p:spPr>
      </p:sp>
      <p:sp>
        <p:nvSpPr>
          <p:cNvPr id="9" name="node-57">
            <a:extLst>
              <a:ext uri="{FF2B5EF4-FFF2-40B4-BE49-F238E27FC236}">
                <a16:creationId xmlns:a16="http://schemas.microsoft.com/office/drawing/2014/main" id="{5900559B-2B8F-438A-BF74-26A7242B5925}"/>
              </a:ext>
            </a:extLst>
          </p:cNvPr>
          <p:cNvSpPr>
            <a:spLocks noGrp="1"/>
          </p:cNvSpPr>
          <p:nvPr/>
        </p:nvSpPr>
        <p:spPr>
          <a:xfrm>
            <a:off x="2857500" y="2143125"/>
            <a:ext cx="2190750" cy="952500"/>
          </a:xfrm>
          <a:prstGeom prst="roundRect">
            <a:avLst>
              <a:gd name="adj" fmla="val 8000"/>
            </a:avLst>
          </a:prstGeom>
          <a:solidFill>
            <a:srgbClr val="173B50"/>
          </a:solidFill>
          <a:ln w="9525">
            <a:solidFill>
              <a:srgbClr val="48D4DF"/>
            </a:solidFill>
            <a:prstDash val="solid"/>
          </a:ln>
        </p:spPr>
      </p:sp>
      <p:sp>
        <p:nvSpPr>
          <p:cNvPr id="10" name="text-58">
            <a:extLst>
              <a:ext uri="{FF2B5EF4-FFF2-40B4-BE49-F238E27FC236}">
                <a16:creationId xmlns:a16="http://schemas.microsoft.com/office/drawing/2014/main" id="{CF6C4ED7-B6EF-4A02-9742-39A7B7F9C5D8}"/>
              </a:ext>
            </a:extLst>
          </p:cNvPr>
          <p:cNvSpPr>
            <a:spLocks noGrp="1"/>
          </p:cNvSpPr>
          <p:nvPr/>
        </p:nvSpPr>
        <p:spPr>
          <a:xfrm>
            <a:off x="3009900" y="2286000"/>
            <a:ext cx="1885950" cy="7620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Main fuse +</a:t>
            </a:r>
          </a:p>
          <a:p>
            <a:pPr>
              <a:defRPr sz="1725" b="1">
                <a:solidFill>
                  <a:srgbClr val="F5FAFF"/>
                </a:solidFill>
              </a:defRPr>
            </a:pPr>
            <a:r>
              <a:rPr sz="1725" b="1">
                <a:solidFill>
                  <a:srgbClr val="F5FAFF"/>
                </a:solidFill>
              </a:rPr>
              <a:t>disconnect</a:t>
            </a:r>
          </a:p>
        </p:txBody>
      </p:sp>
      <p:sp>
        <p:nvSpPr>
          <p:cNvPr id="11" name="flow-59">
            <a:extLst>
              <a:ext uri="{FF2B5EF4-FFF2-40B4-BE49-F238E27FC236}">
                <a16:creationId xmlns:a16="http://schemas.microsoft.com/office/drawing/2014/main" id="{76CFC4C9-F83A-466C-8CFB-76226EF5A1BF}"/>
              </a:ext>
            </a:extLst>
          </p:cNvPr>
          <p:cNvSpPr>
            <a:spLocks noGrp="1"/>
          </p:cNvSpPr>
          <p:nvPr/>
        </p:nvSpPr>
        <p:spPr>
          <a:xfrm>
            <a:off x="5124450" y="2562225"/>
            <a:ext cx="523875" cy="133350"/>
          </a:xfrm>
          <a:prstGeom prst="rightArrow">
            <a:avLst/>
          </a:prstGeom>
          <a:solidFill>
            <a:srgbClr val="FFC17A"/>
          </a:solidFill>
          <a:ln w="0">
            <a:noFill/>
            <a:prstDash val="solid"/>
          </a:ln>
        </p:spPr>
      </p:sp>
      <p:sp>
        <p:nvSpPr>
          <p:cNvPr id="12" name="node-60">
            <a:extLst>
              <a:ext uri="{FF2B5EF4-FFF2-40B4-BE49-F238E27FC236}">
                <a16:creationId xmlns:a16="http://schemas.microsoft.com/office/drawing/2014/main" id="{FE32F74C-93C8-4B68-A4EE-C9CDE6B9B05A}"/>
              </a:ext>
            </a:extLst>
          </p:cNvPr>
          <p:cNvSpPr>
            <a:spLocks noGrp="1"/>
          </p:cNvSpPr>
          <p:nvPr/>
        </p:nvSpPr>
        <p:spPr>
          <a:xfrm>
            <a:off x="5810250" y="2047875"/>
            <a:ext cx="2762250" cy="1238250"/>
          </a:xfrm>
          <a:prstGeom prst="roundRect">
            <a:avLst>
              <a:gd name="adj" fmla="val 6154"/>
            </a:avLst>
          </a:prstGeom>
          <a:solidFill>
            <a:srgbClr val="173B50"/>
          </a:solidFill>
          <a:ln w="9525">
            <a:solidFill>
              <a:srgbClr val="48D4DF"/>
            </a:solidFill>
            <a:prstDash val="solid"/>
          </a:ln>
        </p:spPr>
      </p:sp>
      <p:sp>
        <p:nvSpPr>
          <p:cNvPr id="13" name="text-61">
            <a:extLst>
              <a:ext uri="{FF2B5EF4-FFF2-40B4-BE49-F238E27FC236}">
                <a16:creationId xmlns:a16="http://schemas.microsoft.com/office/drawing/2014/main" id="{4967DE3B-7A0F-409C-9287-E99C9734C1D3}"/>
              </a:ext>
            </a:extLst>
          </p:cNvPr>
          <p:cNvSpPr>
            <a:spLocks noGrp="1"/>
          </p:cNvSpPr>
          <p:nvPr/>
        </p:nvSpPr>
        <p:spPr>
          <a:xfrm>
            <a:off x="5962650" y="2190750"/>
            <a:ext cx="2457450" cy="104775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Fused servo pairs</a:t>
            </a:r>
          </a:p>
          <a:p>
            <a:pPr>
              <a:defRPr sz="1725" b="1">
                <a:solidFill>
                  <a:srgbClr val="F5FAFF"/>
                </a:solidFill>
              </a:defRPr>
            </a:pPr>
            <a:r>
              <a:rPr sz="1725" b="1">
                <a:solidFill>
                  <a:srgbClr val="F5FAFF"/>
                </a:solidFill>
              </a:rPr>
              <a:t>1–2   3–4   5–6</a:t>
            </a:r>
          </a:p>
          <a:p>
            <a:pPr>
              <a:defRPr sz="1725" b="1">
                <a:solidFill>
                  <a:srgbClr val="F5FAFF"/>
                </a:solidFill>
              </a:defRPr>
            </a:pPr>
            <a:r>
              <a:rPr sz="1725" b="1">
                <a:solidFill>
                  <a:srgbClr val="F5FAFF"/>
                </a:solidFill>
              </a:rPr>
              <a:t>7–8   9–10</a:t>
            </a:r>
          </a:p>
        </p:txBody>
      </p:sp>
      <p:sp>
        <p:nvSpPr>
          <p:cNvPr id="14" name="text-62">
            <a:extLst>
              <a:ext uri="{FF2B5EF4-FFF2-40B4-BE49-F238E27FC236}">
                <a16:creationId xmlns:a16="http://schemas.microsoft.com/office/drawing/2014/main" id="{4D5CF4FC-1B4F-4F0F-A701-1E60EF3E3AAA}"/>
              </a:ext>
            </a:extLst>
          </p:cNvPr>
          <p:cNvSpPr>
            <a:spLocks noGrp="1"/>
          </p:cNvSpPr>
          <p:nvPr/>
        </p:nvSpPr>
        <p:spPr>
          <a:xfrm>
            <a:off x="5762625" y="3476625"/>
            <a:ext cx="2667000" cy="266700"/>
          </a:xfrm>
          <a:prstGeom prst="rect">
            <a:avLst/>
          </a:prstGeom>
          <a:noFill/>
          <a:ln w="0">
            <a:noFill/>
            <a:prstDash val="solid"/>
          </a:ln>
        </p:spPr>
        <p:txBody>
          <a:bodyPr lIns="0" tIns="0" rIns="0" bIns="0"/>
          <a:lstStyle>
            <a:defPPr>
              <a:defRPr sz="1500" b="1">
                <a:solidFill>
                  <a:srgbClr val="FFC17A"/>
                </a:solidFill>
              </a:defRPr>
            </a:defPPr>
            <a:lvl1pPr>
              <a:defRPr sz="1500" b="1">
                <a:solidFill>
                  <a:srgbClr val="FFC17A"/>
                </a:solidFill>
              </a:defRPr>
            </a:lvl1pPr>
            <a:lvl2pPr>
              <a:defRPr sz="1500" b="1">
                <a:solidFill>
                  <a:srgbClr val="FFC17A"/>
                </a:solidFill>
              </a:defRPr>
            </a:lvl2pPr>
            <a:lvl3pPr>
              <a:defRPr sz="1500" b="1">
                <a:solidFill>
                  <a:srgbClr val="FFC17A"/>
                </a:solidFill>
              </a:defRPr>
            </a:lvl3pPr>
            <a:lvl4pPr>
              <a:defRPr sz="1500" b="1">
                <a:solidFill>
                  <a:srgbClr val="FFC17A"/>
                </a:solidFill>
              </a:defRPr>
            </a:lvl4pPr>
            <a:lvl5pPr>
              <a:defRPr sz="1500" b="1">
                <a:solidFill>
                  <a:srgbClr val="FFC17A"/>
                </a:solidFill>
              </a:defRPr>
            </a:lvl5pPr>
            <a:lvl6pPr>
              <a:defRPr sz="1500" b="1">
                <a:solidFill>
                  <a:srgbClr val="FFC17A"/>
                </a:solidFill>
              </a:defRPr>
            </a:lvl6pPr>
            <a:lvl7pPr>
              <a:defRPr sz="1500" b="1">
                <a:solidFill>
                  <a:srgbClr val="FFC17A"/>
                </a:solidFill>
              </a:defRPr>
            </a:lvl7pPr>
            <a:lvl8pPr>
              <a:defRPr sz="1500" b="1">
                <a:solidFill>
                  <a:srgbClr val="FFC17A"/>
                </a:solidFill>
              </a:defRPr>
            </a:lvl8pPr>
            <a:lvl9pPr>
              <a:defRPr sz="1500" b="1">
                <a:solidFill>
                  <a:srgbClr val="FFC17A"/>
                </a:solidFill>
              </a:defRPr>
            </a:lvl9pPr>
          </a:lstStyle>
          <a:p>
            <a:pPr>
              <a:defRPr sz="1500" b="1">
                <a:solidFill>
                  <a:srgbClr val="FFC17A"/>
                </a:solidFill>
              </a:defRPr>
            </a:pPr>
            <a:r>
              <a:rPr sz="1500" b="1">
                <a:solidFill>
                  <a:srgbClr val="FFC17A"/>
                </a:solidFill>
              </a:rPr>
              <a:t>Servo power</a:t>
            </a:r>
          </a:p>
        </p:txBody>
      </p:sp>
      <p:sp>
        <p:nvSpPr>
          <p:cNvPr id="15" name="node-63">
            <a:extLst>
              <a:ext uri="{FF2B5EF4-FFF2-40B4-BE49-F238E27FC236}">
                <a16:creationId xmlns:a16="http://schemas.microsoft.com/office/drawing/2014/main" id="{CC7DA84A-0A82-4610-A1C5-8B0CF72EA32B}"/>
              </a:ext>
            </a:extLst>
          </p:cNvPr>
          <p:cNvSpPr>
            <a:spLocks noGrp="1"/>
          </p:cNvSpPr>
          <p:nvPr/>
        </p:nvSpPr>
        <p:spPr>
          <a:xfrm>
            <a:off x="2857500" y="4238625"/>
            <a:ext cx="2190750" cy="762000"/>
          </a:xfrm>
          <a:prstGeom prst="roundRect">
            <a:avLst>
              <a:gd name="adj" fmla="val 10000"/>
            </a:avLst>
          </a:prstGeom>
          <a:solidFill>
            <a:srgbClr val="173B50"/>
          </a:solidFill>
          <a:ln w="9525">
            <a:solidFill>
              <a:srgbClr val="48D4DF"/>
            </a:solidFill>
            <a:prstDash val="solid"/>
          </a:ln>
        </p:spPr>
      </p:sp>
      <p:sp>
        <p:nvSpPr>
          <p:cNvPr id="16" name="text-64">
            <a:extLst>
              <a:ext uri="{FF2B5EF4-FFF2-40B4-BE49-F238E27FC236}">
                <a16:creationId xmlns:a16="http://schemas.microsoft.com/office/drawing/2014/main" id="{869CD95B-0C1E-4751-B51E-4DDA58BFFFCA}"/>
              </a:ext>
            </a:extLst>
          </p:cNvPr>
          <p:cNvSpPr>
            <a:spLocks noGrp="1"/>
          </p:cNvSpPr>
          <p:nvPr/>
        </p:nvSpPr>
        <p:spPr>
          <a:xfrm>
            <a:off x="3009900" y="4381500"/>
            <a:ext cx="1885950" cy="5715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Buck supply</a:t>
            </a:r>
          </a:p>
        </p:txBody>
      </p:sp>
      <p:sp>
        <p:nvSpPr>
          <p:cNvPr id="17" name="node-65">
            <a:extLst>
              <a:ext uri="{FF2B5EF4-FFF2-40B4-BE49-F238E27FC236}">
                <a16:creationId xmlns:a16="http://schemas.microsoft.com/office/drawing/2014/main" id="{2EC68842-6D2D-4E86-BAB8-E47182743EE1}"/>
              </a:ext>
            </a:extLst>
          </p:cNvPr>
          <p:cNvSpPr>
            <a:spLocks noGrp="1"/>
          </p:cNvSpPr>
          <p:nvPr/>
        </p:nvSpPr>
        <p:spPr>
          <a:xfrm>
            <a:off x="6191250" y="4238625"/>
            <a:ext cx="2381250" cy="762000"/>
          </a:xfrm>
          <a:prstGeom prst="roundRect">
            <a:avLst>
              <a:gd name="adj" fmla="val 10000"/>
            </a:avLst>
          </a:prstGeom>
          <a:solidFill>
            <a:srgbClr val="173B50"/>
          </a:solidFill>
          <a:ln w="9525">
            <a:solidFill>
              <a:srgbClr val="48D4DF"/>
            </a:solidFill>
            <a:prstDash val="solid"/>
          </a:ln>
        </p:spPr>
      </p:sp>
      <p:sp>
        <p:nvSpPr>
          <p:cNvPr id="18" name="text-66">
            <a:extLst>
              <a:ext uri="{FF2B5EF4-FFF2-40B4-BE49-F238E27FC236}">
                <a16:creationId xmlns:a16="http://schemas.microsoft.com/office/drawing/2014/main" id="{55237F41-869E-4E20-B125-41935C37B2D5}"/>
              </a:ext>
            </a:extLst>
          </p:cNvPr>
          <p:cNvSpPr>
            <a:spLocks noGrp="1"/>
          </p:cNvSpPr>
          <p:nvPr/>
        </p:nvSpPr>
        <p:spPr>
          <a:xfrm>
            <a:off x="6343650" y="4381500"/>
            <a:ext cx="2076450" cy="5715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Controller</a:t>
            </a:r>
          </a:p>
        </p:txBody>
      </p:sp>
      <p:sp>
        <p:nvSpPr>
          <p:cNvPr id="19" name="flow-67">
            <a:extLst>
              <a:ext uri="{FF2B5EF4-FFF2-40B4-BE49-F238E27FC236}">
                <a16:creationId xmlns:a16="http://schemas.microsoft.com/office/drawing/2014/main" id="{0ADAB2C7-B1DD-4CBD-A835-F1B19890A232}"/>
              </a:ext>
            </a:extLst>
          </p:cNvPr>
          <p:cNvSpPr>
            <a:spLocks noGrp="1"/>
          </p:cNvSpPr>
          <p:nvPr/>
        </p:nvSpPr>
        <p:spPr>
          <a:xfrm>
            <a:off x="5143500" y="4562475"/>
            <a:ext cx="904875" cy="133350"/>
          </a:xfrm>
          <a:prstGeom prst="rightArrow">
            <a:avLst/>
          </a:prstGeom>
          <a:solidFill>
            <a:srgbClr val="FFC17A"/>
          </a:solidFill>
          <a:ln w="0">
            <a:noFill/>
            <a:prstDash val="solid"/>
          </a:ln>
        </p:spPr>
      </p:sp>
      <p:sp>
        <p:nvSpPr>
          <p:cNvPr id="20" name="text-68">
            <a:extLst>
              <a:ext uri="{FF2B5EF4-FFF2-40B4-BE49-F238E27FC236}">
                <a16:creationId xmlns:a16="http://schemas.microsoft.com/office/drawing/2014/main" id="{057E2E70-90DC-416D-B723-E107868C49B5}"/>
              </a:ext>
            </a:extLst>
          </p:cNvPr>
          <p:cNvSpPr>
            <a:spLocks noGrp="1"/>
          </p:cNvSpPr>
          <p:nvPr/>
        </p:nvSpPr>
        <p:spPr>
          <a:xfrm>
            <a:off x="5124450" y="5067300"/>
            <a:ext cx="2857500" cy="266700"/>
          </a:xfrm>
          <a:prstGeom prst="rect">
            <a:avLst/>
          </a:prstGeom>
          <a:noFill/>
          <a:ln w="0">
            <a:noFill/>
            <a:prstDash val="solid"/>
          </a:ln>
        </p:spPr>
        <p:txBody>
          <a:bodyPr lIns="0" tIns="0" rIns="0" bIns="0"/>
          <a:lstStyle>
            <a:defPPr>
              <a:defRPr sz="1500" b="0">
                <a:solidFill>
                  <a:srgbClr val="FFC17A"/>
                </a:solidFill>
              </a:defRPr>
            </a:defPPr>
            <a:lvl1pPr>
              <a:defRPr sz="1500" b="0">
                <a:solidFill>
                  <a:srgbClr val="FFC17A"/>
                </a:solidFill>
              </a:defRPr>
            </a:lvl1pPr>
            <a:lvl2pPr>
              <a:defRPr sz="1500" b="0">
                <a:solidFill>
                  <a:srgbClr val="FFC17A"/>
                </a:solidFill>
              </a:defRPr>
            </a:lvl2pPr>
            <a:lvl3pPr>
              <a:defRPr sz="1500" b="0">
                <a:solidFill>
                  <a:srgbClr val="FFC17A"/>
                </a:solidFill>
              </a:defRPr>
            </a:lvl3pPr>
            <a:lvl4pPr>
              <a:defRPr sz="1500" b="0">
                <a:solidFill>
                  <a:srgbClr val="FFC17A"/>
                </a:solidFill>
              </a:defRPr>
            </a:lvl4pPr>
            <a:lvl5pPr>
              <a:defRPr sz="1500" b="0">
                <a:solidFill>
                  <a:srgbClr val="FFC17A"/>
                </a:solidFill>
              </a:defRPr>
            </a:lvl5pPr>
            <a:lvl6pPr>
              <a:defRPr sz="1500" b="0">
                <a:solidFill>
                  <a:srgbClr val="FFC17A"/>
                </a:solidFill>
              </a:defRPr>
            </a:lvl6pPr>
            <a:lvl7pPr>
              <a:defRPr sz="1500" b="0">
                <a:solidFill>
                  <a:srgbClr val="FFC17A"/>
                </a:solidFill>
              </a:defRPr>
            </a:lvl7pPr>
            <a:lvl8pPr>
              <a:defRPr sz="1500" b="0">
                <a:solidFill>
                  <a:srgbClr val="FFC17A"/>
                </a:solidFill>
              </a:defRPr>
            </a:lvl8pPr>
            <a:lvl9pPr>
              <a:defRPr sz="1500" b="0">
                <a:solidFill>
                  <a:srgbClr val="FFC17A"/>
                </a:solidFill>
              </a:defRPr>
            </a:lvl9pPr>
          </a:lstStyle>
          <a:p>
            <a:pPr>
              <a:defRPr sz="1500" b="0">
                <a:solidFill>
                  <a:srgbClr val="FFC17A"/>
                </a:solidFill>
              </a:defRPr>
            </a:pPr>
            <a:r>
              <a:rPr sz="1500" b="0">
                <a:solidFill>
                  <a:srgbClr val="FFC17A"/>
                </a:solidFill>
              </a:rPr>
              <a:t>Controller power</a:t>
            </a:r>
          </a:p>
        </p:txBody>
      </p:sp>
      <p:sp>
        <p:nvSpPr>
          <p:cNvPr id="21" name="power-branch">
            <a:extLst>
              <a:ext uri="{FF2B5EF4-FFF2-40B4-BE49-F238E27FC236}">
                <a16:creationId xmlns:a16="http://schemas.microsoft.com/office/drawing/2014/main" id="{79BE7346-5A9B-4225-BC96-54DF1004708A}"/>
              </a:ext>
            </a:extLst>
          </p:cNvPr>
          <p:cNvSpPr>
            <a:spLocks noGrp="1"/>
          </p:cNvSpPr>
          <p:nvPr/>
        </p:nvSpPr>
        <p:spPr>
          <a:xfrm>
            <a:off x="3714750" y="3143250"/>
            <a:ext cx="190500" cy="990600"/>
          </a:xfrm>
          <a:prstGeom prst="downArrow">
            <a:avLst/>
          </a:prstGeom>
          <a:solidFill>
            <a:srgbClr val="FFC17A"/>
          </a:solidFill>
          <a:ln w="0">
            <a:noFill/>
            <a:prstDash val="solid"/>
          </a:ln>
        </p:spPr>
      </p:sp>
      <p:sp>
        <p:nvSpPr>
          <p:cNvPr id="22" name="data-link">
            <a:extLst>
              <a:ext uri="{FF2B5EF4-FFF2-40B4-BE49-F238E27FC236}">
                <a16:creationId xmlns:a16="http://schemas.microsoft.com/office/drawing/2014/main" id="{1F8B9446-6709-41CB-B5AC-C7DAEA226A26}"/>
              </a:ext>
            </a:extLst>
          </p:cNvPr>
          <p:cNvSpPr>
            <a:spLocks noGrp="1"/>
          </p:cNvSpPr>
          <p:nvPr/>
        </p:nvSpPr>
        <p:spPr>
          <a:xfrm>
            <a:off x="7334250" y="3409950"/>
            <a:ext cx="190500" cy="742950"/>
          </a:xfrm>
          <a:prstGeom prst="upArrow">
            <a:avLst/>
          </a:prstGeom>
          <a:solidFill>
            <a:srgbClr val="48D4DF"/>
          </a:solidFill>
          <a:ln w="0">
            <a:noFill/>
            <a:prstDash val="solid"/>
          </a:ln>
        </p:spPr>
      </p:sp>
      <p:sp>
        <p:nvSpPr>
          <p:cNvPr id="23" name="text-69">
            <a:extLst>
              <a:ext uri="{FF2B5EF4-FFF2-40B4-BE49-F238E27FC236}">
                <a16:creationId xmlns:a16="http://schemas.microsoft.com/office/drawing/2014/main" id="{07CC4AE9-3587-4E32-A191-C17258DBA9D1}"/>
              </a:ext>
            </a:extLst>
          </p:cNvPr>
          <p:cNvSpPr>
            <a:spLocks noGrp="1"/>
          </p:cNvSpPr>
          <p:nvPr/>
        </p:nvSpPr>
        <p:spPr>
          <a:xfrm>
            <a:off x="8763000" y="3762375"/>
            <a:ext cx="2190750" cy="285750"/>
          </a:xfrm>
          <a:prstGeom prst="rect">
            <a:avLst/>
          </a:prstGeom>
          <a:noFill/>
          <a:ln w="0">
            <a:noFill/>
            <a:prstDash val="solid"/>
          </a:ln>
        </p:spPr>
        <p:txBody>
          <a:bodyPr lIns="0" tIns="0" rIns="0" bIns="0"/>
          <a:lstStyle>
            <a:defPPr>
              <a:defRPr sz="1650" b="1">
                <a:solidFill>
                  <a:srgbClr val="48D4DF"/>
                </a:solidFill>
              </a:defRPr>
            </a:defPPr>
            <a:lvl1pPr>
              <a:defRPr sz="1650" b="1">
                <a:solidFill>
                  <a:srgbClr val="48D4DF"/>
                </a:solidFill>
              </a:defRPr>
            </a:lvl1pPr>
            <a:lvl2pPr>
              <a:defRPr sz="1650" b="1">
                <a:solidFill>
                  <a:srgbClr val="48D4DF"/>
                </a:solidFill>
              </a:defRPr>
            </a:lvl2pPr>
            <a:lvl3pPr>
              <a:defRPr sz="1650" b="1">
                <a:solidFill>
                  <a:srgbClr val="48D4DF"/>
                </a:solidFill>
              </a:defRPr>
            </a:lvl3pPr>
            <a:lvl4pPr>
              <a:defRPr sz="1650" b="1">
                <a:solidFill>
                  <a:srgbClr val="48D4DF"/>
                </a:solidFill>
              </a:defRPr>
            </a:lvl4pPr>
            <a:lvl5pPr>
              <a:defRPr sz="1650" b="1">
                <a:solidFill>
                  <a:srgbClr val="48D4DF"/>
                </a:solidFill>
              </a:defRPr>
            </a:lvl5pPr>
            <a:lvl6pPr>
              <a:defRPr sz="1650" b="1">
                <a:solidFill>
                  <a:srgbClr val="48D4DF"/>
                </a:solidFill>
              </a:defRPr>
            </a:lvl6pPr>
            <a:lvl7pPr>
              <a:defRPr sz="1650" b="1">
                <a:solidFill>
                  <a:srgbClr val="48D4DF"/>
                </a:solidFill>
              </a:defRPr>
            </a:lvl7pPr>
            <a:lvl8pPr>
              <a:defRPr sz="1650" b="1">
                <a:solidFill>
                  <a:srgbClr val="48D4DF"/>
                </a:solidFill>
              </a:defRPr>
            </a:lvl8pPr>
            <a:lvl9pPr>
              <a:defRPr sz="1650" b="1">
                <a:solidFill>
                  <a:srgbClr val="48D4DF"/>
                </a:solidFill>
              </a:defRPr>
            </a:lvl9pPr>
          </a:lstStyle>
          <a:p>
            <a:pPr>
              <a:defRPr sz="1650" b="1">
                <a:solidFill>
                  <a:srgbClr val="48D4DF"/>
                </a:solidFill>
              </a:defRPr>
            </a:pPr>
            <a:r>
              <a:rPr sz="1650" b="1">
                <a:solidFill>
                  <a:srgbClr val="48D4DF"/>
                </a:solidFill>
              </a:rPr>
              <a:t>DATA + GND</a:t>
            </a:r>
          </a:p>
        </p:txBody>
      </p:sp>
      <p:sp>
        <p:nvSpPr>
          <p:cNvPr id="24" name="text-70">
            <a:extLst>
              <a:ext uri="{FF2B5EF4-FFF2-40B4-BE49-F238E27FC236}">
                <a16:creationId xmlns:a16="http://schemas.microsoft.com/office/drawing/2014/main" id="{E9F57883-0238-450F-BA0A-EE0063125CFD}"/>
              </a:ext>
            </a:extLst>
          </p:cNvPr>
          <p:cNvSpPr>
            <a:spLocks noGrp="1"/>
          </p:cNvSpPr>
          <p:nvPr/>
        </p:nvSpPr>
        <p:spPr>
          <a:xfrm>
            <a:off x="8905875" y="2190750"/>
            <a:ext cx="2190750" cy="904875"/>
          </a:xfrm>
          <a:prstGeom prst="rect">
            <a:avLst/>
          </a:prstGeom>
          <a:noFill/>
          <a:ln w="0">
            <a:noFill/>
            <a:prstDash val="solid"/>
          </a:ln>
        </p:spPr>
        <p:txBody>
          <a:bodyPr lIns="0" tIns="0" rIns="0" bIns="0"/>
          <a:lstStyle>
            <a:defPPr>
              <a:defRPr sz="1875" b="0">
                <a:solidFill>
                  <a:srgbClr val="F5FAFF"/>
                </a:solidFill>
              </a:defRPr>
            </a:defPPr>
            <a:lvl1pPr>
              <a:defRPr sz="1875" b="0">
                <a:solidFill>
                  <a:srgbClr val="F5FAFF"/>
                </a:solidFill>
              </a:defRPr>
            </a:lvl1pPr>
            <a:lvl2pPr>
              <a:defRPr sz="1875" b="0">
                <a:solidFill>
                  <a:srgbClr val="F5FAFF"/>
                </a:solidFill>
              </a:defRPr>
            </a:lvl2pPr>
            <a:lvl3pPr>
              <a:defRPr sz="1875" b="0">
                <a:solidFill>
                  <a:srgbClr val="F5FAFF"/>
                </a:solidFill>
              </a:defRPr>
            </a:lvl3pPr>
            <a:lvl4pPr>
              <a:defRPr sz="1875" b="0">
                <a:solidFill>
                  <a:srgbClr val="F5FAFF"/>
                </a:solidFill>
              </a:defRPr>
            </a:lvl4pPr>
            <a:lvl5pPr>
              <a:defRPr sz="1875" b="0">
                <a:solidFill>
                  <a:srgbClr val="F5FAFF"/>
                </a:solidFill>
              </a:defRPr>
            </a:lvl5pPr>
            <a:lvl6pPr>
              <a:defRPr sz="1875" b="0">
                <a:solidFill>
                  <a:srgbClr val="F5FAFF"/>
                </a:solidFill>
              </a:defRPr>
            </a:lvl6pPr>
            <a:lvl7pPr>
              <a:defRPr sz="1875" b="0">
                <a:solidFill>
                  <a:srgbClr val="F5FAFF"/>
                </a:solidFill>
              </a:defRPr>
            </a:lvl7pPr>
            <a:lvl8pPr>
              <a:defRPr sz="1875" b="0">
                <a:solidFill>
                  <a:srgbClr val="F5FAFF"/>
                </a:solidFill>
              </a:defRPr>
            </a:lvl8pPr>
            <a:lvl9pPr>
              <a:defRPr sz="1875" b="0">
                <a:solidFill>
                  <a:srgbClr val="F5FAFF"/>
                </a:solidFill>
              </a:defRPr>
            </a:lvl9pPr>
          </a:lstStyle>
          <a:p>
            <a:pPr>
              <a:defRPr sz="1875" b="0">
                <a:solidFill>
                  <a:srgbClr val="F5FAFF"/>
                </a:solidFill>
              </a:defRPr>
            </a:pPr>
            <a:r>
              <a:rPr sz="1875" b="0">
                <a:solidFill>
                  <a:srgbClr val="F5FAFF"/>
                </a:solidFill>
              </a:rPr>
              <a:t>Five separate</a:t>
            </a:r>
          </a:p>
          <a:p>
            <a:pPr>
              <a:defRPr sz="1875" b="0">
                <a:solidFill>
                  <a:srgbClr val="F5FAFF"/>
                </a:solidFill>
              </a:defRPr>
            </a:pPr>
            <a:r>
              <a:rPr sz="1875" b="0">
                <a:solidFill>
                  <a:srgbClr val="F5FAFF"/>
                </a:solidFill>
              </a:rPr>
              <a:t>servo power groups</a:t>
            </a:r>
          </a:p>
        </p:txBody>
      </p:sp>
      <p:sp>
        <p:nvSpPr>
          <p:cNvPr id="25" name="text-71">
            <a:extLst>
              <a:ext uri="{FF2B5EF4-FFF2-40B4-BE49-F238E27FC236}">
                <a16:creationId xmlns:a16="http://schemas.microsoft.com/office/drawing/2014/main" id="{49628561-E245-49D6-A42C-80A3D0237465}"/>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Power design v3: controller supply is separate; shared ground provides the data reference.</a:t>
            </a:r>
          </a:p>
        </p:txBody>
      </p:sp>
    </p:spTree>
    <p:extLst>
      <p:ext uri="{BB962C8B-B14F-4D97-AF65-F5344CB8AC3E}">
        <p14:creationId xmlns:p14="http://schemas.microsoft.com/office/powerpoint/2010/main" val="267292438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20"/>
                                        <p:tgtEl>
                                          <p:spTgt spid="8"/>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220"/>
                                        <p:tgtEl>
                                          <p:spTgt spid="11"/>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20"/>
                                        <p:tgtEl>
                                          <p:spTgt spid="19"/>
                                        </p:tgtEl>
                                      </p:cBhvr>
                                    </p:animEffect>
                                  </p:childTnLst>
                                </p:cTn>
                              </p:par>
                            </p:childTnLst>
                          </p:cTn>
                        </p:par>
                        <p:par>
                          <p:cTn id="16" fill="hold">
                            <p:stCondLst>
                              <p:cond delay="66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20"/>
                                        <p:tgtEl>
                                          <p:spTgt spid="21"/>
                                        </p:tgtEl>
                                      </p:cBhvr>
                                    </p:animEffect>
                                  </p:childTnLst>
                                </p:cTn>
                              </p:par>
                            </p:childTnLst>
                          </p:cTn>
                        </p:par>
                        <p:par>
                          <p:cTn id="20" fill="hold">
                            <p:stCondLst>
                              <p:cond delay="880"/>
                            </p:stCondLst>
                            <p:childTnLst>
                              <p:par>
                                <p:cTn id="21" presetID="10"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2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23" name="text-72">
            <a:extLst>
              <a:ext uri="{FF2B5EF4-FFF2-40B4-BE49-F238E27FC236}">
                <a16:creationId xmlns:a16="http://schemas.microsoft.com/office/drawing/2014/main" id="{DB47C2BC-23D9-4BD6-B357-7BDA4F7364BA}"/>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73">
            <a:extLst>
              <a:ext uri="{FF2B5EF4-FFF2-40B4-BE49-F238E27FC236}">
                <a16:creationId xmlns:a16="http://schemas.microsoft.com/office/drawing/2014/main" id="{F0B20571-E564-4847-8B93-9A6DE6AA7824}"/>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Gen 2.0 keeps the gait on the robot</a:t>
            </a:r>
          </a:p>
        </p:txBody>
      </p:sp>
      <p:sp>
        <p:nvSpPr>
          <p:cNvPr id="3" name="text-74">
            <a:extLst>
              <a:ext uri="{FF2B5EF4-FFF2-40B4-BE49-F238E27FC236}">
                <a16:creationId xmlns:a16="http://schemas.microsoft.com/office/drawing/2014/main" id="{6C8F577F-5AF7-40B3-84FC-5C72772A8D36}"/>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75">
            <a:extLst>
              <a:ext uri="{FF2B5EF4-FFF2-40B4-BE49-F238E27FC236}">
                <a16:creationId xmlns:a16="http://schemas.microsoft.com/office/drawing/2014/main" id="{A17EBBC4-4D18-4F99-810D-5C119F181346}"/>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22</a:t>
            </a:r>
          </a:p>
        </p:txBody>
      </p:sp>
      <p:sp>
        <p:nvSpPr>
          <p:cNvPr id="5" name="glass-76">
            <a:extLst>
              <a:ext uri="{FF2B5EF4-FFF2-40B4-BE49-F238E27FC236}">
                <a16:creationId xmlns:a16="http://schemas.microsoft.com/office/drawing/2014/main" id="{6FE76B39-9474-40EA-B1BF-8B0190C1FAAE}"/>
              </a:ext>
            </a:extLst>
          </p:cNvPr>
          <p:cNvSpPr>
            <a:spLocks noGrp="1"/>
          </p:cNvSpPr>
          <p:nvPr/>
        </p:nvSpPr>
        <p:spPr>
          <a:xfrm>
            <a:off x="609600" y="1762125"/>
            <a:ext cx="10972800" cy="3905250"/>
          </a:xfrm>
          <a:prstGeom prst="roundRect">
            <a:avLst>
              <a:gd name="adj" fmla="val 1951"/>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node-77">
            <a:extLst>
              <a:ext uri="{FF2B5EF4-FFF2-40B4-BE49-F238E27FC236}">
                <a16:creationId xmlns:a16="http://schemas.microsoft.com/office/drawing/2014/main" id="{35EC4B90-39FC-4D36-BF33-2D3A9BB838F1}"/>
              </a:ext>
            </a:extLst>
          </p:cNvPr>
          <p:cNvSpPr>
            <a:spLocks noGrp="1"/>
          </p:cNvSpPr>
          <p:nvPr/>
        </p:nvSpPr>
        <p:spPr>
          <a:xfrm>
            <a:off x="952500" y="2190750"/>
            <a:ext cx="2476500" cy="904875"/>
          </a:xfrm>
          <a:prstGeom prst="roundRect">
            <a:avLst>
              <a:gd name="adj" fmla="val 8421"/>
            </a:avLst>
          </a:prstGeom>
          <a:solidFill>
            <a:srgbClr val="173B50"/>
          </a:solidFill>
          <a:ln w="9525">
            <a:solidFill>
              <a:srgbClr val="48D4DF"/>
            </a:solidFill>
            <a:prstDash val="solid"/>
          </a:ln>
        </p:spPr>
      </p:sp>
      <p:sp>
        <p:nvSpPr>
          <p:cNvPr id="7" name="text-78">
            <a:extLst>
              <a:ext uri="{FF2B5EF4-FFF2-40B4-BE49-F238E27FC236}">
                <a16:creationId xmlns:a16="http://schemas.microsoft.com/office/drawing/2014/main" id="{B7403933-3CCB-4C36-8111-162F94735874}"/>
              </a:ext>
            </a:extLst>
          </p:cNvPr>
          <p:cNvSpPr>
            <a:spLocks noGrp="1"/>
          </p:cNvSpPr>
          <p:nvPr/>
        </p:nvSpPr>
        <p:spPr>
          <a:xfrm>
            <a:off x="1104900" y="2333625"/>
            <a:ext cx="2171700" cy="714375"/>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Robot ESP32</a:t>
            </a:r>
          </a:p>
          <a:p>
            <a:pPr>
              <a:defRPr sz="1725" b="1">
                <a:solidFill>
                  <a:srgbClr val="F5FAFF"/>
                </a:solidFill>
              </a:defRPr>
            </a:pPr>
            <a:r>
              <a:rPr sz="1725" b="1">
                <a:solidFill>
                  <a:srgbClr val="F5FAFF"/>
                </a:solidFill>
              </a:rPr>
              <a:t>Onboard gait</a:t>
            </a:r>
          </a:p>
        </p:txBody>
      </p:sp>
      <p:sp>
        <p:nvSpPr>
          <p:cNvPr id="8" name="flow-79">
            <a:extLst>
              <a:ext uri="{FF2B5EF4-FFF2-40B4-BE49-F238E27FC236}">
                <a16:creationId xmlns:a16="http://schemas.microsoft.com/office/drawing/2014/main" id="{F93C52E1-D2E2-48C0-9975-85D04F5D4605}"/>
              </a:ext>
            </a:extLst>
          </p:cNvPr>
          <p:cNvSpPr>
            <a:spLocks noGrp="1"/>
          </p:cNvSpPr>
          <p:nvPr/>
        </p:nvSpPr>
        <p:spPr>
          <a:xfrm>
            <a:off x="3524250" y="2571750"/>
            <a:ext cx="952500" cy="133350"/>
          </a:xfrm>
          <a:prstGeom prst="rightArrow">
            <a:avLst/>
          </a:prstGeom>
          <a:solidFill>
            <a:srgbClr val="48D4DF"/>
          </a:solidFill>
          <a:ln w="0">
            <a:noFill/>
            <a:prstDash val="solid"/>
          </a:ln>
        </p:spPr>
      </p:sp>
      <p:sp>
        <p:nvSpPr>
          <p:cNvPr id="9" name="text-80">
            <a:extLst>
              <a:ext uri="{FF2B5EF4-FFF2-40B4-BE49-F238E27FC236}">
                <a16:creationId xmlns:a16="http://schemas.microsoft.com/office/drawing/2014/main" id="{9EB37559-9C8D-47A5-8CE6-41FBE46D6EF9}"/>
              </a:ext>
            </a:extLst>
          </p:cNvPr>
          <p:cNvSpPr>
            <a:spLocks noGrp="1"/>
          </p:cNvSpPr>
          <p:nvPr/>
        </p:nvSpPr>
        <p:spPr>
          <a:xfrm>
            <a:off x="3429000" y="2247900"/>
            <a:ext cx="1905000" cy="266700"/>
          </a:xfrm>
          <a:prstGeom prst="rect">
            <a:avLst/>
          </a:prstGeom>
          <a:noFill/>
          <a:ln w="0">
            <a:noFill/>
            <a:prstDash val="solid"/>
          </a:ln>
        </p:spPr>
        <p:txBody>
          <a:bodyPr lIns="0" tIns="0" rIns="0" bIns="0"/>
          <a:lstStyle>
            <a:defPPr>
              <a:defRPr sz="1275" b="0">
                <a:solidFill>
                  <a:srgbClr val="B9CDDF"/>
                </a:solidFill>
              </a:defRPr>
            </a:defPPr>
            <a:lvl1pPr>
              <a:defRPr sz="1275" b="0">
                <a:solidFill>
                  <a:srgbClr val="B9CDDF"/>
                </a:solidFill>
              </a:defRPr>
            </a:lvl1pPr>
            <a:lvl2pPr>
              <a:defRPr sz="1275" b="0">
                <a:solidFill>
                  <a:srgbClr val="B9CDDF"/>
                </a:solidFill>
              </a:defRPr>
            </a:lvl2pPr>
            <a:lvl3pPr>
              <a:defRPr sz="1275" b="0">
                <a:solidFill>
                  <a:srgbClr val="B9CDDF"/>
                </a:solidFill>
              </a:defRPr>
            </a:lvl3pPr>
            <a:lvl4pPr>
              <a:defRPr sz="1275" b="0">
                <a:solidFill>
                  <a:srgbClr val="B9CDDF"/>
                </a:solidFill>
              </a:defRPr>
            </a:lvl4pPr>
            <a:lvl5pPr>
              <a:defRPr sz="1275" b="0">
                <a:solidFill>
                  <a:srgbClr val="B9CDDF"/>
                </a:solidFill>
              </a:defRPr>
            </a:lvl5pPr>
            <a:lvl6pPr>
              <a:defRPr sz="1275" b="0">
                <a:solidFill>
                  <a:srgbClr val="B9CDDF"/>
                </a:solidFill>
              </a:defRPr>
            </a:lvl6pPr>
            <a:lvl7pPr>
              <a:defRPr sz="1275" b="0">
                <a:solidFill>
                  <a:srgbClr val="B9CDDF"/>
                </a:solidFill>
              </a:defRPr>
            </a:lvl7pPr>
            <a:lvl8pPr>
              <a:defRPr sz="1275" b="0">
                <a:solidFill>
                  <a:srgbClr val="B9CDDF"/>
                </a:solidFill>
              </a:defRPr>
            </a:lvl8pPr>
            <a:lvl9pPr>
              <a:defRPr sz="1275" b="0">
                <a:solidFill>
                  <a:srgbClr val="B9CDDF"/>
                </a:solidFill>
              </a:defRPr>
            </a:lvl9pPr>
          </a:lstStyle>
          <a:p>
            <a:pPr>
              <a:defRPr sz="1275" b="0">
                <a:solidFill>
                  <a:srgbClr val="B9CDDF"/>
                </a:solidFill>
              </a:defRPr>
            </a:pPr>
            <a:r>
              <a:rPr sz="1275" b="0">
                <a:solidFill>
                  <a:srgbClr val="B9CDDF"/>
                </a:solidFill>
              </a:rPr>
              <a:t>Targets</a:t>
            </a:r>
          </a:p>
        </p:txBody>
      </p:sp>
      <p:sp>
        <p:nvSpPr>
          <p:cNvPr id="10" name="node-81">
            <a:extLst>
              <a:ext uri="{FF2B5EF4-FFF2-40B4-BE49-F238E27FC236}">
                <a16:creationId xmlns:a16="http://schemas.microsoft.com/office/drawing/2014/main" id="{4D25A318-961A-4081-8CB0-AC522312B5AC}"/>
              </a:ext>
            </a:extLst>
          </p:cNvPr>
          <p:cNvSpPr>
            <a:spLocks noGrp="1"/>
          </p:cNvSpPr>
          <p:nvPr/>
        </p:nvSpPr>
        <p:spPr>
          <a:xfrm>
            <a:off x="4619625" y="2190750"/>
            <a:ext cx="2857500" cy="904875"/>
          </a:xfrm>
          <a:prstGeom prst="roundRect">
            <a:avLst>
              <a:gd name="adj" fmla="val 8421"/>
            </a:avLst>
          </a:prstGeom>
          <a:solidFill>
            <a:srgbClr val="173B50"/>
          </a:solidFill>
          <a:ln w="9525">
            <a:solidFill>
              <a:srgbClr val="48D4DF"/>
            </a:solidFill>
            <a:prstDash val="solid"/>
          </a:ln>
        </p:spPr>
      </p:sp>
      <p:sp>
        <p:nvSpPr>
          <p:cNvPr id="11" name="text-82">
            <a:extLst>
              <a:ext uri="{FF2B5EF4-FFF2-40B4-BE49-F238E27FC236}">
                <a16:creationId xmlns:a16="http://schemas.microsoft.com/office/drawing/2014/main" id="{C04E321E-510E-4408-AE94-BF614DB9597D}"/>
              </a:ext>
            </a:extLst>
          </p:cNvPr>
          <p:cNvSpPr>
            <a:spLocks noGrp="1"/>
          </p:cNvSpPr>
          <p:nvPr/>
        </p:nvSpPr>
        <p:spPr>
          <a:xfrm>
            <a:off x="4772025" y="2333625"/>
            <a:ext cx="2552700" cy="714375"/>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Servo chain</a:t>
            </a:r>
          </a:p>
          <a:p>
            <a:pPr>
              <a:defRPr sz="1725" b="1">
                <a:solidFill>
                  <a:srgbClr val="F5FAFF"/>
                </a:solidFill>
              </a:defRPr>
            </a:pPr>
            <a:r>
              <a:rPr sz="1725" b="1">
                <a:solidFill>
                  <a:srgbClr val="F5FAFF"/>
                </a:solidFill>
              </a:rPr>
              <a:t>Current feedback</a:t>
            </a:r>
          </a:p>
        </p:txBody>
      </p:sp>
      <p:sp>
        <p:nvSpPr>
          <p:cNvPr id="12" name="node-83">
            <a:extLst>
              <a:ext uri="{FF2B5EF4-FFF2-40B4-BE49-F238E27FC236}">
                <a16:creationId xmlns:a16="http://schemas.microsoft.com/office/drawing/2014/main" id="{5DE04572-A2F4-4A62-B050-63E0261C4C9B}"/>
              </a:ext>
            </a:extLst>
          </p:cNvPr>
          <p:cNvSpPr>
            <a:spLocks noGrp="1"/>
          </p:cNvSpPr>
          <p:nvPr/>
        </p:nvSpPr>
        <p:spPr>
          <a:xfrm>
            <a:off x="4619625" y="4000500"/>
            <a:ext cx="2857500" cy="904875"/>
          </a:xfrm>
          <a:prstGeom prst="roundRect">
            <a:avLst>
              <a:gd name="adj" fmla="val 8421"/>
            </a:avLst>
          </a:prstGeom>
          <a:solidFill>
            <a:srgbClr val="173B50"/>
          </a:solidFill>
          <a:ln w="9525">
            <a:solidFill>
              <a:srgbClr val="48D4DF"/>
            </a:solidFill>
            <a:prstDash val="solid"/>
          </a:ln>
        </p:spPr>
      </p:sp>
      <p:sp>
        <p:nvSpPr>
          <p:cNvPr id="13" name="text-84">
            <a:extLst>
              <a:ext uri="{FF2B5EF4-FFF2-40B4-BE49-F238E27FC236}">
                <a16:creationId xmlns:a16="http://schemas.microsoft.com/office/drawing/2014/main" id="{B1896874-A5D6-4BFB-BEB8-F605C1C87DE0}"/>
              </a:ext>
            </a:extLst>
          </p:cNvPr>
          <p:cNvSpPr>
            <a:spLocks noGrp="1"/>
          </p:cNvSpPr>
          <p:nvPr/>
        </p:nvSpPr>
        <p:spPr>
          <a:xfrm>
            <a:off x="4772025" y="4143375"/>
            <a:ext cx="2552700" cy="714375"/>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Base ESP32</a:t>
            </a:r>
          </a:p>
          <a:p>
            <a:pPr>
              <a:defRPr sz="1725" b="1">
                <a:solidFill>
                  <a:srgbClr val="F5FAFF"/>
                </a:solidFill>
              </a:defRPr>
            </a:pPr>
            <a:r>
              <a:rPr sz="1725" b="1">
                <a:solidFill>
                  <a:srgbClr val="F5FAFF"/>
                </a:solidFill>
              </a:rPr>
              <a:t>Telemetry receiver</a:t>
            </a:r>
          </a:p>
        </p:txBody>
      </p:sp>
      <p:sp>
        <p:nvSpPr>
          <p:cNvPr id="14" name="node-85">
            <a:extLst>
              <a:ext uri="{FF2B5EF4-FFF2-40B4-BE49-F238E27FC236}">
                <a16:creationId xmlns:a16="http://schemas.microsoft.com/office/drawing/2014/main" id="{1DDA3471-FEDA-4B60-A907-B3BA923DF3D3}"/>
              </a:ext>
            </a:extLst>
          </p:cNvPr>
          <p:cNvSpPr>
            <a:spLocks noGrp="1"/>
          </p:cNvSpPr>
          <p:nvPr/>
        </p:nvSpPr>
        <p:spPr>
          <a:xfrm>
            <a:off x="8667750" y="4000500"/>
            <a:ext cx="2476500" cy="904875"/>
          </a:xfrm>
          <a:prstGeom prst="roundRect">
            <a:avLst>
              <a:gd name="adj" fmla="val 8421"/>
            </a:avLst>
          </a:prstGeom>
          <a:solidFill>
            <a:srgbClr val="173B50"/>
          </a:solidFill>
          <a:ln w="9525">
            <a:solidFill>
              <a:srgbClr val="48D4DF"/>
            </a:solidFill>
            <a:prstDash val="solid"/>
          </a:ln>
        </p:spPr>
      </p:sp>
      <p:sp>
        <p:nvSpPr>
          <p:cNvPr id="15" name="text-86">
            <a:extLst>
              <a:ext uri="{FF2B5EF4-FFF2-40B4-BE49-F238E27FC236}">
                <a16:creationId xmlns:a16="http://schemas.microsoft.com/office/drawing/2014/main" id="{CB0A04FF-E910-4991-AA81-22D55AB12B06}"/>
              </a:ext>
            </a:extLst>
          </p:cNvPr>
          <p:cNvSpPr>
            <a:spLocks noGrp="1"/>
          </p:cNvSpPr>
          <p:nvPr/>
        </p:nvSpPr>
        <p:spPr>
          <a:xfrm>
            <a:off x="8820150" y="4143375"/>
            <a:ext cx="2171700" cy="714375"/>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Raspberry Pi</a:t>
            </a:r>
          </a:p>
          <a:p>
            <a:pPr>
              <a:defRPr sz="1725" b="1">
                <a:solidFill>
                  <a:srgbClr val="F5FAFF"/>
                </a:solidFill>
              </a:defRPr>
            </a:pPr>
            <a:r>
              <a:rPr sz="1725" b="1">
                <a:solidFill>
                  <a:srgbClr val="F5FAFF"/>
                </a:solidFill>
              </a:rPr>
              <a:t>Display / logging</a:t>
            </a:r>
          </a:p>
        </p:txBody>
      </p:sp>
      <p:sp>
        <p:nvSpPr>
          <p:cNvPr id="16" name="flow-87">
            <a:extLst>
              <a:ext uri="{FF2B5EF4-FFF2-40B4-BE49-F238E27FC236}">
                <a16:creationId xmlns:a16="http://schemas.microsoft.com/office/drawing/2014/main" id="{C381CDD0-0F17-4945-9A37-5B1F1FF25628}"/>
              </a:ext>
            </a:extLst>
          </p:cNvPr>
          <p:cNvSpPr>
            <a:spLocks noGrp="1"/>
          </p:cNvSpPr>
          <p:nvPr/>
        </p:nvSpPr>
        <p:spPr>
          <a:xfrm>
            <a:off x="7572375" y="4381500"/>
            <a:ext cx="952500" cy="133350"/>
          </a:xfrm>
          <a:prstGeom prst="rightArrow">
            <a:avLst/>
          </a:prstGeom>
          <a:solidFill>
            <a:srgbClr val="48D4DF"/>
          </a:solidFill>
          <a:ln w="0">
            <a:noFill/>
            <a:prstDash val="solid"/>
          </a:ln>
        </p:spPr>
      </p:sp>
      <p:sp>
        <p:nvSpPr>
          <p:cNvPr id="17" name="text-88">
            <a:extLst>
              <a:ext uri="{FF2B5EF4-FFF2-40B4-BE49-F238E27FC236}">
                <a16:creationId xmlns:a16="http://schemas.microsoft.com/office/drawing/2014/main" id="{B7C687BC-9B4B-419F-B795-FB8803DBF967}"/>
              </a:ext>
            </a:extLst>
          </p:cNvPr>
          <p:cNvSpPr>
            <a:spLocks noGrp="1"/>
          </p:cNvSpPr>
          <p:nvPr/>
        </p:nvSpPr>
        <p:spPr>
          <a:xfrm>
            <a:off x="7477125" y="4057650"/>
            <a:ext cx="1905000" cy="266700"/>
          </a:xfrm>
          <a:prstGeom prst="rect">
            <a:avLst/>
          </a:prstGeom>
          <a:noFill/>
          <a:ln w="0">
            <a:noFill/>
            <a:prstDash val="solid"/>
          </a:ln>
        </p:spPr>
        <p:txBody>
          <a:bodyPr lIns="0" tIns="0" rIns="0" bIns="0"/>
          <a:lstStyle>
            <a:defPPr>
              <a:defRPr sz="1275" b="0">
                <a:solidFill>
                  <a:srgbClr val="B9CDDF"/>
                </a:solidFill>
              </a:defRPr>
            </a:defPPr>
            <a:lvl1pPr>
              <a:defRPr sz="1275" b="0">
                <a:solidFill>
                  <a:srgbClr val="B9CDDF"/>
                </a:solidFill>
              </a:defRPr>
            </a:lvl1pPr>
            <a:lvl2pPr>
              <a:defRPr sz="1275" b="0">
                <a:solidFill>
                  <a:srgbClr val="B9CDDF"/>
                </a:solidFill>
              </a:defRPr>
            </a:lvl2pPr>
            <a:lvl3pPr>
              <a:defRPr sz="1275" b="0">
                <a:solidFill>
                  <a:srgbClr val="B9CDDF"/>
                </a:solidFill>
              </a:defRPr>
            </a:lvl3pPr>
            <a:lvl4pPr>
              <a:defRPr sz="1275" b="0">
                <a:solidFill>
                  <a:srgbClr val="B9CDDF"/>
                </a:solidFill>
              </a:defRPr>
            </a:lvl4pPr>
            <a:lvl5pPr>
              <a:defRPr sz="1275" b="0">
                <a:solidFill>
                  <a:srgbClr val="B9CDDF"/>
                </a:solidFill>
              </a:defRPr>
            </a:lvl5pPr>
            <a:lvl6pPr>
              <a:defRPr sz="1275" b="0">
                <a:solidFill>
                  <a:srgbClr val="B9CDDF"/>
                </a:solidFill>
              </a:defRPr>
            </a:lvl6pPr>
            <a:lvl7pPr>
              <a:defRPr sz="1275" b="0">
                <a:solidFill>
                  <a:srgbClr val="B9CDDF"/>
                </a:solidFill>
              </a:defRPr>
            </a:lvl7pPr>
            <a:lvl8pPr>
              <a:defRPr sz="1275" b="0">
                <a:solidFill>
                  <a:srgbClr val="B9CDDF"/>
                </a:solidFill>
              </a:defRPr>
            </a:lvl8pPr>
            <a:lvl9pPr>
              <a:defRPr sz="1275" b="0">
                <a:solidFill>
                  <a:srgbClr val="B9CDDF"/>
                </a:solidFill>
              </a:defRPr>
            </a:lvl9pPr>
          </a:lstStyle>
          <a:p>
            <a:pPr>
              <a:defRPr sz="1275" b="0">
                <a:solidFill>
                  <a:srgbClr val="B9CDDF"/>
                </a:solidFill>
              </a:defRPr>
            </a:pPr>
            <a:r>
              <a:rPr sz="1275" b="0">
                <a:solidFill>
                  <a:srgbClr val="B9CDDF"/>
                </a:solidFill>
              </a:rPr>
              <a:t>USB</a:t>
            </a:r>
          </a:p>
        </p:txBody>
      </p:sp>
      <p:sp>
        <p:nvSpPr>
          <p:cNvPr id="18" name="radio-down">
            <a:extLst>
              <a:ext uri="{FF2B5EF4-FFF2-40B4-BE49-F238E27FC236}">
                <a16:creationId xmlns:a16="http://schemas.microsoft.com/office/drawing/2014/main" id="{54C05A64-22C0-415B-82E7-21FA7E2664A4}"/>
              </a:ext>
            </a:extLst>
          </p:cNvPr>
          <p:cNvSpPr>
            <a:spLocks noGrp="1"/>
          </p:cNvSpPr>
          <p:nvPr/>
        </p:nvSpPr>
        <p:spPr>
          <a:xfrm>
            <a:off x="2057400" y="3209925"/>
            <a:ext cx="190500" cy="1066800"/>
          </a:xfrm>
          <a:prstGeom prst="downArrow">
            <a:avLst/>
          </a:prstGeom>
          <a:solidFill>
            <a:srgbClr val="48D4DF"/>
          </a:solidFill>
          <a:ln w="0">
            <a:noFill/>
            <a:prstDash val="solid"/>
          </a:ln>
        </p:spPr>
      </p:sp>
      <p:sp>
        <p:nvSpPr>
          <p:cNvPr id="19" name="flow-89">
            <a:extLst>
              <a:ext uri="{FF2B5EF4-FFF2-40B4-BE49-F238E27FC236}">
                <a16:creationId xmlns:a16="http://schemas.microsoft.com/office/drawing/2014/main" id="{9D8B886B-EA78-48C6-B356-949110473FA4}"/>
              </a:ext>
            </a:extLst>
          </p:cNvPr>
          <p:cNvSpPr>
            <a:spLocks noGrp="1"/>
          </p:cNvSpPr>
          <p:nvPr/>
        </p:nvSpPr>
        <p:spPr>
          <a:xfrm>
            <a:off x="2266950" y="4305300"/>
            <a:ext cx="2190750" cy="133350"/>
          </a:xfrm>
          <a:prstGeom prst="rightArrow">
            <a:avLst/>
          </a:prstGeom>
          <a:solidFill>
            <a:srgbClr val="48D4DF"/>
          </a:solidFill>
          <a:ln w="0">
            <a:noFill/>
            <a:prstDash val="solid"/>
          </a:ln>
        </p:spPr>
      </p:sp>
      <p:sp>
        <p:nvSpPr>
          <p:cNvPr id="20" name="text-90">
            <a:extLst>
              <a:ext uri="{FF2B5EF4-FFF2-40B4-BE49-F238E27FC236}">
                <a16:creationId xmlns:a16="http://schemas.microsoft.com/office/drawing/2014/main" id="{AA03281E-1B5B-419E-8957-3D6E4D028C3A}"/>
              </a:ext>
            </a:extLst>
          </p:cNvPr>
          <p:cNvSpPr>
            <a:spLocks noGrp="1"/>
          </p:cNvSpPr>
          <p:nvPr/>
        </p:nvSpPr>
        <p:spPr>
          <a:xfrm>
            <a:off x="2171700" y="3981450"/>
            <a:ext cx="3143250" cy="266700"/>
          </a:xfrm>
          <a:prstGeom prst="rect">
            <a:avLst/>
          </a:prstGeom>
          <a:noFill/>
          <a:ln w="0">
            <a:noFill/>
            <a:prstDash val="solid"/>
          </a:ln>
        </p:spPr>
        <p:txBody>
          <a:bodyPr lIns="0" tIns="0" rIns="0" bIns="0"/>
          <a:lstStyle>
            <a:defPPr>
              <a:defRPr sz="1275" b="0">
                <a:solidFill>
                  <a:srgbClr val="B9CDDF"/>
                </a:solidFill>
              </a:defRPr>
            </a:defPPr>
            <a:lvl1pPr>
              <a:defRPr sz="1275" b="0">
                <a:solidFill>
                  <a:srgbClr val="B9CDDF"/>
                </a:solidFill>
              </a:defRPr>
            </a:lvl1pPr>
            <a:lvl2pPr>
              <a:defRPr sz="1275" b="0">
                <a:solidFill>
                  <a:srgbClr val="B9CDDF"/>
                </a:solidFill>
              </a:defRPr>
            </a:lvl2pPr>
            <a:lvl3pPr>
              <a:defRPr sz="1275" b="0">
                <a:solidFill>
                  <a:srgbClr val="B9CDDF"/>
                </a:solidFill>
              </a:defRPr>
            </a:lvl3pPr>
            <a:lvl4pPr>
              <a:defRPr sz="1275" b="0">
                <a:solidFill>
                  <a:srgbClr val="B9CDDF"/>
                </a:solidFill>
              </a:defRPr>
            </a:lvl4pPr>
            <a:lvl5pPr>
              <a:defRPr sz="1275" b="0">
                <a:solidFill>
                  <a:srgbClr val="B9CDDF"/>
                </a:solidFill>
              </a:defRPr>
            </a:lvl5pPr>
            <a:lvl6pPr>
              <a:defRPr sz="1275" b="0">
                <a:solidFill>
                  <a:srgbClr val="B9CDDF"/>
                </a:solidFill>
              </a:defRPr>
            </a:lvl6pPr>
            <a:lvl7pPr>
              <a:defRPr sz="1275" b="0">
                <a:solidFill>
                  <a:srgbClr val="B9CDDF"/>
                </a:solidFill>
              </a:defRPr>
            </a:lvl7pPr>
            <a:lvl8pPr>
              <a:defRPr sz="1275" b="0">
                <a:solidFill>
                  <a:srgbClr val="B9CDDF"/>
                </a:solidFill>
              </a:defRPr>
            </a:lvl8pPr>
            <a:lvl9pPr>
              <a:defRPr sz="1275" b="0">
                <a:solidFill>
                  <a:srgbClr val="B9CDDF"/>
                </a:solidFill>
              </a:defRPr>
            </a:lvl9pPr>
          </a:lstStyle>
          <a:p>
            <a:pPr>
              <a:defRPr sz="1275" b="0">
                <a:solidFill>
                  <a:srgbClr val="B9CDDF"/>
                </a:solidFill>
              </a:defRPr>
            </a:pPr>
            <a:r>
              <a:rPr sz="1275" b="0">
                <a:solidFill>
                  <a:srgbClr val="B9CDDF"/>
                </a:solidFill>
              </a:rPr>
              <a:t>ESP-NOW telemetry</a:t>
            </a:r>
          </a:p>
        </p:txBody>
      </p:sp>
      <p:sp>
        <p:nvSpPr>
          <p:cNvPr id="21" name="text-91">
            <a:extLst>
              <a:ext uri="{FF2B5EF4-FFF2-40B4-BE49-F238E27FC236}">
                <a16:creationId xmlns:a16="http://schemas.microsoft.com/office/drawing/2014/main" id="{A0E7C526-7FCA-4F55-A7DA-DAD60206AA48}"/>
              </a:ext>
            </a:extLst>
          </p:cNvPr>
          <p:cNvSpPr>
            <a:spLocks noGrp="1"/>
          </p:cNvSpPr>
          <p:nvPr/>
        </p:nvSpPr>
        <p:spPr>
          <a:xfrm>
            <a:off x="857250" y="5248275"/>
            <a:ext cx="9525000" cy="361950"/>
          </a:xfrm>
          <a:prstGeom prst="rect">
            <a:avLst/>
          </a:prstGeom>
          <a:noFill/>
          <a:ln w="0">
            <a:noFill/>
            <a:prstDash val="solid"/>
          </a:ln>
        </p:spPr>
        <p:txBody>
          <a:bodyPr lIns="0" tIns="0" rIns="0" bIns="0"/>
          <a:lstStyle>
            <a:defPPr>
              <a:defRPr sz="1950" b="1">
                <a:solidFill>
                  <a:srgbClr val="FFC17A"/>
                </a:solidFill>
              </a:defRPr>
            </a:defPPr>
            <a:lvl1pPr>
              <a:defRPr sz="1950" b="1">
                <a:solidFill>
                  <a:srgbClr val="FFC17A"/>
                </a:solidFill>
              </a:defRPr>
            </a:lvl1pPr>
            <a:lvl2pPr>
              <a:defRPr sz="1950" b="1">
                <a:solidFill>
                  <a:srgbClr val="FFC17A"/>
                </a:solidFill>
              </a:defRPr>
            </a:lvl2pPr>
            <a:lvl3pPr>
              <a:defRPr sz="1950" b="1">
                <a:solidFill>
                  <a:srgbClr val="FFC17A"/>
                </a:solidFill>
              </a:defRPr>
            </a:lvl3pPr>
            <a:lvl4pPr>
              <a:defRPr sz="1950" b="1">
                <a:solidFill>
                  <a:srgbClr val="FFC17A"/>
                </a:solidFill>
              </a:defRPr>
            </a:lvl4pPr>
            <a:lvl5pPr>
              <a:defRPr sz="1950" b="1">
                <a:solidFill>
                  <a:srgbClr val="FFC17A"/>
                </a:solidFill>
              </a:defRPr>
            </a:lvl5pPr>
            <a:lvl6pPr>
              <a:defRPr sz="1950" b="1">
                <a:solidFill>
                  <a:srgbClr val="FFC17A"/>
                </a:solidFill>
              </a:defRPr>
            </a:lvl6pPr>
            <a:lvl7pPr>
              <a:defRPr sz="1950" b="1">
                <a:solidFill>
                  <a:srgbClr val="FFC17A"/>
                </a:solidFill>
              </a:defRPr>
            </a:lvl7pPr>
            <a:lvl8pPr>
              <a:defRPr sz="1950" b="1">
                <a:solidFill>
                  <a:srgbClr val="FFC17A"/>
                </a:solidFill>
              </a:defRPr>
            </a:lvl8pPr>
            <a:lvl9pPr>
              <a:defRPr sz="1950" b="1">
                <a:solidFill>
                  <a:srgbClr val="FFC17A"/>
                </a:solidFill>
              </a:defRPr>
            </a:lvl9pPr>
          </a:lstStyle>
          <a:p>
            <a:pPr>
              <a:defRPr sz="1950" b="1">
                <a:solidFill>
                  <a:srgbClr val="FFC17A"/>
                </a:solidFill>
              </a:defRPr>
            </a:pPr>
            <a:r>
              <a:rPr sz="1950" b="1">
                <a:solidFill>
                  <a:srgbClr val="FFC17A"/>
                </a:solidFill>
              </a:rPr>
              <a:t>Reverse  →  Turn  →  Resume</a:t>
            </a:r>
          </a:p>
        </p:txBody>
      </p:sp>
      <p:sp>
        <p:nvSpPr>
          <p:cNvPr id="22" name="text-92">
            <a:extLst>
              <a:ext uri="{FF2B5EF4-FFF2-40B4-BE49-F238E27FC236}">
                <a16:creationId xmlns:a16="http://schemas.microsoft.com/office/drawing/2014/main" id="{E69FAC44-B334-4085-AE30-65A385709192}"/>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lang="en-US" sz="1350" b="0">
                <a:solidFill>
                  <a:srgbClr val="B9CDDF"/>
                </a:solidFill>
              </a:rPr>
              <a:t>Stall thresholds require calibration; current sign alone does not locate an obstacle.</a:t>
            </a:r>
            <a:endParaRPr sz="1350" b="0">
              <a:solidFill>
                <a:srgbClr val="B9CDDF"/>
              </a:solidFill>
            </a:endParaRPr>
          </a:p>
        </p:txBody>
      </p:sp>
    </p:spTree>
    <p:extLst>
      <p:ext uri="{BB962C8B-B14F-4D97-AF65-F5344CB8AC3E}">
        <p14:creationId xmlns:p14="http://schemas.microsoft.com/office/powerpoint/2010/main" val="276108764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20"/>
                                        <p:tgtEl>
                                          <p:spTgt spid="8"/>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220"/>
                                        <p:tgtEl>
                                          <p:spTgt spid="16"/>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220"/>
                                        <p:tgtEl>
                                          <p:spTgt spid="18"/>
                                        </p:tgtEl>
                                      </p:cBhvr>
                                    </p:animEffect>
                                  </p:childTnLst>
                                </p:cTn>
                              </p:par>
                            </p:childTnLst>
                          </p:cTn>
                        </p:par>
                        <p:par>
                          <p:cTn id="16" fill="hold">
                            <p:stCondLst>
                              <p:cond delay="660"/>
                            </p:stCondLst>
                            <p:childTnLst>
                              <p:par>
                                <p:cTn id="17" presetID="10"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23" name="text-93">
            <a:extLst>
              <a:ext uri="{FF2B5EF4-FFF2-40B4-BE49-F238E27FC236}">
                <a16:creationId xmlns:a16="http://schemas.microsoft.com/office/drawing/2014/main" id="{03D1B301-4A5A-4E4D-9192-999FFFFA5E34}"/>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94">
            <a:extLst>
              <a:ext uri="{FF2B5EF4-FFF2-40B4-BE49-F238E27FC236}">
                <a16:creationId xmlns:a16="http://schemas.microsoft.com/office/drawing/2014/main" id="{928917F7-9B0B-4CBD-9297-DA8E6F88C0FC}"/>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Gen 2.1 moves target generation to the host</a:t>
            </a:r>
          </a:p>
        </p:txBody>
      </p:sp>
      <p:sp>
        <p:nvSpPr>
          <p:cNvPr id="3" name="text-95">
            <a:extLst>
              <a:ext uri="{FF2B5EF4-FFF2-40B4-BE49-F238E27FC236}">
                <a16:creationId xmlns:a16="http://schemas.microsoft.com/office/drawing/2014/main" id="{D8616F75-A179-44C4-8C49-A6D28C7F9B61}"/>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96">
            <a:extLst>
              <a:ext uri="{FF2B5EF4-FFF2-40B4-BE49-F238E27FC236}">
                <a16:creationId xmlns:a16="http://schemas.microsoft.com/office/drawing/2014/main" id="{5D4C2187-442D-49EB-B433-80F9A87E63ED}"/>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23</a:t>
            </a:r>
          </a:p>
        </p:txBody>
      </p:sp>
      <p:sp>
        <p:nvSpPr>
          <p:cNvPr id="5" name="glass-97">
            <a:extLst>
              <a:ext uri="{FF2B5EF4-FFF2-40B4-BE49-F238E27FC236}">
                <a16:creationId xmlns:a16="http://schemas.microsoft.com/office/drawing/2014/main" id="{56E4175F-EFC2-4CF7-A3EC-D660A5B8FE02}"/>
              </a:ext>
            </a:extLst>
          </p:cNvPr>
          <p:cNvSpPr>
            <a:spLocks noGrp="1"/>
          </p:cNvSpPr>
          <p:nvPr/>
        </p:nvSpPr>
        <p:spPr>
          <a:xfrm>
            <a:off x="609600" y="1762125"/>
            <a:ext cx="10972800" cy="3905250"/>
          </a:xfrm>
          <a:prstGeom prst="roundRect">
            <a:avLst>
              <a:gd name="adj" fmla="val 1951"/>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node-98">
            <a:extLst>
              <a:ext uri="{FF2B5EF4-FFF2-40B4-BE49-F238E27FC236}">
                <a16:creationId xmlns:a16="http://schemas.microsoft.com/office/drawing/2014/main" id="{EE829FD4-4697-410F-B221-56A54A1D7E5C}"/>
              </a:ext>
            </a:extLst>
          </p:cNvPr>
          <p:cNvSpPr>
            <a:spLocks noGrp="1"/>
          </p:cNvSpPr>
          <p:nvPr/>
        </p:nvSpPr>
        <p:spPr>
          <a:xfrm>
            <a:off x="857250" y="2190750"/>
            <a:ext cx="2286000" cy="952500"/>
          </a:xfrm>
          <a:prstGeom prst="roundRect">
            <a:avLst>
              <a:gd name="adj" fmla="val 8000"/>
            </a:avLst>
          </a:prstGeom>
          <a:solidFill>
            <a:srgbClr val="173B50"/>
          </a:solidFill>
          <a:ln w="9525">
            <a:solidFill>
              <a:srgbClr val="48D4DF"/>
            </a:solidFill>
            <a:prstDash val="solid"/>
          </a:ln>
        </p:spPr>
      </p:sp>
      <p:sp>
        <p:nvSpPr>
          <p:cNvPr id="7" name="text-99">
            <a:extLst>
              <a:ext uri="{FF2B5EF4-FFF2-40B4-BE49-F238E27FC236}">
                <a16:creationId xmlns:a16="http://schemas.microsoft.com/office/drawing/2014/main" id="{76E04BF1-D592-45DE-BD05-8BE9ACACA91A}"/>
              </a:ext>
            </a:extLst>
          </p:cNvPr>
          <p:cNvSpPr>
            <a:spLocks noGrp="1"/>
          </p:cNvSpPr>
          <p:nvPr/>
        </p:nvSpPr>
        <p:spPr>
          <a:xfrm>
            <a:off x="1009650" y="2333625"/>
            <a:ext cx="1981200" cy="7620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PC / Pi app</a:t>
            </a:r>
          </a:p>
          <a:p>
            <a:pPr>
              <a:defRPr sz="1725" b="1">
                <a:solidFill>
                  <a:srgbClr val="F5FAFF"/>
                </a:solidFill>
              </a:defRPr>
            </a:pPr>
            <a:r>
              <a:rPr sz="1725" b="1">
                <a:solidFill>
                  <a:srgbClr val="F5FAFF"/>
                </a:solidFill>
              </a:rPr>
              <a:t>Shared controller</a:t>
            </a:r>
          </a:p>
        </p:txBody>
      </p:sp>
      <p:sp>
        <p:nvSpPr>
          <p:cNvPr id="8" name="flow-100">
            <a:extLst>
              <a:ext uri="{FF2B5EF4-FFF2-40B4-BE49-F238E27FC236}">
                <a16:creationId xmlns:a16="http://schemas.microsoft.com/office/drawing/2014/main" id="{D8CB39B4-8620-41B7-9173-1D61F4782E84}"/>
              </a:ext>
            </a:extLst>
          </p:cNvPr>
          <p:cNvSpPr>
            <a:spLocks noGrp="1"/>
          </p:cNvSpPr>
          <p:nvPr/>
        </p:nvSpPr>
        <p:spPr>
          <a:xfrm>
            <a:off x="3238500" y="2571750"/>
            <a:ext cx="333375" cy="133350"/>
          </a:xfrm>
          <a:prstGeom prst="rightArrow">
            <a:avLst/>
          </a:prstGeom>
          <a:solidFill>
            <a:srgbClr val="48D4DF"/>
          </a:solidFill>
          <a:ln w="0">
            <a:noFill/>
            <a:prstDash val="solid"/>
          </a:ln>
        </p:spPr>
      </p:sp>
      <p:sp>
        <p:nvSpPr>
          <p:cNvPr id="9" name="node-101">
            <a:extLst>
              <a:ext uri="{FF2B5EF4-FFF2-40B4-BE49-F238E27FC236}">
                <a16:creationId xmlns:a16="http://schemas.microsoft.com/office/drawing/2014/main" id="{D15BE45A-0733-464B-834D-642101C7C25C}"/>
              </a:ext>
            </a:extLst>
          </p:cNvPr>
          <p:cNvSpPr>
            <a:spLocks noGrp="1"/>
          </p:cNvSpPr>
          <p:nvPr/>
        </p:nvSpPr>
        <p:spPr>
          <a:xfrm>
            <a:off x="3667125" y="2190750"/>
            <a:ext cx="2286000" cy="952500"/>
          </a:xfrm>
          <a:prstGeom prst="roundRect">
            <a:avLst>
              <a:gd name="adj" fmla="val 8000"/>
            </a:avLst>
          </a:prstGeom>
          <a:solidFill>
            <a:srgbClr val="173B50"/>
          </a:solidFill>
          <a:ln w="9525">
            <a:solidFill>
              <a:srgbClr val="48D4DF"/>
            </a:solidFill>
            <a:prstDash val="solid"/>
          </a:ln>
        </p:spPr>
      </p:sp>
      <p:sp>
        <p:nvSpPr>
          <p:cNvPr id="10" name="text-102">
            <a:extLst>
              <a:ext uri="{FF2B5EF4-FFF2-40B4-BE49-F238E27FC236}">
                <a16:creationId xmlns:a16="http://schemas.microsoft.com/office/drawing/2014/main" id="{DC2FE917-5114-4E3E-A5EC-D611B89F58E8}"/>
              </a:ext>
            </a:extLst>
          </p:cNvPr>
          <p:cNvSpPr>
            <a:spLocks noGrp="1"/>
          </p:cNvSpPr>
          <p:nvPr/>
        </p:nvSpPr>
        <p:spPr>
          <a:xfrm>
            <a:off x="3819525" y="2333625"/>
            <a:ext cx="1981200" cy="7620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USB or radio</a:t>
            </a:r>
          </a:p>
          <a:p>
            <a:pPr>
              <a:defRPr sz="1725" b="1">
                <a:solidFill>
                  <a:srgbClr val="F5FAFF"/>
                </a:solidFill>
              </a:defRPr>
            </a:pPr>
            <a:r>
              <a:rPr sz="1725" b="1">
                <a:solidFill>
                  <a:srgbClr val="F5FAFF"/>
                </a:solidFill>
              </a:rPr>
              <a:t>Transmitter</a:t>
            </a:r>
          </a:p>
        </p:txBody>
      </p:sp>
      <p:sp>
        <p:nvSpPr>
          <p:cNvPr id="11" name="flow-103">
            <a:extLst>
              <a:ext uri="{FF2B5EF4-FFF2-40B4-BE49-F238E27FC236}">
                <a16:creationId xmlns:a16="http://schemas.microsoft.com/office/drawing/2014/main" id="{49FDC319-AB8E-4187-B98F-4A20C70E766A}"/>
              </a:ext>
            </a:extLst>
          </p:cNvPr>
          <p:cNvSpPr>
            <a:spLocks noGrp="1"/>
          </p:cNvSpPr>
          <p:nvPr/>
        </p:nvSpPr>
        <p:spPr>
          <a:xfrm>
            <a:off x="6048375" y="2571750"/>
            <a:ext cx="333375" cy="133350"/>
          </a:xfrm>
          <a:prstGeom prst="rightArrow">
            <a:avLst/>
          </a:prstGeom>
          <a:solidFill>
            <a:srgbClr val="48D4DF"/>
          </a:solidFill>
          <a:ln w="0">
            <a:noFill/>
            <a:prstDash val="solid"/>
          </a:ln>
        </p:spPr>
      </p:sp>
      <p:sp>
        <p:nvSpPr>
          <p:cNvPr id="12" name="node-104">
            <a:extLst>
              <a:ext uri="{FF2B5EF4-FFF2-40B4-BE49-F238E27FC236}">
                <a16:creationId xmlns:a16="http://schemas.microsoft.com/office/drawing/2014/main" id="{0B546F96-186F-49F6-94F3-4B45ED66FD6E}"/>
              </a:ext>
            </a:extLst>
          </p:cNvPr>
          <p:cNvSpPr>
            <a:spLocks noGrp="1"/>
          </p:cNvSpPr>
          <p:nvPr/>
        </p:nvSpPr>
        <p:spPr>
          <a:xfrm>
            <a:off x="6477000" y="2190750"/>
            <a:ext cx="2286000" cy="952500"/>
          </a:xfrm>
          <a:prstGeom prst="roundRect">
            <a:avLst>
              <a:gd name="adj" fmla="val 8000"/>
            </a:avLst>
          </a:prstGeom>
          <a:solidFill>
            <a:srgbClr val="173B50"/>
          </a:solidFill>
          <a:ln w="9525">
            <a:solidFill>
              <a:srgbClr val="48D4DF"/>
            </a:solidFill>
            <a:prstDash val="solid"/>
          </a:ln>
        </p:spPr>
      </p:sp>
      <p:sp>
        <p:nvSpPr>
          <p:cNvPr id="13" name="text-105">
            <a:extLst>
              <a:ext uri="{FF2B5EF4-FFF2-40B4-BE49-F238E27FC236}">
                <a16:creationId xmlns:a16="http://schemas.microsoft.com/office/drawing/2014/main" id="{1317C8AE-03BE-4689-81FB-AACB8D09CCCD}"/>
              </a:ext>
            </a:extLst>
          </p:cNvPr>
          <p:cNvSpPr>
            <a:spLocks noGrp="1"/>
          </p:cNvSpPr>
          <p:nvPr/>
        </p:nvSpPr>
        <p:spPr>
          <a:xfrm>
            <a:off x="6629400" y="2333625"/>
            <a:ext cx="1981200" cy="7620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Receiver</a:t>
            </a:r>
          </a:p>
          <a:p>
            <a:pPr>
              <a:defRPr sz="1725" b="1">
                <a:solidFill>
                  <a:srgbClr val="F5FAFF"/>
                </a:solidFill>
              </a:defRPr>
            </a:pPr>
            <a:r>
              <a:rPr sz="1725" b="1">
                <a:solidFill>
                  <a:srgbClr val="F5FAFF"/>
                </a:solidFill>
              </a:rPr>
              <a:t>Servo commands</a:t>
            </a:r>
          </a:p>
        </p:txBody>
      </p:sp>
      <p:sp>
        <p:nvSpPr>
          <p:cNvPr id="14" name="flow-106">
            <a:extLst>
              <a:ext uri="{FF2B5EF4-FFF2-40B4-BE49-F238E27FC236}">
                <a16:creationId xmlns:a16="http://schemas.microsoft.com/office/drawing/2014/main" id="{545DAC68-418C-4C8E-8F37-8AA7990AD02F}"/>
              </a:ext>
            </a:extLst>
          </p:cNvPr>
          <p:cNvSpPr>
            <a:spLocks noGrp="1"/>
          </p:cNvSpPr>
          <p:nvPr/>
        </p:nvSpPr>
        <p:spPr>
          <a:xfrm>
            <a:off x="8858250" y="2571750"/>
            <a:ext cx="333375" cy="133350"/>
          </a:xfrm>
          <a:prstGeom prst="rightArrow">
            <a:avLst/>
          </a:prstGeom>
          <a:solidFill>
            <a:srgbClr val="48D4DF"/>
          </a:solidFill>
          <a:ln w="0">
            <a:noFill/>
            <a:prstDash val="solid"/>
          </a:ln>
        </p:spPr>
      </p:sp>
      <p:sp>
        <p:nvSpPr>
          <p:cNvPr id="15" name="node-107">
            <a:extLst>
              <a:ext uri="{FF2B5EF4-FFF2-40B4-BE49-F238E27FC236}">
                <a16:creationId xmlns:a16="http://schemas.microsoft.com/office/drawing/2014/main" id="{9DEA4421-3847-4A3D-9778-0261937A31FB}"/>
              </a:ext>
            </a:extLst>
          </p:cNvPr>
          <p:cNvSpPr>
            <a:spLocks noGrp="1"/>
          </p:cNvSpPr>
          <p:nvPr/>
        </p:nvSpPr>
        <p:spPr>
          <a:xfrm>
            <a:off x="9286875" y="2190750"/>
            <a:ext cx="2000250" cy="952500"/>
          </a:xfrm>
          <a:prstGeom prst="roundRect">
            <a:avLst>
              <a:gd name="adj" fmla="val 8000"/>
            </a:avLst>
          </a:prstGeom>
          <a:solidFill>
            <a:srgbClr val="173B50"/>
          </a:solidFill>
          <a:ln w="9525">
            <a:solidFill>
              <a:srgbClr val="48D4DF"/>
            </a:solidFill>
            <a:prstDash val="solid"/>
          </a:ln>
        </p:spPr>
      </p:sp>
      <p:sp>
        <p:nvSpPr>
          <p:cNvPr id="16" name="text-108">
            <a:extLst>
              <a:ext uri="{FF2B5EF4-FFF2-40B4-BE49-F238E27FC236}">
                <a16:creationId xmlns:a16="http://schemas.microsoft.com/office/drawing/2014/main" id="{999A22DD-D658-4B09-BDE9-FEA0DD6543F1}"/>
              </a:ext>
            </a:extLst>
          </p:cNvPr>
          <p:cNvSpPr>
            <a:spLocks noGrp="1"/>
          </p:cNvSpPr>
          <p:nvPr/>
        </p:nvSpPr>
        <p:spPr>
          <a:xfrm>
            <a:off x="9439275" y="2333625"/>
            <a:ext cx="1695450" cy="762000"/>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Servo bus</a:t>
            </a:r>
          </a:p>
        </p:txBody>
      </p:sp>
      <p:sp>
        <p:nvSpPr>
          <p:cNvPr id="17" name="text-109">
            <a:extLst>
              <a:ext uri="{FF2B5EF4-FFF2-40B4-BE49-F238E27FC236}">
                <a16:creationId xmlns:a16="http://schemas.microsoft.com/office/drawing/2014/main" id="{E1E7B964-51FB-4544-99CC-E55A4A49D6C2}"/>
              </a:ext>
            </a:extLst>
          </p:cNvPr>
          <p:cNvSpPr>
            <a:spLocks noGrp="1"/>
          </p:cNvSpPr>
          <p:nvPr/>
        </p:nvSpPr>
        <p:spPr>
          <a:xfrm>
            <a:off x="1333500" y="3476625"/>
            <a:ext cx="9620250" cy="428625"/>
          </a:xfrm>
          <a:prstGeom prst="rect">
            <a:avLst/>
          </a:prstGeom>
          <a:noFill/>
          <a:ln w="0">
            <a:noFill/>
            <a:prstDash val="solid"/>
          </a:ln>
        </p:spPr>
        <p:txBody>
          <a:bodyPr lIns="0" tIns="0" rIns="0" bIns="0"/>
          <a:lstStyle>
            <a:defPPr>
              <a:defRPr sz="2100" b="1">
                <a:solidFill>
                  <a:srgbClr val="48D4DF"/>
                </a:solidFill>
              </a:defRPr>
            </a:defPPr>
            <a:lvl1pPr>
              <a:defRPr sz="2100" b="1">
                <a:solidFill>
                  <a:srgbClr val="48D4DF"/>
                </a:solidFill>
              </a:defRPr>
            </a:lvl1pPr>
            <a:lvl2pPr>
              <a:defRPr sz="2100" b="1">
                <a:solidFill>
                  <a:srgbClr val="48D4DF"/>
                </a:solidFill>
              </a:defRPr>
            </a:lvl2pPr>
            <a:lvl3pPr>
              <a:defRPr sz="2100" b="1">
                <a:solidFill>
                  <a:srgbClr val="48D4DF"/>
                </a:solidFill>
              </a:defRPr>
            </a:lvl3pPr>
            <a:lvl4pPr>
              <a:defRPr sz="2100" b="1">
                <a:solidFill>
                  <a:srgbClr val="48D4DF"/>
                </a:solidFill>
              </a:defRPr>
            </a:lvl4pPr>
            <a:lvl5pPr>
              <a:defRPr sz="2100" b="1">
                <a:solidFill>
                  <a:srgbClr val="48D4DF"/>
                </a:solidFill>
              </a:defRPr>
            </a:lvl5pPr>
            <a:lvl6pPr>
              <a:defRPr sz="2100" b="1">
                <a:solidFill>
                  <a:srgbClr val="48D4DF"/>
                </a:solidFill>
              </a:defRPr>
            </a:lvl6pPr>
            <a:lvl7pPr>
              <a:defRPr sz="2100" b="1">
                <a:solidFill>
                  <a:srgbClr val="48D4DF"/>
                </a:solidFill>
              </a:defRPr>
            </a:lvl7pPr>
            <a:lvl8pPr>
              <a:defRPr sz="2100" b="1">
                <a:solidFill>
                  <a:srgbClr val="48D4DF"/>
                </a:solidFill>
              </a:defRPr>
            </a:lvl8pPr>
            <a:lvl9pPr>
              <a:defRPr sz="2100" b="1">
                <a:solidFill>
                  <a:srgbClr val="48D4DF"/>
                </a:solidFill>
              </a:defRPr>
            </a:lvl9pPr>
          </a:lstStyle>
          <a:p>
            <a:pPr>
              <a:defRPr sz="2100" b="1">
                <a:solidFill>
                  <a:srgbClr val="48D4DF"/>
                </a:solidFill>
              </a:defRPr>
            </a:pPr>
            <a:r>
              <a:rPr sz="2100" b="1">
                <a:solidFill>
                  <a:srgbClr val="48D4DF"/>
                </a:solidFill>
              </a:rPr>
              <a:t>Commands →     ← Servo feedback</a:t>
            </a:r>
          </a:p>
        </p:txBody>
      </p:sp>
      <p:sp>
        <p:nvSpPr>
          <p:cNvPr id="18" name="node-110">
            <a:extLst>
              <a:ext uri="{FF2B5EF4-FFF2-40B4-BE49-F238E27FC236}">
                <a16:creationId xmlns:a16="http://schemas.microsoft.com/office/drawing/2014/main" id="{6ECC305D-7B5C-4318-B139-93DFBAC85244}"/>
              </a:ext>
            </a:extLst>
          </p:cNvPr>
          <p:cNvSpPr>
            <a:spLocks noGrp="1"/>
          </p:cNvSpPr>
          <p:nvPr/>
        </p:nvSpPr>
        <p:spPr>
          <a:xfrm>
            <a:off x="857250" y="4286250"/>
            <a:ext cx="2667000" cy="904875"/>
          </a:xfrm>
          <a:prstGeom prst="roundRect">
            <a:avLst>
              <a:gd name="adj" fmla="val 8421"/>
            </a:avLst>
          </a:prstGeom>
          <a:solidFill>
            <a:srgbClr val="173B50"/>
          </a:solidFill>
          <a:ln w="9525">
            <a:solidFill>
              <a:srgbClr val="48D4DF"/>
            </a:solidFill>
            <a:prstDash val="solid"/>
          </a:ln>
        </p:spPr>
      </p:sp>
      <p:sp>
        <p:nvSpPr>
          <p:cNvPr id="19" name="text-111">
            <a:extLst>
              <a:ext uri="{FF2B5EF4-FFF2-40B4-BE49-F238E27FC236}">
                <a16:creationId xmlns:a16="http://schemas.microsoft.com/office/drawing/2014/main" id="{874CE7B0-B925-454F-8785-44A022729033}"/>
              </a:ext>
            </a:extLst>
          </p:cNvPr>
          <p:cNvSpPr>
            <a:spLocks noGrp="1"/>
          </p:cNvSpPr>
          <p:nvPr/>
        </p:nvSpPr>
        <p:spPr>
          <a:xfrm>
            <a:off x="1009650" y="4429125"/>
            <a:ext cx="2362200" cy="714375"/>
          </a:xfrm>
          <a:prstGeom prst="rect">
            <a:avLst/>
          </a:prstGeom>
          <a:noFill/>
          <a:ln w="0">
            <a:noFill/>
            <a:prstDash val="solid"/>
          </a:ln>
        </p:spPr>
        <p:txBody>
          <a:bodyPr lIns="0" tIns="0" rIns="0" bIns="0"/>
          <a:lstStyle>
            <a:defPPr>
              <a:defRPr sz="1725" b="1">
                <a:solidFill>
                  <a:srgbClr val="F5FAFF"/>
                </a:solidFill>
              </a:defRPr>
            </a:defPPr>
            <a:lvl1pPr>
              <a:defRPr sz="1725" b="1">
                <a:solidFill>
                  <a:srgbClr val="F5FAFF"/>
                </a:solidFill>
              </a:defRPr>
            </a:lvl1pPr>
            <a:lvl2pPr>
              <a:defRPr sz="1725" b="1">
                <a:solidFill>
                  <a:srgbClr val="F5FAFF"/>
                </a:solidFill>
              </a:defRPr>
            </a:lvl2pPr>
            <a:lvl3pPr>
              <a:defRPr sz="1725" b="1">
                <a:solidFill>
                  <a:srgbClr val="F5FAFF"/>
                </a:solidFill>
              </a:defRPr>
            </a:lvl3pPr>
            <a:lvl4pPr>
              <a:defRPr sz="1725" b="1">
                <a:solidFill>
                  <a:srgbClr val="F5FAFF"/>
                </a:solidFill>
              </a:defRPr>
            </a:lvl4pPr>
            <a:lvl5pPr>
              <a:defRPr sz="1725" b="1">
                <a:solidFill>
                  <a:srgbClr val="F5FAFF"/>
                </a:solidFill>
              </a:defRPr>
            </a:lvl5pPr>
            <a:lvl6pPr>
              <a:defRPr sz="1725" b="1">
                <a:solidFill>
                  <a:srgbClr val="F5FAFF"/>
                </a:solidFill>
              </a:defRPr>
            </a:lvl6pPr>
            <a:lvl7pPr>
              <a:defRPr sz="1725" b="1">
                <a:solidFill>
                  <a:srgbClr val="F5FAFF"/>
                </a:solidFill>
              </a:defRPr>
            </a:lvl7pPr>
            <a:lvl8pPr>
              <a:defRPr sz="1725" b="1">
                <a:solidFill>
                  <a:srgbClr val="F5FAFF"/>
                </a:solidFill>
              </a:defRPr>
            </a:lvl8pPr>
            <a:lvl9pPr>
              <a:defRPr sz="1725" b="1">
                <a:solidFill>
                  <a:srgbClr val="F5FAFF"/>
                </a:solidFill>
              </a:defRPr>
            </a:lvl9pPr>
          </a:lstStyle>
          <a:p>
            <a:pPr>
              <a:defRPr sz="1725" b="1">
                <a:solidFill>
                  <a:srgbClr val="F5FAFF"/>
                </a:solidFill>
              </a:defRPr>
            </a:pPr>
            <a:r>
              <a:rPr sz="1725" b="1">
                <a:solidFill>
                  <a:srgbClr val="F5FAFF"/>
                </a:solidFill>
              </a:rPr>
              <a:t>Sensor node</a:t>
            </a:r>
          </a:p>
          <a:p>
            <a:pPr>
              <a:defRPr sz="1725" b="1">
                <a:solidFill>
                  <a:srgbClr val="F5FAFF"/>
                </a:solidFill>
              </a:defRPr>
            </a:pPr>
            <a:r>
              <a:rPr sz="1725" b="1">
                <a:solidFill>
                  <a:srgbClr val="F5FAFF"/>
                </a:solidFill>
              </a:rPr>
              <a:t>Separate readings</a:t>
            </a:r>
          </a:p>
        </p:txBody>
      </p:sp>
      <p:sp>
        <p:nvSpPr>
          <p:cNvPr id="20" name="text-112">
            <a:extLst>
              <a:ext uri="{FF2B5EF4-FFF2-40B4-BE49-F238E27FC236}">
                <a16:creationId xmlns:a16="http://schemas.microsoft.com/office/drawing/2014/main" id="{63B9E1F5-F9B4-4D5C-88D8-219FA50FFD9E}"/>
              </a:ext>
            </a:extLst>
          </p:cNvPr>
          <p:cNvSpPr>
            <a:spLocks noGrp="1"/>
          </p:cNvSpPr>
          <p:nvPr/>
        </p:nvSpPr>
        <p:spPr>
          <a:xfrm>
            <a:off x="4000500" y="4286250"/>
            <a:ext cx="7048500" cy="381000"/>
          </a:xfrm>
          <a:prstGeom prst="rect">
            <a:avLst/>
          </a:prstGeom>
          <a:noFill/>
          <a:ln w="0">
            <a:noFill/>
            <a:prstDash val="solid"/>
          </a:ln>
        </p:spPr>
        <p:txBody>
          <a:bodyPr lIns="0" tIns="0" rIns="0" bIns="0"/>
          <a:lstStyle>
            <a:defPPr>
              <a:defRPr sz="2100" b="1">
                <a:solidFill>
                  <a:srgbClr val="F5FAFF"/>
                </a:solidFill>
              </a:defRPr>
            </a:defPPr>
            <a:lvl1pPr>
              <a:defRPr sz="2100" b="1">
                <a:solidFill>
                  <a:srgbClr val="F5FAFF"/>
                </a:solidFill>
              </a:defRPr>
            </a:lvl1pPr>
            <a:lvl2pPr>
              <a:defRPr sz="2100" b="1">
                <a:solidFill>
                  <a:srgbClr val="F5FAFF"/>
                </a:solidFill>
              </a:defRPr>
            </a:lvl2pPr>
            <a:lvl3pPr>
              <a:defRPr sz="2100" b="1">
                <a:solidFill>
                  <a:srgbClr val="F5FAFF"/>
                </a:solidFill>
              </a:defRPr>
            </a:lvl3pPr>
            <a:lvl4pPr>
              <a:defRPr sz="2100" b="1">
                <a:solidFill>
                  <a:srgbClr val="F5FAFF"/>
                </a:solidFill>
              </a:defRPr>
            </a:lvl4pPr>
            <a:lvl5pPr>
              <a:defRPr sz="2100" b="1">
                <a:solidFill>
                  <a:srgbClr val="F5FAFF"/>
                </a:solidFill>
              </a:defRPr>
            </a:lvl5pPr>
            <a:lvl6pPr>
              <a:defRPr sz="2100" b="1">
                <a:solidFill>
                  <a:srgbClr val="F5FAFF"/>
                </a:solidFill>
              </a:defRPr>
            </a:lvl6pPr>
            <a:lvl7pPr>
              <a:defRPr sz="2100" b="1">
                <a:solidFill>
                  <a:srgbClr val="F5FAFF"/>
                </a:solidFill>
              </a:defRPr>
            </a:lvl7pPr>
            <a:lvl8pPr>
              <a:defRPr sz="2100" b="1">
                <a:solidFill>
                  <a:srgbClr val="F5FAFF"/>
                </a:solidFill>
              </a:defRPr>
            </a:lvl8pPr>
            <a:lvl9pPr>
              <a:defRPr sz="2100" b="1">
                <a:solidFill>
                  <a:srgbClr val="F5FAFF"/>
                </a:solidFill>
              </a:defRPr>
            </a:lvl9pPr>
          </a:lstStyle>
          <a:p>
            <a:pPr>
              <a:defRPr sz="2100" b="1">
                <a:solidFill>
                  <a:srgbClr val="F5FAFF"/>
                </a:solidFill>
              </a:defRPr>
            </a:pPr>
            <a:r>
              <a:rPr sz="2100" b="1">
                <a:solidFill>
                  <a:srgbClr val="F5FAFF"/>
                </a:solidFill>
              </a:rPr>
              <a:t>Start / stop + 750 ms target watchdog</a:t>
            </a:r>
          </a:p>
        </p:txBody>
      </p:sp>
      <p:sp>
        <p:nvSpPr>
          <p:cNvPr id="21" name="text-113">
            <a:extLst>
              <a:ext uri="{FF2B5EF4-FFF2-40B4-BE49-F238E27FC236}">
                <a16:creationId xmlns:a16="http://schemas.microsoft.com/office/drawing/2014/main" id="{C16E5CF5-12F2-4588-A7D1-0799D81D13A7}"/>
              </a:ext>
            </a:extLst>
          </p:cNvPr>
          <p:cNvSpPr>
            <a:spLocks noGrp="1"/>
          </p:cNvSpPr>
          <p:nvPr/>
        </p:nvSpPr>
        <p:spPr>
          <a:xfrm>
            <a:off x="4000500" y="4810125"/>
            <a:ext cx="7048500" cy="333375"/>
          </a:xfrm>
          <a:prstGeom prst="rect">
            <a:avLst/>
          </a:prstGeom>
          <a:noFill/>
          <a:ln w="0">
            <a:noFill/>
            <a:prstDash val="solid"/>
          </a:ln>
        </p:spPr>
        <p:txBody>
          <a:bodyPr lIns="0" tIns="0" rIns="0" bIns="0"/>
          <a:lstStyle>
            <a:defPPr>
              <a:defRPr sz="1800" b="0">
                <a:solidFill>
                  <a:srgbClr val="B9CDDF"/>
                </a:solidFill>
              </a:defRPr>
            </a:defPPr>
            <a:lvl1pPr>
              <a:defRPr sz="1800" b="0">
                <a:solidFill>
                  <a:srgbClr val="B9CDDF"/>
                </a:solidFill>
              </a:defRPr>
            </a:lvl1pPr>
            <a:lvl2pPr>
              <a:defRPr sz="1800" b="0">
                <a:solidFill>
                  <a:srgbClr val="B9CDDF"/>
                </a:solidFill>
              </a:defRPr>
            </a:lvl2pPr>
            <a:lvl3pPr>
              <a:defRPr sz="1800" b="0">
                <a:solidFill>
                  <a:srgbClr val="B9CDDF"/>
                </a:solidFill>
              </a:defRPr>
            </a:lvl3pPr>
            <a:lvl4pPr>
              <a:defRPr sz="1800" b="0">
                <a:solidFill>
                  <a:srgbClr val="B9CDDF"/>
                </a:solidFill>
              </a:defRPr>
            </a:lvl4pPr>
            <a:lvl5pPr>
              <a:defRPr sz="1800" b="0">
                <a:solidFill>
                  <a:srgbClr val="B9CDDF"/>
                </a:solidFill>
              </a:defRPr>
            </a:lvl5pPr>
            <a:lvl6pPr>
              <a:defRPr sz="1800" b="0">
                <a:solidFill>
                  <a:srgbClr val="B9CDDF"/>
                </a:solidFill>
              </a:defRPr>
            </a:lvl6pPr>
            <a:lvl7pPr>
              <a:defRPr sz="1800" b="0">
                <a:solidFill>
                  <a:srgbClr val="B9CDDF"/>
                </a:solidFill>
              </a:defRPr>
            </a:lvl7pPr>
            <a:lvl8pPr>
              <a:defRPr sz="1800" b="0">
                <a:solidFill>
                  <a:srgbClr val="B9CDDF"/>
                </a:solidFill>
              </a:defRPr>
            </a:lvl8pPr>
            <a:lvl9pPr>
              <a:defRPr sz="1800" b="0">
                <a:solidFill>
                  <a:srgbClr val="B9CDDF"/>
                </a:solidFill>
              </a:defRPr>
            </a:lvl9pPr>
          </a:lstStyle>
          <a:p>
            <a:pPr>
              <a:defRPr sz="1800" b="0">
                <a:solidFill>
                  <a:srgbClr val="B9CDDF"/>
                </a:solidFill>
              </a:defRPr>
            </a:pPr>
            <a:r>
              <a:rPr sz="1800" b="0">
                <a:solidFill>
                  <a:srgbClr val="B9CDDF"/>
                </a:solidFill>
              </a:rPr>
              <a:t>Host control is a separate firmware path.</a:t>
            </a:r>
          </a:p>
        </p:txBody>
      </p:sp>
      <p:sp>
        <p:nvSpPr>
          <p:cNvPr id="22" name="text-114">
            <a:extLst>
              <a:ext uri="{FF2B5EF4-FFF2-40B4-BE49-F238E27FC236}">
                <a16:creationId xmlns:a16="http://schemas.microsoft.com/office/drawing/2014/main" id="{9EAAE404-F45D-4BC0-B698-26717E30FE44}"/>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Gen 2.1 does not inherit the onboard Gen 2.0 battery/temperature stops or evasion logic.</a:t>
            </a:r>
          </a:p>
        </p:txBody>
      </p:sp>
    </p:spTree>
    <p:extLst>
      <p:ext uri="{BB962C8B-B14F-4D97-AF65-F5344CB8AC3E}">
        <p14:creationId xmlns:p14="http://schemas.microsoft.com/office/powerpoint/2010/main" val="120896102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20"/>
                                        <p:tgtEl>
                                          <p:spTgt spid="8"/>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220"/>
                                        <p:tgtEl>
                                          <p:spTgt spid="11"/>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43" name="text-115">
            <a:extLst>
              <a:ext uri="{FF2B5EF4-FFF2-40B4-BE49-F238E27FC236}">
                <a16:creationId xmlns:a16="http://schemas.microsoft.com/office/drawing/2014/main" id="{F7592D7D-C362-4B43-BA11-E418FB387497}"/>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16">
            <a:extLst>
              <a:ext uri="{FF2B5EF4-FFF2-40B4-BE49-F238E27FC236}">
                <a16:creationId xmlns:a16="http://schemas.microsoft.com/office/drawing/2014/main" id="{97E2680E-DD54-4C64-A1F3-76B46DEF3B0F}"/>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A travelling wave coordinates the joints</a:t>
            </a:r>
          </a:p>
        </p:txBody>
      </p:sp>
      <p:sp>
        <p:nvSpPr>
          <p:cNvPr id="3" name="text-117">
            <a:extLst>
              <a:ext uri="{FF2B5EF4-FFF2-40B4-BE49-F238E27FC236}">
                <a16:creationId xmlns:a16="http://schemas.microsoft.com/office/drawing/2014/main" id="{57B85A48-E6AA-49D5-B1C9-5F390D772724}"/>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18">
            <a:extLst>
              <a:ext uri="{FF2B5EF4-FFF2-40B4-BE49-F238E27FC236}">
                <a16:creationId xmlns:a16="http://schemas.microsoft.com/office/drawing/2014/main" id="{E7E9FCD3-7AC9-41C8-847B-203B6ACF8926}"/>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24</a:t>
            </a:r>
          </a:p>
        </p:txBody>
      </p:sp>
      <p:sp>
        <p:nvSpPr>
          <p:cNvPr id="5" name="text-119">
            <a:extLst>
              <a:ext uri="{FF2B5EF4-FFF2-40B4-BE49-F238E27FC236}">
                <a16:creationId xmlns:a16="http://schemas.microsoft.com/office/drawing/2014/main" id="{9CA233F3-D75A-452C-9E7F-C55B5B7DC94A}"/>
              </a:ext>
            </a:extLst>
          </p:cNvPr>
          <p:cNvSpPr>
            <a:spLocks noGrp="1"/>
          </p:cNvSpPr>
          <p:nvPr/>
        </p:nvSpPr>
        <p:spPr>
          <a:xfrm>
            <a:off x="714375" y="1695450"/>
            <a:ext cx="7620000" cy="523875"/>
          </a:xfrm>
          <a:prstGeom prst="rect">
            <a:avLst/>
          </a:prstGeom>
          <a:noFill/>
          <a:ln w="0">
            <a:noFill/>
            <a:prstDash val="solid"/>
          </a:ln>
        </p:spPr>
        <p:txBody>
          <a:bodyPr lIns="0" tIns="0" rIns="0" bIns="0"/>
          <a:lstStyle>
            <a:defPPr>
              <a:defRPr sz="2625" b="1">
                <a:solidFill>
                  <a:srgbClr val="48D4DF"/>
                </a:solidFill>
              </a:defRPr>
            </a:defPPr>
            <a:lvl1pPr>
              <a:defRPr sz="2625" b="1">
                <a:solidFill>
                  <a:srgbClr val="48D4DF"/>
                </a:solidFill>
              </a:defRPr>
            </a:lvl1pPr>
            <a:lvl2pPr>
              <a:defRPr sz="2625" b="1">
                <a:solidFill>
                  <a:srgbClr val="48D4DF"/>
                </a:solidFill>
              </a:defRPr>
            </a:lvl2pPr>
            <a:lvl3pPr>
              <a:defRPr sz="2625" b="1">
                <a:solidFill>
                  <a:srgbClr val="48D4DF"/>
                </a:solidFill>
              </a:defRPr>
            </a:lvl3pPr>
            <a:lvl4pPr>
              <a:defRPr sz="2625" b="1">
                <a:solidFill>
                  <a:srgbClr val="48D4DF"/>
                </a:solidFill>
              </a:defRPr>
            </a:lvl4pPr>
            <a:lvl5pPr>
              <a:defRPr sz="2625" b="1">
                <a:solidFill>
                  <a:srgbClr val="48D4DF"/>
                </a:solidFill>
              </a:defRPr>
            </a:lvl5pPr>
            <a:lvl6pPr>
              <a:defRPr sz="2625" b="1">
                <a:solidFill>
                  <a:srgbClr val="48D4DF"/>
                </a:solidFill>
              </a:defRPr>
            </a:lvl6pPr>
            <a:lvl7pPr>
              <a:defRPr sz="2625" b="1">
                <a:solidFill>
                  <a:srgbClr val="48D4DF"/>
                </a:solidFill>
              </a:defRPr>
            </a:lvl7pPr>
            <a:lvl8pPr>
              <a:defRPr sz="2625" b="1">
                <a:solidFill>
                  <a:srgbClr val="48D4DF"/>
                </a:solidFill>
              </a:defRPr>
            </a:lvl8pPr>
            <a:lvl9pPr>
              <a:defRPr sz="2625" b="1">
                <a:solidFill>
                  <a:srgbClr val="48D4DF"/>
                </a:solidFill>
              </a:defRPr>
            </a:lvl9pPr>
          </a:lstStyle>
          <a:p>
            <a:pPr>
              <a:defRPr sz="2625" b="1">
                <a:solidFill>
                  <a:srgbClr val="48D4DF"/>
                </a:solidFill>
              </a:defRPr>
            </a:pPr>
            <a:r>
              <a:rPr sz="2625" b="1">
                <a:solidFill>
                  <a:srgbClr val="48D4DF"/>
                </a:solidFill>
              </a:rPr>
              <a:t>θᵢ(t) = A sin(ωt − iφ) + b</a:t>
            </a:r>
          </a:p>
        </p:txBody>
      </p:sp>
      <p:sp>
        <p:nvSpPr>
          <p:cNvPr id="6" name="text-120">
            <a:extLst>
              <a:ext uri="{FF2B5EF4-FFF2-40B4-BE49-F238E27FC236}">
                <a16:creationId xmlns:a16="http://schemas.microsoft.com/office/drawing/2014/main" id="{1A9C2CCC-8212-427B-96B6-5413C5C47F53}"/>
              </a:ext>
            </a:extLst>
          </p:cNvPr>
          <p:cNvSpPr>
            <a:spLocks noGrp="1"/>
          </p:cNvSpPr>
          <p:nvPr/>
        </p:nvSpPr>
        <p:spPr>
          <a:xfrm>
            <a:off x="723900" y="2266950"/>
            <a:ext cx="10668000" cy="304800"/>
          </a:xfrm>
          <a:prstGeom prst="rect">
            <a:avLst/>
          </a:prstGeom>
          <a:noFill/>
          <a:ln w="0">
            <a:noFill/>
            <a:prstDash val="solid"/>
          </a:ln>
        </p:spPr>
        <p:txBody>
          <a:bodyPr lIns="0" tIns="0" rIns="0" bIns="0"/>
          <a:lstStyle>
            <a:defPPr>
              <a:defRPr sz="1650" b="0">
                <a:solidFill>
                  <a:srgbClr val="B9CDDF"/>
                </a:solidFill>
              </a:defRPr>
            </a:defPPr>
            <a:lvl1pPr>
              <a:defRPr sz="1650" b="0">
                <a:solidFill>
                  <a:srgbClr val="B9CDDF"/>
                </a:solidFill>
              </a:defRPr>
            </a:lvl1pPr>
            <a:lvl2pPr>
              <a:defRPr sz="1650" b="0">
                <a:solidFill>
                  <a:srgbClr val="B9CDDF"/>
                </a:solidFill>
              </a:defRPr>
            </a:lvl2pPr>
            <a:lvl3pPr>
              <a:defRPr sz="1650" b="0">
                <a:solidFill>
                  <a:srgbClr val="B9CDDF"/>
                </a:solidFill>
              </a:defRPr>
            </a:lvl3pPr>
            <a:lvl4pPr>
              <a:defRPr sz="1650" b="0">
                <a:solidFill>
                  <a:srgbClr val="B9CDDF"/>
                </a:solidFill>
              </a:defRPr>
            </a:lvl4pPr>
            <a:lvl5pPr>
              <a:defRPr sz="1650" b="0">
                <a:solidFill>
                  <a:srgbClr val="B9CDDF"/>
                </a:solidFill>
              </a:defRPr>
            </a:lvl5pPr>
            <a:lvl6pPr>
              <a:defRPr sz="1650" b="0">
                <a:solidFill>
                  <a:srgbClr val="B9CDDF"/>
                </a:solidFill>
              </a:defRPr>
            </a:lvl6pPr>
            <a:lvl7pPr>
              <a:defRPr sz="1650" b="0">
                <a:solidFill>
                  <a:srgbClr val="B9CDDF"/>
                </a:solidFill>
              </a:defRPr>
            </a:lvl7pPr>
            <a:lvl8pPr>
              <a:defRPr sz="1650" b="0">
                <a:solidFill>
                  <a:srgbClr val="B9CDDF"/>
                </a:solidFill>
              </a:defRPr>
            </a:lvl8pPr>
            <a:lvl9pPr>
              <a:defRPr sz="1650" b="0">
                <a:solidFill>
                  <a:srgbClr val="B9CDDF"/>
                </a:solidFill>
              </a:defRPr>
            </a:lvl9pPr>
          </a:lstStyle>
          <a:p>
            <a:pPr>
              <a:defRPr sz="1650" b="0">
                <a:solidFill>
                  <a:srgbClr val="B9CDDF"/>
                </a:solidFill>
              </a:defRPr>
            </a:pPr>
            <a:r>
              <a:rPr sz="1650" b="0">
                <a:solidFill>
                  <a:srgbClr val="B9CDDF"/>
                </a:solidFill>
              </a:rPr>
              <a:t>A amplitude   ·   ω frequency   ·   φ phase lag   ·   b steering bias</a:t>
            </a:r>
          </a:p>
        </p:txBody>
      </p:sp>
      <p:sp>
        <p:nvSpPr>
          <p:cNvPr id="7" name="glass-121">
            <a:extLst>
              <a:ext uri="{FF2B5EF4-FFF2-40B4-BE49-F238E27FC236}">
                <a16:creationId xmlns:a16="http://schemas.microsoft.com/office/drawing/2014/main" id="{32E037BF-4A2E-4099-A4E6-6951E6336071}"/>
              </a:ext>
            </a:extLst>
          </p:cNvPr>
          <p:cNvSpPr>
            <a:spLocks noGrp="1"/>
          </p:cNvSpPr>
          <p:nvPr/>
        </p:nvSpPr>
        <p:spPr>
          <a:xfrm>
            <a:off x="609600" y="2857500"/>
            <a:ext cx="7334250" cy="2762250"/>
          </a:xfrm>
          <a:prstGeom prst="roundRect">
            <a:avLst>
              <a:gd name="adj" fmla="val 2759"/>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8" name="text-122">
            <a:extLst>
              <a:ext uri="{FF2B5EF4-FFF2-40B4-BE49-F238E27FC236}">
                <a16:creationId xmlns:a16="http://schemas.microsoft.com/office/drawing/2014/main" id="{317ADB88-7EC4-44C5-8E39-416C6665975B}"/>
              </a:ext>
            </a:extLst>
          </p:cNvPr>
          <p:cNvSpPr>
            <a:spLocks noGrp="1"/>
          </p:cNvSpPr>
          <p:nvPr/>
        </p:nvSpPr>
        <p:spPr>
          <a:xfrm>
            <a:off x="800100" y="3095625"/>
            <a:ext cx="1047750" cy="323850"/>
          </a:xfrm>
          <a:prstGeom prst="rect">
            <a:avLst/>
          </a:prstGeom>
          <a:noFill/>
          <a:ln w="0">
            <a:noFill/>
            <a:prstDash val="solid"/>
          </a:ln>
        </p:spPr>
        <p:txBody>
          <a:bodyPr lIns="0" tIns="0" rIns="0" bIns="0"/>
          <a:lstStyle>
            <a:defPPr>
              <a:defRPr sz="1650" b="1">
                <a:solidFill>
                  <a:srgbClr val="F5FAFF"/>
                </a:solidFill>
              </a:defRPr>
            </a:defPPr>
            <a:lvl1pPr>
              <a:defRPr sz="1650" b="1">
                <a:solidFill>
                  <a:srgbClr val="F5FAFF"/>
                </a:solidFill>
              </a:defRPr>
            </a:lvl1pPr>
            <a:lvl2pPr>
              <a:defRPr sz="1650" b="1">
                <a:solidFill>
                  <a:srgbClr val="F5FAFF"/>
                </a:solidFill>
              </a:defRPr>
            </a:lvl2pPr>
            <a:lvl3pPr>
              <a:defRPr sz="1650" b="1">
                <a:solidFill>
                  <a:srgbClr val="F5FAFF"/>
                </a:solidFill>
              </a:defRPr>
            </a:lvl3pPr>
            <a:lvl4pPr>
              <a:defRPr sz="1650" b="1">
                <a:solidFill>
                  <a:srgbClr val="F5FAFF"/>
                </a:solidFill>
              </a:defRPr>
            </a:lvl4pPr>
            <a:lvl5pPr>
              <a:defRPr sz="1650" b="1">
                <a:solidFill>
                  <a:srgbClr val="F5FAFF"/>
                </a:solidFill>
              </a:defRPr>
            </a:lvl5pPr>
            <a:lvl6pPr>
              <a:defRPr sz="1650" b="1">
                <a:solidFill>
                  <a:srgbClr val="F5FAFF"/>
                </a:solidFill>
              </a:defRPr>
            </a:lvl6pPr>
            <a:lvl7pPr>
              <a:defRPr sz="1650" b="1">
                <a:solidFill>
                  <a:srgbClr val="F5FAFF"/>
                </a:solidFill>
              </a:defRPr>
            </a:lvl7pPr>
            <a:lvl8pPr>
              <a:defRPr sz="1650" b="1">
                <a:solidFill>
                  <a:srgbClr val="F5FAFF"/>
                </a:solidFill>
              </a:defRPr>
            </a:lvl8pPr>
            <a:lvl9pPr>
              <a:defRPr sz="1650" b="1">
                <a:solidFill>
                  <a:srgbClr val="F5FAFF"/>
                </a:solidFill>
              </a:defRPr>
            </a:lvl9pPr>
          </a:lstStyle>
          <a:p>
            <a:pPr>
              <a:defRPr sz="1650" b="1">
                <a:solidFill>
                  <a:srgbClr val="F5FAFF"/>
                </a:solidFill>
              </a:defRPr>
            </a:pPr>
            <a:r>
              <a:rPr sz="1650" b="1">
                <a:solidFill>
                  <a:srgbClr val="F5FAFF"/>
                </a:solidFill>
              </a:rPr>
              <a:t>Phase 1</a:t>
            </a:r>
          </a:p>
        </p:txBody>
      </p:sp>
      <p:sp>
        <p:nvSpPr>
          <p:cNvPr id="9" name="wave-0-0">
            <a:extLst>
              <a:ext uri="{FF2B5EF4-FFF2-40B4-BE49-F238E27FC236}">
                <a16:creationId xmlns:a16="http://schemas.microsoft.com/office/drawing/2014/main" id="{05BBCFB2-F7A8-4851-986F-1AF242A72251}"/>
              </a:ext>
            </a:extLst>
          </p:cNvPr>
          <p:cNvSpPr>
            <a:spLocks noGrp="1"/>
          </p:cNvSpPr>
          <p:nvPr/>
        </p:nvSpPr>
        <p:spPr>
          <a:xfrm>
            <a:off x="2076450" y="3190875"/>
            <a:ext cx="171450" cy="171450"/>
          </a:xfrm>
          <a:prstGeom prst="ellipse">
            <a:avLst/>
          </a:prstGeom>
          <a:solidFill>
            <a:srgbClr val="FFFFFF">
              <a:alpha val="65000"/>
            </a:srgbClr>
          </a:solidFill>
          <a:ln w="0">
            <a:noFill/>
            <a:prstDash val="solid"/>
          </a:ln>
        </p:spPr>
      </p:sp>
      <p:sp>
        <p:nvSpPr>
          <p:cNvPr id="10" name="wave-0-1">
            <a:extLst>
              <a:ext uri="{FF2B5EF4-FFF2-40B4-BE49-F238E27FC236}">
                <a16:creationId xmlns:a16="http://schemas.microsoft.com/office/drawing/2014/main" id="{976D569A-E000-43D7-9120-1689314E81DF}"/>
              </a:ext>
            </a:extLst>
          </p:cNvPr>
          <p:cNvSpPr>
            <a:spLocks noGrp="1"/>
          </p:cNvSpPr>
          <p:nvPr/>
        </p:nvSpPr>
        <p:spPr>
          <a:xfrm>
            <a:off x="2619375" y="3327531"/>
            <a:ext cx="171450" cy="171450"/>
          </a:xfrm>
          <a:prstGeom prst="ellipse">
            <a:avLst/>
          </a:prstGeom>
          <a:solidFill>
            <a:srgbClr val="FFFFFF">
              <a:alpha val="65000"/>
            </a:srgbClr>
          </a:solidFill>
          <a:ln w="0">
            <a:noFill/>
            <a:prstDash val="solid"/>
          </a:ln>
        </p:spPr>
      </p:sp>
      <p:sp>
        <p:nvSpPr>
          <p:cNvPr id="11" name="wave-0-2">
            <a:extLst>
              <a:ext uri="{FF2B5EF4-FFF2-40B4-BE49-F238E27FC236}">
                <a16:creationId xmlns:a16="http://schemas.microsoft.com/office/drawing/2014/main" id="{0C914AFF-6222-4316-97CD-57BC1CEE300F}"/>
              </a:ext>
            </a:extLst>
          </p:cNvPr>
          <p:cNvSpPr>
            <a:spLocks noGrp="1"/>
          </p:cNvSpPr>
          <p:nvPr/>
        </p:nvSpPr>
        <p:spPr>
          <a:xfrm>
            <a:off x="3162300" y="3381294"/>
            <a:ext cx="171450" cy="171450"/>
          </a:xfrm>
          <a:prstGeom prst="ellipse">
            <a:avLst/>
          </a:prstGeom>
          <a:solidFill>
            <a:srgbClr val="FFFFFF">
              <a:alpha val="65000"/>
            </a:srgbClr>
          </a:solidFill>
          <a:ln w="0">
            <a:noFill/>
            <a:prstDash val="solid"/>
          </a:ln>
        </p:spPr>
      </p:sp>
      <p:sp>
        <p:nvSpPr>
          <p:cNvPr id="12" name="wave-0-3">
            <a:extLst>
              <a:ext uri="{FF2B5EF4-FFF2-40B4-BE49-F238E27FC236}">
                <a16:creationId xmlns:a16="http://schemas.microsoft.com/office/drawing/2014/main" id="{30D48F69-9BD6-4C47-AFF4-A837508B077C}"/>
              </a:ext>
            </a:extLst>
          </p:cNvPr>
          <p:cNvSpPr>
            <a:spLocks noGrp="1"/>
          </p:cNvSpPr>
          <p:nvPr/>
        </p:nvSpPr>
        <p:spPr>
          <a:xfrm>
            <a:off x="3705225" y="3319551"/>
            <a:ext cx="171450" cy="171450"/>
          </a:xfrm>
          <a:prstGeom prst="ellipse">
            <a:avLst/>
          </a:prstGeom>
          <a:solidFill>
            <a:srgbClr val="FFFFFF">
              <a:alpha val="65000"/>
            </a:srgbClr>
          </a:solidFill>
          <a:ln w="0">
            <a:noFill/>
            <a:prstDash val="solid"/>
          </a:ln>
        </p:spPr>
      </p:sp>
      <p:sp>
        <p:nvSpPr>
          <p:cNvPr id="13" name="wave-0-4">
            <a:extLst>
              <a:ext uri="{FF2B5EF4-FFF2-40B4-BE49-F238E27FC236}">
                <a16:creationId xmlns:a16="http://schemas.microsoft.com/office/drawing/2014/main" id="{071549A6-5436-4E1A-93EF-8D79FFB08916}"/>
              </a:ext>
            </a:extLst>
          </p:cNvPr>
          <p:cNvSpPr>
            <a:spLocks noGrp="1"/>
          </p:cNvSpPr>
          <p:nvPr/>
        </p:nvSpPr>
        <p:spPr>
          <a:xfrm>
            <a:off x="4248150" y="3179755"/>
            <a:ext cx="171450" cy="171450"/>
          </a:xfrm>
          <a:prstGeom prst="ellipse">
            <a:avLst/>
          </a:prstGeom>
          <a:solidFill>
            <a:srgbClr val="FFFFFF">
              <a:alpha val="65000"/>
            </a:srgbClr>
          </a:solidFill>
          <a:ln w="0">
            <a:noFill/>
            <a:prstDash val="solid"/>
          </a:ln>
        </p:spPr>
      </p:sp>
      <p:sp>
        <p:nvSpPr>
          <p:cNvPr id="14" name="wave-0-5">
            <a:extLst>
              <a:ext uri="{FF2B5EF4-FFF2-40B4-BE49-F238E27FC236}">
                <a16:creationId xmlns:a16="http://schemas.microsoft.com/office/drawing/2014/main" id="{50B53DE3-D23B-4B5F-8E6D-4E8035370322}"/>
              </a:ext>
            </a:extLst>
          </p:cNvPr>
          <p:cNvSpPr>
            <a:spLocks noGrp="1"/>
          </p:cNvSpPr>
          <p:nvPr/>
        </p:nvSpPr>
        <p:spPr>
          <a:xfrm>
            <a:off x="4791075" y="3046704"/>
            <a:ext cx="171450" cy="171450"/>
          </a:xfrm>
          <a:prstGeom prst="ellipse">
            <a:avLst/>
          </a:prstGeom>
          <a:solidFill>
            <a:srgbClr val="FFFFFF">
              <a:alpha val="65000"/>
            </a:srgbClr>
          </a:solidFill>
          <a:ln w="0">
            <a:noFill/>
            <a:prstDash val="solid"/>
          </a:ln>
        </p:spPr>
      </p:sp>
      <p:sp>
        <p:nvSpPr>
          <p:cNvPr id="15" name="wave-0-6">
            <a:extLst>
              <a:ext uri="{FF2B5EF4-FFF2-40B4-BE49-F238E27FC236}">
                <a16:creationId xmlns:a16="http://schemas.microsoft.com/office/drawing/2014/main" id="{4CB91E61-1201-411F-9C63-7E2A29720A03}"/>
              </a:ext>
            </a:extLst>
          </p:cNvPr>
          <p:cNvSpPr>
            <a:spLocks noGrp="1"/>
          </p:cNvSpPr>
          <p:nvPr/>
        </p:nvSpPr>
        <p:spPr>
          <a:xfrm>
            <a:off x="5334000" y="3001106"/>
            <a:ext cx="171450" cy="171450"/>
          </a:xfrm>
          <a:prstGeom prst="ellipse">
            <a:avLst/>
          </a:prstGeom>
          <a:solidFill>
            <a:srgbClr val="FFFFFF">
              <a:alpha val="65000"/>
            </a:srgbClr>
          </a:solidFill>
          <a:ln w="0">
            <a:noFill/>
            <a:prstDash val="solid"/>
          </a:ln>
        </p:spPr>
      </p:sp>
      <p:sp>
        <p:nvSpPr>
          <p:cNvPr id="16" name="wave-0-7">
            <a:extLst>
              <a:ext uri="{FF2B5EF4-FFF2-40B4-BE49-F238E27FC236}">
                <a16:creationId xmlns:a16="http://schemas.microsoft.com/office/drawing/2014/main" id="{0FA72328-610D-473F-B805-792E7C467206}"/>
              </a:ext>
            </a:extLst>
          </p:cNvPr>
          <p:cNvSpPr>
            <a:spLocks noGrp="1"/>
          </p:cNvSpPr>
          <p:nvPr/>
        </p:nvSpPr>
        <p:spPr>
          <a:xfrm>
            <a:off x="5876925" y="3070619"/>
            <a:ext cx="171450" cy="171450"/>
          </a:xfrm>
          <a:prstGeom prst="ellipse">
            <a:avLst/>
          </a:prstGeom>
          <a:solidFill>
            <a:srgbClr val="FFFFFF">
              <a:alpha val="65000"/>
            </a:srgbClr>
          </a:solidFill>
          <a:ln w="0">
            <a:noFill/>
            <a:prstDash val="solid"/>
          </a:ln>
        </p:spPr>
      </p:sp>
      <p:sp>
        <p:nvSpPr>
          <p:cNvPr id="17" name="wave-0-8">
            <a:extLst>
              <a:ext uri="{FF2B5EF4-FFF2-40B4-BE49-F238E27FC236}">
                <a16:creationId xmlns:a16="http://schemas.microsoft.com/office/drawing/2014/main" id="{4BB8C1B8-8EA7-451C-90E7-7C12E648021C}"/>
              </a:ext>
            </a:extLst>
          </p:cNvPr>
          <p:cNvSpPr>
            <a:spLocks noGrp="1"/>
          </p:cNvSpPr>
          <p:nvPr/>
        </p:nvSpPr>
        <p:spPr>
          <a:xfrm>
            <a:off x="6419850" y="3213078"/>
            <a:ext cx="171450" cy="171450"/>
          </a:xfrm>
          <a:prstGeom prst="ellipse">
            <a:avLst/>
          </a:prstGeom>
          <a:solidFill>
            <a:srgbClr val="FFFFFF">
              <a:alpha val="65000"/>
            </a:srgbClr>
          </a:solidFill>
          <a:ln w="0">
            <a:noFill/>
            <a:prstDash val="solid"/>
          </a:ln>
        </p:spPr>
      </p:sp>
      <p:sp>
        <p:nvSpPr>
          <p:cNvPr id="18" name="wave-0-9">
            <a:extLst>
              <a:ext uri="{FF2B5EF4-FFF2-40B4-BE49-F238E27FC236}">
                <a16:creationId xmlns:a16="http://schemas.microsoft.com/office/drawing/2014/main" id="{0521CDF2-7D74-4E98-AE27-D69260CFF0B0}"/>
              </a:ext>
            </a:extLst>
          </p:cNvPr>
          <p:cNvSpPr>
            <a:spLocks noGrp="1"/>
          </p:cNvSpPr>
          <p:nvPr/>
        </p:nvSpPr>
        <p:spPr>
          <a:xfrm>
            <a:off x="6962775" y="3342069"/>
            <a:ext cx="171450" cy="171450"/>
          </a:xfrm>
          <a:prstGeom prst="ellipse">
            <a:avLst/>
          </a:prstGeom>
          <a:solidFill>
            <a:srgbClr val="FFFFFF">
              <a:alpha val="65000"/>
            </a:srgbClr>
          </a:solidFill>
          <a:ln w="0">
            <a:noFill/>
            <a:prstDash val="solid"/>
          </a:ln>
        </p:spPr>
      </p:sp>
      <p:sp>
        <p:nvSpPr>
          <p:cNvPr id="19" name="text-123">
            <a:extLst>
              <a:ext uri="{FF2B5EF4-FFF2-40B4-BE49-F238E27FC236}">
                <a16:creationId xmlns:a16="http://schemas.microsoft.com/office/drawing/2014/main" id="{C66E71B6-03AE-4DCE-AE51-F3F8FC759550}"/>
              </a:ext>
            </a:extLst>
          </p:cNvPr>
          <p:cNvSpPr>
            <a:spLocks noGrp="1"/>
          </p:cNvSpPr>
          <p:nvPr/>
        </p:nvSpPr>
        <p:spPr>
          <a:xfrm>
            <a:off x="800100" y="3819525"/>
            <a:ext cx="1047750" cy="323850"/>
          </a:xfrm>
          <a:prstGeom prst="rect">
            <a:avLst/>
          </a:prstGeom>
          <a:noFill/>
          <a:ln w="0">
            <a:noFill/>
            <a:prstDash val="solid"/>
          </a:ln>
        </p:spPr>
        <p:txBody>
          <a:bodyPr lIns="0" tIns="0" rIns="0" bIns="0"/>
          <a:lstStyle>
            <a:defPPr>
              <a:defRPr sz="1650" b="1">
                <a:solidFill>
                  <a:srgbClr val="F5FAFF"/>
                </a:solidFill>
              </a:defRPr>
            </a:defPPr>
            <a:lvl1pPr>
              <a:defRPr sz="1650" b="1">
                <a:solidFill>
                  <a:srgbClr val="F5FAFF"/>
                </a:solidFill>
              </a:defRPr>
            </a:lvl1pPr>
            <a:lvl2pPr>
              <a:defRPr sz="1650" b="1">
                <a:solidFill>
                  <a:srgbClr val="F5FAFF"/>
                </a:solidFill>
              </a:defRPr>
            </a:lvl2pPr>
            <a:lvl3pPr>
              <a:defRPr sz="1650" b="1">
                <a:solidFill>
                  <a:srgbClr val="F5FAFF"/>
                </a:solidFill>
              </a:defRPr>
            </a:lvl3pPr>
            <a:lvl4pPr>
              <a:defRPr sz="1650" b="1">
                <a:solidFill>
                  <a:srgbClr val="F5FAFF"/>
                </a:solidFill>
              </a:defRPr>
            </a:lvl4pPr>
            <a:lvl5pPr>
              <a:defRPr sz="1650" b="1">
                <a:solidFill>
                  <a:srgbClr val="F5FAFF"/>
                </a:solidFill>
              </a:defRPr>
            </a:lvl5pPr>
            <a:lvl6pPr>
              <a:defRPr sz="1650" b="1">
                <a:solidFill>
                  <a:srgbClr val="F5FAFF"/>
                </a:solidFill>
              </a:defRPr>
            </a:lvl6pPr>
            <a:lvl7pPr>
              <a:defRPr sz="1650" b="1">
                <a:solidFill>
                  <a:srgbClr val="F5FAFF"/>
                </a:solidFill>
              </a:defRPr>
            </a:lvl7pPr>
            <a:lvl8pPr>
              <a:defRPr sz="1650" b="1">
                <a:solidFill>
                  <a:srgbClr val="F5FAFF"/>
                </a:solidFill>
              </a:defRPr>
            </a:lvl8pPr>
            <a:lvl9pPr>
              <a:defRPr sz="1650" b="1">
                <a:solidFill>
                  <a:srgbClr val="F5FAFF"/>
                </a:solidFill>
              </a:defRPr>
            </a:lvl9pPr>
          </a:lstStyle>
          <a:p>
            <a:pPr>
              <a:defRPr sz="1650" b="1">
                <a:solidFill>
                  <a:srgbClr val="F5FAFF"/>
                </a:solidFill>
              </a:defRPr>
            </a:pPr>
            <a:r>
              <a:rPr sz="1650" b="1">
                <a:solidFill>
                  <a:srgbClr val="F5FAFF"/>
                </a:solidFill>
              </a:rPr>
              <a:t>Phase 2</a:t>
            </a:r>
          </a:p>
        </p:txBody>
      </p:sp>
      <p:sp>
        <p:nvSpPr>
          <p:cNvPr id="20" name="wave-1-0">
            <a:extLst>
              <a:ext uri="{FF2B5EF4-FFF2-40B4-BE49-F238E27FC236}">
                <a16:creationId xmlns:a16="http://schemas.microsoft.com/office/drawing/2014/main" id="{F63E159E-224A-4CFB-B1A9-A031B440003F}"/>
              </a:ext>
            </a:extLst>
          </p:cNvPr>
          <p:cNvSpPr>
            <a:spLocks noGrp="1"/>
          </p:cNvSpPr>
          <p:nvPr/>
        </p:nvSpPr>
        <p:spPr>
          <a:xfrm>
            <a:off x="2076450" y="3754475"/>
            <a:ext cx="171450" cy="171450"/>
          </a:xfrm>
          <a:prstGeom prst="ellipse">
            <a:avLst/>
          </a:prstGeom>
          <a:solidFill>
            <a:srgbClr val="48D4DF"/>
          </a:solidFill>
          <a:ln w="0">
            <a:noFill/>
            <a:prstDash val="solid"/>
          </a:ln>
        </p:spPr>
      </p:sp>
      <p:sp>
        <p:nvSpPr>
          <p:cNvPr id="21" name="wave-1-1">
            <a:extLst>
              <a:ext uri="{FF2B5EF4-FFF2-40B4-BE49-F238E27FC236}">
                <a16:creationId xmlns:a16="http://schemas.microsoft.com/office/drawing/2014/main" id="{21B7B6BB-6B0F-4E84-8BBD-1365F10BAA32}"/>
              </a:ext>
            </a:extLst>
          </p:cNvPr>
          <p:cNvSpPr>
            <a:spLocks noGrp="1"/>
          </p:cNvSpPr>
          <p:nvPr/>
        </p:nvSpPr>
        <p:spPr>
          <a:xfrm>
            <a:off x="2619375" y="3876928"/>
            <a:ext cx="171450" cy="171450"/>
          </a:xfrm>
          <a:prstGeom prst="ellipse">
            <a:avLst/>
          </a:prstGeom>
          <a:solidFill>
            <a:srgbClr val="48D4DF"/>
          </a:solidFill>
          <a:ln w="0">
            <a:noFill/>
            <a:prstDash val="solid"/>
          </a:ln>
        </p:spPr>
      </p:sp>
      <p:sp>
        <p:nvSpPr>
          <p:cNvPr id="22" name="wave-1-2">
            <a:extLst>
              <a:ext uri="{FF2B5EF4-FFF2-40B4-BE49-F238E27FC236}">
                <a16:creationId xmlns:a16="http://schemas.microsoft.com/office/drawing/2014/main" id="{B5ED575B-2712-4552-B236-9C8AD0E7014D}"/>
              </a:ext>
            </a:extLst>
          </p:cNvPr>
          <p:cNvSpPr>
            <a:spLocks noGrp="1"/>
          </p:cNvSpPr>
          <p:nvPr/>
        </p:nvSpPr>
        <p:spPr>
          <a:xfrm>
            <a:off x="3162300" y="4022339"/>
            <a:ext cx="171450" cy="171450"/>
          </a:xfrm>
          <a:prstGeom prst="ellipse">
            <a:avLst/>
          </a:prstGeom>
          <a:solidFill>
            <a:srgbClr val="48D4DF"/>
          </a:solidFill>
          <a:ln w="0">
            <a:noFill/>
            <a:prstDash val="solid"/>
          </a:ln>
        </p:spPr>
      </p:sp>
      <p:sp>
        <p:nvSpPr>
          <p:cNvPr id="23" name="wave-1-3">
            <a:extLst>
              <a:ext uri="{FF2B5EF4-FFF2-40B4-BE49-F238E27FC236}">
                <a16:creationId xmlns:a16="http://schemas.microsoft.com/office/drawing/2014/main" id="{789F1CDD-D18F-4580-BDDD-A8CB93A2CB8F}"/>
              </a:ext>
            </a:extLst>
          </p:cNvPr>
          <p:cNvSpPr>
            <a:spLocks noGrp="1"/>
          </p:cNvSpPr>
          <p:nvPr/>
        </p:nvSpPr>
        <p:spPr>
          <a:xfrm>
            <a:off x="3705225" y="4102503"/>
            <a:ext cx="171450" cy="171450"/>
          </a:xfrm>
          <a:prstGeom prst="ellipse">
            <a:avLst/>
          </a:prstGeom>
          <a:solidFill>
            <a:srgbClr val="48D4DF"/>
          </a:solidFill>
          <a:ln w="0">
            <a:noFill/>
            <a:prstDash val="solid"/>
          </a:ln>
        </p:spPr>
      </p:sp>
      <p:sp>
        <p:nvSpPr>
          <p:cNvPr id="24" name="wave-1-4">
            <a:extLst>
              <a:ext uri="{FF2B5EF4-FFF2-40B4-BE49-F238E27FC236}">
                <a16:creationId xmlns:a16="http://schemas.microsoft.com/office/drawing/2014/main" id="{A3C76072-EC74-436F-935A-375F79449A92}"/>
              </a:ext>
            </a:extLst>
          </p:cNvPr>
          <p:cNvSpPr>
            <a:spLocks noGrp="1"/>
          </p:cNvSpPr>
          <p:nvPr/>
        </p:nvSpPr>
        <p:spPr>
          <a:xfrm>
            <a:off x="4248150" y="4068794"/>
            <a:ext cx="171450" cy="171450"/>
          </a:xfrm>
          <a:prstGeom prst="ellipse">
            <a:avLst/>
          </a:prstGeom>
          <a:solidFill>
            <a:srgbClr val="48D4DF"/>
          </a:solidFill>
          <a:ln w="0">
            <a:noFill/>
            <a:prstDash val="solid"/>
          </a:ln>
        </p:spPr>
      </p:sp>
      <p:sp>
        <p:nvSpPr>
          <p:cNvPr id="25" name="wave-1-5">
            <a:extLst>
              <a:ext uri="{FF2B5EF4-FFF2-40B4-BE49-F238E27FC236}">
                <a16:creationId xmlns:a16="http://schemas.microsoft.com/office/drawing/2014/main" id="{1CA07F5E-50C1-4FD4-99AD-CEBA723E2197}"/>
              </a:ext>
            </a:extLst>
          </p:cNvPr>
          <p:cNvSpPr>
            <a:spLocks noGrp="1"/>
          </p:cNvSpPr>
          <p:nvPr/>
        </p:nvSpPr>
        <p:spPr>
          <a:xfrm>
            <a:off x="4791075" y="3941658"/>
            <a:ext cx="171450" cy="171450"/>
          </a:xfrm>
          <a:prstGeom prst="ellipse">
            <a:avLst/>
          </a:prstGeom>
          <a:solidFill>
            <a:srgbClr val="48D4DF"/>
          </a:solidFill>
          <a:ln w="0">
            <a:noFill/>
            <a:prstDash val="solid"/>
          </a:ln>
        </p:spPr>
      </p:sp>
      <p:sp>
        <p:nvSpPr>
          <p:cNvPr id="26" name="wave-1-6">
            <a:extLst>
              <a:ext uri="{FF2B5EF4-FFF2-40B4-BE49-F238E27FC236}">
                <a16:creationId xmlns:a16="http://schemas.microsoft.com/office/drawing/2014/main" id="{822C0C1D-B4D2-4BD0-89A9-47888E9C600D}"/>
              </a:ext>
            </a:extLst>
          </p:cNvPr>
          <p:cNvSpPr>
            <a:spLocks noGrp="1"/>
          </p:cNvSpPr>
          <p:nvPr/>
        </p:nvSpPr>
        <p:spPr>
          <a:xfrm>
            <a:off x="5334000" y="3798216"/>
            <a:ext cx="171450" cy="171450"/>
          </a:xfrm>
          <a:prstGeom prst="ellipse">
            <a:avLst/>
          </a:prstGeom>
          <a:solidFill>
            <a:srgbClr val="48D4DF"/>
          </a:solidFill>
          <a:ln w="0">
            <a:noFill/>
            <a:prstDash val="solid"/>
          </a:ln>
        </p:spPr>
      </p:sp>
      <p:sp>
        <p:nvSpPr>
          <p:cNvPr id="27" name="wave-1-7">
            <a:extLst>
              <a:ext uri="{FF2B5EF4-FFF2-40B4-BE49-F238E27FC236}">
                <a16:creationId xmlns:a16="http://schemas.microsoft.com/office/drawing/2014/main" id="{584DDACB-0CC3-4828-9ACE-414D5D2C48FD}"/>
              </a:ext>
            </a:extLst>
          </p:cNvPr>
          <p:cNvSpPr>
            <a:spLocks noGrp="1"/>
          </p:cNvSpPr>
          <p:nvPr/>
        </p:nvSpPr>
        <p:spPr>
          <a:xfrm>
            <a:off x="5876925" y="3725477"/>
            <a:ext cx="171450" cy="171450"/>
          </a:xfrm>
          <a:prstGeom prst="ellipse">
            <a:avLst/>
          </a:prstGeom>
          <a:solidFill>
            <a:srgbClr val="48D4DF"/>
          </a:solidFill>
          <a:ln w="0">
            <a:noFill/>
            <a:prstDash val="solid"/>
          </a:ln>
        </p:spPr>
      </p:sp>
      <p:sp>
        <p:nvSpPr>
          <p:cNvPr id="28" name="wave-1-8">
            <a:extLst>
              <a:ext uri="{FF2B5EF4-FFF2-40B4-BE49-F238E27FC236}">
                <a16:creationId xmlns:a16="http://schemas.microsoft.com/office/drawing/2014/main" id="{D20F4FFA-8844-4F53-8A62-FD7787747B2A}"/>
              </a:ext>
            </a:extLst>
          </p:cNvPr>
          <p:cNvSpPr>
            <a:spLocks noGrp="1"/>
          </p:cNvSpPr>
          <p:nvPr/>
        </p:nvSpPr>
        <p:spPr>
          <a:xfrm>
            <a:off x="6419850" y="3767563"/>
            <a:ext cx="171450" cy="171450"/>
          </a:xfrm>
          <a:prstGeom prst="ellipse">
            <a:avLst/>
          </a:prstGeom>
          <a:solidFill>
            <a:srgbClr val="48D4DF"/>
          </a:solidFill>
          <a:ln w="0">
            <a:noFill/>
            <a:prstDash val="solid"/>
          </a:ln>
        </p:spPr>
      </p:sp>
      <p:sp>
        <p:nvSpPr>
          <p:cNvPr id="29" name="wave-1-9">
            <a:extLst>
              <a:ext uri="{FF2B5EF4-FFF2-40B4-BE49-F238E27FC236}">
                <a16:creationId xmlns:a16="http://schemas.microsoft.com/office/drawing/2014/main" id="{6585EEE4-FA16-47D1-856F-C3C5C783A7F8}"/>
              </a:ext>
            </a:extLst>
          </p:cNvPr>
          <p:cNvSpPr>
            <a:spLocks noGrp="1"/>
          </p:cNvSpPr>
          <p:nvPr/>
        </p:nvSpPr>
        <p:spPr>
          <a:xfrm>
            <a:off x="6962775" y="3898946"/>
            <a:ext cx="171450" cy="171450"/>
          </a:xfrm>
          <a:prstGeom prst="ellipse">
            <a:avLst/>
          </a:prstGeom>
          <a:solidFill>
            <a:srgbClr val="48D4DF"/>
          </a:solidFill>
          <a:ln w="0">
            <a:noFill/>
            <a:prstDash val="solid"/>
          </a:ln>
        </p:spPr>
      </p:sp>
      <p:sp>
        <p:nvSpPr>
          <p:cNvPr id="30" name="text-124">
            <a:extLst>
              <a:ext uri="{FF2B5EF4-FFF2-40B4-BE49-F238E27FC236}">
                <a16:creationId xmlns:a16="http://schemas.microsoft.com/office/drawing/2014/main" id="{471A2F56-9B96-472B-99DC-A267AC68EF1C}"/>
              </a:ext>
            </a:extLst>
          </p:cNvPr>
          <p:cNvSpPr>
            <a:spLocks noGrp="1"/>
          </p:cNvSpPr>
          <p:nvPr/>
        </p:nvSpPr>
        <p:spPr>
          <a:xfrm>
            <a:off x="800100" y="4543425"/>
            <a:ext cx="1047750" cy="323850"/>
          </a:xfrm>
          <a:prstGeom prst="rect">
            <a:avLst/>
          </a:prstGeom>
          <a:noFill/>
          <a:ln w="0">
            <a:noFill/>
            <a:prstDash val="solid"/>
          </a:ln>
        </p:spPr>
        <p:txBody>
          <a:bodyPr lIns="0" tIns="0" rIns="0" bIns="0"/>
          <a:lstStyle>
            <a:defPPr>
              <a:defRPr sz="1650" b="1">
                <a:solidFill>
                  <a:srgbClr val="F5FAFF"/>
                </a:solidFill>
              </a:defRPr>
            </a:defPPr>
            <a:lvl1pPr>
              <a:defRPr sz="1650" b="1">
                <a:solidFill>
                  <a:srgbClr val="F5FAFF"/>
                </a:solidFill>
              </a:defRPr>
            </a:lvl1pPr>
            <a:lvl2pPr>
              <a:defRPr sz="1650" b="1">
                <a:solidFill>
                  <a:srgbClr val="F5FAFF"/>
                </a:solidFill>
              </a:defRPr>
            </a:lvl2pPr>
            <a:lvl3pPr>
              <a:defRPr sz="1650" b="1">
                <a:solidFill>
                  <a:srgbClr val="F5FAFF"/>
                </a:solidFill>
              </a:defRPr>
            </a:lvl3pPr>
            <a:lvl4pPr>
              <a:defRPr sz="1650" b="1">
                <a:solidFill>
                  <a:srgbClr val="F5FAFF"/>
                </a:solidFill>
              </a:defRPr>
            </a:lvl4pPr>
            <a:lvl5pPr>
              <a:defRPr sz="1650" b="1">
                <a:solidFill>
                  <a:srgbClr val="F5FAFF"/>
                </a:solidFill>
              </a:defRPr>
            </a:lvl5pPr>
            <a:lvl6pPr>
              <a:defRPr sz="1650" b="1">
                <a:solidFill>
                  <a:srgbClr val="F5FAFF"/>
                </a:solidFill>
              </a:defRPr>
            </a:lvl6pPr>
            <a:lvl7pPr>
              <a:defRPr sz="1650" b="1">
                <a:solidFill>
                  <a:srgbClr val="F5FAFF"/>
                </a:solidFill>
              </a:defRPr>
            </a:lvl7pPr>
            <a:lvl8pPr>
              <a:defRPr sz="1650" b="1">
                <a:solidFill>
                  <a:srgbClr val="F5FAFF"/>
                </a:solidFill>
              </a:defRPr>
            </a:lvl8pPr>
            <a:lvl9pPr>
              <a:defRPr sz="1650" b="1">
                <a:solidFill>
                  <a:srgbClr val="F5FAFF"/>
                </a:solidFill>
              </a:defRPr>
            </a:lvl9pPr>
          </a:lstStyle>
          <a:p>
            <a:pPr>
              <a:defRPr sz="1650" b="1">
                <a:solidFill>
                  <a:srgbClr val="F5FAFF"/>
                </a:solidFill>
              </a:defRPr>
            </a:pPr>
            <a:r>
              <a:rPr sz="1650" b="1">
                <a:solidFill>
                  <a:srgbClr val="F5FAFF"/>
                </a:solidFill>
              </a:rPr>
              <a:t>Phase 3</a:t>
            </a:r>
          </a:p>
        </p:txBody>
      </p:sp>
      <p:sp>
        <p:nvSpPr>
          <p:cNvPr id="31" name="wave-2-0">
            <a:extLst>
              <a:ext uri="{FF2B5EF4-FFF2-40B4-BE49-F238E27FC236}">
                <a16:creationId xmlns:a16="http://schemas.microsoft.com/office/drawing/2014/main" id="{F5B38CC8-2C54-43F7-AB5B-D934A524FF04}"/>
              </a:ext>
            </a:extLst>
          </p:cNvPr>
          <p:cNvSpPr>
            <a:spLocks noGrp="1"/>
          </p:cNvSpPr>
          <p:nvPr/>
        </p:nvSpPr>
        <p:spPr>
          <a:xfrm>
            <a:off x="2076450" y="4465454"/>
            <a:ext cx="171450" cy="171450"/>
          </a:xfrm>
          <a:prstGeom prst="ellipse">
            <a:avLst/>
          </a:prstGeom>
          <a:solidFill>
            <a:srgbClr val="FFFFFF">
              <a:alpha val="65000"/>
            </a:srgbClr>
          </a:solidFill>
          <a:ln w="0">
            <a:noFill/>
            <a:prstDash val="solid"/>
          </a:ln>
        </p:spPr>
      </p:sp>
      <p:sp>
        <p:nvSpPr>
          <p:cNvPr id="32" name="wave-2-1">
            <a:extLst>
              <a:ext uri="{FF2B5EF4-FFF2-40B4-BE49-F238E27FC236}">
                <a16:creationId xmlns:a16="http://schemas.microsoft.com/office/drawing/2014/main" id="{2C4676AA-91B2-4B36-AB09-9F6AE6C3DB56}"/>
              </a:ext>
            </a:extLst>
          </p:cNvPr>
          <p:cNvSpPr>
            <a:spLocks noGrp="1"/>
          </p:cNvSpPr>
          <p:nvPr/>
        </p:nvSpPr>
        <p:spPr>
          <a:xfrm>
            <a:off x="2619375" y="4461122"/>
            <a:ext cx="171450" cy="171450"/>
          </a:xfrm>
          <a:prstGeom prst="ellipse">
            <a:avLst/>
          </a:prstGeom>
          <a:solidFill>
            <a:srgbClr val="FFFFFF">
              <a:alpha val="65000"/>
            </a:srgbClr>
          </a:solidFill>
          <a:ln w="0">
            <a:noFill/>
            <a:prstDash val="solid"/>
          </a:ln>
        </p:spPr>
      </p:sp>
      <p:sp>
        <p:nvSpPr>
          <p:cNvPr id="33" name="wave-2-2">
            <a:extLst>
              <a:ext uri="{FF2B5EF4-FFF2-40B4-BE49-F238E27FC236}">
                <a16:creationId xmlns:a16="http://schemas.microsoft.com/office/drawing/2014/main" id="{4C58A6FF-9797-41F2-A227-ACC34A3658E3}"/>
              </a:ext>
            </a:extLst>
          </p:cNvPr>
          <p:cNvSpPr>
            <a:spLocks noGrp="1"/>
          </p:cNvSpPr>
          <p:nvPr/>
        </p:nvSpPr>
        <p:spPr>
          <a:xfrm>
            <a:off x="3162300" y="4564491"/>
            <a:ext cx="171450" cy="171450"/>
          </a:xfrm>
          <a:prstGeom prst="ellipse">
            <a:avLst/>
          </a:prstGeom>
          <a:solidFill>
            <a:srgbClr val="FFFFFF">
              <a:alpha val="65000"/>
            </a:srgbClr>
          </a:solidFill>
          <a:ln w="0">
            <a:noFill/>
            <a:prstDash val="solid"/>
          </a:ln>
        </p:spPr>
      </p:sp>
      <p:sp>
        <p:nvSpPr>
          <p:cNvPr id="34" name="wave-2-3">
            <a:extLst>
              <a:ext uri="{FF2B5EF4-FFF2-40B4-BE49-F238E27FC236}">
                <a16:creationId xmlns:a16="http://schemas.microsoft.com/office/drawing/2014/main" id="{F38B0076-8489-45BC-A9EC-67BEB9525051}"/>
              </a:ext>
            </a:extLst>
          </p:cNvPr>
          <p:cNvSpPr>
            <a:spLocks noGrp="1"/>
          </p:cNvSpPr>
          <p:nvPr/>
        </p:nvSpPr>
        <p:spPr>
          <a:xfrm>
            <a:off x="3705225" y="4712859"/>
            <a:ext cx="171450" cy="171450"/>
          </a:xfrm>
          <a:prstGeom prst="ellipse">
            <a:avLst/>
          </a:prstGeom>
          <a:solidFill>
            <a:srgbClr val="FFFFFF">
              <a:alpha val="65000"/>
            </a:srgbClr>
          </a:solidFill>
          <a:ln w="0">
            <a:noFill/>
            <a:prstDash val="solid"/>
          </a:ln>
        </p:spPr>
      </p:sp>
      <p:sp>
        <p:nvSpPr>
          <p:cNvPr id="35" name="wave-2-4">
            <a:extLst>
              <a:ext uri="{FF2B5EF4-FFF2-40B4-BE49-F238E27FC236}">
                <a16:creationId xmlns:a16="http://schemas.microsoft.com/office/drawing/2014/main" id="{2269E4B7-9E6A-4BC7-8BD8-B041047B3A27}"/>
              </a:ext>
            </a:extLst>
          </p:cNvPr>
          <p:cNvSpPr>
            <a:spLocks noGrp="1"/>
          </p:cNvSpPr>
          <p:nvPr/>
        </p:nvSpPr>
        <p:spPr>
          <a:xfrm>
            <a:off x="4248150" y="4816228"/>
            <a:ext cx="171450" cy="171450"/>
          </a:xfrm>
          <a:prstGeom prst="ellipse">
            <a:avLst/>
          </a:prstGeom>
          <a:solidFill>
            <a:srgbClr val="FFFFFF">
              <a:alpha val="65000"/>
            </a:srgbClr>
          </a:solidFill>
          <a:ln w="0">
            <a:noFill/>
            <a:prstDash val="solid"/>
          </a:ln>
        </p:spPr>
      </p:sp>
      <p:sp>
        <p:nvSpPr>
          <p:cNvPr id="36" name="wave-2-5">
            <a:extLst>
              <a:ext uri="{FF2B5EF4-FFF2-40B4-BE49-F238E27FC236}">
                <a16:creationId xmlns:a16="http://schemas.microsoft.com/office/drawing/2014/main" id="{041209FB-0FA0-425C-89D9-40C21102CED1}"/>
              </a:ext>
            </a:extLst>
          </p:cNvPr>
          <p:cNvSpPr>
            <a:spLocks noGrp="1"/>
          </p:cNvSpPr>
          <p:nvPr/>
        </p:nvSpPr>
        <p:spPr>
          <a:xfrm>
            <a:off x="4791075" y="4811896"/>
            <a:ext cx="171450" cy="171450"/>
          </a:xfrm>
          <a:prstGeom prst="ellipse">
            <a:avLst/>
          </a:prstGeom>
          <a:solidFill>
            <a:srgbClr val="FFFFFF">
              <a:alpha val="65000"/>
            </a:srgbClr>
          </a:solidFill>
          <a:ln w="0">
            <a:noFill/>
            <a:prstDash val="solid"/>
          </a:ln>
        </p:spPr>
      </p:sp>
      <p:sp>
        <p:nvSpPr>
          <p:cNvPr id="37" name="wave-2-6">
            <a:extLst>
              <a:ext uri="{FF2B5EF4-FFF2-40B4-BE49-F238E27FC236}">
                <a16:creationId xmlns:a16="http://schemas.microsoft.com/office/drawing/2014/main" id="{79A0F78F-9426-4E10-A942-531449EEC821}"/>
              </a:ext>
            </a:extLst>
          </p:cNvPr>
          <p:cNvSpPr>
            <a:spLocks noGrp="1"/>
          </p:cNvSpPr>
          <p:nvPr/>
        </p:nvSpPr>
        <p:spPr>
          <a:xfrm>
            <a:off x="5334000" y="4702490"/>
            <a:ext cx="171450" cy="171450"/>
          </a:xfrm>
          <a:prstGeom prst="ellipse">
            <a:avLst/>
          </a:prstGeom>
          <a:solidFill>
            <a:srgbClr val="FFFFFF">
              <a:alpha val="65000"/>
            </a:srgbClr>
          </a:solidFill>
          <a:ln w="0">
            <a:noFill/>
            <a:prstDash val="solid"/>
          </a:ln>
        </p:spPr>
      </p:sp>
      <p:sp>
        <p:nvSpPr>
          <p:cNvPr id="38" name="wave-2-7">
            <a:extLst>
              <a:ext uri="{FF2B5EF4-FFF2-40B4-BE49-F238E27FC236}">
                <a16:creationId xmlns:a16="http://schemas.microsoft.com/office/drawing/2014/main" id="{228DD45E-D1CA-4020-A5D0-CAA93E0C2DD5}"/>
              </a:ext>
            </a:extLst>
          </p:cNvPr>
          <p:cNvSpPr>
            <a:spLocks noGrp="1"/>
          </p:cNvSpPr>
          <p:nvPr/>
        </p:nvSpPr>
        <p:spPr>
          <a:xfrm>
            <a:off x="5876925" y="4554375"/>
            <a:ext cx="171450" cy="171450"/>
          </a:xfrm>
          <a:prstGeom prst="ellipse">
            <a:avLst/>
          </a:prstGeom>
          <a:solidFill>
            <a:srgbClr val="FFFFFF">
              <a:alpha val="65000"/>
            </a:srgbClr>
          </a:solidFill>
          <a:ln w="0">
            <a:noFill/>
            <a:prstDash val="solid"/>
          </a:ln>
        </p:spPr>
      </p:sp>
      <p:sp>
        <p:nvSpPr>
          <p:cNvPr id="39" name="wave-2-8">
            <a:extLst>
              <a:ext uri="{FF2B5EF4-FFF2-40B4-BE49-F238E27FC236}">
                <a16:creationId xmlns:a16="http://schemas.microsoft.com/office/drawing/2014/main" id="{C2DF7D29-822C-475E-92DE-BA4FB2849AA2}"/>
              </a:ext>
            </a:extLst>
          </p:cNvPr>
          <p:cNvSpPr>
            <a:spLocks noGrp="1"/>
          </p:cNvSpPr>
          <p:nvPr/>
        </p:nvSpPr>
        <p:spPr>
          <a:xfrm>
            <a:off x="6419850" y="4457395"/>
            <a:ext cx="171450" cy="171450"/>
          </a:xfrm>
          <a:prstGeom prst="ellipse">
            <a:avLst/>
          </a:prstGeom>
          <a:solidFill>
            <a:srgbClr val="FFFFFF">
              <a:alpha val="65000"/>
            </a:srgbClr>
          </a:solidFill>
          <a:ln w="0">
            <a:noFill/>
            <a:prstDash val="solid"/>
          </a:ln>
        </p:spPr>
      </p:sp>
      <p:sp>
        <p:nvSpPr>
          <p:cNvPr id="40" name="wave-2-9">
            <a:extLst>
              <a:ext uri="{FF2B5EF4-FFF2-40B4-BE49-F238E27FC236}">
                <a16:creationId xmlns:a16="http://schemas.microsoft.com/office/drawing/2014/main" id="{8C472704-C511-4F27-B8EB-3DC21354FFBC}"/>
              </a:ext>
            </a:extLst>
          </p:cNvPr>
          <p:cNvSpPr>
            <a:spLocks noGrp="1"/>
          </p:cNvSpPr>
          <p:nvPr/>
        </p:nvSpPr>
        <p:spPr>
          <a:xfrm>
            <a:off x="6962775" y="4470377"/>
            <a:ext cx="171450" cy="171450"/>
          </a:xfrm>
          <a:prstGeom prst="ellipse">
            <a:avLst/>
          </a:prstGeom>
          <a:solidFill>
            <a:srgbClr val="FFFFFF">
              <a:alpha val="65000"/>
            </a:srgbClr>
          </a:solidFill>
          <a:ln w="0">
            <a:noFill/>
            <a:prstDash val="solid"/>
          </a:ln>
        </p:spPr>
      </p:sp>
      <p:pic>
        <p:nvPicPr>
          <p:cNvPr id="41" name="Picture 40">
            <a:extLst>
              <a:ext uri="{FF2B5EF4-FFF2-40B4-BE49-F238E27FC236}">
                <a16:creationId xmlns:a16="http://schemas.microsoft.com/office/drawing/2014/main" id="{E0A6F805-8916-4848-B5EF-64D2A603C9F4}"/>
              </a:ext>
            </a:extLst>
          </p:cNvPr>
          <p:cNvPicPr>
            <a:picLocks noChangeAspect="1"/>
          </p:cNvPicPr>
          <p:nvPr/>
        </p:nvPicPr>
        <p:blipFill>
          <a:blip r:embed="rId3"/>
          <a:stretch/>
        </p:blipFill>
        <p:spPr>
          <a:xfrm>
            <a:off x="8191500" y="2947114"/>
            <a:ext cx="3257550" cy="2621121"/>
          </a:xfrm>
          <a:prstGeom prst="rect">
            <a:avLst/>
          </a:prstGeom>
        </p:spPr>
      </p:pic>
      <p:sp>
        <p:nvSpPr>
          <p:cNvPr id="42" name="text-126">
            <a:extLst>
              <a:ext uri="{FF2B5EF4-FFF2-40B4-BE49-F238E27FC236}">
                <a16:creationId xmlns:a16="http://schemas.microsoft.com/office/drawing/2014/main" id="{312CB0BC-9F8B-412B-913C-9D86E3F372C4}"/>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Controller illustration, not a measured trajectory. Different firmware paths use different defaults.</a:t>
            </a:r>
          </a:p>
        </p:txBody>
      </p:sp>
    </p:spTree>
    <p:extLst>
      <p:ext uri="{BB962C8B-B14F-4D97-AF65-F5344CB8AC3E}">
        <p14:creationId xmlns:p14="http://schemas.microsoft.com/office/powerpoint/2010/main" val="333339222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20"/>
                                        <p:tgtEl>
                                          <p:spTgt spid="9"/>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20"/>
                                        <p:tgtEl>
                                          <p:spTgt spid="10"/>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20"/>
                                        <p:tgtEl>
                                          <p:spTgt spid="11"/>
                                        </p:tgtEl>
                                      </p:cBhvr>
                                    </p:animEffect>
                                  </p:childTnLst>
                                </p:cTn>
                              </p:par>
                            </p:childTnLst>
                          </p:cTn>
                        </p:par>
                        <p:par>
                          <p:cTn id="16" fill="hold">
                            <p:stCondLst>
                              <p:cond delay="66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20"/>
                                        <p:tgtEl>
                                          <p:spTgt spid="12"/>
                                        </p:tgtEl>
                                      </p:cBhvr>
                                    </p:animEffect>
                                  </p:childTnLst>
                                </p:cTn>
                              </p:par>
                            </p:childTnLst>
                          </p:cTn>
                        </p:par>
                        <p:par>
                          <p:cTn id="20" fill="hold">
                            <p:stCondLst>
                              <p:cond delay="880"/>
                            </p:stCondLst>
                            <p:childTnLst>
                              <p:par>
                                <p:cTn id="21" presetID="10"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20"/>
                                        <p:tgtEl>
                                          <p:spTgt spid="13"/>
                                        </p:tgtEl>
                                      </p:cBhvr>
                                    </p:animEffect>
                                  </p:childTnLst>
                                </p:cTn>
                              </p:par>
                            </p:childTnLst>
                          </p:cTn>
                        </p:par>
                        <p:par>
                          <p:cTn id="24" fill="hold">
                            <p:stCondLst>
                              <p:cond delay="1100"/>
                            </p:stCondLst>
                            <p:childTnLst>
                              <p:par>
                                <p:cTn id="25" presetID="10" presetClass="entr" presetSubtype="0"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220"/>
                                        <p:tgtEl>
                                          <p:spTgt spid="14"/>
                                        </p:tgtEl>
                                      </p:cBhvr>
                                    </p:animEffect>
                                  </p:childTnLst>
                                </p:cTn>
                              </p:par>
                            </p:childTnLst>
                          </p:cTn>
                        </p:par>
                        <p:par>
                          <p:cTn id="28" fill="hold">
                            <p:stCondLst>
                              <p:cond delay="1320"/>
                            </p:stCondLst>
                            <p:childTnLst>
                              <p:par>
                                <p:cTn id="29" presetID="10" presetClass="entr" presetSubtype="0"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20"/>
                                        <p:tgtEl>
                                          <p:spTgt spid="15"/>
                                        </p:tgtEl>
                                      </p:cBhvr>
                                    </p:animEffect>
                                  </p:childTnLst>
                                </p:cTn>
                              </p:par>
                            </p:childTnLst>
                          </p:cTn>
                        </p:par>
                        <p:par>
                          <p:cTn id="32" fill="hold">
                            <p:stCondLst>
                              <p:cond delay="1540"/>
                            </p:stCondLst>
                            <p:childTnLst>
                              <p:par>
                                <p:cTn id="33" presetID="10" presetClass="entr" presetSubtype="0"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20"/>
                                        <p:tgtEl>
                                          <p:spTgt spid="16"/>
                                        </p:tgtEl>
                                      </p:cBhvr>
                                    </p:animEffect>
                                  </p:childTnLst>
                                </p:cTn>
                              </p:par>
                            </p:childTnLst>
                          </p:cTn>
                        </p:par>
                        <p:par>
                          <p:cTn id="36" fill="hold">
                            <p:stCondLst>
                              <p:cond delay="1760"/>
                            </p:stCondLst>
                            <p:childTnLst>
                              <p:par>
                                <p:cTn id="37" presetID="10" presetClass="entr" presetSubtype="0"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20"/>
                                        <p:tgtEl>
                                          <p:spTgt spid="17"/>
                                        </p:tgtEl>
                                      </p:cBhvr>
                                    </p:animEffect>
                                  </p:childTnLst>
                                </p:cTn>
                              </p:par>
                            </p:childTnLst>
                          </p:cTn>
                        </p:par>
                        <p:par>
                          <p:cTn id="40" fill="hold">
                            <p:stCondLst>
                              <p:cond delay="1980"/>
                            </p:stCondLst>
                            <p:childTnLst>
                              <p:par>
                                <p:cTn id="41" presetID="10" presetClass="entr" presetSubtype="0"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2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220"/>
                                        <p:tgtEl>
                                          <p:spTgt spid="20"/>
                                        </p:tgtEl>
                                      </p:cBhvr>
                                    </p:animEffect>
                                  </p:childTnLst>
                                </p:cTn>
                              </p:par>
                            </p:childTnLst>
                          </p:cTn>
                        </p:par>
                        <p:par>
                          <p:cTn id="49" fill="hold">
                            <p:stCondLst>
                              <p:cond delay="220"/>
                            </p:stCondLst>
                            <p:childTnLst>
                              <p:par>
                                <p:cTn id="50" presetID="10" presetClass="entr" presetSubtype="0" fill="hold" nodeType="after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220"/>
                                        <p:tgtEl>
                                          <p:spTgt spid="21"/>
                                        </p:tgtEl>
                                      </p:cBhvr>
                                    </p:animEffect>
                                  </p:childTnLst>
                                </p:cTn>
                              </p:par>
                            </p:childTnLst>
                          </p:cTn>
                        </p:par>
                        <p:par>
                          <p:cTn id="53" fill="hold">
                            <p:stCondLst>
                              <p:cond delay="440"/>
                            </p:stCondLst>
                            <p:childTnLst>
                              <p:par>
                                <p:cTn id="54" presetID="10"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220"/>
                                        <p:tgtEl>
                                          <p:spTgt spid="22"/>
                                        </p:tgtEl>
                                      </p:cBhvr>
                                    </p:animEffect>
                                  </p:childTnLst>
                                </p:cTn>
                              </p:par>
                            </p:childTnLst>
                          </p:cTn>
                        </p:par>
                        <p:par>
                          <p:cTn id="57" fill="hold">
                            <p:stCondLst>
                              <p:cond delay="660"/>
                            </p:stCondLst>
                            <p:childTnLst>
                              <p:par>
                                <p:cTn id="58" presetID="10" presetClass="entr" presetSubtype="0" fill="hold"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220"/>
                                        <p:tgtEl>
                                          <p:spTgt spid="23"/>
                                        </p:tgtEl>
                                      </p:cBhvr>
                                    </p:animEffect>
                                  </p:childTnLst>
                                </p:cTn>
                              </p:par>
                            </p:childTnLst>
                          </p:cTn>
                        </p:par>
                        <p:par>
                          <p:cTn id="61" fill="hold">
                            <p:stCondLst>
                              <p:cond delay="880"/>
                            </p:stCondLst>
                            <p:childTnLst>
                              <p:par>
                                <p:cTn id="62" presetID="10" presetClass="entr" presetSubtype="0"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220"/>
                                        <p:tgtEl>
                                          <p:spTgt spid="24"/>
                                        </p:tgtEl>
                                      </p:cBhvr>
                                    </p:animEffect>
                                  </p:childTnLst>
                                </p:cTn>
                              </p:par>
                            </p:childTnLst>
                          </p:cTn>
                        </p:par>
                        <p:par>
                          <p:cTn id="65" fill="hold">
                            <p:stCondLst>
                              <p:cond delay="1100"/>
                            </p:stCondLst>
                            <p:childTnLst>
                              <p:par>
                                <p:cTn id="66" presetID="10" presetClass="entr" presetSubtype="0" fill="hold"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220"/>
                                        <p:tgtEl>
                                          <p:spTgt spid="25"/>
                                        </p:tgtEl>
                                      </p:cBhvr>
                                    </p:animEffect>
                                  </p:childTnLst>
                                </p:cTn>
                              </p:par>
                            </p:childTnLst>
                          </p:cTn>
                        </p:par>
                        <p:par>
                          <p:cTn id="69" fill="hold">
                            <p:stCondLst>
                              <p:cond delay="1320"/>
                            </p:stCondLst>
                            <p:childTnLst>
                              <p:par>
                                <p:cTn id="70" presetID="10" presetClass="entr" presetSubtype="0" fill="hold"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220"/>
                                        <p:tgtEl>
                                          <p:spTgt spid="26"/>
                                        </p:tgtEl>
                                      </p:cBhvr>
                                    </p:animEffect>
                                  </p:childTnLst>
                                </p:cTn>
                              </p:par>
                            </p:childTnLst>
                          </p:cTn>
                        </p:par>
                        <p:par>
                          <p:cTn id="73" fill="hold">
                            <p:stCondLst>
                              <p:cond delay="1540"/>
                            </p:stCondLst>
                            <p:childTnLst>
                              <p:par>
                                <p:cTn id="74" presetID="10" presetClass="entr" presetSubtype="0"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220"/>
                                        <p:tgtEl>
                                          <p:spTgt spid="27"/>
                                        </p:tgtEl>
                                      </p:cBhvr>
                                    </p:animEffect>
                                  </p:childTnLst>
                                </p:cTn>
                              </p:par>
                            </p:childTnLst>
                          </p:cTn>
                        </p:par>
                        <p:par>
                          <p:cTn id="77" fill="hold">
                            <p:stCondLst>
                              <p:cond delay="1760"/>
                            </p:stCondLst>
                            <p:childTnLst>
                              <p:par>
                                <p:cTn id="78" presetID="10" presetClass="entr" presetSubtype="0" fill="hold" nodeType="after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220"/>
                                        <p:tgtEl>
                                          <p:spTgt spid="28"/>
                                        </p:tgtEl>
                                      </p:cBhvr>
                                    </p:animEffect>
                                  </p:childTnLst>
                                </p:cTn>
                              </p:par>
                            </p:childTnLst>
                          </p:cTn>
                        </p:par>
                        <p:par>
                          <p:cTn id="81" fill="hold">
                            <p:stCondLst>
                              <p:cond delay="1980"/>
                            </p:stCondLst>
                            <p:childTnLst>
                              <p:par>
                                <p:cTn id="82" presetID="10" presetClass="entr" presetSubtype="0" fill="hold" nodeType="after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220"/>
                                        <p:tgtEl>
                                          <p:spTgt spid="2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220"/>
                                        <p:tgtEl>
                                          <p:spTgt spid="31"/>
                                        </p:tgtEl>
                                      </p:cBhvr>
                                    </p:animEffect>
                                  </p:childTnLst>
                                </p:cTn>
                              </p:par>
                            </p:childTnLst>
                          </p:cTn>
                        </p:par>
                        <p:par>
                          <p:cTn id="90" fill="hold">
                            <p:stCondLst>
                              <p:cond delay="220"/>
                            </p:stCondLst>
                            <p:childTnLst>
                              <p:par>
                                <p:cTn id="91" presetID="10" presetClass="entr" presetSubtype="0" fill="hold" nodeType="after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220"/>
                                        <p:tgtEl>
                                          <p:spTgt spid="32"/>
                                        </p:tgtEl>
                                      </p:cBhvr>
                                    </p:animEffect>
                                  </p:childTnLst>
                                </p:cTn>
                              </p:par>
                            </p:childTnLst>
                          </p:cTn>
                        </p:par>
                        <p:par>
                          <p:cTn id="94" fill="hold">
                            <p:stCondLst>
                              <p:cond delay="440"/>
                            </p:stCondLst>
                            <p:childTnLst>
                              <p:par>
                                <p:cTn id="95" presetID="10" presetClass="entr" presetSubtype="0" fill="hold" nodeType="after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220"/>
                                        <p:tgtEl>
                                          <p:spTgt spid="33"/>
                                        </p:tgtEl>
                                      </p:cBhvr>
                                    </p:animEffect>
                                  </p:childTnLst>
                                </p:cTn>
                              </p:par>
                            </p:childTnLst>
                          </p:cTn>
                        </p:par>
                        <p:par>
                          <p:cTn id="98" fill="hold">
                            <p:stCondLst>
                              <p:cond delay="660"/>
                            </p:stCondLst>
                            <p:childTnLst>
                              <p:par>
                                <p:cTn id="99" presetID="10" presetClass="entr" presetSubtype="0" fill="hold" nodeType="after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220"/>
                                        <p:tgtEl>
                                          <p:spTgt spid="34"/>
                                        </p:tgtEl>
                                      </p:cBhvr>
                                    </p:animEffect>
                                  </p:childTnLst>
                                </p:cTn>
                              </p:par>
                            </p:childTnLst>
                          </p:cTn>
                        </p:par>
                        <p:par>
                          <p:cTn id="102" fill="hold">
                            <p:stCondLst>
                              <p:cond delay="880"/>
                            </p:stCondLst>
                            <p:childTnLst>
                              <p:par>
                                <p:cTn id="103" presetID="10" presetClass="entr" presetSubtype="0" fill="hold" nodeType="after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220"/>
                                        <p:tgtEl>
                                          <p:spTgt spid="35"/>
                                        </p:tgtEl>
                                      </p:cBhvr>
                                    </p:animEffect>
                                  </p:childTnLst>
                                </p:cTn>
                              </p:par>
                            </p:childTnLst>
                          </p:cTn>
                        </p:par>
                        <p:par>
                          <p:cTn id="106" fill="hold">
                            <p:stCondLst>
                              <p:cond delay="1100"/>
                            </p:stCondLst>
                            <p:childTnLst>
                              <p:par>
                                <p:cTn id="107" presetID="10" presetClass="entr" presetSubtype="0" fill="hold" nodeType="after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220"/>
                                        <p:tgtEl>
                                          <p:spTgt spid="36"/>
                                        </p:tgtEl>
                                      </p:cBhvr>
                                    </p:animEffect>
                                  </p:childTnLst>
                                </p:cTn>
                              </p:par>
                            </p:childTnLst>
                          </p:cTn>
                        </p:par>
                        <p:par>
                          <p:cTn id="110" fill="hold">
                            <p:stCondLst>
                              <p:cond delay="1320"/>
                            </p:stCondLst>
                            <p:childTnLst>
                              <p:par>
                                <p:cTn id="111" presetID="10" presetClass="entr" presetSubtype="0" fill="hold" nodeType="after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220"/>
                                        <p:tgtEl>
                                          <p:spTgt spid="37"/>
                                        </p:tgtEl>
                                      </p:cBhvr>
                                    </p:animEffect>
                                  </p:childTnLst>
                                </p:cTn>
                              </p:par>
                            </p:childTnLst>
                          </p:cTn>
                        </p:par>
                        <p:par>
                          <p:cTn id="114" fill="hold">
                            <p:stCondLst>
                              <p:cond delay="1540"/>
                            </p:stCondLst>
                            <p:childTnLst>
                              <p:par>
                                <p:cTn id="115" presetID="10" presetClass="entr" presetSubtype="0" fill="hold" nodeType="after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220"/>
                                        <p:tgtEl>
                                          <p:spTgt spid="38"/>
                                        </p:tgtEl>
                                      </p:cBhvr>
                                    </p:animEffect>
                                  </p:childTnLst>
                                </p:cTn>
                              </p:par>
                            </p:childTnLst>
                          </p:cTn>
                        </p:par>
                        <p:par>
                          <p:cTn id="118" fill="hold">
                            <p:stCondLst>
                              <p:cond delay="1760"/>
                            </p:stCondLst>
                            <p:childTnLst>
                              <p:par>
                                <p:cTn id="119" presetID="10" presetClass="entr" presetSubtype="0" fill="hold" nodeType="after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220"/>
                                        <p:tgtEl>
                                          <p:spTgt spid="39"/>
                                        </p:tgtEl>
                                      </p:cBhvr>
                                    </p:animEffect>
                                  </p:childTnLst>
                                </p:cTn>
                              </p:par>
                            </p:childTnLst>
                          </p:cTn>
                        </p:par>
                        <p:par>
                          <p:cTn id="122" fill="hold">
                            <p:stCondLst>
                              <p:cond delay="1980"/>
                            </p:stCondLst>
                            <p:childTnLst>
                              <p:par>
                                <p:cTn id="123" presetID="10" presetClass="entr" presetSubtype="0" fill="hold" nodeType="after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220"/>
                                        <p:tgtEl>
                                          <p:spTgt spid="40"/>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4" name="text-127">
            <a:extLst>
              <a:ext uri="{FF2B5EF4-FFF2-40B4-BE49-F238E27FC236}">
                <a16:creationId xmlns:a16="http://schemas.microsoft.com/office/drawing/2014/main" id="{A2C25055-B1FC-462C-AA8E-946EFC99036B}"/>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28">
            <a:extLst>
              <a:ext uri="{FF2B5EF4-FFF2-40B4-BE49-F238E27FC236}">
                <a16:creationId xmlns:a16="http://schemas.microsoft.com/office/drawing/2014/main" id="{123244AB-DC5B-48B7-9C0C-1A9139B6091B}"/>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One controller, several ways to work with it</a:t>
            </a:r>
          </a:p>
        </p:txBody>
      </p:sp>
      <p:sp>
        <p:nvSpPr>
          <p:cNvPr id="3" name="text-129">
            <a:extLst>
              <a:ext uri="{FF2B5EF4-FFF2-40B4-BE49-F238E27FC236}">
                <a16:creationId xmlns:a16="http://schemas.microsoft.com/office/drawing/2014/main" id="{CF7DD237-43A6-441B-B39A-EAB46D791B22}"/>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30">
            <a:extLst>
              <a:ext uri="{FF2B5EF4-FFF2-40B4-BE49-F238E27FC236}">
                <a16:creationId xmlns:a16="http://schemas.microsoft.com/office/drawing/2014/main" id="{8285FF5C-E8F1-4653-A781-5FC7E99030E9}"/>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25</a:t>
            </a:r>
          </a:p>
        </p:txBody>
      </p:sp>
      <p:pic>
        <p:nvPicPr>
          <p:cNvPr id="5" name="Picture 4">
            <a:extLst>
              <a:ext uri="{FF2B5EF4-FFF2-40B4-BE49-F238E27FC236}">
                <a16:creationId xmlns:a16="http://schemas.microsoft.com/office/drawing/2014/main" id="{68D03773-35FA-4DA2-BC0F-605217761085}"/>
              </a:ext>
            </a:extLst>
          </p:cNvPr>
          <p:cNvPicPr>
            <a:picLocks noChangeAspect="1"/>
          </p:cNvPicPr>
          <p:nvPr/>
        </p:nvPicPr>
        <p:blipFill>
          <a:blip r:embed="rId3"/>
          <a:stretch/>
        </p:blipFill>
        <p:spPr>
          <a:xfrm>
            <a:off x="1667828" y="1762125"/>
            <a:ext cx="5760720" cy="4000500"/>
          </a:xfrm>
          <a:prstGeom prst="rect">
            <a:avLst/>
          </a:prstGeom>
        </p:spPr>
      </p:pic>
      <p:sp>
        <p:nvSpPr>
          <p:cNvPr id="6" name="glass-132">
            <a:extLst>
              <a:ext uri="{FF2B5EF4-FFF2-40B4-BE49-F238E27FC236}">
                <a16:creationId xmlns:a16="http://schemas.microsoft.com/office/drawing/2014/main" id="{8AA16BD0-EEA6-4B1D-9C2E-95D6AA9A717E}"/>
              </a:ext>
            </a:extLst>
          </p:cNvPr>
          <p:cNvSpPr>
            <a:spLocks noGrp="1"/>
          </p:cNvSpPr>
          <p:nvPr/>
        </p:nvSpPr>
        <p:spPr>
          <a:xfrm>
            <a:off x="8763000" y="1762125"/>
            <a:ext cx="2809875" cy="4000500"/>
          </a:xfrm>
          <a:prstGeom prst="roundRect">
            <a:avLst>
              <a:gd name="adj" fmla="val 2712"/>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7" name="text-133">
            <a:extLst>
              <a:ext uri="{FF2B5EF4-FFF2-40B4-BE49-F238E27FC236}">
                <a16:creationId xmlns:a16="http://schemas.microsoft.com/office/drawing/2014/main" id="{8AB1FB87-D4B5-416D-9FFB-70D9F27E8DC9}"/>
              </a:ext>
            </a:extLst>
          </p:cNvPr>
          <p:cNvSpPr>
            <a:spLocks noGrp="1"/>
          </p:cNvSpPr>
          <p:nvPr/>
        </p:nvSpPr>
        <p:spPr>
          <a:xfrm>
            <a:off x="9001125" y="2066925"/>
            <a:ext cx="2333625"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Dashboard</a:t>
            </a:r>
          </a:p>
        </p:txBody>
      </p:sp>
      <p:sp>
        <p:nvSpPr>
          <p:cNvPr id="8" name="text-134">
            <a:extLst>
              <a:ext uri="{FF2B5EF4-FFF2-40B4-BE49-F238E27FC236}">
                <a16:creationId xmlns:a16="http://schemas.microsoft.com/office/drawing/2014/main" id="{5EB3009B-B8B2-429C-85A8-B93150C1C9F5}"/>
              </a:ext>
            </a:extLst>
          </p:cNvPr>
          <p:cNvSpPr>
            <a:spLocks noGrp="1"/>
          </p:cNvSpPr>
          <p:nvPr/>
        </p:nvSpPr>
        <p:spPr>
          <a:xfrm>
            <a:off x="9001125" y="2476500"/>
            <a:ext cx="2333625"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Tune gait and read feedback.</a:t>
            </a:r>
          </a:p>
        </p:txBody>
      </p:sp>
      <p:sp>
        <p:nvSpPr>
          <p:cNvPr id="9" name="text-135">
            <a:extLst>
              <a:ext uri="{FF2B5EF4-FFF2-40B4-BE49-F238E27FC236}">
                <a16:creationId xmlns:a16="http://schemas.microsoft.com/office/drawing/2014/main" id="{5337EA85-2C99-464F-8065-0288C6CC3BDD}"/>
              </a:ext>
            </a:extLst>
          </p:cNvPr>
          <p:cNvSpPr>
            <a:spLocks noGrp="1"/>
          </p:cNvSpPr>
          <p:nvPr/>
        </p:nvSpPr>
        <p:spPr>
          <a:xfrm>
            <a:off x="9001125" y="3267075"/>
            <a:ext cx="2333625"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Desktop</a:t>
            </a:r>
          </a:p>
        </p:txBody>
      </p:sp>
      <p:sp>
        <p:nvSpPr>
          <p:cNvPr id="10" name="text-136">
            <a:extLst>
              <a:ext uri="{FF2B5EF4-FFF2-40B4-BE49-F238E27FC236}">
                <a16:creationId xmlns:a16="http://schemas.microsoft.com/office/drawing/2014/main" id="{D2083375-D642-4139-BD56-E17DD06C7118}"/>
              </a:ext>
            </a:extLst>
          </p:cNvPr>
          <p:cNvSpPr>
            <a:spLocks noGrp="1"/>
          </p:cNvSpPr>
          <p:nvPr/>
        </p:nvSpPr>
        <p:spPr>
          <a:xfrm>
            <a:off x="9001125" y="3676650"/>
            <a:ext cx="2333625"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GUI or headless simulation.</a:t>
            </a:r>
          </a:p>
        </p:txBody>
      </p:sp>
      <p:sp>
        <p:nvSpPr>
          <p:cNvPr id="11" name="text-137">
            <a:extLst>
              <a:ext uri="{FF2B5EF4-FFF2-40B4-BE49-F238E27FC236}">
                <a16:creationId xmlns:a16="http://schemas.microsoft.com/office/drawing/2014/main" id="{B91F974C-B3F6-486F-956A-782B3CE59F00}"/>
              </a:ext>
            </a:extLst>
          </p:cNvPr>
          <p:cNvSpPr>
            <a:spLocks noGrp="1"/>
          </p:cNvSpPr>
          <p:nvPr/>
        </p:nvSpPr>
        <p:spPr>
          <a:xfrm>
            <a:off x="9001125" y="4476750"/>
            <a:ext cx="2333625"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Gamepad</a:t>
            </a:r>
          </a:p>
        </p:txBody>
      </p:sp>
      <p:sp>
        <p:nvSpPr>
          <p:cNvPr id="12" name="text-138">
            <a:extLst>
              <a:ext uri="{FF2B5EF4-FFF2-40B4-BE49-F238E27FC236}">
                <a16:creationId xmlns:a16="http://schemas.microsoft.com/office/drawing/2014/main" id="{FD00ABD5-8387-430A-808C-6BFD934C0D8F}"/>
              </a:ext>
            </a:extLst>
          </p:cNvPr>
          <p:cNvSpPr>
            <a:spLocks noGrp="1"/>
          </p:cNvSpPr>
          <p:nvPr/>
        </p:nvSpPr>
        <p:spPr>
          <a:xfrm>
            <a:off x="9001125" y="4886325"/>
            <a:ext cx="2333625"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Manual steering and start/stop.</a:t>
            </a:r>
          </a:p>
        </p:txBody>
      </p:sp>
      <p:sp>
        <p:nvSpPr>
          <p:cNvPr id="13" name="text-139">
            <a:extLst>
              <a:ext uri="{FF2B5EF4-FFF2-40B4-BE49-F238E27FC236}">
                <a16:creationId xmlns:a16="http://schemas.microsoft.com/office/drawing/2014/main" id="{87A9A06C-0F37-4132-9F3B-19B8931AF85F}"/>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Captured in SIM mode. Paths and accuracy reports require simulation or future hardware localization.</a:t>
            </a:r>
          </a:p>
        </p:txBody>
      </p:sp>
    </p:spTree>
    <p:extLst>
      <p:ext uri="{BB962C8B-B14F-4D97-AF65-F5344CB8AC3E}">
        <p14:creationId xmlns:p14="http://schemas.microsoft.com/office/powerpoint/2010/main" val="3730196300"/>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3" name="text-140">
            <a:extLst>
              <a:ext uri="{FF2B5EF4-FFF2-40B4-BE49-F238E27FC236}">
                <a16:creationId xmlns:a16="http://schemas.microsoft.com/office/drawing/2014/main" id="{5C8B8BEE-5DA0-4D77-BDB4-D57488036609}"/>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41">
            <a:extLst>
              <a:ext uri="{FF2B5EF4-FFF2-40B4-BE49-F238E27FC236}">
                <a16:creationId xmlns:a16="http://schemas.microsoft.com/office/drawing/2014/main" id="{A20B7A7C-B935-4410-A2E8-487437AB6ADD}"/>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What we can demonstrate now</a:t>
            </a:r>
          </a:p>
        </p:txBody>
      </p:sp>
      <p:sp>
        <p:nvSpPr>
          <p:cNvPr id="3" name="text-142">
            <a:extLst>
              <a:ext uri="{FF2B5EF4-FFF2-40B4-BE49-F238E27FC236}">
                <a16:creationId xmlns:a16="http://schemas.microsoft.com/office/drawing/2014/main" id="{109A3921-E77B-4D7C-AD01-B840FB1BF91C}"/>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43">
            <a:extLst>
              <a:ext uri="{FF2B5EF4-FFF2-40B4-BE49-F238E27FC236}">
                <a16:creationId xmlns:a16="http://schemas.microsoft.com/office/drawing/2014/main" id="{AC01E255-D1C9-4F2F-89BF-8EE6C119411B}"/>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26</a:t>
            </a:r>
          </a:p>
        </p:txBody>
      </p:sp>
      <p:pic>
        <p:nvPicPr>
          <p:cNvPr id="5" name="Picture 4">
            <a:extLst>
              <a:ext uri="{FF2B5EF4-FFF2-40B4-BE49-F238E27FC236}">
                <a16:creationId xmlns:a16="http://schemas.microsoft.com/office/drawing/2014/main" id="{1EAB6969-2A50-4BCC-91C8-304DCA790415}"/>
              </a:ext>
            </a:extLst>
          </p:cNvPr>
          <p:cNvPicPr>
            <a:picLocks noChangeAspect="1"/>
          </p:cNvPicPr>
          <p:nvPr/>
        </p:nvPicPr>
        <p:blipFill>
          <a:blip r:embed="rId3"/>
          <a:stretch/>
        </p:blipFill>
        <p:spPr>
          <a:xfrm>
            <a:off x="1348518" y="1809750"/>
            <a:ext cx="5475414" cy="3810000"/>
          </a:xfrm>
          <a:prstGeom prst="rect">
            <a:avLst/>
          </a:prstGeom>
        </p:spPr>
      </p:pic>
      <p:sp>
        <p:nvSpPr>
          <p:cNvPr id="6" name="glass-145">
            <a:extLst>
              <a:ext uri="{FF2B5EF4-FFF2-40B4-BE49-F238E27FC236}">
                <a16:creationId xmlns:a16="http://schemas.microsoft.com/office/drawing/2014/main" id="{B92FD06B-EE0B-445A-8B1A-7CAC63520B41}"/>
              </a:ext>
            </a:extLst>
          </p:cNvPr>
          <p:cNvSpPr>
            <a:spLocks noGrp="1"/>
          </p:cNvSpPr>
          <p:nvPr/>
        </p:nvSpPr>
        <p:spPr>
          <a:xfrm>
            <a:off x="7858125" y="1809750"/>
            <a:ext cx="3714750" cy="3810000"/>
          </a:xfrm>
          <a:prstGeom prst="roundRect">
            <a:avLst>
              <a:gd name="adj" fmla="val 2051"/>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7" name="text-146">
            <a:extLst>
              <a:ext uri="{FF2B5EF4-FFF2-40B4-BE49-F238E27FC236}">
                <a16:creationId xmlns:a16="http://schemas.microsoft.com/office/drawing/2014/main" id="{03982898-8BAC-4EE6-A08C-54A6B22F1825}"/>
              </a:ext>
            </a:extLst>
          </p:cNvPr>
          <p:cNvSpPr>
            <a:spLocks noGrp="1"/>
          </p:cNvSpPr>
          <p:nvPr/>
        </p:nvSpPr>
        <p:spPr>
          <a:xfrm>
            <a:off x="8096250" y="2095500"/>
            <a:ext cx="3238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Working operation</a:t>
            </a:r>
          </a:p>
        </p:txBody>
      </p:sp>
      <p:sp>
        <p:nvSpPr>
          <p:cNvPr id="8" name="text-147">
            <a:extLst>
              <a:ext uri="{FF2B5EF4-FFF2-40B4-BE49-F238E27FC236}">
                <a16:creationId xmlns:a16="http://schemas.microsoft.com/office/drawing/2014/main" id="{4621607F-A992-4FA5-8422-506166330546}"/>
              </a:ext>
            </a:extLst>
          </p:cNvPr>
          <p:cNvSpPr>
            <a:spLocks noGrp="1"/>
          </p:cNvSpPr>
          <p:nvPr/>
        </p:nvSpPr>
        <p:spPr>
          <a:xfrm>
            <a:off x="8096250" y="2505075"/>
            <a:ext cx="3238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Gen 2 motion and control interfaces.</a:t>
            </a:r>
          </a:p>
        </p:txBody>
      </p:sp>
      <p:sp>
        <p:nvSpPr>
          <p:cNvPr id="9" name="text-148">
            <a:extLst>
              <a:ext uri="{FF2B5EF4-FFF2-40B4-BE49-F238E27FC236}">
                <a16:creationId xmlns:a16="http://schemas.microsoft.com/office/drawing/2014/main" id="{E448E6EB-1AE1-4F76-83F7-C9A24909FDB4}"/>
              </a:ext>
            </a:extLst>
          </p:cNvPr>
          <p:cNvSpPr>
            <a:spLocks noGrp="1"/>
          </p:cNvSpPr>
          <p:nvPr/>
        </p:nvSpPr>
        <p:spPr>
          <a:xfrm>
            <a:off x="8096250" y="3571875"/>
            <a:ext cx="3238500" cy="342900"/>
          </a:xfrm>
          <a:prstGeom prst="rect">
            <a:avLst/>
          </a:prstGeom>
          <a:noFill/>
          <a:ln w="0">
            <a:noFill/>
            <a:prstDash val="solid"/>
          </a:ln>
        </p:spPr>
        <p:txBody>
          <a:bodyPr lIns="0" tIns="0" rIns="0" bIns="0"/>
          <a:lstStyle>
            <a:defPPr>
              <a:defRPr sz="2025" b="1">
                <a:solidFill>
                  <a:srgbClr val="48D4DF"/>
                </a:solidFill>
              </a:defRPr>
            </a:defPPr>
            <a:lvl1pPr>
              <a:defRPr sz="2025" b="1">
                <a:solidFill>
                  <a:srgbClr val="48D4DF"/>
                </a:solidFill>
              </a:defRPr>
            </a:lvl1pPr>
            <a:lvl2pPr>
              <a:defRPr sz="2025" b="1">
                <a:solidFill>
                  <a:srgbClr val="48D4DF"/>
                </a:solidFill>
              </a:defRPr>
            </a:lvl2pPr>
            <a:lvl3pPr>
              <a:defRPr sz="2025" b="1">
                <a:solidFill>
                  <a:srgbClr val="48D4DF"/>
                </a:solidFill>
              </a:defRPr>
            </a:lvl3pPr>
            <a:lvl4pPr>
              <a:defRPr sz="2025" b="1">
                <a:solidFill>
                  <a:srgbClr val="48D4DF"/>
                </a:solidFill>
              </a:defRPr>
            </a:lvl4pPr>
            <a:lvl5pPr>
              <a:defRPr sz="2025" b="1">
                <a:solidFill>
                  <a:srgbClr val="48D4DF"/>
                </a:solidFill>
              </a:defRPr>
            </a:lvl5pPr>
            <a:lvl6pPr>
              <a:defRPr sz="2025" b="1">
                <a:solidFill>
                  <a:srgbClr val="48D4DF"/>
                </a:solidFill>
              </a:defRPr>
            </a:lvl6pPr>
            <a:lvl7pPr>
              <a:defRPr sz="2025" b="1">
                <a:solidFill>
                  <a:srgbClr val="48D4DF"/>
                </a:solidFill>
              </a:defRPr>
            </a:lvl7pPr>
            <a:lvl8pPr>
              <a:defRPr sz="2025" b="1">
                <a:solidFill>
                  <a:srgbClr val="48D4DF"/>
                </a:solidFill>
              </a:defRPr>
            </a:lvl8pPr>
            <a:lvl9pPr>
              <a:defRPr sz="2025" b="1">
                <a:solidFill>
                  <a:srgbClr val="48D4DF"/>
                </a:solidFill>
              </a:defRPr>
            </a:lvl9pPr>
          </a:lstStyle>
          <a:p>
            <a:pPr>
              <a:defRPr sz="2025" b="1">
                <a:solidFill>
                  <a:srgbClr val="48D4DF"/>
                </a:solidFill>
              </a:defRPr>
            </a:pPr>
            <a:r>
              <a:rPr sz="2025" b="1">
                <a:solidFill>
                  <a:srgbClr val="48D4DF"/>
                </a:solidFill>
              </a:rPr>
              <a:t>Next measurements</a:t>
            </a:r>
          </a:p>
        </p:txBody>
      </p:sp>
      <p:sp>
        <p:nvSpPr>
          <p:cNvPr id="10" name="text-149">
            <a:extLst>
              <a:ext uri="{FF2B5EF4-FFF2-40B4-BE49-F238E27FC236}">
                <a16:creationId xmlns:a16="http://schemas.microsoft.com/office/drawing/2014/main" id="{074C8068-569F-4C64-9607-85DBD3F8310B}"/>
              </a:ext>
            </a:extLst>
          </p:cNvPr>
          <p:cNvSpPr>
            <a:spLocks noGrp="1"/>
          </p:cNvSpPr>
          <p:nvPr/>
        </p:nvSpPr>
        <p:spPr>
          <a:xfrm>
            <a:off x="8096250" y="3981450"/>
            <a:ext cx="3238500" cy="685800"/>
          </a:xfrm>
          <a:prstGeom prst="rect">
            <a:avLst/>
          </a:prstGeom>
          <a:noFill/>
          <a:ln w="0">
            <a:noFill/>
            <a:prstDash val="solid"/>
          </a:ln>
        </p:spPr>
        <p:txBody>
          <a:bodyPr lIns="0" tIns="0" rIns="0" bIns="0"/>
          <a:lstStyle>
            <a:defPPr>
              <a:defRPr sz="1800" b="0">
                <a:solidFill>
                  <a:srgbClr val="F5FAFF"/>
                </a:solidFill>
              </a:defRPr>
            </a:defPPr>
            <a:lvl1pPr>
              <a:defRPr sz="1800" b="0">
                <a:solidFill>
                  <a:srgbClr val="F5FAFF"/>
                </a:solidFill>
              </a:defRPr>
            </a:lvl1pPr>
            <a:lvl2pPr>
              <a:defRPr sz="1800" b="0">
                <a:solidFill>
                  <a:srgbClr val="F5FAFF"/>
                </a:solidFill>
              </a:defRPr>
            </a:lvl2pPr>
            <a:lvl3pPr>
              <a:defRPr sz="1800" b="0">
                <a:solidFill>
                  <a:srgbClr val="F5FAFF"/>
                </a:solidFill>
              </a:defRPr>
            </a:lvl3pPr>
            <a:lvl4pPr>
              <a:defRPr sz="1800" b="0">
                <a:solidFill>
                  <a:srgbClr val="F5FAFF"/>
                </a:solidFill>
              </a:defRPr>
            </a:lvl4pPr>
            <a:lvl5pPr>
              <a:defRPr sz="1800" b="0">
                <a:solidFill>
                  <a:srgbClr val="F5FAFF"/>
                </a:solidFill>
              </a:defRPr>
            </a:lvl5pPr>
            <a:lvl6pPr>
              <a:defRPr sz="1800" b="0">
                <a:solidFill>
                  <a:srgbClr val="F5FAFF"/>
                </a:solidFill>
              </a:defRPr>
            </a:lvl6pPr>
            <a:lvl7pPr>
              <a:defRPr sz="1800" b="0">
                <a:solidFill>
                  <a:srgbClr val="F5FAFF"/>
                </a:solidFill>
              </a:defRPr>
            </a:lvl7pPr>
            <a:lvl8pPr>
              <a:defRPr sz="1800" b="0">
                <a:solidFill>
                  <a:srgbClr val="F5FAFF"/>
                </a:solidFill>
              </a:defRPr>
            </a:lvl8pPr>
            <a:lvl9pPr>
              <a:defRPr sz="1800" b="0">
                <a:solidFill>
                  <a:srgbClr val="F5FAFF"/>
                </a:solidFill>
              </a:defRPr>
            </a:lvl9pPr>
          </a:lstStyle>
          <a:p>
            <a:pPr>
              <a:defRPr sz="1800" b="0">
                <a:solidFill>
                  <a:srgbClr val="F5FAFF"/>
                </a:solidFill>
              </a:defRPr>
            </a:pPr>
            <a:r>
              <a:rPr sz="1800" b="0">
                <a:solidFill>
                  <a:srgbClr val="F5FAFF"/>
                </a:solidFill>
              </a:rPr>
              <a:t>Speed, slip, power use and stop latency.</a:t>
            </a:r>
          </a:p>
        </p:txBody>
      </p:sp>
      <p:sp>
        <p:nvSpPr>
          <p:cNvPr id="11" name="text-150">
            <a:extLst>
              <a:ext uri="{FF2B5EF4-FFF2-40B4-BE49-F238E27FC236}">
                <a16:creationId xmlns:a16="http://schemas.microsoft.com/office/drawing/2014/main" id="{447ACBCE-DE23-4E30-9C9D-03B72B610657}"/>
              </a:ext>
            </a:extLst>
          </p:cNvPr>
          <p:cNvSpPr>
            <a:spLocks noGrp="1"/>
          </p:cNvSpPr>
          <p:nvPr/>
        </p:nvSpPr>
        <p:spPr>
          <a:xfrm>
            <a:off x="781050" y="5619750"/>
            <a:ext cx="6858000" cy="285750"/>
          </a:xfrm>
          <a:prstGeom prst="rect">
            <a:avLst/>
          </a:prstGeom>
          <a:noFill/>
          <a:ln w="0">
            <a:noFill/>
            <a:prstDash val="solid"/>
          </a:ln>
        </p:spPr>
        <p:txBody>
          <a:bodyPr lIns="0" tIns="0" rIns="0" bIns="0"/>
          <a:lstStyle>
            <a:defPPr>
              <a:defRPr sz="1650" b="0">
                <a:solidFill>
                  <a:srgbClr val="FFC17A"/>
                </a:solidFill>
              </a:defRPr>
            </a:defPPr>
            <a:lvl1pPr>
              <a:defRPr sz="1650" b="0">
                <a:solidFill>
                  <a:srgbClr val="FFC17A"/>
                </a:solidFill>
              </a:defRPr>
            </a:lvl1pPr>
            <a:lvl2pPr>
              <a:defRPr sz="1650" b="0">
                <a:solidFill>
                  <a:srgbClr val="FFC17A"/>
                </a:solidFill>
              </a:defRPr>
            </a:lvl2pPr>
            <a:lvl3pPr>
              <a:defRPr sz="1650" b="0">
                <a:solidFill>
                  <a:srgbClr val="FFC17A"/>
                </a:solidFill>
              </a:defRPr>
            </a:lvl3pPr>
            <a:lvl4pPr>
              <a:defRPr sz="1650" b="0">
                <a:solidFill>
                  <a:srgbClr val="FFC17A"/>
                </a:solidFill>
              </a:defRPr>
            </a:lvl4pPr>
            <a:lvl5pPr>
              <a:defRPr sz="1650" b="0">
                <a:solidFill>
                  <a:srgbClr val="FFC17A"/>
                </a:solidFill>
              </a:defRPr>
            </a:lvl5pPr>
            <a:lvl6pPr>
              <a:defRPr sz="1650" b="0">
                <a:solidFill>
                  <a:srgbClr val="FFC17A"/>
                </a:solidFill>
              </a:defRPr>
            </a:lvl6pPr>
            <a:lvl7pPr>
              <a:defRPr sz="1650" b="0">
                <a:solidFill>
                  <a:srgbClr val="FFC17A"/>
                </a:solidFill>
              </a:defRPr>
            </a:lvl7pPr>
            <a:lvl8pPr>
              <a:defRPr sz="1650" b="0">
                <a:solidFill>
                  <a:srgbClr val="FFC17A"/>
                </a:solidFill>
              </a:defRPr>
            </a:lvl8pPr>
            <a:lvl9pPr>
              <a:defRPr sz="1650" b="0">
                <a:solidFill>
                  <a:srgbClr val="FFC17A"/>
                </a:solidFill>
              </a:defRPr>
            </a:lvl9pPr>
          </a:lstStyle>
          <a:p>
            <a:pPr>
              <a:defRPr sz="1650" b="0">
                <a:solidFill>
                  <a:srgbClr val="FFC17A"/>
                </a:solidFill>
              </a:defRPr>
            </a:pPr>
            <a:r>
              <a:rPr sz="1650" b="0">
                <a:solidFill>
                  <a:srgbClr val="FFC17A"/>
                </a:solidFill>
              </a:rPr>
              <a:t>Locomotion video to be added</a:t>
            </a:r>
          </a:p>
        </p:txBody>
      </p:sp>
      <p:sp>
        <p:nvSpPr>
          <p:cNvPr id="12" name="text-151">
            <a:extLst>
              <a:ext uri="{FF2B5EF4-FFF2-40B4-BE49-F238E27FC236}">
                <a16:creationId xmlns:a16="http://schemas.microsoft.com/office/drawing/2014/main" id="{1DD0616E-6403-46AA-82D3-AB346774C8B1}"/>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Still photograph from project trials. No measured trajectory or performance values are inferred.</a:t>
            </a:r>
          </a:p>
        </p:txBody>
      </p:sp>
    </p:spTree>
    <p:extLst>
      <p:ext uri="{BB962C8B-B14F-4D97-AF65-F5344CB8AC3E}">
        <p14:creationId xmlns:p14="http://schemas.microsoft.com/office/powerpoint/2010/main" val="4705120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33" name="text-152">
            <a:extLst>
              <a:ext uri="{FF2B5EF4-FFF2-40B4-BE49-F238E27FC236}">
                <a16:creationId xmlns:a16="http://schemas.microsoft.com/office/drawing/2014/main" id="{512B5FC0-EADB-4642-944C-71288C7C2B68}"/>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53">
            <a:extLst>
              <a:ext uri="{FF2B5EF4-FFF2-40B4-BE49-F238E27FC236}">
                <a16:creationId xmlns:a16="http://schemas.microsoft.com/office/drawing/2014/main" id="{363867CA-C2B6-43AF-AB16-8ADE0B79F837}"/>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Gen 3 introduces alternating yaw and pitch</a:t>
            </a:r>
          </a:p>
        </p:txBody>
      </p:sp>
      <p:sp>
        <p:nvSpPr>
          <p:cNvPr id="3" name="text-154">
            <a:extLst>
              <a:ext uri="{FF2B5EF4-FFF2-40B4-BE49-F238E27FC236}">
                <a16:creationId xmlns:a16="http://schemas.microsoft.com/office/drawing/2014/main" id="{7BFBA1D3-8718-48EA-B699-E4A161FBC9E6}"/>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55">
            <a:extLst>
              <a:ext uri="{FF2B5EF4-FFF2-40B4-BE49-F238E27FC236}">
                <a16:creationId xmlns:a16="http://schemas.microsoft.com/office/drawing/2014/main" id="{38B598FB-66D4-41D7-A49A-342BB5068C98}"/>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27</a:t>
            </a:r>
          </a:p>
        </p:txBody>
      </p:sp>
      <p:sp>
        <p:nvSpPr>
          <p:cNvPr id="5" name="glass-156">
            <a:extLst>
              <a:ext uri="{FF2B5EF4-FFF2-40B4-BE49-F238E27FC236}">
                <a16:creationId xmlns:a16="http://schemas.microsoft.com/office/drawing/2014/main" id="{A4446091-2C1B-494D-8CFC-2B3817C6A688}"/>
              </a:ext>
            </a:extLst>
          </p:cNvPr>
          <p:cNvSpPr>
            <a:spLocks noGrp="1"/>
          </p:cNvSpPr>
          <p:nvPr/>
        </p:nvSpPr>
        <p:spPr>
          <a:xfrm>
            <a:off x="609600" y="1762125"/>
            <a:ext cx="10972800" cy="2571750"/>
          </a:xfrm>
          <a:prstGeom prst="roundRect">
            <a:avLst>
              <a:gd name="adj" fmla="val 2963"/>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157">
            <a:extLst>
              <a:ext uri="{FF2B5EF4-FFF2-40B4-BE49-F238E27FC236}">
                <a16:creationId xmlns:a16="http://schemas.microsoft.com/office/drawing/2014/main" id="{AEA16999-8D3D-4D5E-8304-ED49B98E0724}"/>
              </a:ext>
            </a:extLst>
          </p:cNvPr>
          <p:cNvSpPr>
            <a:spLocks noGrp="1"/>
          </p:cNvSpPr>
          <p:nvPr/>
        </p:nvSpPr>
        <p:spPr>
          <a:xfrm>
            <a:off x="857250" y="2000250"/>
            <a:ext cx="9525000" cy="333375"/>
          </a:xfrm>
          <a:prstGeom prst="rect">
            <a:avLst/>
          </a:prstGeom>
          <a:noFill/>
          <a:ln w="0">
            <a:noFill/>
            <a:prstDash val="solid"/>
          </a:ln>
        </p:spPr>
        <p:txBody>
          <a:bodyPr lIns="0" tIns="0" rIns="0" bIns="0"/>
          <a:lstStyle>
            <a:defPPr>
              <a:defRPr sz="2025" b="1">
                <a:solidFill>
                  <a:srgbClr val="F5FAFF"/>
                </a:solidFill>
              </a:defRPr>
            </a:defPPr>
            <a:lvl1pPr>
              <a:defRPr sz="2025" b="1">
                <a:solidFill>
                  <a:srgbClr val="F5FAFF"/>
                </a:solidFill>
              </a:defRPr>
            </a:lvl1pPr>
            <a:lvl2pPr>
              <a:defRPr sz="2025" b="1">
                <a:solidFill>
                  <a:srgbClr val="F5FAFF"/>
                </a:solidFill>
              </a:defRPr>
            </a:lvl2pPr>
            <a:lvl3pPr>
              <a:defRPr sz="2025" b="1">
                <a:solidFill>
                  <a:srgbClr val="F5FAFF"/>
                </a:solidFill>
              </a:defRPr>
            </a:lvl3pPr>
            <a:lvl4pPr>
              <a:defRPr sz="2025" b="1">
                <a:solidFill>
                  <a:srgbClr val="F5FAFF"/>
                </a:solidFill>
              </a:defRPr>
            </a:lvl4pPr>
            <a:lvl5pPr>
              <a:defRPr sz="2025" b="1">
                <a:solidFill>
                  <a:srgbClr val="F5FAFF"/>
                </a:solidFill>
              </a:defRPr>
            </a:lvl5pPr>
            <a:lvl6pPr>
              <a:defRPr sz="2025" b="1">
                <a:solidFill>
                  <a:srgbClr val="F5FAFF"/>
                </a:solidFill>
              </a:defRPr>
            </a:lvl6pPr>
            <a:lvl7pPr>
              <a:defRPr sz="2025" b="1">
                <a:solidFill>
                  <a:srgbClr val="F5FAFF"/>
                </a:solidFill>
              </a:defRPr>
            </a:lvl7pPr>
            <a:lvl8pPr>
              <a:defRPr sz="2025" b="1">
                <a:solidFill>
                  <a:srgbClr val="F5FAFF"/>
                </a:solidFill>
              </a:defRPr>
            </a:lvl8pPr>
            <a:lvl9pPr>
              <a:defRPr sz="2025" b="1">
                <a:solidFill>
                  <a:srgbClr val="F5FAFF"/>
                </a:solidFill>
              </a:defRPr>
            </a:lvl9pPr>
          </a:lstStyle>
          <a:p>
            <a:pPr>
              <a:defRPr sz="2025" b="1">
                <a:solidFill>
                  <a:srgbClr val="F5FAFF"/>
                </a:solidFill>
              </a:defRPr>
            </a:pPr>
            <a:r>
              <a:rPr sz="2025" b="1">
                <a:solidFill>
                  <a:srgbClr val="F5FAFF"/>
                </a:solidFill>
              </a:rPr>
              <a:t>Alternating joint-axis concept</a:t>
            </a:r>
          </a:p>
        </p:txBody>
      </p:sp>
      <p:sp>
        <p:nvSpPr>
          <p:cNvPr id="7" name="joint-0">
            <a:extLst>
              <a:ext uri="{FF2B5EF4-FFF2-40B4-BE49-F238E27FC236}">
                <a16:creationId xmlns:a16="http://schemas.microsoft.com/office/drawing/2014/main" id="{81C666E7-4159-432C-8509-B737C0229AFD}"/>
              </a:ext>
            </a:extLst>
          </p:cNvPr>
          <p:cNvSpPr>
            <a:spLocks noGrp="1"/>
          </p:cNvSpPr>
          <p:nvPr/>
        </p:nvSpPr>
        <p:spPr>
          <a:xfrm>
            <a:off x="1047750" y="2952750"/>
            <a:ext cx="428625" cy="428625"/>
          </a:xfrm>
          <a:prstGeom prst="ellipse">
            <a:avLst/>
          </a:prstGeom>
          <a:solidFill>
            <a:srgbClr val="48D4DF"/>
          </a:solidFill>
          <a:ln w="0">
            <a:noFill/>
            <a:prstDash val="solid"/>
          </a:ln>
        </p:spPr>
      </p:sp>
      <p:sp>
        <p:nvSpPr>
          <p:cNvPr id="8" name="text-158">
            <a:extLst>
              <a:ext uri="{FF2B5EF4-FFF2-40B4-BE49-F238E27FC236}">
                <a16:creationId xmlns:a16="http://schemas.microsoft.com/office/drawing/2014/main" id="{5D6E53AD-A3E0-43A6-B763-6BDBC0166F17}"/>
              </a:ext>
            </a:extLst>
          </p:cNvPr>
          <p:cNvSpPr>
            <a:spLocks noGrp="1"/>
          </p:cNvSpPr>
          <p:nvPr/>
        </p:nvSpPr>
        <p:spPr>
          <a:xfrm>
            <a:off x="971550" y="3571875"/>
            <a:ext cx="952500" cy="266700"/>
          </a:xfrm>
          <a:prstGeom prst="rect">
            <a:avLst/>
          </a:prstGeom>
          <a:noFill/>
          <a:ln w="0">
            <a:noFill/>
            <a:prstDash val="solid"/>
          </a:ln>
        </p:spPr>
        <p:txBody>
          <a:bodyPr lIns="0" tIns="0" rIns="0" bIns="0"/>
          <a:lstStyle>
            <a:defPPr>
              <a:defRPr sz="1575" b="1">
                <a:solidFill>
                  <a:srgbClr val="48D4DF"/>
                </a:solidFill>
              </a:defRPr>
            </a:defPPr>
            <a:lvl1pPr>
              <a:defRPr sz="1575" b="1">
                <a:solidFill>
                  <a:srgbClr val="48D4DF"/>
                </a:solidFill>
              </a:defRPr>
            </a:lvl1pPr>
            <a:lvl2pPr>
              <a:defRPr sz="1575" b="1">
                <a:solidFill>
                  <a:srgbClr val="48D4DF"/>
                </a:solidFill>
              </a:defRPr>
            </a:lvl2pPr>
            <a:lvl3pPr>
              <a:defRPr sz="1575" b="1">
                <a:solidFill>
                  <a:srgbClr val="48D4DF"/>
                </a:solidFill>
              </a:defRPr>
            </a:lvl3pPr>
            <a:lvl4pPr>
              <a:defRPr sz="1575" b="1">
                <a:solidFill>
                  <a:srgbClr val="48D4DF"/>
                </a:solidFill>
              </a:defRPr>
            </a:lvl4pPr>
            <a:lvl5pPr>
              <a:defRPr sz="1575" b="1">
                <a:solidFill>
                  <a:srgbClr val="48D4DF"/>
                </a:solidFill>
              </a:defRPr>
            </a:lvl5pPr>
            <a:lvl6pPr>
              <a:defRPr sz="1575" b="1">
                <a:solidFill>
                  <a:srgbClr val="48D4DF"/>
                </a:solidFill>
              </a:defRPr>
            </a:lvl6pPr>
            <a:lvl7pPr>
              <a:defRPr sz="1575" b="1">
                <a:solidFill>
                  <a:srgbClr val="48D4DF"/>
                </a:solidFill>
              </a:defRPr>
            </a:lvl7pPr>
            <a:lvl8pPr>
              <a:defRPr sz="1575" b="1">
                <a:solidFill>
                  <a:srgbClr val="48D4DF"/>
                </a:solidFill>
              </a:defRPr>
            </a:lvl8pPr>
            <a:lvl9pPr>
              <a:defRPr sz="1575" b="1">
                <a:solidFill>
                  <a:srgbClr val="48D4DF"/>
                </a:solidFill>
              </a:defRPr>
            </a:lvl9pPr>
          </a:lstStyle>
          <a:p>
            <a:pPr>
              <a:defRPr sz="1575" b="1">
                <a:solidFill>
                  <a:srgbClr val="48D4DF"/>
                </a:solidFill>
              </a:defRPr>
            </a:pPr>
            <a:r>
              <a:rPr sz="1575" b="1">
                <a:solidFill>
                  <a:srgbClr val="48D4DF"/>
                </a:solidFill>
              </a:rPr>
              <a:t>YAW</a:t>
            </a:r>
          </a:p>
        </p:txBody>
      </p:sp>
      <p:sp>
        <p:nvSpPr>
          <p:cNvPr id="9" name="joint-link-0">
            <a:extLst>
              <a:ext uri="{FF2B5EF4-FFF2-40B4-BE49-F238E27FC236}">
                <a16:creationId xmlns:a16="http://schemas.microsoft.com/office/drawing/2014/main" id="{2B0B7719-C752-4D50-AB0D-1B044E7B59DD}"/>
              </a:ext>
            </a:extLst>
          </p:cNvPr>
          <p:cNvSpPr>
            <a:spLocks noGrp="1"/>
          </p:cNvSpPr>
          <p:nvPr/>
        </p:nvSpPr>
        <p:spPr>
          <a:xfrm>
            <a:off x="1543050" y="3086100"/>
            <a:ext cx="571500" cy="114300"/>
          </a:xfrm>
          <a:prstGeom prst="rightArrow">
            <a:avLst/>
          </a:prstGeom>
          <a:solidFill>
            <a:srgbClr val="FFFFFF">
              <a:alpha val="60000"/>
            </a:srgbClr>
          </a:solidFill>
          <a:ln w="0">
            <a:noFill/>
            <a:prstDash val="solid"/>
          </a:ln>
        </p:spPr>
      </p:sp>
      <p:sp>
        <p:nvSpPr>
          <p:cNvPr id="10" name="joint-1">
            <a:extLst>
              <a:ext uri="{FF2B5EF4-FFF2-40B4-BE49-F238E27FC236}">
                <a16:creationId xmlns:a16="http://schemas.microsoft.com/office/drawing/2014/main" id="{0C8A7642-86E5-4851-9F40-8BC11B51E68A}"/>
              </a:ext>
            </a:extLst>
          </p:cNvPr>
          <p:cNvSpPr>
            <a:spLocks noGrp="1"/>
          </p:cNvSpPr>
          <p:nvPr/>
        </p:nvSpPr>
        <p:spPr>
          <a:xfrm>
            <a:off x="2305050" y="2952750"/>
            <a:ext cx="428625" cy="428625"/>
          </a:xfrm>
          <a:prstGeom prst="ellipse">
            <a:avLst/>
          </a:prstGeom>
          <a:solidFill>
            <a:srgbClr val="FFC17A"/>
          </a:solidFill>
          <a:ln w="0">
            <a:noFill/>
            <a:prstDash val="solid"/>
          </a:ln>
        </p:spPr>
      </p:sp>
      <p:sp>
        <p:nvSpPr>
          <p:cNvPr id="11" name="text-159">
            <a:extLst>
              <a:ext uri="{FF2B5EF4-FFF2-40B4-BE49-F238E27FC236}">
                <a16:creationId xmlns:a16="http://schemas.microsoft.com/office/drawing/2014/main" id="{24F68740-90C3-403C-A37F-9BD3C580EB25}"/>
              </a:ext>
            </a:extLst>
          </p:cNvPr>
          <p:cNvSpPr>
            <a:spLocks noGrp="1"/>
          </p:cNvSpPr>
          <p:nvPr/>
        </p:nvSpPr>
        <p:spPr>
          <a:xfrm>
            <a:off x="2228850" y="3571875"/>
            <a:ext cx="952500" cy="266700"/>
          </a:xfrm>
          <a:prstGeom prst="rect">
            <a:avLst/>
          </a:prstGeom>
          <a:noFill/>
          <a:ln w="0">
            <a:noFill/>
            <a:prstDash val="solid"/>
          </a:ln>
        </p:spPr>
        <p:txBody>
          <a:bodyPr lIns="0" tIns="0" rIns="0" bIns="0"/>
          <a:lstStyle>
            <a:defPPr>
              <a:defRPr sz="1575" b="1">
                <a:solidFill>
                  <a:srgbClr val="FFC17A"/>
                </a:solidFill>
              </a:defRPr>
            </a:defPPr>
            <a:lvl1pPr>
              <a:defRPr sz="1575" b="1">
                <a:solidFill>
                  <a:srgbClr val="FFC17A"/>
                </a:solidFill>
              </a:defRPr>
            </a:lvl1pPr>
            <a:lvl2pPr>
              <a:defRPr sz="1575" b="1">
                <a:solidFill>
                  <a:srgbClr val="FFC17A"/>
                </a:solidFill>
              </a:defRPr>
            </a:lvl2pPr>
            <a:lvl3pPr>
              <a:defRPr sz="1575" b="1">
                <a:solidFill>
                  <a:srgbClr val="FFC17A"/>
                </a:solidFill>
              </a:defRPr>
            </a:lvl3pPr>
            <a:lvl4pPr>
              <a:defRPr sz="1575" b="1">
                <a:solidFill>
                  <a:srgbClr val="FFC17A"/>
                </a:solidFill>
              </a:defRPr>
            </a:lvl4pPr>
            <a:lvl5pPr>
              <a:defRPr sz="1575" b="1">
                <a:solidFill>
                  <a:srgbClr val="FFC17A"/>
                </a:solidFill>
              </a:defRPr>
            </a:lvl5pPr>
            <a:lvl6pPr>
              <a:defRPr sz="1575" b="1">
                <a:solidFill>
                  <a:srgbClr val="FFC17A"/>
                </a:solidFill>
              </a:defRPr>
            </a:lvl6pPr>
            <a:lvl7pPr>
              <a:defRPr sz="1575" b="1">
                <a:solidFill>
                  <a:srgbClr val="FFC17A"/>
                </a:solidFill>
              </a:defRPr>
            </a:lvl7pPr>
            <a:lvl8pPr>
              <a:defRPr sz="1575" b="1">
                <a:solidFill>
                  <a:srgbClr val="FFC17A"/>
                </a:solidFill>
              </a:defRPr>
            </a:lvl8pPr>
            <a:lvl9pPr>
              <a:defRPr sz="1575" b="1">
                <a:solidFill>
                  <a:srgbClr val="FFC17A"/>
                </a:solidFill>
              </a:defRPr>
            </a:lvl9pPr>
          </a:lstStyle>
          <a:p>
            <a:pPr>
              <a:defRPr sz="1575" b="1">
                <a:solidFill>
                  <a:srgbClr val="FFC17A"/>
                </a:solidFill>
              </a:defRPr>
            </a:pPr>
            <a:r>
              <a:rPr sz="1575" b="1">
                <a:solidFill>
                  <a:srgbClr val="FFC17A"/>
                </a:solidFill>
              </a:rPr>
              <a:t>PITCH</a:t>
            </a:r>
          </a:p>
        </p:txBody>
      </p:sp>
      <p:sp>
        <p:nvSpPr>
          <p:cNvPr id="12" name="joint-link-1">
            <a:extLst>
              <a:ext uri="{FF2B5EF4-FFF2-40B4-BE49-F238E27FC236}">
                <a16:creationId xmlns:a16="http://schemas.microsoft.com/office/drawing/2014/main" id="{405B3FBB-1DE4-4299-A8DC-F9E8CA784B1F}"/>
              </a:ext>
            </a:extLst>
          </p:cNvPr>
          <p:cNvSpPr>
            <a:spLocks noGrp="1"/>
          </p:cNvSpPr>
          <p:nvPr/>
        </p:nvSpPr>
        <p:spPr>
          <a:xfrm>
            <a:off x="2800350" y="3086100"/>
            <a:ext cx="571500" cy="114300"/>
          </a:xfrm>
          <a:prstGeom prst="rightArrow">
            <a:avLst/>
          </a:prstGeom>
          <a:solidFill>
            <a:srgbClr val="FFFFFF">
              <a:alpha val="60000"/>
            </a:srgbClr>
          </a:solidFill>
          <a:ln w="0">
            <a:noFill/>
            <a:prstDash val="solid"/>
          </a:ln>
        </p:spPr>
      </p:sp>
      <p:sp>
        <p:nvSpPr>
          <p:cNvPr id="13" name="joint-2">
            <a:extLst>
              <a:ext uri="{FF2B5EF4-FFF2-40B4-BE49-F238E27FC236}">
                <a16:creationId xmlns:a16="http://schemas.microsoft.com/office/drawing/2014/main" id="{F737A54D-ED7E-483B-82EB-3E81283E4424}"/>
              </a:ext>
            </a:extLst>
          </p:cNvPr>
          <p:cNvSpPr>
            <a:spLocks noGrp="1"/>
          </p:cNvSpPr>
          <p:nvPr/>
        </p:nvSpPr>
        <p:spPr>
          <a:xfrm>
            <a:off x="3562350" y="2952750"/>
            <a:ext cx="428625" cy="428625"/>
          </a:xfrm>
          <a:prstGeom prst="ellipse">
            <a:avLst/>
          </a:prstGeom>
          <a:solidFill>
            <a:srgbClr val="48D4DF"/>
          </a:solidFill>
          <a:ln w="0">
            <a:noFill/>
            <a:prstDash val="solid"/>
          </a:ln>
        </p:spPr>
      </p:sp>
      <p:sp>
        <p:nvSpPr>
          <p:cNvPr id="14" name="text-160">
            <a:extLst>
              <a:ext uri="{FF2B5EF4-FFF2-40B4-BE49-F238E27FC236}">
                <a16:creationId xmlns:a16="http://schemas.microsoft.com/office/drawing/2014/main" id="{A8750AC6-D6A6-4C80-A2D4-EC9FA7A9D229}"/>
              </a:ext>
            </a:extLst>
          </p:cNvPr>
          <p:cNvSpPr>
            <a:spLocks noGrp="1"/>
          </p:cNvSpPr>
          <p:nvPr/>
        </p:nvSpPr>
        <p:spPr>
          <a:xfrm>
            <a:off x="3486150" y="3571875"/>
            <a:ext cx="952500" cy="266700"/>
          </a:xfrm>
          <a:prstGeom prst="rect">
            <a:avLst/>
          </a:prstGeom>
          <a:noFill/>
          <a:ln w="0">
            <a:noFill/>
            <a:prstDash val="solid"/>
          </a:ln>
        </p:spPr>
        <p:txBody>
          <a:bodyPr lIns="0" tIns="0" rIns="0" bIns="0"/>
          <a:lstStyle>
            <a:defPPr>
              <a:defRPr sz="1575" b="1">
                <a:solidFill>
                  <a:srgbClr val="48D4DF"/>
                </a:solidFill>
              </a:defRPr>
            </a:defPPr>
            <a:lvl1pPr>
              <a:defRPr sz="1575" b="1">
                <a:solidFill>
                  <a:srgbClr val="48D4DF"/>
                </a:solidFill>
              </a:defRPr>
            </a:lvl1pPr>
            <a:lvl2pPr>
              <a:defRPr sz="1575" b="1">
                <a:solidFill>
                  <a:srgbClr val="48D4DF"/>
                </a:solidFill>
              </a:defRPr>
            </a:lvl2pPr>
            <a:lvl3pPr>
              <a:defRPr sz="1575" b="1">
                <a:solidFill>
                  <a:srgbClr val="48D4DF"/>
                </a:solidFill>
              </a:defRPr>
            </a:lvl3pPr>
            <a:lvl4pPr>
              <a:defRPr sz="1575" b="1">
                <a:solidFill>
                  <a:srgbClr val="48D4DF"/>
                </a:solidFill>
              </a:defRPr>
            </a:lvl4pPr>
            <a:lvl5pPr>
              <a:defRPr sz="1575" b="1">
                <a:solidFill>
                  <a:srgbClr val="48D4DF"/>
                </a:solidFill>
              </a:defRPr>
            </a:lvl5pPr>
            <a:lvl6pPr>
              <a:defRPr sz="1575" b="1">
                <a:solidFill>
                  <a:srgbClr val="48D4DF"/>
                </a:solidFill>
              </a:defRPr>
            </a:lvl6pPr>
            <a:lvl7pPr>
              <a:defRPr sz="1575" b="1">
                <a:solidFill>
                  <a:srgbClr val="48D4DF"/>
                </a:solidFill>
              </a:defRPr>
            </a:lvl7pPr>
            <a:lvl8pPr>
              <a:defRPr sz="1575" b="1">
                <a:solidFill>
                  <a:srgbClr val="48D4DF"/>
                </a:solidFill>
              </a:defRPr>
            </a:lvl8pPr>
            <a:lvl9pPr>
              <a:defRPr sz="1575" b="1">
                <a:solidFill>
                  <a:srgbClr val="48D4DF"/>
                </a:solidFill>
              </a:defRPr>
            </a:lvl9pPr>
          </a:lstStyle>
          <a:p>
            <a:pPr>
              <a:defRPr sz="1575" b="1">
                <a:solidFill>
                  <a:srgbClr val="48D4DF"/>
                </a:solidFill>
              </a:defRPr>
            </a:pPr>
            <a:r>
              <a:rPr sz="1575" b="1">
                <a:solidFill>
                  <a:srgbClr val="48D4DF"/>
                </a:solidFill>
              </a:rPr>
              <a:t>YAW</a:t>
            </a:r>
          </a:p>
        </p:txBody>
      </p:sp>
      <p:sp>
        <p:nvSpPr>
          <p:cNvPr id="15" name="joint-link-2">
            <a:extLst>
              <a:ext uri="{FF2B5EF4-FFF2-40B4-BE49-F238E27FC236}">
                <a16:creationId xmlns:a16="http://schemas.microsoft.com/office/drawing/2014/main" id="{3B684CC9-2062-4C98-84C4-54BDF167CE0C}"/>
              </a:ext>
            </a:extLst>
          </p:cNvPr>
          <p:cNvSpPr>
            <a:spLocks noGrp="1"/>
          </p:cNvSpPr>
          <p:nvPr/>
        </p:nvSpPr>
        <p:spPr>
          <a:xfrm>
            <a:off x="4057650" y="3086100"/>
            <a:ext cx="571500" cy="114300"/>
          </a:xfrm>
          <a:prstGeom prst="rightArrow">
            <a:avLst/>
          </a:prstGeom>
          <a:solidFill>
            <a:srgbClr val="FFFFFF">
              <a:alpha val="60000"/>
            </a:srgbClr>
          </a:solidFill>
          <a:ln w="0">
            <a:noFill/>
            <a:prstDash val="solid"/>
          </a:ln>
        </p:spPr>
      </p:sp>
      <p:sp>
        <p:nvSpPr>
          <p:cNvPr id="16" name="joint-3">
            <a:extLst>
              <a:ext uri="{FF2B5EF4-FFF2-40B4-BE49-F238E27FC236}">
                <a16:creationId xmlns:a16="http://schemas.microsoft.com/office/drawing/2014/main" id="{A81B3439-2B63-4CBE-BBC5-96876997E9B9}"/>
              </a:ext>
            </a:extLst>
          </p:cNvPr>
          <p:cNvSpPr>
            <a:spLocks noGrp="1"/>
          </p:cNvSpPr>
          <p:nvPr/>
        </p:nvSpPr>
        <p:spPr>
          <a:xfrm>
            <a:off x="4819650" y="2952750"/>
            <a:ext cx="428625" cy="428625"/>
          </a:xfrm>
          <a:prstGeom prst="ellipse">
            <a:avLst/>
          </a:prstGeom>
          <a:solidFill>
            <a:srgbClr val="FFC17A"/>
          </a:solidFill>
          <a:ln w="0">
            <a:noFill/>
            <a:prstDash val="solid"/>
          </a:ln>
        </p:spPr>
      </p:sp>
      <p:sp>
        <p:nvSpPr>
          <p:cNvPr id="17" name="text-161">
            <a:extLst>
              <a:ext uri="{FF2B5EF4-FFF2-40B4-BE49-F238E27FC236}">
                <a16:creationId xmlns:a16="http://schemas.microsoft.com/office/drawing/2014/main" id="{931C2478-00AB-4A71-B739-64D885FB78AD}"/>
              </a:ext>
            </a:extLst>
          </p:cNvPr>
          <p:cNvSpPr>
            <a:spLocks noGrp="1"/>
          </p:cNvSpPr>
          <p:nvPr/>
        </p:nvSpPr>
        <p:spPr>
          <a:xfrm>
            <a:off x="4743450" y="3571875"/>
            <a:ext cx="952500" cy="266700"/>
          </a:xfrm>
          <a:prstGeom prst="rect">
            <a:avLst/>
          </a:prstGeom>
          <a:noFill/>
          <a:ln w="0">
            <a:noFill/>
            <a:prstDash val="solid"/>
          </a:ln>
        </p:spPr>
        <p:txBody>
          <a:bodyPr lIns="0" tIns="0" rIns="0" bIns="0"/>
          <a:lstStyle>
            <a:defPPr>
              <a:defRPr sz="1575" b="1">
                <a:solidFill>
                  <a:srgbClr val="FFC17A"/>
                </a:solidFill>
              </a:defRPr>
            </a:defPPr>
            <a:lvl1pPr>
              <a:defRPr sz="1575" b="1">
                <a:solidFill>
                  <a:srgbClr val="FFC17A"/>
                </a:solidFill>
              </a:defRPr>
            </a:lvl1pPr>
            <a:lvl2pPr>
              <a:defRPr sz="1575" b="1">
                <a:solidFill>
                  <a:srgbClr val="FFC17A"/>
                </a:solidFill>
              </a:defRPr>
            </a:lvl2pPr>
            <a:lvl3pPr>
              <a:defRPr sz="1575" b="1">
                <a:solidFill>
                  <a:srgbClr val="FFC17A"/>
                </a:solidFill>
              </a:defRPr>
            </a:lvl3pPr>
            <a:lvl4pPr>
              <a:defRPr sz="1575" b="1">
                <a:solidFill>
                  <a:srgbClr val="FFC17A"/>
                </a:solidFill>
              </a:defRPr>
            </a:lvl4pPr>
            <a:lvl5pPr>
              <a:defRPr sz="1575" b="1">
                <a:solidFill>
                  <a:srgbClr val="FFC17A"/>
                </a:solidFill>
              </a:defRPr>
            </a:lvl5pPr>
            <a:lvl6pPr>
              <a:defRPr sz="1575" b="1">
                <a:solidFill>
                  <a:srgbClr val="FFC17A"/>
                </a:solidFill>
              </a:defRPr>
            </a:lvl6pPr>
            <a:lvl7pPr>
              <a:defRPr sz="1575" b="1">
                <a:solidFill>
                  <a:srgbClr val="FFC17A"/>
                </a:solidFill>
              </a:defRPr>
            </a:lvl7pPr>
            <a:lvl8pPr>
              <a:defRPr sz="1575" b="1">
                <a:solidFill>
                  <a:srgbClr val="FFC17A"/>
                </a:solidFill>
              </a:defRPr>
            </a:lvl8pPr>
            <a:lvl9pPr>
              <a:defRPr sz="1575" b="1">
                <a:solidFill>
                  <a:srgbClr val="FFC17A"/>
                </a:solidFill>
              </a:defRPr>
            </a:lvl9pPr>
          </a:lstStyle>
          <a:p>
            <a:pPr>
              <a:defRPr sz="1575" b="1">
                <a:solidFill>
                  <a:srgbClr val="FFC17A"/>
                </a:solidFill>
              </a:defRPr>
            </a:pPr>
            <a:r>
              <a:rPr sz="1575" b="1">
                <a:solidFill>
                  <a:srgbClr val="FFC17A"/>
                </a:solidFill>
              </a:rPr>
              <a:t>PITCH</a:t>
            </a:r>
          </a:p>
        </p:txBody>
      </p:sp>
      <p:sp>
        <p:nvSpPr>
          <p:cNvPr id="18" name="joint-link-3">
            <a:extLst>
              <a:ext uri="{FF2B5EF4-FFF2-40B4-BE49-F238E27FC236}">
                <a16:creationId xmlns:a16="http://schemas.microsoft.com/office/drawing/2014/main" id="{07B83498-809F-4376-A3FB-6FD3390D9A2A}"/>
              </a:ext>
            </a:extLst>
          </p:cNvPr>
          <p:cNvSpPr>
            <a:spLocks noGrp="1"/>
          </p:cNvSpPr>
          <p:nvPr/>
        </p:nvSpPr>
        <p:spPr>
          <a:xfrm>
            <a:off x="5314950" y="3086100"/>
            <a:ext cx="571500" cy="114300"/>
          </a:xfrm>
          <a:prstGeom prst="rightArrow">
            <a:avLst/>
          </a:prstGeom>
          <a:solidFill>
            <a:srgbClr val="FFFFFF">
              <a:alpha val="60000"/>
            </a:srgbClr>
          </a:solidFill>
          <a:ln w="0">
            <a:noFill/>
            <a:prstDash val="solid"/>
          </a:ln>
        </p:spPr>
      </p:sp>
      <p:sp>
        <p:nvSpPr>
          <p:cNvPr id="19" name="joint-4">
            <a:extLst>
              <a:ext uri="{FF2B5EF4-FFF2-40B4-BE49-F238E27FC236}">
                <a16:creationId xmlns:a16="http://schemas.microsoft.com/office/drawing/2014/main" id="{BF3A8C93-9BEE-4D36-A985-7CDBDB1A5853}"/>
              </a:ext>
            </a:extLst>
          </p:cNvPr>
          <p:cNvSpPr>
            <a:spLocks noGrp="1"/>
          </p:cNvSpPr>
          <p:nvPr/>
        </p:nvSpPr>
        <p:spPr>
          <a:xfrm>
            <a:off x="6076950" y="2952750"/>
            <a:ext cx="428625" cy="428625"/>
          </a:xfrm>
          <a:prstGeom prst="ellipse">
            <a:avLst/>
          </a:prstGeom>
          <a:solidFill>
            <a:srgbClr val="48D4DF"/>
          </a:solidFill>
          <a:ln w="0">
            <a:noFill/>
            <a:prstDash val="solid"/>
          </a:ln>
        </p:spPr>
      </p:sp>
      <p:sp>
        <p:nvSpPr>
          <p:cNvPr id="20" name="text-162">
            <a:extLst>
              <a:ext uri="{FF2B5EF4-FFF2-40B4-BE49-F238E27FC236}">
                <a16:creationId xmlns:a16="http://schemas.microsoft.com/office/drawing/2014/main" id="{D7AE6A3C-5791-4BC5-BD81-D440443B1DD5}"/>
              </a:ext>
            </a:extLst>
          </p:cNvPr>
          <p:cNvSpPr>
            <a:spLocks noGrp="1"/>
          </p:cNvSpPr>
          <p:nvPr/>
        </p:nvSpPr>
        <p:spPr>
          <a:xfrm>
            <a:off x="6000750" y="3571875"/>
            <a:ext cx="952500" cy="266700"/>
          </a:xfrm>
          <a:prstGeom prst="rect">
            <a:avLst/>
          </a:prstGeom>
          <a:noFill/>
          <a:ln w="0">
            <a:noFill/>
            <a:prstDash val="solid"/>
          </a:ln>
        </p:spPr>
        <p:txBody>
          <a:bodyPr lIns="0" tIns="0" rIns="0" bIns="0"/>
          <a:lstStyle>
            <a:defPPr>
              <a:defRPr sz="1575" b="1">
                <a:solidFill>
                  <a:srgbClr val="48D4DF"/>
                </a:solidFill>
              </a:defRPr>
            </a:defPPr>
            <a:lvl1pPr>
              <a:defRPr sz="1575" b="1">
                <a:solidFill>
                  <a:srgbClr val="48D4DF"/>
                </a:solidFill>
              </a:defRPr>
            </a:lvl1pPr>
            <a:lvl2pPr>
              <a:defRPr sz="1575" b="1">
                <a:solidFill>
                  <a:srgbClr val="48D4DF"/>
                </a:solidFill>
              </a:defRPr>
            </a:lvl2pPr>
            <a:lvl3pPr>
              <a:defRPr sz="1575" b="1">
                <a:solidFill>
                  <a:srgbClr val="48D4DF"/>
                </a:solidFill>
              </a:defRPr>
            </a:lvl3pPr>
            <a:lvl4pPr>
              <a:defRPr sz="1575" b="1">
                <a:solidFill>
                  <a:srgbClr val="48D4DF"/>
                </a:solidFill>
              </a:defRPr>
            </a:lvl4pPr>
            <a:lvl5pPr>
              <a:defRPr sz="1575" b="1">
                <a:solidFill>
                  <a:srgbClr val="48D4DF"/>
                </a:solidFill>
              </a:defRPr>
            </a:lvl5pPr>
            <a:lvl6pPr>
              <a:defRPr sz="1575" b="1">
                <a:solidFill>
                  <a:srgbClr val="48D4DF"/>
                </a:solidFill>
              </a:defRPr>
            </a:lvl6pPr>
            <a:lvl7pPr>
              <a:defRPr sz="1575" b="1">
                <a:solidFill>
                  <a:srgbClr val="48D4DF"/>
                </a:solidFill>
              </a:defRPr>
            </a:lvl7pPr>
            <a:lvl8pPr>
              <a:defRPr sz="1575" b="1">
                <a:solidFill>
                  <a:srgbClr val="48D4DF"/>
                </a:solidFill>
              </a:defRPr>
            </a:lvl8pPr>
            <a:lvl9pPr>
              <a:defRPr sz="1575" b="1">
                <a:solidFill>
                  <a:srgbClr val="48D4DF"/>
                </a:solidFill>
              </a:defRPr>
            </a:lvl9pPr>
          </a:lstStyle>
          <a:p>
            <a:pPr>
              <a:defRPr sz="1575" b="1">
                <a:solidFill>
                  <a:srgbClr val="48D4DF"/>
                </a:solidFill>
              </a:defRPr>
            </a:pPr>
            <a:r>
              <a:rPr sz="1575" b="1">
                <a:solidFill>
                  <a:srgbClr val="48D4DF"/>
                </a:solidFill>
              </a:rPr>
              <a:t>YAW</a:t>
            </a:r>
          </a:p>
        </p:txBody>
      </p:sp>
      <p:sp>
        <p:nvSpPr>
          <p:cNvPr id="21" name="joint-link-4">
            <a:extLst>
              <a:ext uri="{FF2B5EF4-FFF2-40B4-BE49-F238E27FC236}">
                <a16:creationId xmlns:a16="http://schemas.microsoft.com/office/drawing/2014/main" id="{54905875-2138-4E66-8164-07D2BDA13628}"/>
              </a:ext>
            </a:extLst>
          </p:cNvPr>
          <p:cNvSpPr>
            <a:spLocks noGrp="1"/>
          </p:cNvSpPr>
          <p:nvPr/>
        </p:nvSpPr>
        <p:spPr>
          <a:xfrm>
            <a:off x="6572250" y="3086100"/>
            <a:ext cx="571500" cy="114300"/>
          </a:xfrm>
          <a:prstGeom prst="rightArrow">
            <a:avLst/>
          </a:prstGeom>
          <a:solidFill>
            <a:srgbClr val="FFFFFF">
              <a:alpha val="60000"/>
            </a:srgbClr>
          </a:solidFill>
          <a:ln w="0">
            <a:noFill/>
            <a:prstDash val="solid"/>
          </a:ln>
        </p:spPr>
      </p:sp>
      <p:sp>
        <p:nvSpPr>
          <p:cNvPr id="22" name="joint-5">
            <a:extLst>
              <a:ext uri="{FF2B5EF4-FFF2-40B4-BE49-F238E27FC236}">
                <a16:creationId xmlns:a16="http://schemas.microsoft.com/office/drawing/2014/main" id="{382FE1EC-6073-4C10-9FAD-F75529F69C76}"/>
              </a:ext>
            </a:extLst>
          </p:cNvPr>
          <p:cNvSpPr>
            <a:spLocks noGrp="1"/>
          </p:cNvSpPr>
          <p:nvPr/>
        </p:nvSpPr>
        <p:spPr>
          <a:xfrm>
            <a:off x="7334250" y="2952750"/>
            <a:ext cx="428625" cy="428625"/>
          </a:xfrm>
          <a:prstGeom prst="ellipse">
            <a:avLst/>
          </a:prstGeom>
          <a:solidFill>
            <a:srgbClr val="FFC17A"/>
          </a:solidFill>
          <a:ln w="0">
            <a:noFill/>
            <a:prstDash val="solid"/>
          </a:ln>
        </p:spPr>
      </p:sp>
      <p:sp>
        <p:nvSpPr>
          <p:cNvPr id="23" name="text-163">
            <a:extLst>
              <a:ext uri="{FF2B5EF4-FFF2-40B4-BE49-F238E27FC236}">
                <a16:creationId xmlns:a16="http://schemas.microsoft.com/office/drawing/2014/main" id="{D2A721F6-C624-4B9C-BF2A-495C2EC4EA51}"/>
              </a:ext>
            </a:extLst>
          </p:cNvPr>
          <p:cNvSpPr>
            <a:spLocks noGrp="1"/>
          </p:cNvSpPr>
          <p:nvPr/>
        </p:nvSpPr>
        <p:spPr>
          <a:xfrm>
            <a:off x="7258050" y="3571875"/>
            <a:ext cx="952500" cy="266700"/>
          </a:xfrm>
          <a:prstGeom prst="rect">
            <a:avLst/>
          </a:prstGeom>
          <a:noFill/>
          <a:ln w="0">
            <a:noFill/>
            <a:prstDash val="solid"/>
          </a:ln>
        </p:spPr>
        <p:txBody>
          <a:bodyPr lIns="0" tIns="0" rIns="0" bIns="0"/>
          <a:lstStyle>
            <a:defPPr>
              <a:defRPr sz="1575" b="1">
                <a:solidFill>
                  <a:srgbClr val="FFC17A"/>
                </a:solidFill>
              </a:defRPr>
            </a:defPPr>
            <a:lvl1pPr>
              <a:defRPr sz="1575" b="1">
                <a:solidFill>
                  <a:srgbClr val="FFC17A"/>
                </a:solidFill>
              </a:defRPr>
            </a:lvl1pPr>
            <a:lvl2pPr>
              <a:defRPr sz="1575" b="1">
                <a:solidFill>
                  <a:srgbClr val="FFC17A"/>
                </a:solidFill>
              </a:defRPr>
            </a:lvl2pPr>
            <a:lvl3pPr>
              <a:defRPr sz="1575" b="1">
                <a:solidFill>
                  <a:srgbClr val="FFC17A"/>
                </a:solidFill>
              </a:defRPr>
            </a:lvl3pPr>
            <a:lvl4pPr>
              <a:defRPr sz="1575" b="1">
                <a:solidFill>
                  <a:srgbClr val="FFC17A"/>
                </a:solidFill>
              </a:defRPr>
            </a:lvl4pPr>
            <a:lvl5pPr>
              <a:defRPr sz="1575" b="1">
                <a:solidFill>
                  <a:srgbClr val="FFC17A"/>
                </a:solidFill>
              </a:defRPr>
            </a:lvl5pPr>
            <a:lvl6pPr>
              <a:defRPr sz="1575" b="1">
                <a:solidFill>
                  <a:srgbClr val="FFC17A"/>
                </a:solidFill>
              </a:defRPr>
            </a:lvl6pPr>
            <a:lvl7pPr>
              <a:defRPr sz="1575" b="1">
                <a:solidFill>
                  <a:srgbClr val="FFC17A"/>
                </a:solidFill>
              </a:defRPr>
            </a:lvl7pPr>
            <a:lvl8pPr>
              <a:defRPr sz="1575" b="1">
                <a:solidFill>
                  <a:srgbClr val="FFC17A"/>
                </a:solidFill>
              </a:defRPr>
            </a:lvl8pPr>
            <a:lvl9pPr>
              <a:defRPr sz="1575" b="1">
                <a:solidFill>
                  <a:srgbClr val="FFC17A"/>
                </a:solidFill>
              </a:defRPr>
            </a:lvl9pPr>
          </a:lstStyle>
          <a:p>
            <a:pPr>
              <a:defRPr sz="1575" b="1">
                <a:solidFill>
                  <a:srgbClr val="FFC17A"/>
                </a:solidFill>
              </a:defRPr>
            </a:pPr>
            <a:r>
              <a:rPr sz="1575" b="1">
                <a:solidFill>
                  <a:srgbClr val="FFC17A"/>
                </a:solidFill>
              </a:rPr>
              <a:t>PITCH</a:t>
            </a:r>
          </a:p>
        </p:txBody>
      </p:sp>
      <p:sp>
        <p:nvSpPr>
          <p:cNvPr id="24" name="joint-link-5">
            <a:extLst>
              <a:ext uri="{FF2B5EF4-FFF2-40B4-BE49-F238E27FC236}">
                <a16:creationId xmlns:a16="http://schemas.microsoft.com/office/drawing/2014/main" id="{849B431B-298B-4511-A627-FF567D6CB20B}"/>
              </a:ext>
            </a:extLst>
          </p:cNvPr>
          <p:cNvSpPr>
            <a:spLocks noGrp="1"/>
          </p:cNvSpPr>
          <p:nvPr/>
        </p:nvSpPr>
        <p:spPr>
          <a:xfrm>
            <a:off x="7829550" y="3086100"/>
            <a:ext cx="571500" cy="114300"/>
          </a:xfrm>
          <a:prstGeom prst="rightArrow">
            <a:avLst/>
          </a:prstGeom>
          <a:solidFill>
            <a:srgbClr val="FFFFFF">
              <a:alpha val="60000"/>
            </a:srgbClr>
          </a:solidFill>
          <a:ln w="0">
            <a:noFill/>
            <a:prstDash val="solid"/>
          </a:ln>
        </p:spPr>
      </p:sp>
      <p:sp>
        <p:nvSpPr>
          <p:cNvPr id="25" name="joint-6">
            <a:extLst>
              <a:ext uri="{FF2B5EF4-FFF2-40B4-BE49-F238E27FC236}">
                <a16:creationId xmlns:a16="http://schemas.microsoft.com/office/drawing/2014/main" id="{A69DF573-2875-4C0B-A786-0662D412C9B4}"/>
              </a:ext>
            </a:extLst>
          </p:cNvPr>
          <p:cNvSpPr>
            <a:spLocks noGrp="1"/>
          </p:cNvSpPr>
          <p:nvPr/>
        </p:nvSpPr>
        <p:spPr>
          <a:xfrm>
            <a:off x="8591550" y="2952750"/>
            <a:ext cx="428625" cy="428625"/>
          </a:xfrm>
          <a:prstGeom prst="ellipse">
            <a:avLst/>
          </a:prstGeom>
          <a:solidFill>
            <a:srgbClr val="48D4DF"/>
          </a:solidFill>
          <a:ln w="0">
            <a:noFill/>
            <a:prstDash val="solid"/>
          </a:ln>
        </p:spPr>
      </p:sp>
      <p:sp>
        <p:nvSpPr>
          <p:cNvPr id="26" name="text-164">
            <a:extLst>
              <a:ext uri="{FF2B5EF4-FFF2-40B4-BE49-F238E27FC236}">
                <a16:creationId xmlns:a16="http://schemas.microsoft.com/office/drawing/2014/main" id="{412906F0-E61F-4248-A4D4-B0CAF4BDD8DA}"/>
              </a:ext>
            </a:extLst>
          </p:cNvPr>
          <p:cNvSpPr>
            <a:spLocks noGrp="1"/>
          </p:cNvSpPr>
          <p:nvPr/>
        </p:nvSpPr>
        <p:spPr>
          <a:xfrm>
            <a:off x="8515350" y="3571875"/>
            <a:ext cx="952500" cy="266700"/>
          </a:xfrm>
          <a:prstGeom prst="rect">
            <a:avLst/>
          </a:prstGeom>
          <a:noFill/>
          <a:ln w="0">
            <a:noFill/>
            <a:prstDash val="solid"/>
          </a:ln>
        </p:spPr>
        <p:txBody>
          <a:bodyPr lIns="0" tIns="0" rIns="0" bIns="0"/>
          <a:lstStyle>
            <a:defPPr>
              <a:defRPr sz="1575" b="1">
                <a:solidFill>
                  <a:srgbClr val="48D4DF"/>
                </a:solidFill>
              </a:defRPr>
            </a:defPPr>
            <a:lvl1pPr>
              <a:defRPr sz="1575" b="1">
                <a:solidFill>
                  <a:srgbClr val="48D4DF"/>
                </a:solidFill>
              </a:defRPr>
            </a:lvl1pPr>
            <a:lvl2pPr>
              <a:defRPr sz="1575" b="1">
                <a:solidFill>
                  <a:srgbClr val="48D4DF"/>
                </a:solidFill>
              </a:defRPr>
            </a:lvl2pPr>
            <a:lvl3pPr>
              <a:defRPr sz="1575" b="1">
                <a:solidFill>
                  <a:srgbClr val="48D4DF"/>
                </a:solidFill>
              </a:defRPr>
            </a:lvl3pPr>
            <a:lvl4pPr>
              <a:defRPr sz="1575" b="1">
                <a:solidFill>
                  <a:srgbClr val="48D4DF"/>
                </a:solidFill>
              </a:defRPr>
            </a:lvl4pPr>
            <a:lvl5pPr>
              <a:defRPr sz="1575" b="1">
                <a:solidFill>
                  <a:srgbClr val="48D4DF"/>
                </a:solidFill>
              </a:defRPr>
            </a:lvl5pPr>
            <a:lvl6pPr>
              <a:defRPr sz="1575" b="1">
                <a:solidFill>
                  <a:srgbClr val="48D4DF"/>
                </a:solidFill>
              </a:defRPr>
            </a:lvl6pPr>
            <a:lvl7pPr>
              <a:defRPr sz="1575" b="1">
                <a:solidFill>
                  <a:srgbClr val="48D4DF"/>
                </a:solidFill>
              </a:defRPr>
            </a:lvl7pPr>
            <a:lvl8pPr>
              <a:defRPr sz="1575" b="1">
                <a:solidFill>
                  <a:srgbClr val="48D4DF"/>
                </a:solidFill>
              </a:defRPr>
            </a:lvl8pPr>
            <a:lvl9pPr>
              <a:defRPr sz="1575" b="1">
                <a:solidFill>
                  <a:srgbClr val="48D4DF"/>
                </a:solidFill>
              </a:defRPr>
            </a:lvl9pPr>
          </a:lstStyle>
          <a:p>
            <a:pPr>
              <a:defRPr sz="1575" b="1">
                <a:solidFill>
                  <a:srgbClr val="48D4DF"/>
                </a:solidFill>
              </a:defRPr>
            </a:pPr>
            <a:r>
              <a:rPr sz="1575" b="1">
                <a:solidFill>
                  <a:srgbClr val="48D4DF"/>
                </a:solidFill>
              </a:rPr>
              <a:t>YAW</a:t>
            </a:r>
          </a:p>
        </p:txBody>
      </p:sp>
      <p:sp>
        <p:nvSpPr>
          <p:cNvPr id="27" name="joint-link-6">
            <a:extLst>
              <a:ext uri="{FF2B5EF4-FFF2-40B4-BE49-F238E27FC236}">
                <a16:creationId xmlns:a16="http://schemas.microsoft.com/office/drawing/2014/main" id="{E995CEE7-72ED-4FFA-9B4B-C8372D94486A}"/>
              </a:ext>
            </a:extLst>
          </p:cNvPr>
          <p:cNvSpPr>
            <a:spLocks noGrp="1"/>
          </p:cNvSpPr>
          <p:nvPr/>
        </p:nvSpPr>
        <p:spPr>
          <a:xfrm>
            <a:off x="9086850" y="3086100"/>
            <a:ext cx="571500" cy="114300"/>
          </a:xfrm>
          <a:prstGeom prst="rightArrow">
            <a:avLst/>
          </a:prstGeom>
          <a:solidFill>
            <a:srgbClr val="FFFFFF">
              <a:alpha val="60000"/>
            </a:srgbClr>
          </a:solidFill>
          <a:ln w="0">
            <a:noFill/>
            <a:prstDash val="solid"/>
          </a:ln>
        </p:spPr>
      </p:sp>
      <p:sp>
        <p:nvSpPr>
          <p:cNvPr id="28" name="joint-7">
            <a:extLst>
              <a:ext uri="{FF2B5EF4-FFF2-40B4-BE49-F238E27FC236}">
                <a16:creationId xmlns:a16="http://schemas.microsoft.com/office/drawing/2014/main" id="{F4A1E5E6-1D62-44D7-A115-7990434FC6D6}"/>
              </a:ext>
            </a:extLst>
          </p:cNvPr>
          <p:cNvSpPr>
            <a:spLocks noGrp="1"/>
          </p:cNvSpPr>
          <p:nvPr/>
        </p:nvSpPr>
        <p:spPr>
          <a:xfrm>
            <a:off x="9848850" y="2952750"/>
            <a:ext cx="428625" cy="428625"/>
          </a:xfrm>
          <a:prstGeom prst="ellipse">
            <a:avLst/>
          </a:prstGeom>
          <a:solidFill>
            <a:srgbClr val="FFC17A"/>
          </a:solidFill>
          <a:ln w="0">
            <a:noFill/>
            <a:prstDash val="solid"/>
          </a:ln>
        </p:spPr>
      </p:sp>
      <p:sp>
        <p:nvSpPr>
          <p:cNvPr id="29" name="text-165">
            <a:extLst>
              <a:ext uri="{FF2B5EF4-FFF2-40B4-BE49-F238E27FC236}">
                <a16:creationId xmlns:a16="http://schemas.microsoft.com/office/drawing/2014/main" id="{FE3752CD-D962-4A8F-B248-E81323AA6E2A}"/>
              </a:ext>
            </a:extLst>
          </p:cNvPr>
          <p:cNvSpPr>
            <a:spLocks noGrp="1"/>
          </p:cNvSpPr>
          <p:nvPr/>
        </p:nvSpPr>
        <p:spPr>
          <a:xfrm>
            <a:off x="9772650" y="3571875"/>
            <a:ext cx="952500" cy="266700"/>
          </a:xfrm>
          <a:prstGeom prst="rect">
            <a:avLst/>
          </a:prstGeom>
          <a:noFill/>
          <a:ln w="0">
            <a:noFill/>
            <a:prstDash val="solid"/>
          </a:ln>
        </p:spPr>
        <p:txBody>
          <a:bodyPr lIns="0" tIns="0" rIns="0" bIns="0"/>
          <a:lstStyle>
            <a:defPPr>
              <a:defRPr sz="1575" b="1">
                <a:solidFill>
                  <a:srgbClr val="FFC17A"/>
                </a:solidFill>
              </a:defRPr>
            </a:defPPr>
            <a:lvl1pPr>
              <a:defRPr sz="1575" b="1">
                <a:solidFill>
                  <a:srgbClr val="FFC17A"/>
                </a:solidFill>
              </a:defRPr>
            </a:lvl1pPr>
            <a:lvl2pPr>
              <a:defRPr sz="1575" b="1">
                <a:solidFill>
                  <a:srgbClr val="FFC17A"/>
                </a:solidFill>
              </a:defRPr>
            </a:lvl2pPr>
            <a:lvl3pPr>
              <a:defRPr sz="1575" b="1">
                <a:solidFill>
                  <a:srgbClr val="FFC17A"/>
                </a:solidFill>
              </a:defRPr>
            </a:lvl3pPr>
            <a:lvl4pPr>
              <a:defRPr sz="1575" b="1">
                <a:solidFill>
                  <a:srgbClr val="FFC17A"/>
                </a:solidFill>
              </a:defRPr>
            </a:lvl4pPr>
            <a:lvl5pPr>
              <a:defRPr sz="1575" b="1">
                <a:solidFill>
                  <a:srgbClr val="FFC17A"/>
                </a:solidFill>
              </a:defRPr>
            </a:lvl5pPr>
            <a:lvl6pPr>
              <a:defRPr sz="1575" b="1">
                <a:solidFill>
                  <a:srgbClr val="FFC17A"/>
                </a:solidFill>
              </a:defRPr>
            </a:lvl6pPr>
            <a:lvl7pPr>
              <a:defRPr sz="1575" b="1">
                <a:solidFill>
                  <a:srgbClr val="FFC17A"/>
                </a:solidFill>
              </a:defRPr>
            </a:lvl7pPr>
            <a:lvl8pPr>
              <a:defRPr sz="1575" b="1">
                <a:solidFill>
                  <a:srgbClr val="FFC17A"/>
                </a:solidFill>
              </a:defRPr>
            </a:lvl8pPr>
            <a:lvl9pPr>
              <a:defRPr sz="1575" b="1">
                <a:solidFill>
                  <a:srgbClr val="FFC17A"/>
                </a:solidFill>
              </a:defRPr>
            </a:lvl9pPr>
          </a:lstStyle>
          <a:p>
            <a:pPr>
              <a:defRPr sz="1575" b="1">
                <a:solidFill>
                  <a:srgbClr val="FFC17A"/>
                </a:solidFill>
              </a:defRPr>
            </a:pPr>
            <a:r>
              <a:rPr sz="1575" b="1">
                <a:solidFill>
                  <a:srgbClr val="FFC17A"/>
                </a:solidFill>
              </a:rPr>
              <a:t>PITCH</a:t>
            </a:r>
          </a:p>
        </p:txBody>
      </p:sp>
      <p:sp>
        <p:nvSpPr>
          <p:cNvPr id="30" name="text-166">
            <a:extLst>
              <a:ext uri="{FF2B5EF4-FFF2-40B4-BE49-F238E27FC236}">
                <a16:creationId xmlns:a16="http://schemas.microsoft.com/office/drawing/2014/main" id="{B3D0AE56-B0E8-4B1F-A644-8EEF0660E6A0}"/>
              </a:ext>
            </a:extLst>
          </p:cNvPr>
          <p:cNvSpPr>
            <a:spLocks noGrp="1"/>
          </p:cNvSpPr>
          <p:nvPr/>
        </p:nvSpPr>
        <p:spPr>
          <a:xfrm>
            <a:off x="762000" y="4686300"/>
            <a:ext cx="10477500" cy="361950"/>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sz="2175" b="1">
                <a:solidFill>
                  <a:srgbClr val="F5FAFF"/>
                </a:solidFill>
              </a:rPr>
              <a:t>Revised connectors and plate-chain layout</a:t>
            </a:r>
          </a:p>
        </p:txBody>
      </p:sp>
      <p:sp>
        <p:nvSpPr>
          <p:cNvPr id="31" name="text-167">
            <a:extLst>
              <a:ext uri="{FF2B5EF4-FFF2-40B4-BE49-F238E27FC236}">
                <a16:creationId xmlns:a16="http://schemas.microsoft.com/office/drawing/2014/main" id="{ACCAFA84-5A4D-40B9-8222-5BE856D9DC66}"/>
              </a:ext>
            </a:extLst>
          </p:cNvPr>
          <p:cNvSpPr>
            <a:spLocks noGrp="1"/>
          </p:cNvSpPr>
          <p:nvPr/>
        </p:nvSpPr>
        <p:spPr>
          <a:xfrm>
            <a:off x="762000" y="5219700"/>
            <a:ext cx="10477500" cy="619125"/>
          </a:xfrm>
          <a:prstGeom prst="rect">
            <a:avLst/>
          </a:prstGeom>
          <a:noFill/>
          <a:ln w="0">
            <a:noFill/>
            <a:prstDash val="solid"/>
          </a:ln>
        </p:spPr>
        <p:txBody>
          <a:bodyPr lIns="0" tIns="0" rIns="0" bIns="0"/>
          <a:lstStyle>
            <a:defPPr>
              <a:defRPr sz="1875" b="0">
                <a:solidFill>
                  <a:srgbClr val="B9CDDF"/>
                </a:solidFill>
              </a:defRPr>
            </a:defPPr>
            <a:lvl1pPr>
              <a:defRPr sz="1875" b="0">
                <a:solidFill>
                  <a:srgbClr val="B9CDDF"/>
                </a:solidFill>
              </a:defRPr>
            </a:lvl1pPr>
            <a:lvl2pPr>
              <a:defRPr sz="1875" b="0">
                <a:solidFill>
                  <a:srgbClr val="B9CDDF"/>
                </a:solidFill>
              </a:defRPr>
            </a:lvl2pPr>
            <a:lvl3pPr>
              <a:defRPr sz="1875" b="0">
                <a:solidFill>
                  <a:srgbClr val="B9CDDF"/>
                </a:solidFill>
              </a:defRPr>
            </a:lvl3pPr>
            <a:lvl4pPr>
              <a:defRPr sz="1875" b="0">
                <a:solidFill>
                  <a:srgbClr val="B9CDDF"/>
                </a:solidFill>
              </a:defRPr>
            </a:lvl4pPr>
            <a:lvl5pPr>
              <a:defRPr sz="1875" b="0">
                <a:solidFill>
                  <a:srgbClr val="B9CDDF"/>
                </a:solidFill>
              </a:defRPr>
            </a:lvl5pPr>
            <a:lvl6pPr>
              <a:defRPr sz="1875" b="0">
                <a:solidFill>
                  <a:srgbClr val="B9CDDF"/>
                </a:solidFill>
              </a:defRPr>
            </a:lvl6pPr>
            <a:lvl7pPr>
              <a:defRPr sz="1875" b="0">
                <a:solidFill>
                  <a:srgbClr val="B9CDDF"/>
                </a:solidFill>
              </a:defRPr>
            </a:lvl7pPr>
            <a:lvl8pPr>
              <a:defRPr sz="1875" b="0">
                <a:solidFill>
                  <a:srgbClr val="B9CDDF"/>
                </a:solidFill>
              </a:defRPr>
            </a:lvl8pPr>
            <a:lvl9pPr>
              <a:defRPr sz="1875" b="0">
                <a:solidFill>
                  <a:srgbClr val="B9CDDF"/>
                </a:solidFill>
              </a:defRPr>
            </a:lvl9pPr>
          </a:lstStyle>
          <a:p>
            <a:pPr>
              <a:defRPr sz="1875" b="0">
                <a:solidFill>
                  <a:srgbClr val="B9CDDF"/>
                </a:solidFill>
              </a:defRPr>
            </a:pPr>
            <a:r>
              <a:rPr sz="1875" b="0">
                <a:solidFill>
                  <a:srgbClr val="B9CDDF"/>
                </a:solidFill>
              </a:rPr>
              <a:t>Experimental waveform; physical clearance and body support remain open work.</a:t>
            </a:r>
          </a:p>
        </p:txBody>
      </p:sp>
      <p:sp>
        <p:nvSpPr>
          <p:cNvPr id="32" name="text-168">
            <a:extLst>
              <a:ext uri="{FF2B5EF4-FFF2-40B4-BE49-F238E27FC236}">
                <a16:creationId xmlns:a16="http://schemas.microsoft.com/office/drawing/2014/main" id="{35F59BA6-A9DA-40B6-8527-83AF7BBB05A8}"/>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Concept schematic, not CAD or a completed Gen 3 build. The present scripts default to dry run.</a:t>
            </a:r>
          </a:p>
        </p:txBody>
      </p:sp>
    </p:spTree>
    <p:extLst>
      <p:ext uri="{BB962C8B-B14F-4D97-AF65-F5344CB8AC3E}">
        <p14:creationId xmlns:p14="http://schemas.microsoft.com/office/powerpoint/2010/main" val="264659456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20"/>
                                        <p:tgtEl>
                                          <p:spTgt spid="7"/>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20"/>
                                        <p:tgtEl>
                                          <p:spTgt spid="9"/>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220"/>
                                        <p:tgtEl>
                                          <p:spTgt spid="10"/>
                                        </p:tgtEl>
                                      </p:cBhvr>
                                    </p:animEffect>
                                  </p:childTnLst>
                                </p:cTn>
                              </p:par>
                            </p:childTnLst>
                          </p:cTn>
                        </p:par>
                        <p:par>
                          <p:cTn id="16" fill="hold">
                            <p:stCondLst>
                              <p:cond delay="660"/>
                            </p:stCondLst>
                            <p:childTnLst>
                              <p:par>
                                <p:cTn id="17" presetID="10"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20"/>
                                        <p:tgtEl>
                                          <p:spTgt spid="12"/>
                                        </p:tgtEl>
                                      </p:cBhvr>
                                    </p:animEffect>
                                  </p:childTnLst>
                                </p:cTn>
                              </p:par>
                            </p:childTnLst>
                          </p:cTn>
                        </p:par>
                        <p:par>
                          <p:cTn id="20" fill="hold">
                            <p:stCondLst>
                              <p:cond delay="880"/>
                            </p:stCondLst>
                            <p:childTnLst>
                              <p:par>
                                <p:cTn id="21" presetID="10" presetClass="entr" presetSubtype="0"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20"/>
                                        <p:tgtEl>
                                          <p:spTgt spid="13"/>
                                        </p:tgtEl>
                                      </p:cBhvr>
                                    </p:animEffect>
                                  </p:childTnLst>
                                </p:cTn>
                              </p:par>
                            </p:childTnLst>
                          </p:cTn>
                        </p:par>
                        <p:par>
                          <p:cTn id="24" fill="hold">
                            <p:stCondLst>
                              <p:cond delay="1100"/>
                            </p:stCondLst>
                            <p:childTnLst>
                              <p:par>
                                <p:cTn id="25" presetID="10" presetClass="entr" presetSubtype="0" fill="hold"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220"/>
                                        <p:tgtEl>
                                          <p:spTgt spid="15"/>
                                        </p:tgtEl>
                                      </p:cBhvr>
                                    </p:animEffect>
                                  </p:childTnLst>
                                </p:cTn>
                              </p:par>
                            </p:childTnLst>
                          </p:cTn>
                        </p:par>
                        <p:par>
                          <p:cTn id="28" fill="hold">
                            <p:stCondLst>
                              <p:cond delay="1320"/>
                            </p:stCondLst>
                            <p:childTnLst>
                              <p:par>
                                <p:cTn id="29" presetID="10" presetClass="entr" presetSubtype="0"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220"/>
                                        <p:tgtEl>
                                          <p:spTgt spid="16"/>
                                        </p:tgtEl>
                                      </p:cBhvr>
                                    </p:animEffect>
                                  </p:childTnLst>
                                </p:cTn>
                              </p:par>
                            </p:childTnLst>
                          </p:cTn>
                        </p:par>
                        <p:par>
                          <p:cTn id="32" fill="hold">
                            <p:stCondLst>
                              <p:cond delay="1540"/>
                            </p:stCondLst>
                            <p:childTnLst>
                              <p:par>
                                <p:cTn id="33" presetID="10"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220"/>
                                        <p:tgtEl>
                                          <p:spTgt spid="18"/>
                                        </p:tgtEl>
                                      </p:cBhvr>
                                    </p:animEffect>
                                  </p:childTnLst>
                                </p:cTn>
                              </p:par>
                            </p:childTnLst>
                          </p:cTn>
                        </p:par>
                        <p:par>
                          <p:cTn id="36" fill="hold">
                            <p:stCondLst>
                              <p:cond delay="1760"/>
                            </p:stCondLst>
                            <p:childTnLst>
                              <p:par>
                                <p:cTn id="37" presetID="10" presetClass="entr" presetSubtype="0"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220"/>
                                        <p:tgtEl>
                                          <p:spTgt spid="19"/>
                                        </p:tgtEl>
                                      </p:cBhvr>
                                    </p:animEffect>
                                  </p:childTnLst>
                                </p:cTn>
                              </p:par>
                            </p:childTnLst>
                          </p:cTn>
                        </p:par>
                        <p:par>
                          <p:cTn id="40" fill="hold">
                            <p:stCondLst>
                              <p:cond delay="1980"/>
                            </p:stCondLst>
                            <p:childTnLst>
                              <p:par>
                                <p:cTn id="41" presetID="10" presetClass="entr" presetSubtype="0"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20"/>
                                        <p:tgtEl>
                                          <p:spTgt spid="21"/>
                                        </p:tgtEl>
                                      </p:cBhvr>
                                    </p:animEffect>
                                  </p:childTnLst>
                                </p:cTn>
                              </p:par>
                            </p:childTnLst>
                          </p:cTn>
                        </p:par>
                        <p:par>
                          <p:cTn id="44" fill="hold">
                            <p:stCondLst>
                              <p:cond delay="2200"/>
                            </p:stCondLst>
                            <p:childTnLst>
                              <p:par>
                                <p:cTn id="45" presetID="10" presetClass="entr" presetSubtype="0"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220"/>
                                        <p:tgtEl>
                                          <p:spTgt spid="22"/>
                                        </p:tgtEl>
                                      </p:cBhvr>
                                    </p:animEffect>
                                  </p:childTnLst>
                                </p:cTn>
                              </p:par>
                            </p:childTnLst>
                          </p:cTn>
                        </p:par>
                        <p:par>
                          <p:cTn id="48" fill="hold">
                            <p:stCondLst>
                              <p:cond delay="2420"/>
                            </p:stCondLst>
                            <p:childTnLst>
                              <p:par>
                                <p:cTn id="49" presetID="10" presetClass="entr" presetSubtype="0" fill="hold"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220"/>
                                        <p:tgtEl>
                                          <p:spTgt spid="24"/>
                                        </p:tgtEl>
                                      </p:cBhvr>
                                    </p:animEffect>
                                  </p:childTnLst>
                                </p:cTn>
                              </p:par>
                            </p:childTnLst>
                          </p:cTn>
                        </p:par>
                        <p:par>
                          <p:cTn id="52" fill="hold">
                            <p:stCondLst>
                              <p:cond delay="2640"/>
                            </p:stCondLst>
                            <p:childTnLst>
                              <p:par>
                                <p:cTn id="53" presetID="10" presetClass="entr" presetSubtype="0" fill="hold"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220"/>
                                        <p:tgtEl>
                                          <p:spTgt spid="25"/>
                                        </p:tgtEl>
                                      </p:cBhvr>
                                    </p:animEffect>
                                  </p:childTnLst>
                                </p:cTn>
                              </p:par>
                            </p:childTnLst>
                          </p:cTn>
                        </p:par>
                        <p:par>
                          <p:cTn id="56" fill="hold">
                            <p:stCondLst>
                              <p:cond delay="2860"/>
                            </p:stCondLst>
                            <p:childTnLst>
                              <p:par>
                                <p:cTn id="57" presetID="10" presetClass="entr" presetSubtype="0"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220"/>
                                        <p:tgtEl>
                                          <p:spTgt spid="27"/>
                                        </p:tgtEl>
                                      </p:cBhvr>
                                    </p:animEffect>
                                  </p:childTnLst>
                                </p:cTn>
                              </p:par>
                            </p:childTnLst>
                          </p:cTn>
                        </p:par>
                        <p:par>
                          <p:cTn id="60" fill="hold">
                            <p:stCondLst>
                              <p:cond delay="3080"/>
                            </p:stCondLst>
                            <p:childTnLst>
                              <p:par>
                                <p:cTn id="61" presetID="10" presetClass="entr" presetSubtype="0"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2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15" name="text-169">
            <a:extLst>
              <a:ext uri="{FF2B5EF4-FFF2-40B4-BE49-F238E27FC236}">
                <a16:creationId xmlns:a16="http://schemas.microsoft.com/office/drawing/2014/main" id="{B4D82277-403A-490F-AB82-990BFB183CF9}"/>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70">
            <a:extLst>
              <a:ext uri="{FF2B5EF4-FFF2-40B4-BE49-F238E27FC236}">
                <a16:creationId xmlns:a16="http://schemas.microsoft.com/office/drawing/2014/main" id="{2789E472-0390-477A-8CFC-E9C64177BB9A}"/>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The next experiments answer specific questions</a:t>
            </a:r>
          </a:p>
        </p:txBody>
      </p:sp>
      <p:sp>
        <p:nvSpPr>
          <p:cNvPr id="3" name="text-171">
            <a:extLst>
              <a:ext uri="{FF2B5EF4-FFF2-40B4-BE49-F238E27FC236}">
                <a16:creationId xmlns:a16="http://schemas.microsoft.com/office/drawing/2014/main" id="{4AB4D445-1355-41E4-B79B-0C890EAF167C}"/>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72">
            <a:extLst>
              <a:ext uri="{FF2B5EF4-FFF2-40B4-BE49-F238E27FC236}">
                <a16:creationId xmlns:a16="http://schemas.microsoft.com/office/drawing/2014/main" id="{26A39ADD-E54E-4C5B-B34A-EF037C343C79}"/>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28</a:t>
            </a:r>
          </a:p>
        </p:txBody>
      </p:sp>
      <p:sp>
        <p:nvSpPr>
          <p:cNvPr id="5" name="glass-173">
            <a:extLst>
              <a:ext uri="{FF2B5EF4-FFF2-40B4-BE49-F238E27FC236}">
                <a16:creationId xmlns:a16="http://schemas.microsoft.com/office/drawing/2014/main" id="{45A17698-91CE-4477-92A5-FBBE0B464B3F}"/>
              </a:ext>
            </a:extLst>
          </p:cNvPr>
          <p:cNvSpPr>
            <a:spLocks noGrp="1"/>
          </p:cNvSpPr>
          <p:nvPr/>
        </p:nvSpPr>
        <p:spPr>
          <a:xfrm>
            <a:off x="609600" y="1714500"/>
            <a:ext cx="10972800" cy="4048125"/>
          </a:xfrm>
          <a:prstGeom prst="roundRect">
            <a:avLst>
              <a:gd name="adj" fmla="val 1882"/>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174">
            <a:extLst>
              <a:ext uri="{FF2B5EF4-FFF2-40B4-BE49-F238E27FC236}">
                <a16:creationId xmlns:a16="http://schemas.microsoft.com/office/drawing/2014/main" id="{9366FA2F-792A-43A1-A3DD-5F5733A76C83}"/>
              </a:ext>
            </a:extLst>
          </p:cNvPr>
          <p:cNvSpPr>
            <a:spLocks noGrp="1"/>
          </p:cNvSpPr>
          <p:nvPr/>
        </p:nvSpPr>
        <p:spPr>
          <a:xfrm>
            <a:off x="857250" y="1924050"/>
            <a:ext cx="4762500" cy="285750"/>
          </a:xfrm>
          <a:prstGeom prst="rect">
            <a:avLst/>
          </a:prstGeom>
          <a:noFill/>
          <a:ln w="0">
            <a:noFill/>
            <a:prstDash val="solid"/>
          </a:ln>
        </p:spPr>
        <p:txBody>
          <a:bodyPr lIns="0" tIns="0" rIns="0" bIns="0"/>
          <a:lstStyle>
            <a:defPPr>
              <a:defRPr sz="1500" b="1">
                <a:solidFill>
                  <a:srgbClr val="48D4DF"/>
                </a:solidFill>
              </a:defRPr>
            </a:defPPr>
            <a:lvl1pPr>
              <a:defRPr sz="1500" b="1">
                <a:solidFill>
                  <a:srgbClr val="48D4DF"/>
                </a:solidFill>
              </a:defRPr>
            </a:lvl1pPr>
            <a:lvl2pPr>
              <a:defRPr sz="1500" b="1">
                <a:solidFill>
                  <a:srgbClr val="48D4DF"/>
                </a:solidFill>
              </a:defRPr>
            </a:lvl2pPr>
            <a:lvl3pPr>
              <a:defRPr sz="1500" b="1">
                <a:solidFill>
                  <a:srgbClr val="48D4DF"/>
                </a:solidFill>
              </a:defRPr>
            </a:lvl3pPr>
            <a:lvl4pPr>
              <a:defRPr sz="1500" b="1">
                <a:solidFill>
                  <a:srgbClr val="48D4DF"/>
                </a:solidFill>
              </a:defRPr>
            </a:lvl4pPr>
            <a:lvl5pPr>
              <a:defRPr sz="1500" b="1">
                <a:solidFill>
                  <a:srgbClr val="48D4DF"/>
                </a:solidFill>
              </a:defRPr>
            </a:lvl5pPr>
            <a:lvl6pPr>
              <a:defRPr sz="1500" b="1">
                <a:solidFill>
                  <a:srgbClr val="48D4DF"/>
                </a:solidFill>
              </a:defRPr>
            </a:lvl6pPr>
            <a:lvl7pPr>
              <a:defRPr sz="1500" b="1">
                <a:solidFill>
                  <a:srgbClr val="48D4DF"/>
                </a:solidFill>
              </a:defRPr>
            </a:lvl7pPr>
            <a:lvl8pPr>
              <a:defRPr sz="1500" b="1">
                <a:solidFill>
                  <a:srgbClr val="48D4DF"/>
                </a:solidFill>
              </a:defRPr>
            </a:lvl8pPr>
            <a:lvl9pPr>
              <a:defRPr sz="1500" b="1">
                <a:solidFill>
                  <a:srgbClr val="48D4DF"/>
                </a:solidFill>
              </a:defRPr>
            </a:lvl9pPr>
          </a:lstStyle>
          <a:p>
            <a:pPr>
              <a:defRPr sz="1500" b="1">
                <a:solidFill>
                  <a:srgbClr val="48D4DF"/>
                </a:solidFill>
              </a:defRPr>
            </a:pPr>
            <a:r>
              <a:rPr sz="1500" b="1">
                <a:solidFill>
                  <a:srgbClr val="48D4DF"/>
                </a:solidFill>
              </a:rPr>
              <a:t>EXPERIMENT</a:t>
            </a:r>
          </a:p>
        </p:txBody>
      </p:sp>
      <p:sp>
        <p:nvSpPr>
          <p:cNvPr id="7" name="text-175">
            <a:extLst>
              <a:ext uri="{FF2B5EF4-FFF2-40B4-BE49-F238E27FC236}">
                <a16:creationId xmlns:a16="http://schemas.microsoft.com/office/drawing/2014/main" id="{9DD00675-A891-4EC1-A429-906CFA407226}"/>
              </a:ext>
            </a:extLst>
          </p:cNvPr>
          <p:cNvSpPr>
            <a:spLocks noGrp="1"/>
          </p:cNvSpPr>
          <p:nvPr/>
        </p:nvSpPr>
        <p:spPr>
          <a:xfrm>
            <a:off x="6381750" y="1924050"/>
            <a:ext cx="4762500" cy="285750"/>
          </a:xfrm>
          <a:prstGeom prst="rect">
            <a:avLst/>
          </a:prstGeom>
          <a:noFill/>
          <a:ln w="0">
            <a:noFill/>
            <a:prstDash val="solid"/>
          </a:ln>
        </p:spPr>
        <p:txBody>
          <a:bodyPr lIns="0" tIns="0" rIns="0" bIns="0"/>
          <a:lstStyle>
            <a:defPPr>
              <a:defRPr sz="1500" b="1">
                <a:solidFill>
                  <a:srgbClr val="48D4DF"/>
                </a:solidFill>
              </a:defRPr>
            </a:defPPr>
            <a:lvl1pPr>
              <a:defRPr sz="1500" b="1">
                <a:solidFill>
                  <a:srgbClr val="48D4DF"/>
                </a:solidFill>
              </a:defRPr>
            </a:lvl1pPr>
            <a:lvl2pPr>
              <a:defRPr sz="1500" b="1">
                <a:solidFill>
                  <a:srgbClr val="48D4DF"/>
                </a:solidFill>
              </a:defRPr>
            </a:lvl2pPr>
            <a:lvl3pPr>
              <a:defRPr sz="1500" b="1">
                <a:solidFill>
                  <a:srgbClr val="48D4DF"/>
                </a:solidFill>
              </a:defRPr>
            </a:lvl3pPr>
            <a:lvl4pPr>
              <a:defRPr sz="1500" b="1">
                <a:solidFill>
                  <a:srgbClr val="48D4DF"/>
                </a:solidFill>
              </a:defRPr>
            </a:lvl4pPr>
            <a:lvl5pPr>
              <a:defRPr sz="1500" b="1">
                <a:solidFill>
                  <a:srgbClr val="48D4DF"/>
                </a:solidFill>
              </a:defRPr>
            </a:lvl5pPr>
            <a:lvl6pPr>
              <a:defRPr sz="1500" b="1">
                <a:solidFill>
                  <a:srgbClr val="48D4DF"/>
                </a:solidFill>
              </a:defRPr>
            </a:lvl6pPr>
            <a:lvl7pPr>
              <a:defRPr sz="1500" b="1">
                <a:solidFill>
                  <a:srgbClr val="48D4DF"/>
                </a:solidFill>
              </a:defRPr>
            </a:lvl7pPr>
            <a:lvl8pPr>
              <a:defRPr sz="1500" b="1">
                <a:solidFill>
                  <a:srgbClr val="48D4DF"/>
                </a:solidFill>
              </a:defRPr>
            </a:lvl8pPr>
            <a:lvl9pPr>
              <a:defRPr sz="1500" b="1">
                <a:solidFill>
                  <a:srgbClr val="48D4DF"/>
                </a:solidFill>
              </a:defRPr>
            </a:lvl9pPr>
          </a:lstStyle>
          <a:p>
            <a:pPr>
              <a:defRPr sz="1500" b="1">
                <a:solidFill>
                  <a:srgbClr val="48D4DF"/>
                </a:solidFill>
              </a:defRPr>
            </a:pPr>
            <a:r>
              <a:rPr sz="1500" b="1">
                <a:solidFill>
                  <a:srgbClr val="48D4DF"/>
                </a:solidFill>
              </a:rPr>
              <a:t>OBSERVATIONS TO RECORD</a:t>
            </a:r>
          </a:p>
        </p:txBody>
      </p:sp>
      <p:sp>
        <p:nvSpPr>
          <p:cNvPr id="8" name="text-176">
            <a:extLst>
              <a:ext uri="{FF2B5EF4-FFF2-40B4-BE49-F238E27FC236}">
                <a16:creationId xmlns:a16="http://schemas.microsoft.com/office/drawing/2014/main" id="{4E72BC09-E008-4B13-95FB-D801C9312A1B}"/>
              </a:ext>
            </a:extLst>
          </p:cNvPr>
          <p:cNvSpPr>
            <a:spLocks noGrp="1"/>
          </p:cNvSpPr>
          <p:nvPr/>
        </p:nvSpPr>
        <p:spPr>
          <a:xfrm>
            <a:off x="857250" y="2647950"/>
            <a:ext cx="5143500" cy="666750"/>
          </a:xfrm>
          <a:prstGeom prst="rect">
            <a:avLst/>
          </a:prstGeom>
          <a:noFill/>
          <a:ln w="0">
            <a:noFill/>
            <a:prstDash val="solid"/>
          </a:ln>
        </p:spPr>
        <p:txBody>
          <a:bodyPr lIns="0" tIns="0" rIns="0" bIns="0"/>
          <a:lstStyle>
            <a:defPPr>
              <a:defRPr sz="2100" b="1">
                <a:solidFill>
                  <a:srgbClr val="F5FAFF"/>
                </a:solidFill>
              </a:defRPr>
            </a:defPPr>
            <a:lvl1pPr>
              <a:defRPr sz="2100" b="1">
                <a:solidFill>
                  <a:srgbClr val="F5FAFF"/>
                </a:solidFill>
              </a:defRPr>
            </a:lvl1pPr>
            <a:lvl2pPr>
              <a:defRPr sz="2100" b="1">
                <a:solidFill>
                  <a:srgbClr val="F5FAFF"/>
                </a:solidFill>
              </a:defRPr>
            </a:lvl2pPr>
            <a:lvl3pPr>
              <a:defRPr sz="2100" b="1">
                <a:solidFill>
                  <a:srgbClr val="F5FAFF"/>
                </a:solidFill>
              </a:defRPr>
            </a:lvl3pPr>
            <a:lvl4pPr>
              <a:defRPr sz="2100" b="1">
                <a:solidFill>
                  <a:srgbClr val="F5FAFF"/>
                </a:solidFill>
              </a:defRPr>
            </a:lvl4pPr>
            <a:lvl5pPr>
              <a:defRPr sz="2100" b="1">
                <a:solidFill>
                  <a:srgbClr val="F5FAFF"/>
                </a:solidFill>
              </a:defRPr>
            </a:lvl5pPr>
            <a:lvl6pPr>
              <a:defRPr sz="2100" b="1">
                <a:solidFill>
                  <a:srgbClr val="F5FAFF"/>
                </a:solidFill>
              </a:defRPr>
            </a:lvl6pPr>
            <a:lvl7pPr>
              <a:defRPr sz="2100" b="1">
                <a:solidFill>
                  <a:srgbClr val="F5FAFF"/>
                </a:solidFill>
              </a:defRPr>
            </a:lvl7pPr>
            <a:lvl8pPr>
              <a:defRPr sz="2100" b="1">
                <a:solidFill>
                  <a:srgbClr val="F5FAFF"/>
                </a:solidFill>
              </a:defRPr>
            </a:lvl8pPr>
            <a:lvl9pPr>
              <a:defRPr sz="2100" b="1">
                <a:solidFill>
                  <a:srgbClr val="F5FAFF"/>
                </a:solidFill>
              </a:defRPr>
            </a:lvl9pPr>
          </a:lstStyle>
          <a:p>
            <a:pPr>
              <a:defRPr sz="2100" b="1">
                <a:solidFill>
                  <a:srgbClr val="F5FAFF"/>
                </a:solidFill>
              </a:defRPr>
            </a:pPr>
            <a:r>
              <a:rPr sz="2100" b="1">
                <a:solidFill>
                  <a:srgbClr val="F5FAFF"/>
                </a:solidFill>
              </a:rPr>
              <a:t>Surface contact and forward travel</a:t>
            </a:r>
          </a:p>
        </p:txBody>
      </p:sp>
      <p:sp>
        <p:nvSpPr>
          <p:cNvPr id="9" name="text-177">
            <a:extLst>
              <a:ext uri="{FF2B5EF4-FFF2-40B4-BE49-F238E27FC236}">
                <a16:creationId xmlns:a16="http://schemas.microsoft.com/office/drawing/2014/main" id="{5567AC84-D06C-4589-9043-12659CFAA3FF}"/>
              </a:ext>
            </a:extLst>
          </p:cNvPr>
          <p:cNvSpPr>
            <a:spLocks noGrp="1"/>
          </p:cNvSpPr>
          <p:nvPr/>
        </p:nvSpPr>
        <p:spPr>
          <a:xfrm>
            <a:off x="6381750" y="2667000"/>
            <a:ext cx="4572000" cy="619125"/>
          </a:xfrm>
          <a:prstGeom prst="rect">
            <a:avLst/>
          </a:prstGeom>
          <a:noFill/>
          <a:ln w="0">
            <a:noFill/>
            <a:prstDash val="solid"/>
          </a:ln>
        </p:spPr>
        <p:txBody>
          <a:bodyPr lIns="0" tIns="0" rIns="0" bIns="0"/>
          <a:lstStyle>
            <a:defPPr>
              <a:defRPr sz="1875" b="0">
                <a:solidFill>
                  <a:srgbClr val="B9CDDF"/>
                </a:solidFill>
              </a:defRPr>
            </a:defPPr>
            <a:lvl1pPr>
              <a:defRPr sz="1875" b="0">
                <a:solidFill>
                  <a:srgbClr val="B9CDDF"/>
                </a:solidFill>
              </a:defRPr>
            </a:lvl1pPr>
            <a:lvl2pPr>
              <a:defRPr sz="1875" b="0">
                <a:solidFill>
                  <a:srgbClr val="B9CDDF"/>
                </a:solidFill>
              </a:defRPr>
            </a:lvl2pPr>
            <a:lvl3pPr>
              <a:defRPr sz="1875" b="0">
                <a:solidFill>
                  <a:srgbClr val="B9CDDF"/>
                </a:solidFill>
              </a:defRPr>
            </a:lvl3pPr>
            <a:lvl4pPr>
              <a:defRPr sz="1875" b="0">
                <a:solidFill>
                  <a:srgbClr val="B9CDDF"/>
                </a:solidFill>
              </a:defRPr>
            </a:lvl4pPr>
            <a:lvl5pPr>
              <a:defRPr sz="1875" b="0">
                <a:solidFill>
                  <a:srgbClr val="B9CDDF"/>
                </a:solidFill>
              </a:defRPr>
            </a:lvl5pPr>
            <a:lvl6pPr>
              <a:defRPr sz="1875" b="0">
                <a:solidFill>
                  <a:srgbClr val="B9CDDF"/>
                </a:solidFill>
              </a:defRPr>
            </a:lvl6pPr>
            <a:lvl7pPr>
              <a:defRPr sz="1875" b="0">
                <a:solidFill>
                  <a:srgbClr val="B9CDDF"/>
                </a:solidFill>
              </a:defRPr>
            </a:lvl7pPr>
            <a:lvl8pPr>
              <a:defRPr sz="1875" b="0">
                <a:solidFill>
                  <a:srgbClr val="B9CDDF"/>
                </a:solidFill>
              </a:defRPr>
            </a:lvl8pPr>
            <a:lvl9pPr>
              <a:defRPr sz="1875" b="0">
                <a:solidFill>
                  <a:srgbClr val="B9CDDF"/>
                </a:solidFill>
              </a:defRPr>
            </a:lvl9pPr>
          </a:lstStyle>
          <a:p>
            <a:pPr>
              <a:defRPr sz="1875" b="0">
                <a:solidFill>
                  <a:srgbClr val="B9CDDF"/>
                </a:solidFill>
              </a:defRPr>
            </a:pPr>
            <a:r>
              <a:rPr sz="1875" b="0">
                <a:solidFill>
                  <a:srgbClr val="B9CDDF"/>
                </a:solidFill>
              </a:rPr>
              <a:t>Distance, time and lateral slip</a:t>
            </a:r>
          </a:p>
        </p:txBody>
      </p:sp>
      <p:sp>
        <p:nvSpPr>
          <p:cNvPr id="10" name="text-178">
            <a:extLst>
              <a:ext uri="{FF2B5EF4-FFF2-40B4-BE49-F238E27FC236}">
                <a16:creationId xmlns:a16="http://schemas.microsoft.com/office/drawing/2014/main" id="{E02A6AF1-BE7E-4806-9877-300105E8CB0A}"/>
              </a:ext>
            </a:extLst>
          </p:cNvPr>
          <p:cNvSpPr>
            <a:spLocks noGrp="1"/>
          </p:cNvSpPr>
          <p:nvPr/>
        </p:nvSpPr>
        <p:spPr>
          <a:xfrm>
            <a:off x="857250" y="3667125"/>
            <a:ext cx="5143500" cy="666750"/>
          </a:xfrm>
          <a:prstGeom prst="rect">
            <a:avLst/>
          </a:prstGeom>
          <a:noFill/>
          <a:ln w="0">
            <a:noFill/>
            <a:prstDash val="solid"/>
          </a:ln>
        </p:spPr>
        <p:txBody>
          <a:bodyPr lIns="0" tIns="0" rIns="0" bIns="0"/>
          <a:lstStyle>
            <a:defPPr>
              <a:defRPr sz="2100" b="1">
                <a:solidFill>
                  <a:srgbClr val="F5FAFF"/>
                </a:solidFill>
              </a:defRPr>
            </a:defPPr>
            <a:lvl1pPr>
              <a:defRPr sz="2100" b="1">
                <a:solidFill>
                  <a:srgbClr val="F5FAFF"/>
                </a:solidFill>
              </a:defRPr>
            </a:lvl1pPr>
            <a:lvl2pPr>
              <a:defRPr sz="2100" b="1">
                <a:solidFill>
                  <a:srgbClr val="F5FAFF"/>
                </a:solidFill>
              </a:defRPr>
            </a:lvl2pPr>
            <a:lvl3pPr>
              <a:defRPr sz="2100" b="1">
                <a:solidFill>
                  <a:srgbClr val="F5FAFF"/>
                </a:solidFill>
              </a:defRPr>
            </a:lvl3pPr>
            <a:lvl4pPr>
              <a:defRPr sz="2100" b="1">
                <a:solidFill>
                  <a:srgbClr val="F5FAFF"/>
                </a:solidFill>
              </a:defRPr>
            </a:lvl4pPr>
            <a:lvl5pPr>
              <a:defRPr sz="2100" b="1">
                <a:solidFill>
                  <a:srgbClr val="F5FAFF"/>
                </a:solidFill>
              </a:defRPr>
            </a:lvl5pPr>
            <a:lvl6pPr>
              <a:defRPr sz="2100" b="1">
                <a:solidFill>
                  <a:srgbClr val="F5FAFF"/>
                </a:solidFill>
              </a:defRPr>
            </a:lvl6pPr>
            <a:lvl7pPr>
              <a:defRPr sz="2100" b="1">
                <a:solidFill>
                  <a:srgbClr val="F5FAFF"/>
                </a:solidFill>
              </a:defRPr>
            </a:lvl7pPr>
            <a:lvl8pPr>
              <a:defRPr sz="2100" b="1">
                <a:solidFill>
                  <a:srgbClr val="F5FAFF"/>
                </a:solidFill>
              </a:defRPr>
            </a:lvl8pPr>
            <a:lvl9pPr>
              <a:defRPr sz="2100" b="1">
                <a:solidFill>
                  <a:srgbClr val="F5FAFF"/>
                </a:solidFill>
              </a:defRPr>
            </a:lvl9pPr>
          </a:lstStyle>
          <a:p>
            <a:pPr>
              <a:defRPr sz="2100" b="1">
                <a:solidFill>
                  <a:srgbClr val="F5FAFF"/>
                </a:solidFill>
              </a:defRPr>
            </a:pPr>
            <a:r>
              <a:rPr sz="2100" b="1">
                <a:solidFill>
                  <a:srgbClr val="F5FAFF"/>
                </a:solidFill>
              </a:rPr>
              <a:t>Steering and stop response</a:t>
            </a:r>
          </a:p>
        </p:txBody>
      </p:sp>
      <p:sp>
        <p:nvSpPr>
          <p:cNvPr id="11" name="text-179">
            <a:extLst>
              <a:ext uri="{FF2B5EF4-FFF2-40B4-BE49-F238E27FC236}">
                <a16:creationId xmlns:a16="http://schemas.microsoft.com/office/drawing/2014/main" id="{87637B22-55E2-4D4A-921F-B209CF94761B}"/>
              </a:ext>
            </a:extLst>
          </p:cNvPr>
          <p:cNvSpPr>
            <a:spLocks noGrp="1"/>
          </p:cNvSpPr>
          <p:nvPr/>
        </p:nvSpPr>
        <p:spPr>
          <a:xfrm>
            <a:off x="6381750" y="3686175"/>
            <a:ext cx="4572000" cy="619125"/>
          </a:xfrm>
          <a:prstGeom prst="rect">
            <a:avLst/>
          </a:prstGeom>
          <a:noFill/>
          <a:ln w="0">
            <a:noFill/>
            <a:prstDash val="solid"/>
          </a:ln>
        </p:spPr>
        <p:txBody>
          <a:bodyPr lIns="0" tIns="0" rIns="0" bIns="0"/>
          <a:lstStyle>
            <a:defPPr>
              <a:defRPr sz="1875" b="0">
                <a:solidFill>
                  <a:srgbClr val="B9CDDF"/>
                </a:solidFill>
              </a:defRPr>
            </a:defPPr>
            <a:lvl1pPr>
              <a:defRPr sz="1875" b="0">
                <a:solidFill>
                  <a:srgbClr val="B9CDDF"/>
                </a:solidFill>
              </a:defRPr>
            </a:lvl1pPr>
            <a:lvl2pPr>
              <a:defRPr sz="1875" b="0">
                <a:solidFill>
                  <a:srgbClr val="B9CDDF"/>
                </a:solidFill>
              </a:defRPr>
            </a:lvl2pPr>
            <a:lvl3pPr>
              <a:defRPr sz="1875" b="0">
                <a:solidFill>
                  <a:srgbClr val="B9CDDF"/>
                </a:solidFill>
              </a:defRPr>
            </a:lvl3pPr>
            <a:lvl4pPr>
              <a:defRPr sz="1875" b="0">
                <a:solidFill>
                  <a:srgbClr val="B9CDDF"/>
                </a:solidFill>
              </a:defRPr>
            </a:lvl4pPr>
            <a:lvl5pPr>
              <a:defRPr sz="1875" b="0">
                <a:solidFill>
                  <a:srgbClr val="B9CDDF"/>
                </a:solidFill>
              </a:defRPr>
            </a:lvl5pPr>
            <a:lvl6pPr>
              <a:defRPr sz="1875" b="0">
                <a:solidFill>
                  <a:srgbClr val="B9CDDF"/>
                </a:solidFill>
              </a:defRPr>
            </a:lvl6pPr>
            <a:lvl7pPr>
              <a:defRPr sz="1875" b="0">
                <a:solidFill>
                  <a:srgbClr val="B9CDDF"/>
                </a:solidFill>
              </a:defRPr>
            </a:lvl7pPr>
            <a:lvl8pPr>
              <a:defRPr sz="1875" b="0">
                <a:solidFill>
                  <a:srgbClr val="B9CDDF"/>
                </a:solidFill>
              </a:defRPr>
            </a:lvl8pPr>
            <a:lvl9pPr>
              <a:defRPr sz="1875" b="0">
                <a:solidFill>
                  <a:srgbClr val="B9CDDF"/>
                </a:solidFill>
              </a:defRPr>
            </a:lvl9pPr>
          </a:lstStyle>
          <a:p>
            <a:pPr>
              <a:defRPr sz="1875" b="0">
                <a:solidFill>
                  <a:srgbClr val="B9CDDF"/>
                </a:solidFill>
              </a:defRPr>
            </a:pPr>
            <a:r>
              <a:rPr sz="1875" b="0">
                <a:solidFill>
                  <a:srgbClr val="B9CDDF"/>
                </a:solidFill>
              </a:rPr>
              <a:t>Turn response and stop delay</a:t>
            </a:r>
          </a:p>
        </p:txBody>
      </p:sp>
      <p:sp>
        <p:nvSpPr>
          <p:cNvPr id="12" name="text-180">
            <a:extLst>
              <a:ext uri="{FF2B5EF4-FFF2-40B4-BE49-F238E27FC236}">
                <a16:creationId xmlns:a16="http://schemas.microsoft.com/office/drawing/2014/main" id="{DF2B1492-C4D0-4DD3-9A64-0987AA89352D}"/>
              </a:ext>
            </a:extLst>
          </p:cNvPr>
          <p:cNvSpPr>
            <a:spLocks noGrp="1"/>
          </p:cNvSpPr>
          <p:nvPr/>
        </p:nvSpPr>
        <p:spPr>
          <a:xfrm>
            <a:off x="857250" y="4686300"/>
            <a:ext cx="5143500" cy="666750"/>
          </a:xfrm>
          <a:prstGeom prst="rect">
            <a:avLst/>
          </a:prstGeom>
          <a:noFill/>
          <a:ln w="0">
            <a:noFill/>
            <a:prstDash val="solid"/>
          </a:ln>
        </p:spPr>
        <p:txBody>
          <a:bodyPr lIns="0" tIns="0" rIns="0" bIns="0"/>
          <a:lstStyle>
            <a:defPPr>
              <a:defRPr sz="2100" b="1">
                <a:solidFill>
                  <a:srgbClr val="F5FAFF"/>
                </a:solidFill>
              </a:defRPr>
            </a:defPPr>
            <a:lvl1pPr>
              <a:defRPr sz="2100" b="1">
                <a:solidFill>
                  <a:srgbClr val="F5FAFF"/>
                </a:solidFill>
              </a:defRPr>
            </a:lvl1pPr>
            <a:lvl2pPr>
              <a:defRPr sz="2100" b="1">
                <a:solidFill>
                  <a:srgbClr val="F5FAFF"/>
                </a:solidFill>
              </a:defRPr>
            </a:lvl2pPr>
            <a:lvl3pPr>
              <a:defRPr sz="2100" b="1">
                <a:solidFill>
                  <a:srgbClr val="F5FAFF"/>
                </a:solidFill>
              </a:defRPr>
            </a:lvl3pPr>
            <a:lvl4pPr>
              <a:defRPr sz="2100" b="1">
                <a:solidFill>
                  <a:srgbClr val="F5FAFF"/>
                </a:solidFill>
              </a:defRPr>
            </a:lvl4pPr>
            <a:lvl5pPr>
              <a:defRPr sz="2100" b="1">
                <a:solidFill>
                  <a:srgbClr val="F5FAFF"/>
                </a:solidFill>
              </a:defRPr>
            </a:lvl5pPr>
            <a:lvl6pPr>
              <a:defRPr sz="2100" b="1">
                <a:solidFill>
                  <a:srgbClr val="F5FAFF"/>
                </a:solidFill>
              </a:defRPr>
            </a:lvl6pPr>
            <a:lvl7pPr>
              <a:defRPr sz="2100" b="1">
                <a:solidFill>
                  <a:srgbClr val="F5FAFF"/>
                </a:solidFill>
              </a:defRPr>
            </a:lvl7pPr>
            <a:lvl8pPr>
              <a:defRPr sz="2100" b="1">
                <a:solidFill>
                  <a:srgbClr val="F5FAFF"/>
                </a:solidFill>
              </a:defRPr>
            </a:lvl8pPr>
            <a:lvl9pPr>
              <a:defRPr sz="2100" b="1">
                <a:solidFill>
                  <a:srgbClr val="F5FAFF"/>
                </a:solidFill>
              </a:defRPr>
            </a:lvl9pPr>
          </a:lstStyle>
          <a:p>
            <a:pPr>
              <a:defRPr sz="2100" b="1">
                <a:solidFill>
                  <a:srgbClr val="F5FAFF"/>
                </a:solidFill>
              </a:defRPr>
            </a:pPr>
            <a:r>
              <a:rPr sz="2100" b="1">
                <a:solidFill>
                  <a:srgbClr val="F5FAFF"/>
                </a:solidFill>
              </a:rPr>
              <a:t>Pitch joints and body support</a:t>
            </a:r>
          </a:p>
        </p:txBody>
      </p:sp>
      <p:sp>
        <p:nvSpPr>
          <p:cNvPr id="13" name="text-181">
            <a:extLst>
              <a:ext uri="{FF2B5EF4-FFF2-40B4-BE49-F238E27FC236}">
                <a16:creationId xmlns:a16="http://schemas.microsoft.com/office/drawing/2014/main" id="{AEC55660-C4FD-4374-BC48-945A4EBE34C4}"/>
              </a:ext>
            </a:extLst>
          </p:cNvPr>
          <p:cNvSpPr>
            <a:spLocks noGrp="1"/>
          </p:cNvSpPr>
          <p:nvPr/>
        </p:nvSpPr>
        <p:spPr>
          <a:xfrm>
            <a:off x="6381750" y="4705350"/>
            <a:ext cx="4572000" cy="619125"/>
          </a:xfrm>
          <a:prstGeom prst="rect">
            <a:avLst/>
          </a:prstGeom>
          <a:noFill/>
          <a:ln w="0">
            <a:noFill/>
            <a:prstDash val="solid"/>
          </a:ln>
        </p:spPr>
        <p:txBody>
          <a:bodyPr lIns="0" tIns="0" rIns="0" bIns="0"/>
          <a:lstStyle>
            <a:defPPr>
              <a:defRPr sz="1875" b="0">
                <a:solidFill>
                  <a:srgbClr val="B9CDDF"/>
                </a:solidFill>
              </a:defRPr>
            </a:defPPr>
            <a:lvl1pPr>
              <a:defRPr sz="1875" b="0">
                <a:solidFill>
                  <a:srgbClr val="B9CDDF"/>
                </a:solidFill>
              </a:defRPr>
            </a:lvl1pPr>
            <a:lvl2pPr>
              <a:defRPr sz="1875" b="0">
                <a:solidFill>
                  <a:srgbClr val="B9CDDF"/>
                </a:solidFill>
              </a:defRPr>
            </a:lvl2pPr>
            <a:lvl3pPr>
              <a:defRPr sz="1875" b="0">
                <a:solidFill>
                  <a:srgbClr val="B9CDDF"/>
                </a:solidFill>
              </a:defRPr>
            </a:lvl3pPr>
            <a:lvl4pPr>
              <a:defRPr sz="1875" b="0">
                <a:solidFill>
                  <a:srgbClr val="B9CDDF"/>
                </a:solidFill>
              </a:defRPr>
            </a:lvl4pPr>
            <a:lvl5pPr>
              <a:defRPr sz="1875" b="0">
                <a:solidFill>
                  <a:srgbClr val="B9CDDF"/>
                </a:solidFill>
              </a:defRPr>
            </a:lvl5pPr>
            <a:lvl6pPr>
              <a:defRPr sz="1875" b="0">
                <a:solidFill>
                  <a:srgbClr val="B9CDDF"/>
                </a:solidFill>
              </a:defRPr>
            </a:lvl6pPr>
            <a:lvl7pPr>
              <a:defRPr sz="1875" b="0">
                <a:solidFill>
                  <a:srgbClr val="B9CDDF"/>
                </a:solidFill>
              </a:defRPr>
            </a:lvl7pPr>
            <a:lvl8pPr>
              <a:defRPr sz="1875" b="0">
                <a:solidFill>
                  <a:srgbClr val="B9CDDF"/>
                </a:solidFill>
              </a:defRPr>
            </a:lvl8pPr>
            <a:lvl9pPr>
              <a:defRPr sz="1875" b="0">
                <a:solidFill>
                  <a:srgbClr val="B9CDDF"/>
                </a:solidFill>
              </a:defRPr>
            </a:lvl9pPr>
          </a:lstStyle>
          <a:p>
            <a:pPr>
              <a:defRPr sz="1875" b="0">
                <a:solidFill>
                  <a:srgbClr val="B9CDDF"/>
                </a:solidFill>
              </a:defRPr>
            </a:pPr>
            <a:r>
              <a:rPr sz="1875" b="0">
                <a:solidFill>
                  <a:srgbClr val="B9CDDF"/>
                </a:solidFill>
              </a:rPr>
              <a:t>Clearance, contact and current</a:t>
            </a:r>
          </a:p>
        </p:txBody>
      </p:sp>
      <p:sp>
        <p:nvSpPr>
          <p:cNvPr id="14" name="text-182">
            <a:extLst>
              <a:ext uri="{FF2B5EF4-FFF2-40B4-BE49-F238E27FC236}">
                <a16:creationId xmlns:a16="http://schemas.microsoft.com/office/drawing/2014/main" id="{43A285F4-4791-47C4-B03A-4AC4A0FBD896}"/>
              </a:ext>
            </a:extLst>
          </p:cNvPr>
          <p:cNvSpPr>
            <a:spLocks noGrp="1"/>
          </p:cNvSpPr>
          <p:nvPr/>
        </p:nvSpPr>
        <p:spPr>
          <a:xfrm>
            <a:off x="666750" y="5953125"/>
            <a:ext cx="10858500" cy="342900"/>
          </a:xfrm>
          <a:prstGeom prst="rect">
            <a:avLst/>
          </a:prstGeom>
          <a:noFill/>
          <a:ln w="0">
            <a:noFill/>
            <a:prstDash val="solid"/>
          </a:ln>
        </p:spPr>
        <p:txBody>
          <a:bodyPr lIns="0" tIns="0" rIns="0" bIns="0"/>
          <a:lstStyle>
            <a:defPPr>
              <a:defRPr sz="1350" b="0">
                <a:solidFill>
                  <a:srgbClr val="B9CDDF"/>
                </a:solidFill>
              </a:defRPr>
            </a:defPPr>
            <a:lvl1pPr>
              <a:defRPr sz="1350" b="0">
                <a:solidFill>
                  <a:srgbClr val="B9CDDF"/>
                </a:solidFill>
              </a:defRPr>
            </a:lvl1pPr>
            <a:lvl2pPr>
              <a:defRPr sz="1350" b="0">
                <a:solidFill>
                  <a:srgbClr val="B9CDDF"/>
                </a:solidFill>
              </a:defRPr>
            </a:lvl2pPr>
            <a:lvl3pPr>
              <a:defRPr sz="1350" b="0">
                <a:solidFill>
                  <a:srgbClr val="B9CDDF"/>
                </a:solidFill>
              </a:defRPr>
            </a:lvl3pPr>
            <a:lvl4pPr>
              <a:defRPr sz="1350" b="0">
                <a:solidFill>
                  <a:srgbClr val="B9CDDF"/>
                </a:solidFill>
              </a:defRPr>
            </a:lvl4pPr>
            <a:lvl5pPr>
              <a:defRPr sz="1350" b="0">
                <a:solidFill>
                  <a:srgbClr val="B9CDDF"/>
                </a:solidFill>
              </a:defRPr>
            </a:lvl5pPr>
            <a:lvl6pPr>
              <a:defRPr sz="1350" b="0">
                <a:solidFill>
                  <a:srgbClr val="B9CDDF"/>
                </a:solidFill>
              </a:defRPr>
            </a:lvl6pPr>
            <a:lvl7pPr>
              <a:defRPr sz="1350" b="0">
                <a:solidFill>
                  <a:srgbClr val="B9CDDF"/>
                </a:solidFill>
              </a:defRPr>
            </a:lvl7pPr>
            <a:lvl8pPr>
              <a:defRPr sz="1350" b="0">
                <a:solidFill>
                  <a:srgbClr val="B9CDDF"/>
                </a:solidFill>
              </a:defRPr>
            </a:lvl8pPr>
            <a:lvl9pPr>
              <a:defRPr sz="1350" b="0">
                <a:solidFill>
                  <a:srgbClr val="B9CDDF"/>
                </a:solidFill>
              </a:defRPr>
            </a:lvl9pPr>
          </a:lstStyle>
          <a:p>
            <a:pPr>
              <a:defRPr sz="1350" b="0">
                <a:solidFill>
                  <a:srgbClr val="B9CDDF"/>
                </a:solidFill>
              </a:defRPr>
            </a:pPr>
            <a:r>
              <a:rPr sz="1350" b="0">
                <a:solidFill>
                  <a:srgbClr val="B9CDDF"/>
                </a:solidFill>
              </a:rPr>
              <a:t>Use a recorded controller configuration and test surface. Enter values only after measurement.</a:t>
            </a:r>
          </a:p>
        </p:txBody>
      </p:sp>
    </p:spTree>
    <p:extLst>
      <p:ext uri="{BB962C8B-B14F-4D97-AF65-F5344CB8AC3E}">
        <p14:creationId xmlns:p14="http://schemas.microsoft.com/office/powerpoint/2010/main" val="186969021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11B31"/>
            </a:gs>
            <a:gs pos="100000">
              <a:srgbClr val="175566"/>
            </a:gs>
          </a:gsLst>
          <a:lin ang="5400000" scaled="1"/>
          <a:tileRect/>
        </a:gradFill>
        <a:effectLst/>
      </p:bgPr>
    </p:bg>
    <p:spTree>
      <p:nvGrpSpPr>
        <p:cNvPr id="1" name=""/>
        <p:cNvGrpSpPr/>
        <p:nvPr/>
      </p:nvGrpSpPr>
      <p:grpSpPr>
        <a:xfrm>
          <a:off x="0" y="0"/>
          <a:ext cx="0" cy="0"/>
          <a:chOff x="0" y="0"/>
          <a:chExt cx="0" cy="0"/>
        </a:xfrm>
      </p:grpSpPr>
      <p:sp>
        <p:nvSpPr>
          <p:cNvPr id="23" name="text-183">
            <a:extLst>
              <a:ext uri="{FF2B5EF4-FFF2-40B4-BE49-F238E27FC236}">
                <a16:creationId xmlns:a16="http://schemas.microsoft.com/office/drawing/2014/main" id="{BD189DA4-85DD-4DA6-80F2-DB1A5FCA0586}"/>
              </a:ext>
            </a:extLst>
          </p:cNvPr>
          <p:cNvSpPr>
            <a:spLocks noGrp="1"/>
          </p:cNvSpPr>
          <p:nvPr/>
        </p:nvSpPr>
        <p:spPr>
          <a:xfrm>
            <a:off x="609600" y="323850"/>
            <a:ext cx="8572500" cy="228600"/>
          </a:xfrm>
          <a:prstGeom prst="rect">
            <a:avLst/>
          </a:prstGeom>
          <a:noFill/>
          <a:ln w="0">
            <a:noFill/>
            <a:prstDash val="solid"/>
          </a:ln>
        </p:spPr>
        <p:txBody>
          <a:bodyPr lIns="0" tIns="0" rIns="0" bIns="0"/>
          <a:lstStyle>
            <a:defPPr>
              <a:defRPr sz="1200" b="1">
                <a:solidFill>
                  <a:srgbClr val="48D4DF"/>
                </a:solidFill>
              </a:defRPr>
            </a:defPPr>
            <a:lvl1pPr>
              <a:defRPr sz="1200" b="1">
                <a:solidFill>
                  <a:srgbClr val="48D4DF"/>
                </a:solidFill>
              </a:defRPr>
            </a:lvl1pPr>
            <a:lvl2pPr>
              <a:defRPr sz="1200" b="1">
                <a:solidFill>
                  <a:srgbClr val="48D4DF"/>
                </a:solidFill>
              </a:defRPr>
            </a:lvl2pPr>
            <a:lvl3pPr>
              <a:defRPr sz="1200" b="1">
                <a:solidFill>
                  <a:srgbClr val="48D4DF"/>
                </a:solidFill>
              </a:defRPr>
            </a:lvl3pPr>
            <a:lvl4pPr>
              <a:defRPr sz="1200" b="1">
                <a:solidFill>
                  <a:srgbClr val="48D4DF"/>
                </a:solidFill>
              </a:defRPr>
            </a:lvl4pPr>
            <a:lvl5pPr>
              <a:defRPr sz="1200" b="1">
                <a:solidFill>
                  <a:srgbClr val="48D4DF"/>
                </a:solidFill>
              </a:defRPr>
            </a:lvl5pPr>
            <a:lvl6pPr>
              <a:defRPr sz="1200" b="1">
                <a:solidFill>
                  <a:srgbClr val="48D4DF"/>
                </a:solidFill>
              </a:defRPr>
            </a:lvl6pPr>
            <a:lvl7pPr>
              <a:defRPr sz="1200" b="1">
                <a:solidFill>
                  <a:srgbClr val="48D4DF"/>
                </a:solidFill>
              </a:defRPr>
            </a:lvl7pPr>
            <a:lvl8pPr>
              <a:defRPr sz="1200" b="1">
                <a:solidFill>
                  <a:srgbClr val="48D4DF"/>
                </a:solidFill>
              </a:defRPr>
            </a:lvl8pPr>
            <a:lvl9pPr>
              <a:defRPr sz="1200" b="1">
                <a:solidFill>
                  <a:srgbClr val="48D4DF"/>
                </a:solidFill>
              </a:defRPr>
            </a:lvl9pPr>
          </a:lstStyle>
          <a:p>
            <a:pPr>
              <a:defRPr sz="1200" b="1">
                <a:solidFill>
                  <a:srgbClr val="48D4DF"/>
                </a:solidFill>
              </a:defRPr>
            </a:pPr>
            <a:r>
              <a:rPr sz="1200" b="1">
                <a:solidFill>
                  <a:srgbClr val="48D4DF"/>
                </a:solidFill>
              </a:rPr>
              <a:t>SURGE 090  /  DEVELOPMENT UPDATE</a:t>
            </a:r>
          </a:p>
        </p:txBody>
      </p:sp>
      <p:sp>
        <p:nvSpPr>
          <p:cNvPr id="2" name="text-184">
            <a:extLst>
              <a:ext uri="{FF2B5EF4-FFF2-40B4-BE49-F238E27FC236}">
                <a16:creationId xmlns:a16="http://schemas.microsoft.com/office/drawing/2014/main" id="{7BD9B83E-7C99-41CC-96A5-DB9741489E20}"/>
              </a:ext>
            </a:extLst>
          </p:cNvPr>
          <p:cNvSpPr>
            <a:spLocks noGrp="1"/>
          </p:cNvSpPr>
          <p:nvPr/>
        </p:nvSpPr>
        <p:spPr>
          <a:xfrm>
            <a:off x="609600" y="742950"/>
            <a:ext cx="10953750" cy="914400"/>
          </a:xfrm>
          <a:prstGeom prst="rect">
            <a:avLst/>
          </a:prstGeom>
          <a:noFill/>
          <a:ln w="0">
            <a:noFill/>
            <a:prstDash val="solid"/>
          </a:ln>
        </p:spPr>
        <p:txBody>
          <a:bodyPr lIns="0" tIns="0" rIns="0" bIns="0"/>
          <a:lstStyle>
            <a:defPPr>
              <a:defRPr sz="3000" b="1">
                <a:solidFill>
                  <a:srgbClr val="F5FAFF"/>
                </a:solidFill>
              </a:defRPr>
            </a:defPPr>
            <a:lvl1pPr>
              <a:defRPr sz="3000" b="1">
                <a:solidFill>
                  <a:srgbClr val="F5FAFF"/>
                </a:solidFill>
              </a:defRPr>
            </a:lvl1pPr>
            <a:lvl2pPr>
              <a:defRPr sz="3000" b="1">
                <a:solidFill>
                  <a:srgbClr val="F5FAFF"/>
                </a:solidFill>
              </a:defRPr>
            </a:lvl2pPr>
            <a:lvl3pPr>
              <a:defRPr sz="3000" b="1">
                <a:solidFill>
                  <a:srgbClr val="F5FAFF"/>
                </a:solidFill>
              </a:defRPr>
            </a:lvl3pPr>
            <a:lvl4pPr>
              <a:defRPr sz="3000" b="1">
                <a:solidFill>
                  <a:srgbClr val="F5FAFF"/>
                </a:solidFill>
              </a:defRPr>
            </a:lvl4pPr>
            <a:lvl5pPr>
              <a:defRPr sz="3000" b="1">
                <a:solidFill>
                  <a:srgbClr val="F5FAFF"/>
                </a:solidFill>
              </a:defRPr>
            </a:lvl5pPr>
            <a:lvl6pPr>
              <a:defRPr sz="3000" b="1">
                <a:solidFill>
                  <a:srgbClr val="F5FAFF"/>
                </a:solidFill>
              </a:defRPr>
            </a:lvl6pPr>
            <a:lvl7pPr>
              <a:defRPr sz="3000" b="1">
                <a:solidFill>
                  <a:srgbClr val="F5FAFF"/>
                </a:solidFill>
              </a:defRPr>
            </a:lvl7pPr>
            <a:lvl8pPr>
              <a:defRPr sz="3000" b="1">
                <a:solidFill>
                  <a:srgbClr val="F5FAFF"/>
                </a:solidFill>
              </a:defRPr>
            </a:lvl8pPr>
            <a:lvl9pPr>
              <a:defRPr sz="3000" b="1">
                <a:solidFill>
                  <a:srgbClr val="F5FAFF"/>
                </a:solidFill>
              </a:defRPr>
            </a:lvl9pPr>
          </a:lstStyle>
          <a:p>
            <a:pPr>
              <a:defRPr sz="3000" b="1">
                <a:solidFill>
                  <a:srgbClr val="F5FAFF"/>
                </a:solidFill>
              </a:defRPr>
            </a:pPr>
            <a:r>
              <a:rPr sz="3000" b="1">
                <a:solidFill>
                  <a:srgbClr val="F5FAFF"/>
                </a:solidFill>
              </a:rPr>
              <a:t>From the planar robot to Gen 3 trials</a:t>
            </a:r>
          </a:p>
        </p:txBody>
      </p:sp>
      <p:sp>
        <p:nvSpPr>
          <p:cNvPr id="3" name="text-185">
            <a:extLst>
              <a:ext uri="{FF2B5EF4-FFF2-40B4-BE49-F238E27FC236}">
                <a16:creationId xmlns:a16="http://schemas.microsoft.com/office/drawing/2014/main" id="{8BA76D87-6E99-4B4F-AC2E-55EA7E3C6905}"/>
              </a:ext>
            </a:extLst>
          </p:cNvPr>
          <p:cNvSpPr>
            <a:spLocks noGrp="1"/>
          </p:cNvSpPr>
          <p:nvPr/>
        </p:nvSpPr>
        <p:spPr>
          <a:xfrm>
            <a:off x="609600" y="6429375"/>
            <a:ext cx="7620000" cy="209550"/>
          </a:xfrm>
          <a:prstGeom prst="rect">
            <a:avLst/>
          </a:prstGeom>
          <a:noFill/>
          <a:ln w="0">
            <a:noFill/>
            <a:prstDash val="solid"/>
          </a:ln>
        </p:spPr>
        <p:txBody>
          <a:bodyPr lIns="0" tIns="0" rIns="0" bIns="0"/>
          <a:lstStyle>
            <a:defPPr>
              <a:defRPr sz="1200" b="0">
                <a:solidFill>
                  <a:srgbClr val="B9CDDF"/>
                </a:solidFill>
              </a:defRPr>
            </a:defPPr>
            <a:lvl1pPr>
              <a:defRPr sz="1200" b="0">
                <a:solidFill>
                  <a:srgbClr val="B9CDDF"/>
                </a:solidFill>
              </a:defRPr>
            </a:lvl1pPr>
            <a:lvl2pPr>
              <a:defRPr sz="1200" b="0">
                <a:solidFill>
                  <a:srgbClr val="B9CDDF"/>
                </a:solidFill>
              </a:defRPr>
            </a:lvl2pPr>
            <a:lvl3pPr>
              <a:defRPr sz="1200" b="0">
                <a:solidFill>
                  <a:srgbClr val="B9CDDF"/>
                </a:solidFill>
              </a:defRPr>
            </a:lvl3pPr>
            <a:lvl4pPr>
              <a:defRPr sz="1200" b="0">
                <a:solidFill>
                  <a:srgbClr val="B9CDDF"/>
                </a:solidFill>
              </a:defRPr>
            </a:lvl4pPr>
            <a:lvl5pPr>
              <a:defRPr sz="1200" b="0">
                <a:solidFill>
                  <a:srgbClr val="B9CDDF"/>
                </a:solidFill>
              </a:defRPr>
            </a:lvl5pPr>
            <a:lvl6pPr>
              <a:defRPr sz="1200" b="0">
                <a:solidFill>
                  <a:srgbClr val="B9CDDF"/>
                </a:solidFill>
              </a:defRPr>
            </a:lvl6pPr>
            <a:lvl7pPr>
              <a:defRPr sz="1200" b="0">
                <a:solidFill>
                  <a:srgbClr val="B9CDDF"/>
                </a:solidFill>
              </a:defRPr>
            </a:lvl7pPr>
            <a:lvl8pPr>
              <a:defRPr sz="1200" b="0">
                <a:solidFill>
                  <a:srgbClr val="B9CDDF"/>
                </a:solidFill>
              </a:defRPr>
            </a:lvl8pPr>
            <a:lvl9pPr>
              <a:defRPr sz="1200" b="0">
                <a:solidFill>
                  <a:srgbClr val="B9CDDF"/>
                </a:solidFill>
              </a:defRPr>
            </a:lvl9pPr>
          </a:lstStyle>
          <a:p>
            <a:pPr>
              <a:defRPr sz="1200" b="0">
                <a:solidFill>
                  <a:srgbClr val="B9CDDF"/>
                </a:solidFill>
              </a:defRPr>
            </a:pPr>
            <a:r>
              <a:rPr sz="1200" b="0">
                <a:solidFill>
                  <a:srgbClr val="B9CDDF"/>
                </a:solidFill>
              </a:rPr>
              <a:t>IIT Delhi  ·  SURGE 2026</a:t>
            </a:r>
          </a:p>
        </p:txBody>
      </p:sp>
      <p:sp>
        <p:nvSpPr>
          <p:cNvPr id="4" name="text-186">
            <a:extLst>
              <a:ext uri="{FF2B5EF4-FFF2-40B4-BE49-F238E27FC236}">
                <a16:creationId xmlns:a16="http://schemas.microsoft.com/office/drawing/2014/main" id="{00CB9692-FF2D-4551-9DCC-3CDE4189475A}"/>
              </a:ext>
            </a:extLst>
          </p:cNvPr>
          <p:cNvSpPr>
            <a:spLocks noGrp="1"/>
          </p:cNvSpPr>
          <p:nvPr/>
        </p:nvSpPr>
        <p:spPr>
          <a:xfrm>
            <a:off x="11144250" y="6429375"/>
            <a:ext cx="428625" cy="209550"/>
          </a:xfrm>
          <a:prstGeom prst="rect">
            <a:avLst/>
          </a:prstGeom>
          <a:noFill/>
          <a:ln w="0">
            <a:noFill/>
            <a:prstDash val="solid"/>
          </a:ln>
        </p:spPr>
        <p:txBody>
          <a:bodyPr lIns="0" tIns="0" rIns="0" bIns="0"/>
          <a:lstStyle>
            <a:defPPr>
              <a:defRPr sz="1275" b="1">
                <a:solidFill>
                  <a:srgbClr val="48D4DF"/>
                </a:solidFill>
              </a:defRPr>
            </a:defPPr>
            <a:lvl1pPr>
              <a:defRPr sz="1275" b="1">
                <a:solidFill>
                  <a:srgbClr val="48D4DF"/>
                </a:solidFill>
              </a:defRPr>
            </a:lvl1pPr>
            <a:lvl2pPr>
              <a:defRPr sz="1275" b="1">
                <a:solidFill>
                  <a:srgbClr val="48D4DF"/>
                </a:solidFill>
              </a:defRPr>
            </a:lvl2pPr>
            <a:lvl3pPr>
              <a:defRPr sz="1275" b="1">
                <a:solidFill>
                  <a:srgbClr val="48D4DF"/>
                </a:solidFill>
              </a:defRPr>
            </a:lvl3pPr>
            <a:lvl4pPr>
              <a:defRPr sz="1275" b="1">
                <a:solidFill>
                  <a:srgbClr val="48D4DF"/>
                </a:solidFill>
              </a:defRPr>
            </a:lvl4pPr>
            <a:lvl5pPr>
              <a:defRPr sz="1275" b="1">
                <a:solidFill>
                  <a:srgbClr val="48D4DF"/>
                </a:solidFill>
              </a:defRPr>
            </a:lvl5pPr>
            <a:lvl6pPr>
              <a:defRPr sz="1275" b="1">
                <a:solidFill>
                  <a:srgbClr val="48D4DF"/>
                </a:solidFill>
              </a:defRPr>
            </a:lvl6pPr>
            <a:lvl7pPr>
              <a:defRPr sz="1275" b="1">
                <a:solidFill>
                  <a:srgbClr val="48D4DF"/>
                </a:solidFill>
              </a:defRPr>
            </a:lvl7pPr>
            <a:lvl8pPr>
              <a:defRPr sz="1275" b="1">
                <a:solidFill>
                  <a:srgbClr val="48D4DF"/>
                </a:solidFill>
              </a:defRPr>
            </a:lvl8pPr>
            <a:lvl9pPr>
              <a:defRPr sz="1275" b="1">
                <a:solidFill>
                  <a:srgbClr val="48D4DF"/>
                </a:solidFill>
              </a:defRPr>
            </a:lvl9pPr>
          </a:lstStyle>
          <a:p>
            <a:pPr>
              <a:defRPr sz="1275" b="1">
                <a:solidFill>
                  <a:srgbClr val="48D4DF"/>
                </a:solidFill>
              </a:defRPr>
            </a:pPr>
            <a:r>
              <a:rPr sz="1275" b="1">
                <a:solidFill>
                  <a:srgbClr val="48D4DF"/>
                </a:solidFill>
              </a:rPr>
              <a:t>29</a:t>
            </a:r>
          </a:p>
        </p:txBody>
      </p:sp>
      <p:sp>
        <p:nvSpPr>
          <p:cNvPr id="5" name="glass-187">
            <a:extLst>
              <a:ext uri="{FF2B5EF4-FFF2-40B4-BE49-F238E27FC236}">
                <a16:creationId xmlns:a16="http://schemas.microsoft.com/office/drawing/2014/main" id="{6A858C7C-42CF-4EF6-89E7-FA408617C55A}"/>
              </a:ext>
            </a:extLst>
          </p:cNvPr>
          <p:cNvSpPr>
            <a:spLocks noGrp="1"/>
          </p:cNvSpPr>
          <p:nvPr/>
        </p:nvSpPr>
        <p:spPr>
          <a:xfrm>
            <a:off x="609600" y="2047875"/>
            <a:ext cx="10972800" cy="3048000"/>
          </a:xfrm>
          <a:prstGeom prst="roundRect">
            <a:avLst>
              <a:gd name="adj" fmla="val 2500"/>
            </a:avLst>
          </a:prstGeom>
          <a:solidFill>
            <a:srgbClr val="FFFFFF">
              <a:alpha val="10000"/>
            </a:srgbClr>
          </a:solidFill>
          <a:ln w="9525" cap="flat" cmpd="sng" algn="ctr">
            <a:solidFill>
              <a:srgbClr val="FFFFFF">
                <a:alpha val="30000"/>
              </a:srgbClr>
            </a:solidFill>
            <a:prstDash val="solid"/>
            <a:round/>
            <a:headEnd type="none" w="med" len="med"/>
            <a:tailEnd type="none" w="med" len="med"/>
          </a:ln>
          <a:effectLst>
            <a:outerShdw blurRad="63500" dist="37357" dir="2700000" rotWithShape="0">
              <a:srgbClr val="000000">
                <a:alpha val="20000"/>
              </a:srgbClr>
            </a:outerShdw>
          </a:effectLst>
        </p:spPr>
        <p:style>
          <a:lnRef idx="0">
            <a:scrgbClr r="0" g="0" b="0"/>
          </a:lnRef>
          <a:fillRef idx="0">
            <a:scrgbClr r="0" g="0" b="0"/>
          </a:fillRef>
          <a:effectRef idx="7">
            <a:scrgbClr r="0" g="0" b="0"/>
          </a:effectRef>
          <a:fontRef idx="major"/>
        </p:style>
      </p:sp>
      <p:sp>
        <p:nvSpPr>
          <p:cNvPr id="6" name="text-188">
            <a:extLst>
              <a:ext uri="{FF2B5EF4-FFF2-40B4-BE49-F238E27FC236}">
                <a16:creationId xmlns:a16="http://schemas.microsoft.com/office/drawing/2014/main" id="{63A8D1F8-8236-4E9F-85E0-8F49DDA93C46}"/>
              </a:ext>
            </a:extLst>
          </p:cNvPr>
          <p:cNvSpPr>
            <a:spLocks noGrp="1"/>
          </p:cNvSpPr>
          <p:nvPr/>
        </p:nvSpPr>
        <p:spPr>
          <a:xfrm>
            <a:off x="857250" y="2371725"/>
            <a:ext cx="1143000" cy="523875"/>
          </a:xfrm>
          <a:prstGeom prst="rect">
            <a:avLst/>
          </a:prstGeom>
          <a:noFill/>
          <a:ln w="0">
            <a:noFill/>
            <a:prstDash val="solid"/>
          </a:ln>
        </p:spPr>
        <p:txBody>
          <a:bodyPr lIns="0" tIns="0" rIns="0" bIns="0"/>
          <a:lstStyle>
            <a:defPPr>
              <a:defRPr sz="3375" b="1">
                <a:solidFill>
                  <a:srgbClr val="48D4DF"/>
                </a:solidFill>
              </a:defRPr>
            </a:defPPr>
            <a:lvl1pPr>
              <a:defRPr sz="3375" b="1">
                <a:solidFill>
                  <a:srgbClr val="48D4DF"/>
                </a:solidFill>
              </a:defRPr>
            </a:lvl1pPr>
            <a:lvl2pPr>
              <a:defRPr sz="3375" b="1">
                <a:solidFill>
                  <a:srgbClr val="48D4DF"/>
                </a:solidFill>
              </a:defRPr>
            </a:lvl2pPr>
            <a:lvl3pPr>
              <a:defRPr sz="3375" b="1">
                <a:solidFill>
                  <a:srgbClr val="48D4DF"/>
                </a:solidFill>
              </a:defRPr>
            </a:lvl3pPr>
            <a:lvl4pPr>
              <a:defRPr sz="3375" b="1">
                <a:solidFill>
                  <a:srgbClr val="48D4DF"/>
                </a:solidFill>
              </a:defRPr>
            </a:lvl4pPr>
            <a:lvl5pPr>
              <a:defRPr sz="3375" b="1">
                <a:solidFill>
                  <a:srgbClr val="48D4DF"/>
                </a:solidFill>
              </a:defRPr>
            </a:lvl5pPr>
            <a:lvl6pPr>
              <a:defRPr sz="3375" b="1">
                <a:solidFill>
                  <a:srgbClr val="48D4DF"/>
                </a:solidFill>
              </a:defRPr>
            </a:lvl6pPr>
            <a:lvl7pPr>
              <a:defRPr sz="3375" b="1">
                <a:solidFill>
                  <a:srgbClr val="48D4DF"/>
                </a:solidFill>
              </a:defRPr>
            </a:lvl7pPr>
            <a:lvl8pPr>
              <a:defRPr sz="3375" b="1">
                <a:solidFill>
                  <a:srgbClr val="48D4DF"/>
                </a:solidFill>
              </a:defRPr>
            </a:lvl8pPr>
            <a:lvl9pPr>
              <a:defRPr sz="3375" b="1">
                <a:solidFill>
                  <a:srgbClr val="48D4DF"/>
                </a:solidFill>
              </a:defRPr>
            </a:lvl9pPr>
          </a:lstStyle>
          <a:p>
            <a:pPr>
              <a:defRPr sz="3375" b="1">
                <a:solidFill>
                  <a:srgbClr val="48D4DF"/>
                </a:solidFill>
              </a:defRPr>
            </a:pPr>
            <a:r>
              <a:rPr sz="3375" b="1">
                <a:solidFill>
                  <a:srgbClr val="48D4DF"/>
                </a:solidFill>
              </a:rPr>
              <a:t>01</a:t>
            </a:r>
          </a:p>
        </p:txBody>
      </p:sp>
      <p:sp>
        <p:nvSpPr>
          <p:cNvPr id="7" name="text-189">
            <a:extLst>
              <a:ext uri="{FF2B5EF4-FFF2-40B4-BE49-F238E27FC236}">
                <a16:creationId xmlns:a16="http://schemas.microsoft.com/office/drawing/2014/main" id="{34C212FA-7426-4F75-B0D6-89036C2B985A}"/>
              </a:ext>
            </a:extLst>
          </p:cNvPr>
          <p:cNvSpPr>
            <a:spLocks noGrp="1"/>
          </p:cNvSpPr>
          <p:nvPr/>
        </p:nvSpPr>
        <p:spPr>
          <a:xfrm>
            <a:off x="857250" y="3086100"/>
            <a:ext cx="2333625" cy="714375"/>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sz="2175" b="1">
                <a:solidFill>
                  <a:srgbClr val="F5FAFF"/>
                </a:solidFill>
              </a:rPr>
              <a:t>Working Gen 2</a:t>
            </a:r>
          </a:p>
        </p:txBody>
      </p:sp>
      <p:sp>
        <p:nvSpPr>
          <p:cNvPr id="8" name="text-190">
            <a:extLst>
              <a:ext uri="{FF2B5EF4-FFF2-40B4-BE49-F238E27FC236}">
                <a16:creationId xmlns:a16="http://schemas.microsoft.com/office/drawing/2014/main" id="{A4DA2F43-3514-45C0-A927-FF682FE7E233}"/>
              </a:ext>
            </a:extLst>
          </p:cNvPr>
          <p:cNvSpPr>
            <a:spLocks noGrp="1"/>
          </p:cNvSpPr>
          <p:nvPr/>
        </p:nvSpPr>
        <p:spPr>
          <a:xfrm>
            <a:off x="857250" y="4010025"/>
            <a:ext cx="2333625" cy="523875"/>
          </a:xfrm>
          <a:prstGeom prst="rect">
            <a:avLst/>
          </a:prstGeom>
          <a:noFill/>
          <a:ln w="0">
            <a:noFill/>
            <a:prstDash val="solid"/>
          </a:ln>
        </p:spPr>
        <p:txBody>
          <a:bodyPr lIns="0" tIns="0" rIns="0" bIns="0"/>
          <a:lstStyle>
            <a:defPPr>
              <a:defRPr sz="1725" b="0">
                <a:solidFill>
                  <a:srgbClr val="B9CDDF"/>
                </a:solidFill>
              </a:defRPr>
            </a:defPPr>
            <a:lvl1pPr>
              <a:defRPr sz="1725" b="0">
                <a:solidFill>
                  <a:srgbClr val="B9CDDF"/>
                </a:solidFill>
              </a:defRPr>
            </a:lvl1pPr>
            <a:lvl2pPr>
              <a:defRPr sz="1725" b="0">
                <a:solidFill>
                  <a:srgbClr val="B9CDDF"/>
                </a:solidFill>
              </a:defRPr>
            </a:lvl2pPr>
            <a:lvl3pPr>
              <a:defRPr sz="1725" b="0">
                <a:solidFill>
                  <a:srgbClr val="B9CDDF"/>
                </a:solidFill>
              </a:defRPr>
            </a:lvl3pPr>
            <a:lvl4pPr>
              <a:defRPr sz="1725" b="0">
                <a:solidFill>
                  <a:srgbClr val="B9CDDF"/>
                </a:solidFill>
              </a:defRPr>
            </a:lvl4pPr>
            <a:lvl5pPr>
              <a:defRPr sz="1725" b="0">
                <a:solidFill>
                  <a:srgbClr val="B9CDDF"/>
                </a:solidFill>
              </a:defRPr>
            </a:lvl5pPr>
            <a:lvl6pPr>
              <a:defRPr sz="1725" b="0">
                <a:solidFill>
                  <a:srgbClr val="B9CDDF"/>
                </a:solidFill>
              </a:defRPr>
            </a:lvl6pPr>
            <a:lvl7pPr>
              <a:defRPr sz="1725" b="0">
                <a:solidFill>
                  <a:srgbClr val="B9CDDF"/>
                </a:solidFill>
              </a:defRPr>
            </a:lvl7pPr>
            <a:lvl8pPr>
              <a:defRPr sz="1725" b="0">
                <a:solidFill>
                  <a:srgbClr val="B9CDDF"/>
                </a:solidFill>
              </a:defRPr>
            </a:lvl8pPr>
            <a:lvl9pPr>
              <a:defRPr sz="1725" b="0">
                <a:solidFill>
                  <a:srgbClr val="B9CDDF"/>
                </a:solidFill>
              </a:defRPr>
            </a:lvl9pPr>
          </a:lstStyle>
          <a:p>
            <a:pPr>
              <a:defRPr sz="1725" b="0">
                <a:solidFill>
                  <a:srgbClr val="B9CDDF"/>
                </a:solidFill>
              </a:defRPr>
            </a:pPr>
            <a:r>
              <a:rPr sz="1725" b="0">
                <a:solidFill>
                  <a:srgbClr val="B9CDDF"/>
                </a:solidFill>
              </a:rPr>
              <a:t>Reference platform</a:t>
            </a:r>
          </a:p>
        </p:txBody>
      </p:sp>
      <p:sp>
        <p:nvSpPr>
          <p:cNvPr id="9" name="flow-191">
            <a:extLst>
              <a:ext uri="{FF2B5EF4-FFF2-40B4-BE49-F238E27FC236}">
                <a16:creationId xmlns:a16="http://schemas.microsoft.com/office/drawing/2014/main" id="{4EA09941-F5A3-4047-B7B8-406FD1CCA5A7}"/>
              </a:ext>
            </a:extLst>
          </p:cNvPr>
          <p:cNvSpPr>
            <a:spLocks noGrp="1"/>
          </p:cNvSpPr>
          <p:nvPr/>
        </p:nvSpPr>
        <p:spPr>
          <a:xfrm>
            <a:off x="3162300" y="3267075"/>
            <a:ext cx="266700" cy="133350"/>
          </a:xfrm>
          <a:prstGeom prst="rightArrow">
            <a:avLst/>
          </a:prstGeom>
          <a:solidFill>
            <a:srgbClr val="48D4DF"/>
          </a:solidFill>
          <a:ln w="0">
            <a:noFill/>
            <a:prstDash val="solid"/>
          </a:ln>
        </p:spPr>
      </p:sp>
      <p:sp>
        <p:nvSpPr>
          <p:cNvPr id="10" name="text-192">
            <a:extLst>
              <a:ext uri="{FF2B5EF4-FFF2-40B4-BE49-F238E27FC236}">
                <a16:creationId xmlns:a16="http://schemas.microsoft.com/office/drawing/2014/main" id="{874D824D-245F-4BF9-B275-A12C36040AC0}"/>
              </a:ext>
            </a:extLst>
          </p:cNvPr>
          <p:cNvSpPr>
            <a:spLocks noGrp="1"/>
          </p:cNvSpPr>
          <p:nvPr/>
        </p:nvSpPr>
        <p:spPr>
          <a:xfrm>
            <a:off x="3571875" y="2371725"/>
            <a:ext cx="1143000" cy="523875"/>
          </a:xfrm>
          <a:prstGeom prst="rect">
            <a:avLst/>
          </a:prstGeom>
          <a:noFill/>
          <a:ln w="0">
            <a:noFill/>
            <a:prstDash val="solid"/>
          </a:ln>
        </p:spPr>
        <p:txBody>
          <a:bodyPr lIns="0" tIns="0" rIns="0" bIns="0"/>
          <a:lstStyle>
            <a:defPPr>
              <a:defRPr sz="3375" b="1">
                <a:solidFill>
                  <a:srgbClr val="B9CDDF"/>
                </a:solidFill>
              </a:defRPr>
            </a:defPPr>
            <a:lvl1pPr>
              <a:defRPr sz="3375" b="1">
                <a:solidFill>
                  <a:srgbClr val="B9CDDF"/>
                </a:solidFill>
              </a:defRPr>
            </a:lvl1pPr>
            <a:lvl2pPr>
              <a:defRPr sz="3375" b="1">
                <a:solidFill>
                  <a:srgbClr val="B9CDDF"/>
                </a:solidFill>
              </a:defRPr>
            </a:lvl2pPr>
            <a:lvl3pPr>
              <a:defRPr sz="3375" b="1">
                <a:solidFill>
                  <a:srgbClr val="B9CDDF"/>
                </a:solidFill>
              </a:defRPr>
            </a:lvl3pPr>
            <a:lvl4pPr>
              <a:defRPr sz="3375" b="1">
                <a:solidFill>
                  <a:srgbClr val="B9CDDF"/>
                </a:solidFill>
              </a:defRPr>
            </a:lvl4pPr>
            <a:lvl5pPr>
              <a:defRPr sz="3375" b="1">
                <a:solidFill>
                  <a:srgbClr val="B9CDDF"/>
                </a:solidFill>
              </a:defRPr>
            </a:lvl5pPr>
            <a:lvl6pPr>
              <a:defRPr sz="3375" b="1">
                <a:solidFill>
                  <a:srgbClr val="B9CDDF"/>
                </a:solidFill>
              </a:defRPr>
            </a:lvl6pPr>
            <a:lvl7pPr>
              <a:defRPr sz="3375" b="1">
                <a:solidFill>
                  <a:srgbClr val="B9CDDF"/>
                </a:solidFill>
              </a:defRPr>
            </a:lvl7pPr>
            <a:lvl8pPr>
              <a:defRPr sz="3375" b="1">
                <a:solidFill>
                  <a:srgbClr val="B9CDDF"/>
                </a:solidFill>
              </a:defRPr>
            </a:lvl8pPr>
            <a:lvl9pPr>
              <a:defRPr sz="3375" b="1">
                <a:solidFill>
                  <a:srgbClr val="B9CDDF"/>
                </a:solidFill>
              </a:defRPr>
            </a:lvl9pPr>
          </a:lstStyle>
          <a:p>
            <a:pPr>
              <a:defRPr sz="3375" b="1">
                <a:solidFill>
                  <a:srgbClr val="B9CDDF"/>
                </a:solidFill>
              </a:defRPr>
            </a:pPr>
            <a:r>
              <a:rPr sz="3375" b="1">
                <a:solidFill>
                  <a:srgbClr val="B9CDDF"/>
                </a:solidFill>
              </a:rPr>
              <a:t>02</a:t>
            </a:r>
          </a:p>
        </p:txBody>
      </p:sp>
      <p:sp>
        <p:nvSpPr>
          <p:cNvPr id="11" name="text-193">
            <a:extLst>
              <a:ext uri="{FF2B5EF4-FFF2-40B4-BE49-F238E27FC236}">
                <a16:creationId xmlns:a16="http://schemas.microsoft.com/office/drawing/2014/main" id="{DDDD2435-9D93-4B19-A13E-477420944E5B}"/>
              </a:ext>
            </a:extLst>
          </p:cNvPr>
          <p:cNvSpPr>
            <a:spLocks noGrp="1"/>
          </p:cNvSpPr>
          <p:nvPr/>
        </p:nvSpPr>
        <p:spPr>
          <a:xfrm>
            <a:off x="3571875" y="3086100"/>
            <a:ext cx="2333625" cy="714375"/>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lang="en-IN" sz="2175" b="1">
                <a:solidFill>
                  <a:srgbClr val="F5FAFF"/>
                </a:solidFill>
              </a:rPr>
              <a:t>Measure motion</a:t>
            </a:r>
            <a:endParaRPr sz="2175" b="1">
              <a:solidFill>
                <a:srgbClr val="F5FAFF"/>
              </a:solidFill>
            </a:endParaRPr>
          </a:p>
        </p:txBody>
      </p:sp>
      <p:sp>
        <p:nvSpPr>
          <p:cNvPr id="12" name="text-194">
            <a:extLst>
              <a:ext uri="{FF2B5EF4-FFF2-40B4-BE49-F238E27FC236}">
                <a16:creationId xmlns:a16="http://schemas.microsoft.com/office/drawing/2014/main" id="{16EA783B-E189-492A-B192-855FA9384AC9}"/>
              </a:ext>
            </a:extLst>
          </p:cNvPr>
          <p:cNvSpPr>
            <a:spLocks noGrp="1"/>
          </p:cNvSpPr>
          <p:nvPr/>
        </p:nvSpPr>
        <p:spPr>
          <a:xfrm>
            <a:off x="3571875" y="4010025"/>
            <a:ext cx="2333625" cy="523875"/>
          </a:xfrm>
          <a:prstGeom prst="rect">
            <a:avLst/>
          </a:prstGeom>
          <a:noFill/>
          <a:ln w="0">
            <a:noFill/>
            <a:prstDash val="solid"/>
          </a:ln>
        </p:spPr>
        <p:txBody>
          <a:bodyPr lIns="0" tIns="0" rIns="0" bIns="0"/>
          <a:lstStyle>
            <a:defPPr>
              <a:defRPr sz="1725" b="0">
                <a:solidFill>
                  <a:srgbClr val="B9CDDF"/>
                </a:solidFill>
              </a:defRPr>
            </a:defPPr>
            <a:lvl1pPr>
              <a:defRPr sz="1725" b="0">
                <a:solidFill>
                  <a:srgbClr val="B9CDDF"/>
                </a:solidFill>
              </a:defRPr>
            </a:lvl1pPr>
            <a:lvl2pPr>
              <a:defRPr sz="1725" b="0">
                <a:solidFill>
                  <a:srgbClr val="B9CDDF"/>
                </a:solidFill>
              </a:defRPr>
            </a:lvl2pPr>
            <a:lvl3pPr>
              <a:defRPr sz="1725" b="0">
                <a:solidFill>
                  <a:srgbClr val="B9CDDF"/>
                </a:solidFill>
              </a:defRPr>
            </a:lvl3pPr>
            <a:lvl4pPr>
              <a:defRPr sz="1725" b="0">
                <a:solidFill>
                  <a:srgbClr val="B9CDDF"/>
                </a:solidFill>
              </a:defRPr>
            </a:lvl4pPr>
            <a:lvl5pPr>
              <a:defRPr sz="1725" b="0">
                <a:solidFill>
                  <a:srgbClr val="B9CDDF"/>
                </a:solidFill>
              </a:defRPr>
            </a:lvl5pPr>
            <a:lvl6pPr>
              <a:defRPr sz="1725" b="0">
                <a:solidFill>
                  <a:srgbClr val="B9CDDF"/>
                </a:solidFill>
              </a:defRPr>
            </a:lvl6pPr>
            <a:lvl7pPr>
              <a:defRPr sz="1725" b="0">
                <a:solidFill>
                  <a:srgbClr val="B9CDDF"/>
                </a:solidFill>
              </a:defRPr>
            </a:lvl7pPr>
            <a:lvl8pPr>
              <a:defRPr sz="1725" b="0">
                <a:solidFill>
                  <a:srgbClr val="B9CDDF"/>
                </a:solidFill>
              </a:defRPr>
            </a:lvl8pPr>
            <a:lvl9pPr>
              <a:defRPr sz="1725" b="0">
                <a:solidFill>
                  <a:srgbClr val="B9CDDF"/>
                </a:solidFill>
              </a:defRPr>
            </a:lvl9pPr>
          </a:lstStyle>
          <a:p>
            <a:pPr>
              <a:defRPr sz="1725" b="0">
                <a:solidFill>
                  <a:srgbClr val="B9CDDF"/>
                </a:solidFill>
              </a:defRPr>
            </a:pPr>
            <a:r>
              <a:rPr sz="1725" b="0">
                <a:solidFill>
                  <a:srgbClr val="B9CDDF"/>
                </a:solidFill>
              </a:rPr>
              <a:t>Motion, contact, power</a:t>
            </a:r>
          </a:p>
        </p:txBody>
      </p:sp>
      <p:sp>
        <p:nvSpPr>
          <p:cNvPr id="13" name="flow-195">
            <a:extLst>
              <a:ext uri="{FF2B5EF4-FFF2-40B4-BE49-F238E27FC236}">
                <a16:creationId xmlns:a16="http://schemas.microsoft.com/office/drawing/2014/main" id="{8EF58D03-4B00-47B1-B990-FD9D174898FA}"/>
              </a:ext>
            </a:extLst>
          </p:cNvPr>
          <p:cNvSpPr>
            <a:spLocks noGrp="1"/>
          </p:cNvSpPr>
          <p:nvPr/>
        </p:nvSpPr>
        <p:spPr>
          <a:xfrm>
            <a:off x="5876925" y="3267075"/>
            <a:ext cx="266700" cy="133350"/>
          </a:xfrm>
          <a:prstGeom prst="rightArrow">
            <a:avLst/>
          </a:prstGeom>
          <a:solidFill>
            <a:srgbClr val="48D4DF"/>
          </a:solidFill>
          <a:ln w="0">
            <a:noFill/>
            <a:prstDash val="solid"/>
          </a:ln>
        </p:spPr>
      </p:sp>
      <p:sp>
        <p:nvSpPr>
          <p:cNvPr id="14" name="text-196">
            <a:extLst>
              <a:ext uri="{FF2B5EF4-FFF2-40B4-BE49-F238E27FC236}">
                <a16:creationId xmlns:a16="http://schemas.microsoft.com/office/drawing/2014/main" id="{74E02521-DF4F-4BC4-86EF-3B4801E96578}"/>
              </a:ext>
            </a:extLst>
          </p:cNvPr>
          <p:cNvSpPr>
            <a:spLocks noGrp="1"/>
          </p:cNvSpPr>
          <p:nvPr/>
        </p:nvSpPr>
        <p:spPr>
          <a:xfrm>
            <a:off x="6286500" y="2371725"/>
            <a:ext cx="1143000" cy="523875"/>
          </a:xfrm>
          <a:prstGeom prst="rect">
            <a:avLst/>
          </a:prstGeom>
          <a:noFill/>
          <a:ln w="0">
            <a:noFill/>
            <a:prstDash val="solid"/>
          </a:ln>
        </p:spPr>
        <p:txBody>
          <a:bodyPr lIns="0" tIns="0" rIns="0" bIns="0"/>
          <a:lstStyle>
            <a:defPPr>
              <a:defRPr sz="3375" b="1">
                <a:solidFill>
                  <a:srgbClr val="B9CDDF"/>
                </a:solidFill>
              </a:defRPr>
            </a:defPPr>
            <a:lvl1pPr>
              <a:defRPr sz="3375" b="1">
                <a:solidFill>
                  <a:srgbClr val="B9CDDF"/>
                </a:solidFill>
              </a:defRPr>
            </a:lvl1pPr>
            <a:lvl2pPr>
              <a:defRPr sz="3375" b="1">
                <a:solidFill>
                  <a:srgbClr val="B9CDDF"/>
                </a:solidFill>
              </a:defRPr>
            </a:lvl2pPr>
            <a:lvl3pPr>
              <a:defRPr sz="3375" b="1">
                <a:solidFill>
                  <a:srgbClr val="B9CDDF"/>
                </a:solidFill>
              </a:defRPr>
            </a:lvl3pPr>
            <a:lvl4pPr>
              <a:defRPr sz="3375" b="1">
                <a:solidFill>
                  <a:srgbClr val="B9CDDF"/>
                </a:solidFill>
              </a:defRPr>
            </a:lvl4pPr>
            <a:lvl5pPr>
              <a:defRPr sz="3375" b="1">
                <a:solidFill>
                  <a:srgbClr val="B9CDDF"/>
                </a:solidFill>
              </a:defRPr>
            </a:lvl5pPr>
            <a:lvl6pPr>
              <a:defRPr sz="3375" b="1">
                <a:solidFill>
                  <a:srgbClr val="B9CDDF"/>
                </a:solidFill>
              </a:defRPr>
            </a:lvl6pPr>
            <a:lvl7pPr>
              <a:defRPr sz="3375" b="1">
                <a:solidFill>
                  <a:srgbClr val="B9CDDF"/>
                </a:solidFill>
              </a:defRPr>
            </a:lvl7pPr>
            <a:lvl8pPr>
              <a:defRPr sz="3375" b="1">
                <a:solidFill>
                  <a:srgbClr val="B9CDDF"/>
                </a:solidFill>
              </a:defRPr>
            </a:lvl8pPr>
            <a:lvl9pPr>
              <a:defRPr sz="3375" b="1">
                <a:solidFill>
                  <a:srgbClr val="B9CDDF"/>
                </a:solidFill>
              </a:defRPr>
            </a:lvl9pPr>
          </a:lstStyle>
          <a:p>
            <a:pPr>
              <a:defRPr sz="3375" b="1">
                <a:solidFill>
                  <a:srgbClr val="B9CDDF"/>
                </a:solidFill>
              </a:defRPr>
            </a:pPr>
            <a:r>
              <a:rPr sz="3375" b="1">
                <a:solidFill>
                  <a:srgbClr val="B9CDDF"/>
                </a:solidFill>
              </a:rPr>
              <a:t>03</a:t>
            </a:r>
          </a:p>
        </p:txBody>
      </p:sp>
      <p:sp>
        <p:nvSpPr>
          <p:cNvPr id="15" name="text-197">
            <a:extLst>
              <a:ext uri="{FF2B5EF4-FFF2-40B4-BE49-F238E27FC236}">
                <a16:creationId xmlns:a16="http://schemas.microsoft.com/office/drawing/2014/main" id="{D388E71D-4AFE-4801-8A48-02D7BA639C41}"/>
              </a:ext>
            </a:extLst>
          </p:cNvPr>
          <p:cNvSpPr>
            <a:spLocks noGrp="1"/>
          </p:cNvSpPr>
          <p:nvPr/>
        </p:nvSpPr>
        <p:spPr>
          <a:xfrm>
            <a:off x="6286500" y="3086100"/>
            <a:ext cx="2333625" cy="714375"/>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sz="2175" b="1">
                <a:solidFill>
                  <a:srgbClr val="F5FAFF"/>
                </a:solidFill>
              </a:rPr>
              <a:t>Check Gen 3 assembly</a:t>
            </a:r>
          </a:p>
        </p:txBody>
      </p:sp>
      <p:sp>
        <p:nvSpPr>
          <p:cNvPr id="16" name="text-198">
            <a:extLst>
              <a:ext uri="{FF2B5EF4-FFF2-40B4-BE49-F238E27FC236}">
                <a16:creationId xmlns:a16="http://schemas.microsoft.com/office/drawing/2014/main" id="{186CD605-21B0-4D01-9687-8C861C56AAE6}"/>
              </a:ext>
            </a:extLst>
          </p:cNvPr>
          <p:cNvSpPr>
            <a:spLocks noGrp="1"/>
          </p:cNvSpPr>
          <p:nvPr/>
        </p:nvSpPr>
        <p:spPr>
          <a:xfrm>
            <a:off x="6286500" y="4010025"/>
            <a:ext cx="2333625" cy="523875"/>
          </a:xfrm>
          <a:prstGeom prst="rect">
            <a:avLst/>
          </a:prstGeom>
          <a:noFill/>
          <a:ln w="0">
            <a:noFill/>
            <a:prstDash val="solid"/>
          </a:ln>
        </p:spPr>
        <p:txBody>
          <a:bodyPr lIns="0" tIns="0" rIns="0" bIns="0"/>
          <a:lstStyle>
            <a:defPPr>
              <a:defRPr sz="1725" b="0">
                <a:solidFill>
                  <a:srgbClr val="B9CDDF"/>
                </a:solidFill>
              </a:defRPr>
            </a:defPPr>
            <a:lvl1pPr>
              <a:defRPr sz="1725" b="0">
                <a:solidFill>
                  <a:srgbClr val="B9CDDF"/>
                </a:solidFill>
              </a:defRPr>
            </a:lvl1pPr>
            <a:lvl2pPr>
              <a:defRPr sz="1725" b="0">
                <a:solidFill>
                  <a:srgbClr val="B9CDDF"/>
                </a:solidFill>
              </a:defRPr>
            </a:lvl2pPr>
            <a:lvl3pPr>
              <a:defRPr sz="1725" b="0">
                <a:solidFill>
                  <a:srgbClr val="B9CDDF"/>
                </a:solidFill>
              </a:defRPr>
            </a:lvl3pPr>
            <a:lvl4pPr>
              <a:defRPr sz="1725" b="0">
                <a:solidFill>
                  <a:srgbClr val="B9CDDF"/>
                </a:solidFill>
              </a:defRPr>
            </a:lvl4pPr>
            <a:lvl5pPr>
              <a:defRPr sz="1725" b="0">
                <a:solidFill>
                  <a:srgbClr val="B9CDDF"/>
                </a:solidFill>
              </a:defRPr>
            </a:lvl5pPr>
            <a:lvl6pPr>
              <a:defRPr sz="1725" b="0">
                <a:solidFill>
                  <a:srgbClr val="B9CDDF"/>
                </a:solidFill>
              </a:defRPr>
            </a:lvl6pPr>
            <a:lvl7pPr>
              <a:defRPr sz="1725" b="0">
                <a:solidFill>
                  <a:srgbClr val="B9CDDF"/>
                </a:solidFill>
              </a:defRPr>
            </a:lvl7pPr>
            <a:lvl8pPr>
              <a:defRPr sz="1725" b="0">
                <a:solidFill>
                  <a:srgbClr val="B9CDDF"/>
                </a:solidFill>
              </a:defRPr>
            </a:lvl8pPr>
            <a:lvl9pPr>
              <a:defRPr sz="1725" b="0">
                <a:solidFill>
                  <a:srgbClr val="B9CDDF"/>
                </a:solidFill>
              </a:defRPr>
            </a:lvl9pPr>
          </a:lstStyle>
          <a:p>
            <a:pPr>
              <a:defRPr sz="1725" b="0">
                <a:solidFill>
                  <a:srgbClr val="B9CDDF"/>
                </a:solidFill>
              </a:defRPr>
            </a:pPr>
            <a:r>
              <a:rPr sz="1725" b="0">
                <a:solidFill>
                  <a:srgbClr val="B9CDDF"/>
                </a:solidFill>
              </a:rPr>
              <a:t>Axes and clearances</a:t>
            </a:r>
          </a:p>
        </p:txBody>
      </p:sp>
      <p:sp>
        <p:nvSpPr>
          <p:cNvPr id="17" name="flow-199">
            <a:extLst>
              <a:ext uri="{FF2B5EF4-FFF2-40B4-BE49-F238E27FC236}">
                <a16:creationId xmlns:a16="http://schemas.microsoft.com/office/drawing/2014/main" id="{5BBD65C1-A601-4898-8675-0CB789217F7C}"/>
              </a:ext>
            </a:extLst>
          </p:cNvPr>
          <p:cNvSpPr>
            <a:spLocks noGrp="1"/>
          </p:cNvSpPr>
          <p:nvPr/>
        </p:nvSpPr>
        <p:spPr>
          <a:xfrm>
            <a:off x="8591550" y="3267075"/>
            <a:ext cx="266700" cy="133350"/>
          </a:xfrm>
          <a:prstGeom prst="rightArrow">
            <a:avLst/>
          </a:prstGeom>
          <a:solidFill>
            <a:srgbClr val="48D4DF"/>
          </a:solidFill>
          <a:ln w="0">
            <a:noFill/>
            <a:prstDash val="solid"/>
          </a:ln>
        </p:spPr>
      </p:sp>
      <p:sp>
        <p:nvSpPr>
          <p:cNvPr id="18" name="text-200">
            <a:extLst>
              <a:ext uri="{FF2B5EF4-FFF2-40B4-BE49-F238E27FC236}">
                <a16:creationId xmlns:a16="http://schemas.microsoft.com/office/drawing/2014/main" id="{B9B6EF0E-F357-4F36-A564-D261F4634601}"/>
              </a:ext>
            </a:extLst>
          </p:cNvPr>
          <p:cNvSpPr>
            <a:spLocks noGrp="1"/>
          </p:cNvSpPr>
          <p:nvPr/>
        </p:nvSpPr>
        <p:spPr>
          <a:xfrm>
            <a:off x="9001125" y="2371725"/>
            <a:ext cx="1143000" cy="523875"/>
          </a:xfrm>
          <a:prstGeom prst="rect">
            <a:avLst/>
          </a:prstGeom>
          <a:noFill/>
          <a:ln w="0">
            <a:noFill/>
            <a:prstDash val="solid"/>
          </a:ln>
        </p:spPr>
        <p:txBody>
          <a:bodyPr lIns="0" tIns="0" rIns="0" bIns="0"/>
          <a:lstStyle>
            <a:defPPr>
              <a:defRPr sz="3375" b="1">
                <a:solidFill>
                  <a:srgbClr val="B9CDDF"/>
                </a:solidFill>
              </a:defRPr>
            </a:defPPr>
            <a:lvl1pPr>
              <a:defRPr sz="3375" b="1">
                <a:solidFill>
                  <a:srgbClr val="B9CDDF"/>
                </a:solidFill>
              </a:defRPr>
            </a:lvl1pPr>
            <a:lvl2pPr>
              <a:defRPr sz="3375" b="1">
                <a:solidFill>
                  <a:srgbClr val="B9CDDF"/>
                </a:solidFill>
              </a:defRPr>
            </a:lvl2pPr>
            <a:lvl3pPr>
              <a:defRPr sz="3375" b="1">
                <a:solidFill>
                  <a:srgbClr val="B9CDDF"/>
                </a:solidFill>
              </a:defRPr>
            </a:lvl3pPr>
            <a:lvl4pPr>
              <a:defRPr sz="3375" b="1">
                <a:solidFill>
                  <a:srgbClr val="B9CDDF"/>
                </a:solidFill>
              </a:defRPr>
            </a:lvl4pPr>
            <a:lvl5pPr>
              <a:defRPr sz="3375" b="1">
                <a:solidFill>
                  <a:srgbClr val="B9CDDF"/>
                </a:solidFill>
              </a:defRPr>
            </a:lvl5pPr>
            <a:lvl6pPr>
              <a:defRPr sz="3375" b="1">
                <a:solidFill>
                  <a:srgbClr val="B9CDDF"/>
                </a:solidFill>
              </a:defRPr>
            </a:lvl6pPr>
            <a:lvl7pPr>
              <a:defRPr sz="3375" b="1">
                <a:solidFill>
                  <a:srgbClr val="B9CDDF"/>
                </a:solidFill>
              </a:defRPr>
            </a:lvl7pPr>
            <a:lvl8pPr>
              <a:defRPr sz="3375" b="1">
                <a:solidFill>
                  <a:srgbClr val="B9CDDF"/>
                </a:solidFill>
              </a:defRPr>
            </a:lvl8pPr>
            <a:lvl9pPr>
              <a:defRPr sz="3375" b="1">
                <a:solidFill>
                  <a:srgbClr val="B9CDDF"/>
                </a:solidFill>
              </a:defRPr>
            </a:lvl9pPr>
          </a:lstStyle>
          <a:p>
            <a:pPr>
              <a:defRPr sz="3375" b="1">
                <a:solidFill>
                  <a:srgbClr val="B9CDDF"/>
                </a:solidFill>
              </a:defRPr>
            </a:pPr>
            <a:r>
              <a:rPr sz="3375" b="1">
                <a:solidFill>
                  <a:srgbClr val="B9CDDF"/>
                </a:solidFill>
              </a:rPr>
              <a:t>04</a:t>
            </a:r>
          </a:p>
        </p:txBody>
      </p:sp>
      <p:sp>
        <p:nvSpPr>
          <p:cNvPr id="19" name="text-201">
            <a:extLst>
              <a:ext uri="{FF2B5EF4-FFF2-40B4-BE49-F238E27FC236}">
                <a16:creationId xmlns:a16="http://schemas.microsoft.com/office/drawing/2014/main" id="{FDFE5C23-7C68-44FA-A4BB-24F119D85AA8}"/>
              </a:ext>
            </a:extLst>
          </p:cNvPr>
          <p:cNvSpPr>
            <a:spLocks noGrp="1"/>
          </p:cNvSpPr>
          <p:nvPr/>
        </p:nvSpPr>
        <p:spPr>
          <a:xfrm>
            <a:off x="9001125" y="3086100"/>
            <a:ext cx="2333625" cy="714375"/>
          </a:xfrm>
          <a:prstGeom prst="rect">
            <a:avLst/>
          </a:prstGeom>
          <a:noFill/>
          <a:ln w="0">
            <a:noFill/>
            <a:prstDash val="solid"/>
          </a:ln>
        </p:spPr>
        <p:txBody>
          <a:bodyPr lIns="0" tIns="0" rIns="0" bIns="0"/>
          <a:lstStyle>
            <a:defPPr>
              <a:defRPr sz="2175" b="1">
                <a:solidFill>
                  <a:srgbClr val="F5FAFF"/>
                </a:solidFill>
              </a:defRPr>
            </a:defPPr>
            <a:lvl1pPr>
              <a:defRPr sz="2175" b="1">
                <a:solidFill>
                  <a:srgbClr val="F5FAFF"/>
                </a:solidFill>
              </a:defRPr>
            </a:lvl1pPr>
            <a:lvl2pPr>
              <a:defRPr sz="2175" b="1">
                <a:solidFill>
                  <a:srgbClr val="F5FAFF"/>
                </a:solidFill>
              </a:defRPr>
            </a:lvl2pPr>
            <a:lvl3pPr>
              <a:defRPr sz="2175" b="1">
                <a:solidFill>
                  <a:srgbClr val="F5FAFF"/>
                </a:solidFill>
              </a:defRPr>
            </a:lvl3pPr>
            <a:lvl4pPr>
              <a:defRPr sz="2175" b="1">
                <a:solidFill>
                  <a:srgbClr val="F5FAFF"/>
                </a:solidFill>
              </a:defRPr>
            </a:lvl4pPr>
            <a:lvl5pPr>
              <a:defRPr sz="2175" b="1">
                <a:solidFill>
                  <a:srgbClr val="F5FAFF"/>
                </a:solidFill>
              </a:defRPr>
            </a:lvl5pPr>
            <a:lvl6pPr>
              <a:defRPr sz="2175" b="1">
                <a:solidFill>
                  <a:srgbClr val="F5FAFF"/>
                </a:solidFill>
              </a:defRPr>
            </a:lvl6pPr>
            <a:lvl7pPr>
              <a:defRPr sz="2175" b="1">
                <a:solidFill>
                  <a:srgbClr val="F5FAFF"/>
                </a:solidFill>
              </a:defRPr>
            </a:lvl7pPr>
            <a:lvl8pPr>
              <a:defRPr sz="2175" b="1">
                <a:solidFill>
                  <a:srgbClr val="F5FAFF"/>
                </a:solidFill>
              </a:defRPr>
            </a:lvl8pPr>
            <a:lvl9pPr>
              <a:defRPr sz="2175" b="1">
                <a:solidFill>
                  <a:srgbClr val="F5FAFF"/>
                </a:solidFill>
              </a:defRPr>
            </a:lvl9pPr>
          </a:lstStyle>
          <a:p>
            <a:pPr>
              <a:defRPr sz="2175" b="1">
                <a:solidFill>
                  <a:srgbClr val="F5FAFF"/>
                </a:solidFill>
              </a:defRPr>
            </a:pPr>
            <a:r>
              <a:rPr sz="2175" b="1">
                <a:solidFill>
                  <a:srgbClr val="F5FAFF"/>
                </a:solidFill>
              </a:rPr>
              <a:t>Run 3D trials</a:t>
            </a:r>
          </a:p>
        </p:txBody>
      </p:sp>
      <p:sp>
        <p:nvSpPr>
          <p:cNvPr id="20" name="text-202">
            <a:extLst>
              <a:ext uri="{FF2B5EF4-FFF2-40B4-BE49-F238E27FC236}">
                <a16:creationId xmlns:a16="http://schemas.microsoft.com/office/drawing/2014/main" id="{1595AA11-D440-480B-A82E-AB64BCD25B57}"/>
              </a:ext>
            </a:extLst>
          </p:cNvPr>
          <p:cNvSpPr>
            <a:spLocks noGrp="1"/>
          </p:cNvSpPr>
          <p:nvPr/>
        </p:nvSpPr>
        <p:spPr>
          <a:xfrm>
            <a:off x="9001125" y="4010025"/>
            <a:ext cx="2333625" cy="523875"/>
          </a:xfrm>
          <a:prstGeom prst="rect">
            <a:avLst/>
          </a:prstGeom>
          <a:noFill/>
          <a:ln w="0">
            <a:noFill/>
            <a:prstDash val="solid"/>
          </a:ln>
        </p:spPr>
        <p:txBody>
          <a:bodyPr lIns="0" tIns="0" rIns="0" bIns="0"/>
          <a:lstStyle>
            <a:defPPr>
              <a:defRPr sz="1725" b="0">
                <a:solidFill>
                  <a:srgbClr val="B9CDDF"/>
                </a:solidFill>
              </a:defRPr>
            </a:defPPr>
            <a:lvl1pPr>
              <a:defRPr sz="1725" b="0">
                <a:solidFill>
                  <a:srgbClr val="B9CDDF"/>
                </a:solidFill>
              </a:defRPr>
            </a:lvl1pPr>
            <a:lvl2pPr>
              <a:defRPr sz="1725" b="0">
                <a:solidFill>
                  <a:srgbClr val="B9CDDF"/>
                </a:solidFill>
              </a:defRPr>
            </a:lvl2pPr>
            <a:lvl3pPr>
              <a:defRPr sz="1725" b="0">
                <a:solidFill>
                  <a:srgbClr val="B9CDDF"/>
                </a:solidFill>
              </a:defRPr>
            </a:lvl3pPr>
            <a:lvl4pPr>
              <a:defRPr sz="1725" b="0">
                <a:solidFill>
                  <a:srgbClr val="B9CDDF"/>
                </a:solidFill>
              </a:defRPr>
            </a:lvl4pPr>
            <a:lvl5pPr>
              <a:defRPr sz="1725" b="0">
                <a:solidFill>
                  <a:srgbClr val="B9CDDF"/>
                </a:solidFill>
              </a:defRPr>
            </a:lvl5pPr>
            <a:lvl6pPr>
              <a:defRPr sz="1725" b="0">
                <a:solidFill>
                  <a:srgbClr val="B9CDDF"/>
                </a:solidFill>
              </a:defRPr>
            </a:lvl6pPr>
            <a:lvl7pPr>
              <a:defRPr sz="1725" b="0">
                <a:solidFill>
                  <a:srgbClr val="B9CDDF"/>
                </a:solidFill>
              </a:defRPr>
            </a:lvl7pPr>
            <a:lvl8pPr>
              <a:defRPr sz="1725" b="0">
                <a:solidFill>
                  <a:srgbClr val="B9CDDF"/>
                </a:solidFill>
              </a:defRPr>
            </a:lvl8pPr>
            <a:lvl9pPr>
              <a:defRPr sz="1725" b="0">
                <a:solidFill>
                  <a:srgbClr val="B9CDDF"/>
                </a:solidFill>
              </a:defRPr>
            </a:lvl9pPr>
          </a:lstStyle>
          <a:p>
            <a:pPr>
              <a:defRPr sz="1725" b="0">
                <a:solidFill>
                  <a:srgbClr val="B9CDDF"/>
                </a:solidFill>
              </a:defRPr>
            </a:pPr>
            <a:r>
              <a:rPr sz="1725" b="0">
                <a:solidFill>
                  <a:srgbClr val="B9CDDF"/>
                </a:solidFill>
              </a:rPr>
              <a:t>Coordinated yaw / pitch</a:t>
            </a:r>
          </a:p>
        </p:txBody>
      </p:sp>
      <p:sp>
        <p:nvSpPr>
          <p:cNvPr id="21" name="text-203">
            <a:extLst>
              <a:ext uri="{FF2B5EF4-FFF2-40B4-BE49-F238E27FC236}">
                <a16:creationId xmlns:a16="http://schemas.microsoft.com/office/drawing/2014/main" id="{A1CBDC95-A03B-4AD1-B400-18214427C26F}"/>
              </a:ext>
            </a:extLst>
          </p:cNvPr>
          <p:cNvSpPr>
            <a:spLocks noGrp="1"/>
          </p:cNvSpPr>
          <p:nvPr/>
        </p:nvSpPr>
        <p:spPr>
          <a:xfrm>
            <a:off x="762000" y="5419725"/>
            <a:ext cx="10668000" cy="552450"/>
          </a:xfrm>
          <a:prstGeom prst="rect">
            <a:avLst/>
          </a:prstGeom>
          <a:noFill/>
          <a:ln w="0">
            <a:noFill/>
            <a:prstDash val="solid"/>
          </a:ln>
        </p:spPr>
        <p:txBody>
          <a:bodyPr lIns="0" tIns="0" rIns="0" bIns="0"/>
          <a:lstStyle>
            <a:defPPr>
              <a:defRPr sz="2100" b="1">
                <a:solidFill>
                  <a:srgbClr val="F5FAFF"/>
                </a:solidFill>
              </a:defRPr>
            </a:defPPr>
            <a:lvl1pPr>
              <a:defRPr sz="2100" b="1">
                <a:solidFill>
                  <a:srgbClr val="F5FAFF"/>
                </a:solidFill>
              </a:defRPr>
            </a:lvl1pPr>
            <a:lvl2pPr>
              <a:defRPr sz="2100" b="1">
                <a:solidFill>
                  <a:srgbClr val="F5FAFF"/>
                </a:solidFill>
              </a:defRPr>
            </a:lvl2pPr>
            <a:lvl3pPr>
              <a:defRPr sz="2100" b="1">
                <a:solidFill>
                  <a:srgbClr val="F5FAFF"/>
                </a:solidFill>
              </a:defRPr>
            </a:lvl3pPr>
            <a:lvl4pPr>
              <a:defRPr sz="2100" b="1">
                <a:solidFill>
                  <a:srgbClr val="F5FAFF"/>
                </a:solidFill>
              </a:defRPr>
            </a:lvl4pPr>
            <a:lvl5pPr>
              <a:defRPr sz="2100" b="1">
                <a:solidFill>
                  <a:srgbClr val="F5FAFF"/>
                </a:solidFill>
              </a:defRPr>
            </a:lvl5pPr>
            <a:lvl6pPr>
              <a:defRPr sz="2100" b="1">
                <a:solidFill>
                  <a:srgbClr val="F5FAFF"/>
                </a:solidFill>
              </a:defRPr>
            </a:lvl6pPr>
            <a:lvl7pPr>
              <a:defRPr sz="2100" b="1">
                <a:solidFill>
                  <a:srgbClr val="F5FAFF"/>
                </a:solidFill>
              </a:defRPr>
            </a:lvl7pPr>
            <a:lvl8pPr>
              <a:defRPr sz="2100" b="1">
                <a:solidFill>
                  <a:srgbClr val="F5FAFF"/>
                </a:solidFill>
              </a:defRPr>
            </a:lvl8pPr>
            <a:lvl9pPr>
              <a:defRPr sz="2100" b="1">
                <a:solidFill>
                  <a:srgbClr val="F5FAFF"/>
                </a:solidFill>
              </a:defRPr>
            </a:lvl9pPr>
          </a:lstStyle>
          <a:p>
            <a:pPr>
              <a:defRPr sz="2100" b="1">
                <a:solidFill>
                  <a:srgbClr val="F5FAFF"/>
                </a:solidFill>
              </a:defRPr>
            </a:pPr>
            <a:r>
              <a:rPr sz="2100" b="1">
                <a:solidFill>
                  <a:srgbClr val="F5FAFF"/>
                </a:solidFill>
              </a:rPr>
              <a:t>A working planar base for the next mechanical and gait experiments.</a:t>
            </a:r>
          </a:p>
        </p:txBody>
      </p:sp>
      <p:sp>
        <p:nvSpPr>
          <p:cNvPr id="22" name="text-204">
            <a:extLst>
              <a:ext uri="{FF2B5EF4-FFF2-40B4-BE49-F238E27FC236}">
                <a16:creationId xmlns:a16="http://schemas.microsoft.com/office/drawing/2014/main" id="{750A80F4-5973-40C4-BBDC-CA489757697C}"/>
              </a:ext>
            </a:extLst>
          </p:cNvPr>
          <p:cNvSpPr>
            <a:spLocks noGrp="1"/>
          </p:cNvSpPr>
          <p:nvPr/>
        </p:nvSpPr>
        <p:spPr>
          <a:xfrm>
            <a:off x="762000" y="5953125"/>
            <a:ext cx="10477500" cy="266700"/>
          </a:xfrm>
          <a:prstGeom prst="rect">
            <a:avLst/>
          </a:prstGeom>
          <a:noFill/>
          <a:ln w="0">
            <a:noFill/>
            <a:prstDash val="solid"/>
          </a:ln>
        </p:spPr>
        <p:txBody>
          <a:bodyPr lIns="0" tIns="0" rIns="0" bIns="0"/>
          <a:lstStyle>
            <a:defPPr>
              <a:defRPr sz="1575" b="0">
                <a:solidFill>
                  <a:srgbClr val="B9CDDF"/>
                </a:solidFill>
              </a:defRPr>
            </a:defPPr>
            <a:lvl1pPr>
              <a:defRPr sz="1575" b="0">
                <a:solidFill>
                  <a:srgbClr val="B9CDDF"/>
                </a:solidFill>
              </a:defRPr>
            </a:lvl1pPr>
            <a:lvl2pPr>
              <a:defRPr sz="1575" b="0">
                <a:solidFill>
                  <a:srgbClr val="B9CDDF"/>
                </a:solidFill>
              </a:defRPr>
            </a:lvl2pPr>
            <a:lvl3pPr>
              <a:defRPr sz="1575" b="0">
                <a:solidFill>
                  <a:srgbClr val="B9CDDF"/>
                </a:solidFill>
              </a:defRPr>
            </a:lvl3pPr>
            <a:lvl4pPr>
              <a:defRPr sz="1575" b="0">
                <a:solidFill>
                  <a:srgbClr val="B9CDDF"/>
                </a:solidFill>
              </a:defRPr>
            </a:lvl4pPr>
            <a:lvl5pPr>
              <a:defRPr sz="1575" b="0">
                <a:solidFill>
                  <a:srgbClr val="B9CDDF"/>
                </a:solidFill>
              </a:defRPr>
            </a:lvl5pPr>
            <a:lvl6pPr>
              <a:defRPr sz="1575" b="0">
                <a:solidFill>
                  <a:srgbClr val="B9CDDF"/>
                </a:solidFill>
              </a:defRPr>
            </a:lvl6pPr>
            <a:lvl7pPr>
              <a:defRPr sz="1575" b="0">
                <a:solidFill>
                  <a:srgbClr val="B9CDDF"/>
                </a:solidFill>
              </a:defRPr>
            </a:lvl7pPr>
            <a:lvl8pPr>
              <a:defRPr sz="1575" b="0">
                <a:solidFill>
                  <a:srgbClr val="B9CDDF"/>
                </a:solidFill>
              </a:defRPr>
            </a:lvl8pPr>
            <a:lvl9pPr>
              <a:defRPr sz="1575" b="0">
                <a:solidFill>
                  <a:srgbClr val="B9CDDF"/>
                </a:solidFill>
              </a:defRPr>
            </a:lvl9pPr>
          </a:lstStyle>
          <a:p>
            <a:pPr>
              <a:defRPr sz="1575" b="0">
                <a:solidFill>
                  <a:srgbClr val="B9CDDF"/>
                </a:solidFill>
              </a:defRPr>
            </a:pPr>
            <a:r>
              <a:rPr sz="1575" b="0">
                <a:solidFill>
                  <a:srgbClr val="B9CDDF"/>
                </a:solidFill>
              </a:rPr>
              <a:t>Shashank Jangir · Bhavesh Bansiwal · Mahima Chotiya</a:t>
            </a:r>
          </a:p>
        </p:txBody>
      </p:sp>
    </p:spTree>
    <p:extLst>
      <p:ext uri="{BB962C8B-B14F-4D97-AF65-F5344CB8AC3E}">
        <p14:creationId xmlns:p14="http://schemas.microsoft.com/office/powerpoint/2010/main" val="197068564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20"/>
                                        <p:tgtEl>
                                          <p:spTgt spid="9"/>
                                        </p:tgtEl>
                                      </p:cBhvr>
                                    </p:animEffect>
                                  </p:childTnLst>
                                </p:cTn>
                              </p:par>
                            </p:childTnLst>
                          </p:cTn>
                        </p:par>
                        <p:par>
                          <p:cTn id="8" fill="hold">
                            <p:stCondLst>
                              <p:cond delay="22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20"/>
                                        <p:tgtEl>
                                          <p:spTgt spid="13"/>
                                        </p:tgtEl>
                                      </p:cBhvr>
                                    </p:animEffect>
                                  </p:childTnLst>
                                </p:cTn>
                              </p:par>
                            </p:childTnLst>
                          </p:cTn>
                        </p:par>
                        <p:par>
                          <p:cTn id="12" fill="hold">
                            <p:stCondLst>
                              <p:cond delay="440"/>
                            </p:stCondLst>
                            <p:childTnLst>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2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EF3B140A-9BA4-4381-9C7B-C36695731FE9}">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643</TotalTime>
  <Words>3258</Words>
  <Application>Microsoft Office PowerPoint</Application>
  <PresentationFormat>Widescreen</PresentationFormat>
  <Paragraphs>613</Paragraphs>
  <Slides>29</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24</cp:revision>
  <dcterms:created xsi:type="dcterms:W3CDTF">2026-06-10T16:14:03Z</dcterms:created>
  <dcterms:modified xsi:type="dcterms:W3CDTF">2026-10-18T12:18:22Z</dcterms:modified>
</cp:coreProperties>
</file>