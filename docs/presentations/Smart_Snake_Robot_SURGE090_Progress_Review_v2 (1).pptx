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87" r:id="rId2"/>
    <p:sldId id="271" r:id="rId3"/>
    <p:sldId id="273" r:id="rId4"/>
    <p:sldId id="258" r:id="rId5"/>
    <p:sldId id="259" r:id="rId6"/>
    <p:sldId id="305" r:id="rId7"/>
    <p:sldId id="275" r:id="rId8"/>
    <p:sldId id="262" r:id="rId9"/>
    <p:sldId id="298" r:id="rId10"/>
    <p:sldId id="281" r:id="rId11"/>
    <p:sldId id="285" r:id="rId12"/>
    <p:sldId id="268" r:id="rId13"/>
    <p:sldId id="269" r:id="rId14"/>
    <p:sldId id="314" r:id="rId15"/>
    <p:sldId id="323" r:id="rId16"/>
    <p:sldId id="324" r:id="rId17"/>
    <p:sldId id="256" r:id="rId18"/>
    <p:sldId id="325" r:id="rId19"/>
    <p:sldId id="326" r:id="rId20"/>
    <p:sldId id="327" r:id="rId21"/>
    <p:sldId id="328" r:id="rId22"/>
    <p:sldId id="329" r:id="rId23"/>
    <p:sldId id="330" r:id="rId24"/>
    <p:sldId id="337" r:id="rId25"/>
    <p:sldId id="332" r:id="rId26"/>
    <p:sldId id="333" r:id="rId27"/>
    <p:sldId id="334" r:id="rId28"/>
    <p:sldId id="335" r:id="rId29"/>
    <p:sldId id="336"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10"/>
  </p:normalViewPr>
  <p:slideViewPr>
    <p:cSldViewPr snapToGrid="0" snapToObjects="1">
      <p:cViewPr>
        <p:scale>
          <a:sx n="68" d="100"/>
          <a:sy n="68" d="100"/>
        </p:scale>
        <p:origin x="57" y="6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ank Jangir" userId="9f8ad854ec0a1425" providerId="LiveId" clId="{FCB7649F-E495-46B8-A2E9-8A46A1A45112}"/>
    <pc:docChg chg="custSel addSld delSld">
      <pc:chgData name="Shashank Jangir" userId="9f8ad854ec0a1425" providerId="LiveId" clId="{FCB7649F-E495-46B8-A2E9-8A46A1A45112}" dt="2026-10-18T07:54:07.846" v="27"/>
      <pc:docMkLst>
        <pc:docMk/>
      </pc:docMkLst>
      <pc:sldChg chg="add">
        <pc:chgData name="Shashank Jangir" userId="9f8ad854ec0a1425" providerId="LiveId" clId="{FCB7649F-E495-46B8-A2E9-8A46A1A45112}" dt="2026-10-18T07:47:28.975" v="13"/>
        <pc:sldMkLst>
          <pc:docMk/>
          <pc:sldMk cId="0" sldId="256"/>
        </pc:sldMkLst>
      </pc:sldChg>
      <pc:sldChg chg="add">
        <pc:chgData name="Shashank Jangir" userId="9f8ad854ec0a1425" providerId="LiveId" clId="{FCB7649F-E495-46B8-A2E9-8A46A1A45112}" dt="2026-10-18T07:47:29.006" v="14"/>
        <pc:sldMkLst>
          <pc:docMk/>
          <pc:sldMk cId="3977097274" sldId="325"/>
        </pc:sldMkLst>
      </pc:sldChg>
      <pc:sldChg chg="del">
        <pc:chgData name="Shashank Jangir" userId="9f8ad854ec0a1425" providerId="LiveId" clId="{FCB7649F-E495-46B8-A2E9-8A46A1A45112}" dt="2026-10-18T07:42:17.617" v="0"/>
        <pc:sldMkLst>
          <pc:docMk/>
          <pc:sldMk cId="4284226399" sldId="325"/>
        </pc:sldMkLst>
      </pc:sldChg>
      <pc:sldChg chg="del">
        <pc:chgData name="Shashank Jangir" userId="9f8ad854ec0a1425" providerId="LiveId" clId="{FCB7649F-E495-46B8-A2E9-8A46A1A45112}" dt="2026-10-18T07:42:17.641" v="1"/>
        <pc:sldMkLst>
          <pc:docMk/>
          <pc:sldMk cId="3414584692" sldId="326"/>
        </pc:sldMkLst>
      </pc:sldChg>
      <pc:sldChg chg="add">
        <pc:chgData name="Shashank Jangir" userId="9f8ad854ec0a1425" providerId="LiveId" clId="{FCB7649F-E495-46B8-A2E9-8A46A1A45112}" dt="2026-10-18T07:47:29.021" v="15"/>
        <pc:sldMkLst>
          <pc:docMk/>
          <pc:sldMk cId="3880195548" sldId="326"/>
        </pc:sldMkLst>
      </pc:sldChg>
      <pc:sldChg chg="add">
        <pc:chgData name="Shashank Jangir" userId="9f8ad854ec0a1425" providerId="LiveId" clId="{FCB7649F-E495-46B8-A2E9-8A46A1A45112}" dt="2026-10-18T07:47:29.037" v="16"/>
        <pc:sldMkLst>
          <pc:docMk/>
          <pc:sldMk cId="3049869489" sldId="327"/>
        </pc:sldMkLst>
      </pc:sldChg>
      <pc:sldChg chg="del">
        <pc:chgData name="Shashank Jangir" userId="9f8ad854ec0a1425" providerId="LiveId" clId="{FCB7649F-E495-46B8-A2E9-8A46A1A45112}" dt="2026-10-18T07:42:17.658" v="2"/>
        <pc:sldMkLst>
          <pc:docMk/>
          <pc:sldMk cId="4144980556" sldId="327"/>
        </pc:sldMkLst>
      </pc:sldChg>
      <pc:sldChg chg="add">
        <pc:chgData name="Shashank Jangir" userId="9f8ad854ec0a1425" providerId="LiveId" clId="{FCB7649F-E495-46B8-A2E9-8A46A1A45112}" dt="2026-10-18T07:48:32.385" v="17"/>
        <pc:sldMkLst>
          <pc:docMk/>
          <pc:sldMk cId="1448031757" sldId="328"/>
        </pc:sldMkLst>
      </pc:sldChg>
      <pc:sldChg chg="del">
        <pc:chgData name="Shashank Jangir" userId="9f8ad854ec0a1425" providerId="LiveId" clId="{FCB7649F-E495-46B8-A2E9-8A46A1A45112}" dt="2026-10-18T07:42:17.676" v="3"/>
        <pc:sldMkLst>
          <pc:docMk/>
          <pc:sldMk cId="4284226399" sldId="328"/>
        </pc:sldMkLst>
      </pc:sldChg>
      <pc:sldChg chg="add">
        <pc:chgData name="Shashank Jangir" userId="9f8ad854ec0a1425" providerId="LiveId" clId="{FCB7649F-E495-46B8-A2E9-8A46A1A45112}" dt="2026-10-18T07:48:32.410" v="18"/>
        <pc:sldMkLst>
          <pc:docMk/>
          <pc:sldMk cId="271806660" sldId="329"/>
        </pc:sldMkLst>
      </pc:sldChg>
      <pc:sldChg chg="del">
        <pc:chgData name="Shashank Jangir" userId="9f8ad854ec0a1425" providerId="LiveId" clId="{FCB7649F-E495-46B8-A2E9-8A46A1A45112}" dt="2026-10-18T07:42:17.691" v="4"/>
        <pc:sldMkLst>
          <pc:docMk/>
          <pc:sldMk cId="4144980556" sldId="329"/>
        </pc:sldMkLst>
      </pc:sldChg>
      <pc:sldChg chg="del">
        <pc:chgData name="Shashank Jangir" userId="9f8ad854ec0a1425" providerId="LiveId" clId="{FCB7649F-E495-46B8-A2E9-8A46A1A45112}" dt="2026-10-18T07:42:17.706" v="5"/>
        <pc:sldMkLst>
          <pc:docMk/>
          <pc:sldMk cId="504917471" sldId="330"/>
        </pc:sldMkLst>
      </pc:sldChg>
      <pc:sldChg chg="add">
        <pc:chgData name="Shashank Jangir" userId="9f8ad854ec0a1425" providerId="LiveId" clId="{FCB7649F-E495-46B8-A2E9-8A46A1A45112}" dt="2026-10-18T07:49:03.865" v="19"/>
        <pc:sldMkLst>
          <pc:docMk/>
          <pc:sldMk cId="632237564" sldId="330"/>
        </pc:sldMkLst>
      </pc:sldChg>
      <pc:sldChg chg="del">
        <pc:chgData name="Shashank Jangir" userId="9f8ad854ec0a1425" providerId="LiveId" clId="{FCB7649F-E495-46B8-A2E9-8A46A1A45112}" dt="2026-10-18T07:42:17.719" v="6"/>
        <pc:sldMkLst>
          <pc:docMk/>
          <pc:sldMk cId="504917471" sldId="331"/>
        </pc:sldMkLst>
      </pc:sldChg>
      <pc:sldChg chg="add del">
        <pc:chgData name="Shashank Jangir" userId="9f8ad854ec0a1425" providerId="LiveId" clId="{FCB7649F-E495-46B8-A2E9-8A46A1A45112}" dt="2026-10-18T07:53:40.059" v="26"/>
        <pc:sldMkLst>
          <pc:docMk/>
          <pc:sldMk cId="991029515" sldId="331"/>
        </pc:sldMkLst>
      </pc:sldChg>
      <pc:sldChg chg="add">
        <pc:chgData name="Shashank Jangir" userId="9f8ad854ec0a1425" providerId="LiveId" clId="{FCB7649F-E495-46B8-A2E9-8A46A1A45112}" dt="2026-10-18T07:50:04.060" v="21"/>
        <pc:sldMkLst>
          <pc:docMk/>
          <pc:sldMk cId="3137781011" sldId="332"/>
        </pc:sldMkLst>
      </pc:sldChg>
      <pc:sldChg chg="del">
        <pc:chgData name="Shashank Jangir" userId="9f8ad854ec0a1425" providerId="LiveId" clId="{FCB7649F-E495-46B8-A2E9-8A46A1A45112}" dt="2026-10-18T07:42:17.730" v="7"/>
        <pc:sldMkLst>
          <pc:docMk/>
          <pc:sldMk cId="3414584692" sldId="332"/>
        </pc:sldMkLst>
      </pc:sldChg>
      <pc:sldChg chg="add del">
        <pc:chgData name="Shashank Jangir" userId="9f8ad854ec0a1425" providerId="LiveId" clId="{FCB7649F-E495-46B8-A2E9-8A46A1A45112}" dt="2026-10-18T07:50:49.011" v="22"/>
        <pc:sldMkLst>
          <pc:docMk/>
          <pc:sldMk cId="2794882053" sldId="333"/>
        </pc:sldMkLst>
      </pc:sldChg>
      <pc:sldChg chg="del">
        <pc:chgData name="Shashank Jangir" userId="9f8ad854ec0a1425" providerId="LiveId" clId="{FCB7649F-E495-46B8-A2E9-8A46A1A45112}" dt="2026-10-18T07:42:17.762" v="9"/>
        <pc:sldMkLst>
          <pc:docMk/>
          <pc:sldMk cId="504917471" sldId="334"/>
        </pc:sldMkLst>
      </pc:sldChg>
      <pc:sldChg chg="add">
        <pc:chgData name="Shashank Jangir" userId="9f8ad854ec0a1425" providerId="LiveId" clId="{FCB7649F-E495-46B8-A2E9-8A46A1A45112}" dt="2026-10-18T07:51:38.430" v="23"/>
        <pc:sldMkLst>
          <pc:docMk/>
          <pc:sldMk cId="3026485818" sldId="334"/>
        </pc:sldMkLst>
      </pc:sldChg>
      <pc:sldChg chg="add del">
        <pc:chgData name="Shashank Jangir" userId="9f8ad854ec0a1425" providerId="LiveId" clId="{FCB7649F-E495-46B8-A2E9-8A46A1A45112}" dt="2026-10-18T07:52:23.255" v="24"/>
        <pc:sldMkLst>
          <pc:docMk/>
          <pc:sldMk cId="1248940426" sldId="335"/>
        </pc:sldMkLst>
      </pc:sldChg>
      <pc:sldChg chg="add">
        <pc:chgData name="Shashank Jangir" userId="9f8ad854ec0a1425" providerId="LiveId" clId="{FCB7649F-E495-46B8-A2E9-8A46A1A45112}" dt="2026-10-18T07:52:45.565" v="25"/>
        <pc:sldMkLst>
          <pc:docMk/>
          <pc:sldMk cId="2495354220" sldId="336"/>
        </pc:sldMkLst>
      </pc:sldChg>
      <pc:sldChg chg="del">
        <pc:chgData name="Shashank Jangir" userId="9f8ad854ec0a1425" providerId="LiveId" clId="{FCB7649F-E495-46B8-A2E9-8A46A1A45112}" dt="2026-10-18T07:42:17.798" v="11"/>
        <pc:sldMkLst>
          <pc:docMk/>
          <pc:sldMk cId="4144980556" sldId="336"/>
        </pc:sldMkLst>
      </pc:sldChg>
      <pc:sldChg chg="add del">
        <pc:chgData name="Shashank Jangir" userId="9f8ad854ec0a1425" providerId="LiveId" clId="{FCB7649F-E495-46B8-A2E9-8A46A1A45112}" dt="2026-10-18T07:54:07.846" v="27"/>
        <pc:sldMkLst>
          <pc:docMk/>
          <pc:sldMk cId="3665941571" sldId="33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5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25% progress review of the Smart Snake Robot project, Group SURGE 090. Introduce the team and milestone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across mechanics, actuation, computing, control, sensing and scalability. These map to the timeline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done: ten tasks closed across research, mechanical design, fabrication and the compute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at the centre. Solid cyan = implemented/in progress; dashed amber (sensors, camera) = designed-in but scheduled for a later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modelled to real XL330 dimensions so printed parts mate with the actual servos. Replace the placeholder with CAD screenshots.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segments printed and measured, validating the CAD. Next step is servo integration. Drop prototype photos on the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computer is live: OS installed, networked, remotely accessible, exercised with intro GPIO and Python. De-risks software before motors arrive.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BOM from the purchasing sheet. Compute hardware in hand; actuation and power chain ordered. Total approx Rs 33,760.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the single source of truth — CAD, docs, tracked iterations — with a collaboration workflow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Eight-phase plan: Phase 1 complete, Phase 2 active, Phase 3 next — about 25%. Phases 4-8 cover integration, control, sensing, testing,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achievements: design, fabrication, compute, tooling and procurement all moving — a working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Open by saying the deck up to this point is unchanged from the 25 percent review and is being left that way deliberately - those slides are a record of what we believed then, not a claim about now. Then walk the register top to bottom. It takes about forty seconds and it pre-empts every 'but slide 10 says' interruption in the second half. Say the honest version of the pivot out loud: this was a procurement failure, not an engineering preference, and a re-architecture under a supply constraint is a legitimate result. The follow-up question a reviewer asks is 'where is your torque budget' - it is slide 23, and it did not exist at the 25 percent review.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bhaveshbanshiwal/Snake_SURG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6.jpeg"/><Relationship Id="rId4" Type="http://schemas.openxmlformats.org/officeDocument/2006/relationships/image" Target="../media/image21.pn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29.png"/><Relationship Id="rId12"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jpeg"/><Relationship Id="rId5" Type="http://schemas.openxmlformats.org/officeDocument/2006/relationships/image" Target="../media/image22.png"/><Relationship Id="rId10" Type="http://schemas.openxmlformats.org/officeDocument/2006/relationships/image" Target="../media/image31.jpg"/><Relationship Id="rId4" Type="http://schemas.openxmlformats.org/officeDocument/2006/relationships/image" Target="../media/image11.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5.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svg"/><Relationship Id="rId1" Type="http://schemas.openxmlformats.org/officeDocument/2006/relationships/slideLayout" Target="../slideLayouts/slideLayout1.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GROUP CODE · SURGE 090</a:t>
            </a:r>
            <a:endParaRPr lang="en-US" sz="1200" dirty="0"/>
          </a:p>
        </p:txBody>
      </p:sp>
      <p:sp>
        <p:nvSpPr>
          <p:cNvPr id="6" name="Text 4"/>
          <p:cNvSpPr/>
          <p:nvPr/>
        </p:nvSpPr>
        <p:spPr>
          <a:xfrm>
            <a:off x="822960" y="1828800"/>
            <a:ext cx="8229600" cy="320040"/>
          </a:xfrm>
          <a:prstGeom prst="rect">
            <a:avLst/>
          </a:prstGeom>
          <a:noFill/>
          <a:ln/>
        </p:spPr>
        <p:txBody>
          <a:bodyPr wrap="square" lIns="0" tIns="0" rIns="0" bIns="0" rtlCol="0" anchor="ctr"/>
          <a:lstStyle/>
          <a:p>
            <a:r>
              <a:rPr lang="en-IN" sz="2000" dirty="0">
                <a:solidFill>
                  <a:schemeClr val="tx2">
                    <a:lumMod val="60000"/>
                    <a:lumOff val="40000"/>
                  </a:schemeClr>
                </a:solidFill>
              </a:rPr>
              <a:t>Progress Review (Design &amp; Development)</a:t>
            </a:r>
            <a:endParaRPr lang="en-US" dirty="0">
              <a:solidFill>
                <a:schemeClr val="tx2">
                  <a:lumMod val="60000"/>
                  <a:lumOff val="40000"/>
                </a:schemeClr>
              </a:solidFill>
            </a:endParaRPr>
          </a:p>
        </p:txBody>
      </p:sp>
      <p:sp>
        <p:nvSpPr>
          <p:cNvPr id="7" name="Text 5"/>
          <p:cNvSpPr/>
          <p:nvPr/>
        </p:nvSpPr>
        <p:spPr>
          <a:xfrm>
            <a:off x="777240" y="2194560"/>
            <a:ext cx="84124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Smart Snake Robot</a:t>
            </a:r>
            <a:endParaRPr lang="en-US" sz="5200" dirty="0"/>
          </a:p>
        </p:txBody>
      </p:sp>
      <p:sp>
        <p:nvSpPr>
          <p:cNvPr id="8" name="Text 6"/>
          <p:cNvSpPr/>
          <p:nvPr/>
        </p:nvSpPr>
        <p:spPr>
          <a:xfrm>
            <a:off x="804672" y="3127248"/>
            <a:ext cx="8778240" cy="548640"/>
          </a:xfrm>
          <a:prstGeom prst="rect">
            <a:avLst/>
          </a:prstGeom>
          <a:noFill/>
          <a:ln/>
        </p:spPr>
        <p:txBody>
          <a:bodyPr wrap="square" lIns="0" tIns="0" rIns="0" bIns="0" rtlCol="0" anchor="ctr"/>
          <a:lstStyle/>
          <a:p>
            <a:pPr marL="0" indent="0">
              <a:buNone/>
            </a:pPr>
            <a:r>
              <a:rPr lang="en-US" sz="2400" dirty="0">
                <a:solidFill>
                  <a:srgbClr val="2BD4E8"/>
                </a:solidFill>
                <a:latin typeface="Calibri" pitchFamily="34" charset="0"/>
                <a:ea typeface="Calibri" pitchFamily="34" charset="-122"/>
                <a:cs typeface="Calibri" pitchFamily="34" charset="-120"/>
              </a:rPr>
              <a:t>with Dynamixel Smart Servo Motors</a:t>
            </a:r>
            <a:endParaRPr lang="en-US" sz="2400" dirty="0"/>
          </a:p>
        </p:txBody>
      </p:sp>
      <p:sp>
        <p:nvSpPr>
          <p:cNvPr id="16" name="Shape 14"/>
          <p:cNvSpPr/>
          <p:nvPr/>
        </p:nvSpPr>
        <p:spPr>
          <a:xfrm>
            <a:off x="4791456" y="3977640"/>
            <a:ext cx="457200" cy="457200"/>
          </a:xfrm>
          <a:prstGeom prst="ellipse">
            <a:avLst/>
          </a:prstGeom>
          <a:solidFill>
            <a:srgbClr val="2A3958"/>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4892040" y="4078224"/>
            <a:ext cx="256032" cy="256032"/>
          </a:xfrm>
          <a:prstGeom prst="rect">
            <a:avLst/>
          </a:prstGeom>
        </p:spPr>
      </p:pic>
      <p:sp>
        <p:nvSpPr>
          <p:cNvPr id="18" name="Shape 15"/>
          <p:cNvSpPr/>
          <p:nvPr/>
        </p:nvSpPr>
        <p:spPr>
          <a:xfrm>
            <a:off x="777240" y="4983480"/>
            <a:ext cx="2670048" cy="1234440"/>
          </a:xfrm>
          <a:prstGeom prst="roundRect">
            <a:avLst>
              <a:gd name="adj" fmla="val 5926"/>
            </a:avLst>
          </a:prstGeom>
          <a:solidFill>
            <a:srgbClr val="FFFFFF">
              <a:alpha val="12000"/>
            </a:srgbClr>
          </a:solidFill>
          <a:ln w="13970">
            <a:solidFill>
              <a:srgbClr val="A8D8EA">
                <a:alpha val="42000"/>
              </a:srgbClr>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Shashank Jangir</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2" name="Text 19"/>
          <p:cNvSpPr/>
          <p:nvPr/>
        </p:nvSpPr>
        <p:spPr>
          <a:xfrm>
            <a:off x="978408"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2024EE11048</a:t>
            </a:r>
            <a:endParaRPr lang="en-US" sz="1300" dirty="0"/>
          </a:p>
        </p:txBody>
      </p:sp>
      <p:sp>
        <p:nvSpPr>
          <p:cNvPr id="23" name="Shape 20"/>
          <p:cNvSpPr/>
          <p:nvPr/>
        </p:nvSpPr>
        <p:spPr>
          <a:xfrm>
            <a:off x="3648456" y="4983480"/>
            <a:ext cx="2670048" cy="1234440"/>
          </a:xfrm>
          <a:prstGeom prst="roundRect">
            <a:avLst>
              <a:gd name="adj" fmla="val 5926"/>
            </a:avLst>
          </a:prstGeom>
          <a:solidFill>
            <a:srgbClr val="FFFFFF">
              <a:alpha val="12000"/>
            </a:srgbClr>
          </a:solidFill>
          <a:ln w="13970">
            <a:solidFill>
              <a:srgbClr val="A8D8EA">
                <a:alpha val="42000"/>
              </a:srgbClr>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Bhavesh Bansiwal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7" name="Text 24"/>
          <p:cNvSpPr/>
          <p:nvPr/>
        </p:nvSpPr>
        <p:spPr>
          <a:xfrm>
            <a:off x="3849624"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2024ME10487</a:t>
            </a:r>
            <a:endParaRPr lang="en-US" sz="1300" dirty="0"/>
          </a:p>
        </p:txBody>
      </p:sp>
      <p:sp>
        <p:nvSpPr>
          <p:cNvPr id="28" name="Shape 25"/>
          <p:cNvSpPr/>
          <p:nvPr/>
        </p:nvSpPr>
        <p:spPr>
          <a:xfrm>
            <a:off x="6519672" y="4983480"/>
            <a:ext cx="2670048" cy="1234440"/>
          </a:xfrm>
          <a:prstGeom prst="roundRect">
            <a:avLst>
              <a:gd name="adj" fmla="val 5926"/>
            </a:avLst>
          </a:prstGeom>
          <a:solidFill>
            <a:srgbClr val="FFFFFF">
              <a:alpha val="12000"/>
            </a:srgbClr>
          </a:solidFill>
          <a:ln w="13970">
            <a:solidFill>
              <a:srgbClr val="A8D8EA">
                <a:alpha val="42000"/>
              </a:srgbClr>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Mahima Chotiya</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32" name="Text 29"/>
          <p:cNvSpPr/>
          <p:nvPr/>
        </p:nvSpPr>
        <p:spPr>
          <a:xfrm>
            <a:off x="6720840"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2024ME11187</a:t>
            </a:r>
            <a:endParaRPr lang="en-US" sz="1300" dirty="0"/>
          </a:p>
        </p:txBody>
      </p:sp>
      <p:sp>
        <p:nvSpPr>
          <p:cNvPr id="33" name="Text 30"/>
          <p:cNvSpPr/>
          <p:nvPr/>
        </p:nvSpPr>
        <p:spPr>
          <a:xfrm>
            <a:off x="8934751" y="675593"/>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INSTITUTION</a:t>
            </a:r>
            <a:endParaRPr lang="en-US" sz="1000" dirty="0"/>
          </a:p>
        </p:txBody>
      </p:sp>
      <p:sp>
        <p:nvSpPr>
          <p:cNvPr id="34" name="Text 31"/>
          <p:cNvSpPr/>
          <p:nvPr/>
        </p:nvSpPr>
        <p:spPr>
          <a:xfrm>
            <a:off x="9052560" y="928116"/>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Indian Institute of Technology, Delhi</a:t>
            </a:r>
            <a:endParaRPr lang="en-US" sz="1300" dirty="0"/>
          </a:p>
        </p:txBody>
      </p:sp>
      <p:sp>
        <p:nvSpPr>
          <p:cNvPr id="35" name="Text 32"/>
          <p:cNvSpPr/>
          <p:nvPr/>
        </p:nvSpPr>
        <p:spPr>
          <a:xfrm>
            <a:off x="9052560" y="1746504"/>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PROJECT GUIDE</a:t>
            </a:r>
            <a:endParaRPr lang="en-US" sz="1000" dirty="0"/>
          </a:p>
        </p:txBody>
      </p:sp>
      <p:sp>
        <p:nvSpPr>
          <p:cNvPr id="36" name="Text 33"/>
          <p:cNvSpPr/>
          <p:nvPr/>
        </p:nvSpPr>
        <p:spPr>
          <a:xfrm>
            <a:off x="9189720" y="1881378"/>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Professor </a:t>
            </a:r>
            <a:r>
              <a:rPr lang="en-US" dirty="0" err="1">
                <a:solidFill>
                  <a:srgbClr val="FFFFFF"/>
                </a:solidFill>
                <a:latin typeface="Calibri" pitchFamily="34" charset="0"/>
                <a:ea typeface="Calibri" pitchFamily="34" charset="-122"/>
                <a:cs typeface="Calibri" pitchFamily="34" charset="-120"/>
              </a:rPr>
              <a:t>Amartansh</a:t>
            </a:r>
            <a:r>
              <a:rPr lang="en-US" dirty="0">
                <a:solidFill>
                  <a:srgbClr val="FFFFFF"/>
                </a:solidFill>
                <a:latin typeface="Calibri" pitchFamily="34" charset="0"/>
                <a:ea typeface="Calibri" pitchFamily="34" charset="-122"/>
                <a:cs typeface="Calibri" pitchFamily="34" charset="-120"/>
              </a:rPr>
              <a:t> Dubey</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sp>
        <p:nvSpPr>
          <p:cNvPr id="101" name="RepoLabel"/>
          <p:cNvSpPr>
            <a:spLocks noGrp="1"/>
          </p:cNvSpPr>
          <p:nvPr/>
        </p:nvSpPr>
        <p:spPr>
          <a:xfrm>
            <a:off x="8890000" y="6096000"/>
            <a:ext cx="3111500" cy="177800"/>
          </a:xfrm>
          <a:prstGeom prst="rect">
            <a:avLst/>
          </a:prstGeom>
          <a:noFill/>
          <a:ln>
            <a:noFill/>
          </a:ln>
        </p:spPr>
        <p:txBody>
          <a:bodyPr wrap="square" rtlCol="0" anchor="ctr">
            <a:normAutofit fontScale="70000" lnSpcReduction="20000"/>
          </a:bodyPr>
          <a:lstStyle/>
          <a:p>
            <a:pPr marL="0" indent="0">
              <a:buNone/>
            </a:pPr>
            <a:r>
              <a:rPr lang="en-US" sz="900" b="1" kern="0" spc="200" dirty="0">
                <a:solidFill>
                  <a:srgbClr val="2BD4E8"/>
                </a:solidFill>
                <a:latin typeface="Calibri" pitchFamily="34" charset="0"/>
              </a:rPr>
              <a:t>PROJECT REPOSITORY</a:t>
            </a:r>
          </a:p>
        </p:txBody>
      </p:sp>
      <p:sp>
        <p:nvSpPr>
          <p:cNvPr id="102" name="RepoURL">
            <a:hlinkClick r:id="rId5"/>
          </p:cNvPr>
          <p:cNvSpPr>
            <a:spLocks noGrp="1"/>
          </p:cNvSpPr>
          <p:nvPr/>
        </p:nvSpPr>
        <p:spPr>
          <a:xfrm>
            <a:off x="8890000" y="6324600"/>
            <a:ext cx="3111500" cy="228600"/>
          </a:xfrm>
          <a:prstGeom prst="rect">
            <a:avLst/>
          </a:prstGeom>
          <a:noFill/>
          <a:ln>
            <a:noFill/>
          </a:ln>
        </p:spPr>
        <p:txBody>
          <a:bodyPr wrap="square" rtlCol="0" anchor="ctr">
            <a:normAutofit fontScale="77500" lnSpcReduction="20000"/>
          </a:bodyPr>
          <a:lstStyle/>
          <a:p>
            <a:r>
              <a:rPr lang="en-US" sz="1000" u="sng" dirty="0">
                <a:solidFill>
                  <a:srgbClr val="FFFFFF"/>
                </a:solidFill>
                <a:latin typeface="Calibri" pitchFamily="34" charset="0"/>
              </a:rPr>
              <a:t>https://github.com/shashankjangir/SurGe-090-Smart-snake-robot</a:t>
            </a:r>
          </a:p>
        </p:txBody>
      </p:sp>
    </p:spTree>
    <p:extLst>
      <p:ext uri="{BB962C8B-B14F-4D97-AF65-F5344CB8AC3E}">
        <p14:creationId xmlns:p14="http://schemas.microsoft.com/office/powerpoint/2010/main" val="102981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4EEA45EF-FC4D-436A-A3D1-28E9ADCDAAE7}"/>
              </a:ext>
            </a:extLst>
          </p:cNvPr>
          <p:cNvSpPr/>
          <p:nvPr/>
        </p:nvSpPr>
        <p:spPr>
          <a:xfrm>
            <a:off x="0" y="4826000"/>
            <a:ext cx="2032000" cy="2032000"/>
          </a:xfrm>
          <a:prstGeom prst="ellipse">
            <a:avLst/>
          </a:prstGeom>
          <a:solidFill>
            <a:srgbClr val="5B8DEF">
              <a:alpha val="16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2" name="Oval 11">
            <a:extLst>
              <a:ext uri="{FF2B5EF4-FFF2-40B4-BE49-F238E27FC236}">
                <a16:creationId xmlns:a16="http://schemas.microsoft.com/office/drawing/2014/main" id="{7804E4CE-0B71-453E-8EAB-D5727F540CD5}"/>
              </a:ext>
            </a:extLst>
          </p:cNvPr>
          <p:cNvSpPr/>
          <p:nvPr/>
        </p:nvSpPr>
        <p:spPr>
          <a:xfrm>
            <a:off x="10033000" y="304800"/>
            <a:ext cx="2159000" cy="2159000"/>
          </a:xfrm>
          <a:prstGeom prst="ellipse">
            <a:avLst/>
          </a:prstGeom>
          <a:solidFill>
            <a:srgbClr val="2DCFE3">
              <a:alpha val="22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SELECTION STUDY</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Dynamixel Motors?</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alpha val="71765"/>
              <a:alpha val="70000"/>
            </a:srgbClr>
          </a:solidFill>
          <a:ln w="13335" cap="flat" cmpd="sng" algn="ctr">
            <a:solidFill>
              <a:srgbClr val="B8DCEB">
                <a:alpha val="74902"/>
                <a:alpha val="80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REQUIREMENT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12800"/>
          </a:xfrm>
          <a:prstGeom prst="rect">
            <a:avLst/>
          </a:prstGeom>
          <a:noFill/>
        </p:spPr>
        <p:txBody>
          <a:bodyPr vertOverflow="overflow" vert="horz" wrap="square" rtlCol="0" anchor="t" anchorCtr="0">
            <a:noAutofit/>
          </a:bodyPr>
          <a:lstStyle/>
          <a:p>
            <a:pPr marL="0" indent="0">
              <a:lnSpc>
                <a:spcPct val="108000"/>
              </a:lnSpc>
              <a:buNone/>
            </a:pPr>
            <a:r>
              <a:rPr lang="en-US" sz="1400" dirty="0">
                <a:solidFill>
                  <a:srgbClr val="3A4658"/>
                </a:solidFill>
                <a:latin typeface="Calibri" pitchFamily="34" charset="0"/>
              </a:rPr>
              <a:t>A snake robot drives many joints at once. The actuator must deliver:</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Simple wiring architecture</a:t>
            </a:r>
          </a:p>
          <a:p>
            <a:pPr marL="200000" indent="-200000">
              <a:spcBef>
                <a:spcPts val="700"/>
              </a:spcBef>
              <a:buClr>
                <a:srgbClr val="0E96AC"/>
              </a:buClr>
              <a:buFont typeface="Arial"/>
              <a:buChar char="•"/>
            </a:pPr>
            <a:r>
              <a:rPr lang="en-US" sz="1400" dirty="0">
                <a:solidFill>
                  <a:srgbClr val="16223A"/>
                </a:solidFill>
                <a:latin typeface="Calibri" pitchFamily="34" charset="0"/>
              </a:rPr>
              <a:t>Scalability for multiple joints</a:t>
            </a:r>
          </a:p>
          <a:p>
            <a:pPr marL="200000" indent="-200000">
              <a:spcBef>
                <a:spcPts val="700"/>
              </a:spcBef>
              <a:buClr>
                <a:srgbClr val="0E96AC"/>
              </a:buClr>
              <a:buFont typeface="Arial"/>
              <a:buChar char="•"/>
            </a:pPr>
            <a:r>
              <a:rPr lang="en-US" sz="1400" dirty="0">
                <a:solidFill>
                  <a:srgbClr val="16223A"/>
                </a:solidFill>
                <a:latin typeface="Calibri" pitchFamily="34" charset="0"/>
              </a:rPr>
              <a:t>Reliable communication</a:t>
            </a:r>
          </a:p>
          <a:p>
            <a:pPr marL="200000" indent="-200000">
              <a:spcBef>
                <a:spcPts val="700"/>
              </a:spcBef>
              <a:buClr>
                <a:srgbClr val="0E96AC"/>
              </a:buClr>
              <a:buFont typeface="Arial"/>
              <a:buChar char="•"/>
            </a:pPr>
            <a:r>
              <a:rPr lang="en-US" sz="1400" dirty="0">
                <a:solidFill>
                  <a:srgbClr val="16223A"/>
                </a:solidFill>
                <a:latin typeface="Calibri" pitchFamily="34" charset="0"/>
              </a:rPr>
              <a:t>Real-time feedback</a:t>
            </a:r>
          </a:p>
          <a:p>
            <a:pPr marL="200000" indent="-200000">
              <a:spcBef>
                <a:spcPts val="700"/>
              </a:spcBef>
              <a:buClr>
                <a:srgbClr val="0E96AC"/>
              </a:buClr>
              <a:buFont typeface="Arial"/>
              <a:buChar char="•"/>
            </a:pPr>
            <a:r>
              <a:rPr lang="en-US" sz="1400" dirty="0">
                <a:solidFill>
                  <a:srgbClr val="16223A"/>
                </a:solidFill>
                <a:latin typeface="Calibri" pitchFamily="34" charset="0"/>
              </a:rPr>
              <a:t>Compact size &amp; sufficient torque</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OPTIONS COMPARED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Conventional Servo</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Dynamixel</a:t>
                      </a:r>
                      <a:r>
                        <a:rPr lang="en-IN" sz="1400" b="1" dirty="0">
                          <a:solidFill>
                            <a:srgbClr val="FFFFFF"/>
                          </a:solidFill>
                          <a:latin typeface="Calibri"/>
                          <a:ea typeface="Calibri"/>
                          <a:cs typeface="Calibri"/>
                        </a:rPr>
                        <a:t> Smart Servo</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1">
                          <a:solidFill>
                            <a:srgbClr val="16223A"/>
                          </a:solidFill>
                          <a:latin typeface="Calibri"/>
                          <a:ea typeface="Calibri"/>
                          <a:cs typeface="Calibri"/>
                        </a:rPr>
                        <a:t>Communication</a:t>
                      </a:r>
                    </a:p>
                  </a:txBody>
                  <a:tcPr anchor="ctr">
                    <a:solidFill>
                      <a:srgbClr val="F4F6F9"/>
                    </a:solidFill>
                  </a:tcPr>
                </a:tc>
                <a:tc>
                  <a:txBody>
                    <a:bodyPr/>
                    <a:lstStyle/>
                    <a:p>
                      <a:pPr algn="l"/>
                      <a:r>
                        <a:rPr lang="en-IN" sz="1400" dirty="0">
                          <a:solidFill>
                            <a:srgbClr val="3A4658"/>
                          </a:solidFill>
                          <a:latin typeface="Calibri"/>
                          <a:ea typeface="Calibri"/>
                          <a:cs typeface="Calibri"/>
                        </a:rPr>
                        <a:t>Individual signal wire per motor</a:t>
                      </a:r>
                    </a:p>
                  </a:txBody>
                  <a:tcPr anchor="ctr">
                    <a:solidFill>
                      <a:srgbClr val="FFFFFF"/>
                    </a:solidFill>
                  </a:tcPr>
                </a:tc>
                <a:tc>
                  <a:txBody>
                    <a:bodyPr/>
                    <a:lstStyle/>
                    <a:p>
                      <a:pPr algn="l"/>
                      <a:r>
                        <a:rPr lang="en-IN" sz="1400">
                          <a:solidFill>
                            <a:srgbClr val="16223A"/>
                          </a:solidFill>
                          <a:latin typeface="Calibri"/>
                          <a:ea typeface="Calibri"/>
                          <a:cs typeface="Calibri"/>
                        </a:rPr>
                        <a:t>Daisy-chain communication</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1">
                          <a:solidFill>
                            <a:srgbClr val="16223A"/>
                          </a:solidFill>
                          <a:latin typeface="Calibri"/>
                          <a:ea typeface="Calibri"/>
                          <a:cs typeface="Calibri"/>
                        </a:rPr>
                        <a:t>Wiring Complexity</a:t>
                      </a:r>
                    </a:p>
                  </a:txBody>
                  <a:tcPr anchor="ctr">
                    <a:solidFill>
                      <a:srgbClr val="F4F6F9"/>
                    </a:solidFill>
                  </a:tcPr>
                </a:tc>
                <a:tc>
                  <a:txBody>
                    <a:bodyPr/>
                    <a:lstStyle/>
                    <a:p>
                      <a:pPr algn="l"/>
                      <a:r>
                        <a:rPr lang="en-IN" sz="1400" dirty="0">
                          <a:solidFill>
                            <a:srgbClr val="3A4658"/>
                          </a:solidFill>
                          <a:latin typeface="Calibri"/>
                          <a:ea typeface="Calibri"/>
                          <a:cs typeface="Calibri"/>
                        </a:rPr>
                        <a:t>High</a:t>
                      </a:r>
                    </a:p>
                  </a:txBody>
                  <a:tcPr anchor="ctr">
                    <a:solidFill>
                      <a:srgbClr val="FFFFFF"/>
                    </a:solidFill>
                  </a:tcPr>
                </a:tc>
                <a:tc>
                  <a:txBody>
                    <a:bodyPr/>
                    <a:lstStyle/>
                    <a:p>
                      <a:pPr algn="l"/>
                      <a:r>
                        <a:rPr lang="en-IN" sz="1400" dirty="0">
                          <a:solidFill>
                            <a:srgbClr val="16223A"/>
                          </a:solidFill>
                          <a:latin typeface="Calibri"/>
                          <a:ea typeface="Calibri"/>
                          <a:cs typeface="Calibri"/>
                        </a:rPr>
                        <a:t>Low</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1">
                          <a:solidFill>
                            <a:srgbClr val="16223A"/>
                          </a:solidFill>
                          <a:latin typeface="Calibri"/>
                          <a:ea typeface="Calibri"/>
                          <a:cs typeface="Calibri"/>
                        </a:rPr>
                        <a:t>Feedback</a:t>
                      </a:r>
                    </a:p>
                  </a:txBody>
                  <a:tcPr anchor="ctr">
                    <a:solidFill>
                      <a:srgbClr val="F4F6F9"/>
                    </a:solidFill>
                  </a:tcPr>
                </a:tc>
                <a:tc>
                  <a:txBody>
                    <a:bodyPr/>
                    <a:lstStyle/>
                    <a:p>
                      <a:pPr algn="l"/>
                      <a:r>
                        <a:rPr lang="en-IN" sz="1400" dirty="0">
                          <a:solidFill>
                            <a:srgbClr val="3A4658"/>
                          </a:solidFill>
                          <a:latin typeface="Calibri"/>
                          <a:ea typeface="Calibri"/>
                          <a:cs typeface="Calibri"/>
                        </a:rPr>
                        <a:t>Not available</a:t>
                      </a:r>
                    </a:p>
                  </a:txBody>
                  <a:tcPr anchor="ctr">
                    <a:solidFill>
                      <a:srgbClr val="FFFFFF"/>
                    </a:solidFill>
                  </a:tcPr>
                </a:tc>
                <a:tc>
                  <a:txBody>
                    <a:bodyPr/>
                    <a:lstStyle/>
                    <a:p>
                      <a:pPr algn="l"/>
                      <a:r>
                        <a:rPr lang="en-IN" sz="1400">
                          <a:solidFill>
                            <a:srgbClr val="16223A"/>
                          </a:solidFill>
                          <a:latin typeface="Calibri"/>
                          <a:ea typeface="Calibri"/>
                          <a:cs typeface="Calibri"/>
                        </a:rPr>
                        <a:t>Position, load, temperature, voltage feedback</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1">
                          <a:solidFill>
                            <a:srgbClr val="16223A"/>
                          </a:solidFill>
                          <a:latin typeface="Calibri"/>
                          <a:ea typeface="Calibri"/>
                          <a:cs typeface="Calibri"/>
                        </a:rPr>
                        <a:t>Controller</a:t>
                      </a:r>
                    </a:p>
                  </a:txBody>
                  <a:tcPr anchor="ctr">
                    <a:solidFill>
                      <a:srgbClr val="F4F6F9"/>
                    </a:solidFill>
                  </a:tcPr>
                </a:tc>
                <a:tc>
                  <a:txBody>
                    <a:bodyPr/>
                    <a:lstStyle/>
                    <a:p>
                      <a:pPr algn="l"/>
                      <a:r>
                        <a:rPr lang="en-IN" sz="1400" dirty="0">
                          <a:solidFill>
                            <a:srgbClr val="3A4658"/>
                          </a:solidFill>
                          <a:latin typeface="Calibri"/>
                          <a:ea typeface="Calibri"/>
                          <a:cs typeface="Calibri"/>
                        </a:rPr>
                        <a:t>External controller required</a:t>
                      </a:r>
                    </a:p>
                  </a:txBody>
                  <a:tcPr anchor="ctr">
                    <a:solidFill>
                      <a:srgbClr val="FFFFFF"/>
                    </a:solidFill>
                  </a:tcPr>
                </a:tc>
                <a:tc>
                  <a:txBody>
                    <a:bodyPr/>
                    <a:lstStyle/>
                    <a:p>
                      <a:pPr algn="l"/>
                      <a:r>
                        <a:rPr lang="en-IN" sz="1400" dirty="0">
                          <a:solidFill>
                            <a:srgbClr val="16223A"/>
                          </a:solidFill>
                          <a:latin typeface="Calibri"/>
                          <a:ea typeface="Calibri"/>
                          <a:cs typeface="Calibri"/>
                        </a:rPr>
                        <a:t>Built-in controller</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1">
                          <a:solidFill>
                            <a:srgbClr val="16223A"/>
                          </a:solidFill>
                          <a:latin typeface="Calibri"/>
                          <a:ea typeface="Calibri"/>
                          <a:cs typeface="Calibri"/>
                        </a:rPr>
                        <a:t>Scalability</a:t>
                      </a:r>
                    </a:p>
                  </a:txBody>
                  <a:tcPr anchor="ctr">
                    <a:solidFill>
                      <a:srgbClr val="F4F6F9"/>
                    </a:solidFill>
                  </a:tcPr>
                </a:tc>
                <a:tc>
                  <a:txBody>
                    <a:bodyPr/>
                    <a:lstStyle/>
                    <a:p>
                      <a:pPr algn="l"/>
                      <a:r>
                        <a:rPr lang="en-IN" sz="1400" dirty="0">
                          <a:solidFill>
                            <a:srgbClr val="3A4658"/>
                          </a:solidFill>
                          <a:latin typeface="Calibri"/>
                          <a:ea typeface="Calibri"/>
                          <a:cs typeface="Calibri"/>
                        </a:rPr>
                        <a:t>Difficult for many joints</a:t>
                      </a:r>
                    </a:p>
                  </a:txBody>
                  <a:tcPr anchor="ctr">
                    <a:solidFill>
                      <a:srgbClr val="FFFFFF"/>
                    </a:solidFill>
                  </a:tcPr>
                </a:tc>
                <a:tc>
                  <a:txBody>
                    <a:bodyPr/>
                    <a:lstStyle/>
                    <a:p>
                      <a:pPr algn="l"/>
                      <a:r>
                        <a:rPr lang="en-IN" sz="1400" dirty="0">
                          <a:solidFill>
                            <a:srgbClr val="16223A"/>
                          </a:solidFill>
                          <a:latin typeface="Calibri"/>
                          <a:ea typeface="Calibri"/>
                          <a:cs typeface="Calibri"/>
                        </a:rPr>
                        <a:t>Designed for multi-joint robots</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1">
                          <a:solidFill>
                            <a:srgbClr val="16223A"/>
                          </a:solidFill>
                          <a:latin typeface="Calibri"/>
                          <a:ea typeface="Calibri"/>
                          <a:cs typeface="Calibri"/>
                        </a:rPr>
                        <a:t>Precision</a:t>
                      </a:r>
                    </a:p>
                  </a:txBody>
                  <a:tcPr anchor="ctr">
                    <a:solidFill>
                      <a:srgbClr val="F4F6F9"/>
                    </a:solidFill>
                  </a:tcPr>
                </a:tc>
                <a:tc>
                  <a:txBody>
                    <a:bodyPr/>
                    <a:lstStyle/>
                    <a:p>
                      <a:pPr algn="l"/>
                      <a:r>
                        <a:rPr lang="en-IN" sz="1400" dirty="0">
                          <a:solidFill>
                            <a:srgbClr val="3A4658"/>
                          </a:solidFill>
                          <a:latin typeface="Calibri"/>
                          <a:ea typeface="Calibri"/>
                          <a:cs typeface="Calibri"/>
                        </a:rPr>
                        <a:t>Moderate</a:t>
                      </a:r>
                    </a:p>
                  </a:txBody>
                  <a:tcPr anchor="ctr">
                    <a:solidFill>
                      <a:srgbClr val="FFFFFF"/>
                    </a:solidFill>
                  </a:tcPr>
                </a:tc>
                <a:tc>
                  <a:txBody>
                    <a:bodyPr/>
                    <a:lstStyle/>
                    <a:p>
                      <a:pPr algn="l"/>
                      <a:r>
                        <a:rPr lang="en-IN" sz="1400" dirty="0">
                          <a:solidFill>
                            <a:srgbClr val="16223A"/>
                          </a:solidFill>
                          <a:latin typeface="Calibri"/>
                          <a:ea typeface="Calibri"/>
                          <a:cs typeface="Calibri"/>
                        </a:rPr>
                        <a:t>High</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1" dirty="0">
                          <a:solidFill>
                            <a:srgbClr val="16223A"/>
                          </a:solidFill>
                          <a:latin typeface="Calibri"/>
                          <a:ea typeface="Calibri"/>
                          <a:cs typeface="Calibri"/>
                        </a:rPr>
                        <a:t>Robotics Applications</a:t>
                      </a:r>
                    </a:p>
                  </a:txBody>
                  <a:tcPr anchor="ctr">
                    <a:solidFill>
                      <a:srgbClr val="F4F6F9"/>
                    </a:solidFill>
                  </a:tcPr>
                </a:tc>
                <a:tc>
                  <a:txBody>
                    <a:bodyPr/>
                    <a:lstStyle/>
                    <a:p>
                      <a:pPr algn="l"/>
                      <a:r>
                        <a:rPr lang="en-IN" sz="1400" dirty="0">
                          <a:solidFill>
                            <a:srgbClr val="3A4658"/>
                          </a:solidFill>
                          <a:latin typeface="Calibri"/>
                          <a:ea typeface="Calibri"/>
                          <a:cs typeface="Calibri"/>
                        </a:rPr>
                        <a:t>Hobby projects</a:t>
                      </a:r>
                    </a:p>
                  </a:txBody>
                  <a:tcPr anchor="ctr">
                    <a:solidFill>
                      <a:srgbClr val="FFFFFF"/>
                    </a:solidFill>
                  </a:tcPr>
                </a:tc>
                <a:tc>
                  <a:txBody>
                    <a:bodyPr/>
                    <a:lstStyle/>
                    <a:p>
                      <a:pPr algn="l"/>
                      <a:r>
                        <a:rPr lang="en-IN" sz="1400" dirty="0">
                          <a:solidFill>
                            <a:srgbClr val="16223A"/>
                          </a:solidFill>
                          <a:latin typeface="Calibri"/>
                          <a:ea typeface="Calibri"/>
                          <a:cs typeface="Calibri"/>
                        </a:rPr>
                        <a:t>Research and industrial robotics</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Oval 41">
            <a:extLst>
              <a:ext uri="{FF2B5EF4-FFF2-40B4-BE49-F238E27FC236}">
                <a16:creationId xmlns:a16="http://schemas.microsoft.com/office/drawing/2014/main" id="{F8C8C6A7-CD99-41F1-900A-28A0E2C8C79E}"/>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1" name="Oval 40">
            <a:extLst>
              <a:ext uri="{FF2B5EF4-FFF2-40B4-BE49-F238E27FC236}">
                <a16:creationId xmlns:a16="http://schemas.microsoft.com/office/drawing/2014/main" id="{207277D5-C5A6-470B-B43D-27EA42A32EC8}"/>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alpha val="70000"/>
            </a:srgbClr>
          </a:solidFill>
          <a:ln w="13335" cap="flat" cmpd="sng" algn="ctr">
            <a:solidFill>
              <a:srgbClr val="B8DCEB">
                <a:alpha val="80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alpha val="70000"/>
            </a:srgbClr>
          </a:solidFill>
          <a:ln w="13335" cap="flat" cmpd="sng" algn="ctr">
            <a:solidFill>
              <a:srgbClr val="B8DCEB">
                <a:alpha val="80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alpha val="70000"/>
            </a:srgbClr>
          </a:solidFill>
          <a:ln w="13335" cap="flat" cmpd="sng" algn="ctr">
            <a:solidFill>
              <a:srgbClr val="B8DCEB">
                <a:alpha val="80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ARCHITECTURE &amp; DECISION</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Daisy-Chain Architecture &amp; Final Selection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Conventional Servo — Separate Wiring</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Controller</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1</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3</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4</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Every motor needs its own signal wire back to the controller.</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Dynamixel — Daisy-Chain</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Ctrl</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M1</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M3</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M4</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One cable carries power and data to every joint in sequence.</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KEY LEARNINGS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Daisy-chain wiring sharply cuts cabling and assembly effort.</a:t>
            </a:r>
          </a:p>
          <a:p>
            <a:pPr marL="200000" indent="-200000">
              <a:spcBef>
                <a:spcPts val="600"/>
              </a:spcBef>
              <a:buClr>
                <a:srgbClr val="0E96AC"/>
              </a:buClr>
              <a:buFont typeface="Arial"/>
              <a:buChar char="•"/>
            </a:pPr>
            <a:r>
              <a:rPr lang="en-US" sz="1400" dirty="0">
                <a:solidFill>
                  <a:srgbClr val="16223A"/>
                </a:solidFill>
                <a:latin typeface="Calibri" pitchFamily="34" charset="0"/>
              </a:rPr>
              <a:t>A controller built into every motor simplifies integration.</a:t>
            </a:r>
          </a:p>
          <a:p>
            <a:pPr marL="200000" indent="-200000">
              <a:spcBef>
                <a:spcPts val="600"/>
              </a:spcBef>
              <a:buClr>
                <a:srgbClr val="0E96AC"/>
              </a:buClr>
              <a:buFont typeface="Arial"/>
              <a:buChar char="•"/>
            </a:pPr>
            <a:r>
              <a:rPr lang="en-US" sz="1400" dirty="0">
                <a:solidFill>
                  <a:srgbClr val="16223A"/>
                </a:solidFill>
                <a:latin typeface="Calibri" pitchFamily="34" charset="0"/>
              </a:rPr>
              <a:t>Real-time feedback enables future closed-loop control.</a:t>
            </a:r>
          </a:p>
          <a:p>
            <a:pPr marL="200000" indent="-200000">
              <a:spcBef>
                <a:spcPts val="600"/>
              </a:spcBef>
              <a:buClr>
                <a:srgbClr val="0E96AC"/>
              </a:buClr>
              <a:buFont typeface="Arial"/>
              <a:buChar char="•"/>
            </a:pPr>
            <a:r>
              <a:rPr lang="en-US" sz="1400" dirty="0">
                <a:solidFill>
                  <a:srgbClr val="16223A"/>
                </a:solidFill>
                <a:latin typeface="Calibri" pitchFamily="34" charset="0"/>
              </a:rPr>
              <a:t>Compact form factor suits modular robot segments.</a:t>
            </a:r>
          </a:p>
          <a:p>
            <a:pPr marL="200000" indent="-200000">
              <a:spcBef>
                <a:spcPts val="600"/>
              </a:spcBef>
              <a:buClr>
                <a:srgbClr val="0E96AC"/>
              </a:buClr>
              <a:buFont typeface="Arial"/>
              <a:buChar char="•"/>
            </a:pPr>
            <a:r>
              <a:rPr lang="en-US" sz="1400" dirty="0">
                <a:solidFill>
                  <a:srgbClr val="16223A"/>
                </a:solidFill>
                <a:latin typeface="Calibri" pitchFamily="34" charset="0"/>
              </a:rPr>
              <a:t>High precision and smart control fit advanced robotics.</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FINAL SELECTED ACTUATOR</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Dynamixel XL330 Series</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Chosen for its smart serial communication, full-state feedback, compact form factor and effortless multi-joint scaling — the right fit for a multi-segment snake robot.</a:t>
            </a:r>
          </a:p>
        </p:txBody>
      </p:sp>
    </p:spTree>
    <p:extLst>
      <p:ext uri="{BB962C8B-B14F-4D97-AF65-F5344CB8AC3E}">
        <p14:creationId xmlns:p14="http://schemas.microsoft.com/office/powerpoint/2010/main" val="50491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B87B5FC4-0C9E-4C2F-A87C-C47B9CA0950E}"/>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Oval 3">
            <a:extLst>
              <a:ext uri="{FF2B5EF4-FFF2-40B4-BE49-F238E27FC236}">
                <a16:creationId xmlns:a16="http://schemas.microsoft.com/office/drawing/2014/main" id="{4F8D5DA3-8DA7-4092-9920-68689575EF37}"/>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GOALS &amp; EXPECTED OUTCOMES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This Project Sets Out to Build</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20240"/>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98548"/>
            <a:ext cx="356616" cy="356616"/>
          </a:xfrm>
          <a:prstGeom prst="rect">
            <a:avLst/>
          </a:prstGeom>
        </p:spPr>
      </p:pic>
      <p:sp>
        <p:nvSpPr>
          <p:cNvPr id="13" name="Text 10"/>
          <p:cNvSpPr/>
          <p:nvPr/>
        </p:nvSpPr>
        <p:spPr>
          <a:xfrm>
            <a:off x="3118104"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14" name="Text 11"/>
          <p:cNvSpPr/>
          <p:nvPr/>
        </p:nvSpPr>
        <p:spPr>
          <a:xfrm>
            <a:off x="822960"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Modular Architecture</a:t>
            </a:r>
            <a:endParaRPr lang="en-US" sz="1550" dirty="0"/>
          </a:p>
        </p:txBody>
      </p:sp>
      <p:sp>
        <p:nvSpPr>
          <p:cNvPr id="15" name="Text 12"/>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repeatable segment-based mechanical design.</a:t>
            </a:r>
            <a:endParaRPr lang="en-US" sz="1150" dirty="0"/>
          </a:p>
        </p:txBody>
      </p:sp>
      <p:sp>
        <p:nvSpPr>
          <p:cNvPr id="16" name="Shape 13"/>
          <p:cNvSpPr/>
          <p:nvPr/>
        </p:nvSpPr>
        <p:spPr>
          <a:xfrm>
            <a:off x="4370832" y="1627632"/>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4"/>
          <p:cNvSpPr/>
          <p:nvPr/>
        </p:nvSpPr>
        <p:spPr>
          <a:xfrm>
            <a:off x="4645152" y="1920240"/>
            <a:ext cx="713232" cy="713232"/>
          </a:xfrm>
          <a:prstGeom prst="ellipse">
            <a:avLst/>
          </a:prstGeom>
          <a:solidFill>
            <a:srgbClr val="E08A1E"/>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4823460" y="2098548"/>
            <a:ext cx="356616" cy="356616"/>
          </a:xfrm>
          <a:prstGeom prst="rect">
            <a:avLst/>
          </a:prstGeom>
        </p:spPr>
      </p:pic>
      <p:sp>
        <p:nvSpPr>
          <p:cNvPr id="19" name="Text 15"/>
          <p:cNvSpPr/>
          <p:nvPr/>
        </p:nvSpPr>
        <p:spPr>
          <a:xfrm>
            <a:off x="6940296"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20" name="Text 16"/>
          <p:cNvSpPr/>
          <p:nvPr/>
        </p:nvSpPr>
        <p:spPr>
          <a:xfrm>
            <a:off x="4645152"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Dynamixel Actuators</a:t>
            </a:r>
            <a:endParaRPr lang="en-US" sz="1550" dirty="0"/>
          </a:p>
        </p:txBody>
      </p:sp>
      <p:sp>
        <p:nvSpPr>
          <p:cNvPr id="21" name="Text 17"/>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Integrate smart servos with daisy-chained control.</a:t>
            </a:r>
            <a:endParaRPr lang="en-US" sz="1150" dirty="0"/>
          </a:p>
        </p:txBody>
      </p:sp>
      <p:sp>
        <p:nvSpPr>
          <p:cNvPr id="22" name="Shape 18"/>
          <p:cNvSpPr/>
          <p:nvPr/>
        </p:nvSpPr>
        <p:spPr>
          <a:xfrm>
            <a:off x="8193024" y="1627632"/>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9"/>
          <p:cNvSpPr/>
          <p:nvPr/>
        </p:nvSpPr>
        <p:spPr>
          <a:xfrm>
            <a:off x="8467344" y="1920240"/>
            <a:ext cx="713232" cy="713232"/>
          </a:xfrm>
          <a:prstGeom prst="ellipse">
            <a:avLst/>
          </a:prstGeom>
          <a:solidFill>
            <a:srgbClr val="12A678"/>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645652" y="2098548"/>
            <a:ext cx="356616" cy="356616"/>
          </a:xfrm>
          <a:prstGeom prst="rect">
            <a:avLst/>
          </a:prstGeom>
        </p:spPr>
      </p:pic>
      <p:sp>
        <p:nvSpPr>
          <p:cNvPr id="25" name="Text 20"/>
          <p:cNvSpPr/>
          <p:nvPr/>
        </p:nvSpPr>
        <p:spPr>
          <a:xfrm>
            <a:off x="10762488"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6" name="Text 21"/>
          <p:cNvSpPr/>
          <p:nvPr/>
        </p:nvSpPr>
        <p:spPr>
          <a:xfrm>
            <a:off x="8467344"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Raspberry Pi Control</a:t>
            </a:r>
            <a:endParaRPr lang="en-US" sz="1550" dirty="0"/>
          </a:p>
        </p:txBody>
      </p:sp>
      <p:sp>
        <p:nvSpPr>
          <p:cNvPr id="27" name="Text 22"/>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single-board-computer control system.</a:t>
            </a:r>
            <a:endParaRPr lang="en-US" sz="1150" dirty="0"/>
          </a:p>
        </p:txBody>
      </p:sp>
      <p:sp>
        <p:nvSpPr>
          <p:cNvPr id="28" name="Shape 23"/>
          <p:cNvSpPr/>
          <p:nvPr/>
        </p:nvSpPr>
        <p:spPr>
          <a:xfrm>
            <a:off x="548640" y="3877056"/>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4"/>
          <p:cNvSpPr/>
          <p:nvPr/>
        </p:nvSpPr>
        <p:spPr>
          <a:xfrm>
            <a:off x="822960" y="4169664"/>
            <a:ext cx="713232" cy="713232"/>
          </a:xfrm>
          <a:prstGeom prst="ellipse">
            <a:avLst/>
          </a:prstGeom>
          <a:solidFill>
            <a:srgbClr val="0E96AC"/>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1001268" y="4347972"/>
            <a:ext cx="356616" cy="356616"/>
          </a:xfrm>
          <a:prstGeom prst="rect">
            <a:avLst/>
          </a:prstGeom>
        </p:spPr>
      </p:pic>
      <p:sp>
        <p:nvSpPr>
          <p:cNvPr id="31" name="Text 25"/>
          <p:cNvSpPr/>
          <p:nvPr/>
        </p:nvSpPr>
        <p:spPr>
          <a:xfrm>
            <a:off x="3118104"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32" name="Text 26"/>
          <p:cNvSpPr/>
          <p:nvPr/>
        </p:nvSpPr>
        <p:spPr>
          <a:xfrm>
            <a:off x="822960"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Locomotion Algorithms</a:t>
            </a:r>
            <a:endParaRPr lang="en-US" sz="1550" dirty="0"/>
          </a:p>
        </p:txBody>
      </p:sp>
      <p:sp>
        <p:nvSpPr>
          <p:cNvPr id="33" name="Text 27"/>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Implement serpentine and gait-based motion.</a:t>
            </a:r>
            <a:endParaRPr lang="en-US" sz="1150" dirty="0"/>
          </a:p>
        </p:txBody>
      </p:sp>
      <p:sp>
        <p:nvSpPr>
          <p:cNvPr id="34" name="Shape 28"/>
          <p:cNvSpPr/>
          <p:nvPr/>
        </p:nvSpPr>
        <p:spPr>
          <a:xfrm>
            <a:off x="4370832" y="3877056"/>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9"/>
          <p:cNvSpPr/>
          <p:nvPr/>
        </p:nvSpPr>
        <p:spPr>
          <a:xfrm>
            <a:off x="4645152" y="4169664"/>
            <a:ext cx="713232" cy="713232"/>
          </a:xfrm>
          <a:prstGeom prst="ellipse">
            <a:avLst/>
          </a:prstGeom>
          <a:solidFill>
            <a:srgbClr val="E08A1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823460" y="4347972"/>
            <a:ext cx="356616" cy="356616"/>
          </a:xfrm>
          <a:prstGeom prst="rect">
            <a:avLst/>
          </a:prstGeom>
        </p:spPr>
      </p:pic>
      <p:sp>
        <p:nvSpPr>
          <p:cNvPr id="37" name="Text 30"/>
          <p:cNvSpPr/>
          <p:nvPr/>
        </p:nvSpPr>
        <p:spPr>
          <a:xfrm>
            <a:off x="6940296"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05</a:t>
            </a:r>
            <a:endParaRPr lang="en-US" sz="3000" dirty="0"/>
          </a:p>
        </p:txBody>
      </p:sp>
      <p:sp>
        <p:nvSpPr>
          <p:cNvPr id="38" name="Text 31"/>
          <p:cNvSpPr/>
          <p:nvPr/>
        </p:nvSpPr>
        <p:spPr>
          <a:xfrm>
            <a:off x="4645152"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Sensor Integration</a:t>
            </a:r>
            <a:endParaRPr lang="en-US" sz="1550" dirty="0"/>
          </a:p>
        </p:txBody>
      </p:sp>
      <p:sp>
        <p:nvSpPr>
          <p:cNvPr id="39" name="Text 32"/>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Add sensing for future intelligent navigation.</a:t>
            </a:r>
            <a:endParaRPr lang="en-US" sz="1150" dirty="0"/>
          </a:p>
        </p:txBody>
      </p:sp>
      <p:sp>
        <p:nvSpPr>
          <p:cNvPr id="40" name="Shape 33"/>
          <p:cNvSpPr/>
          <p:nvPr/>
        </p:nvSpPr>
        <p:spPr>
          <a:xfrm>
            <a:off x="8193024" y="3877056"/>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34"/>
          <p:cNvSpPr/>
          <p:nvPr/>
        </p:nvSpPr>
        <p:spPr>
          <a:xfrm>
            <a:off x="8467344" y="4169664"/>
            <a:ext cx="713232" cy="713232"/>
          </a:xfrm>
          <a:prstGeom prst="ellipse">
            <a:avLst/>
          </a:prstGeom>
          <a:solidFill>
            <a:srgbClr val="12A678"/>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8645652" y="4347972"/>
            <a:ext cx="356616" cy="356616"/>
          </a:xfrm>
          <a:prstGeom prst="rect">
            <a:avLst/>
          </a:prstGeom>
        </p:spPr>
      </p:pic>
      <p:sp>
        <p:nvSpPr>
          <p:cNvPr id="43" name="Text 35"/>
          <p:cNvSpPr/>
          <p:nvPr/>
        </p:nvSpPr>
        <p:spPr>
          <a:xfrm>
            <a:off x="10762488"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06</a:t>
            </a:r>
            <a:endParaRPr lang="en-US" sz="3000" dirty="0"/>
          </a:p>
        </p:txBody>
      </p:sp>
      <p:sp>
        <p:nvSpPr>
          <p:cNvPr id="44" name="Text 36"/>
          <p:cNvSpPr/>
          <p:nvPr/>
        </p:nvSpPr>
        <p:spPr>
          <a:xfrm>
            <a:off x="8467344"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Scalable Platform</a:t>
            </a:r>
            <a:endParaRPr lang="en-US" sz="1550" dirty="0"/>
          </a:p>
        </p:txBody>
      </p:sp>
      <p:sp>
        <p:nvSpPr>
          <p:cNvPr id="45" name="Text 37"/>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Keep it maintainable and easy to extend.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20B107BF-F76F-4ED9-83F4-9E10198BFEF9}"/>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Oval 3">
            <a:extLst>
              <a:ext uri="{FF2B5EF4-FFF2-40B4-BE49-F238E27FC236}">
                <a16:creationId xmlns:a16="http://schemas.microsoft.com/office/drawing/2014/main" id="{4D5C2213-7C41-4EAC-BF49-4519788FAC3A}"/>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WORK COMPLETED SO FAR</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Quarter-One Progress Summary</a:t>
            </a:r>
            <a:endParaRPr lang="en-US" sz="3000" dirty="0"/>
          </a:p>
        </p:txBody>
      </p:sp>
      <p:sp>
        <p:nvSpPr>
          <p:cNvPr id="10" name="Shape 8"/>
          <p:cNvSpPr/>
          <p:nvPr/>
        </p:nvSpPr>
        <p:spPr>
          <a:xfrm>
            <a:off x="548640" y="1645920"/>
            <a:ext cx="3657600" cy="4434840"/>
          </a:xfrm>
          <a:prstGeom prst="roundRect">
            <a:avLst>
              <a:gd name="adj" fmla="val 2500"/>
            </a:avLst>
          </a:prstGeom>
          <a:solidFill>
            <a:srgbClr val="16223A"/>
          </a:solidFill>
          <a:ln/>
          <a:effectLst>
            <a:outerShdw blurRad="114300" dist="38100" dir="5400000" algn="bl" rotWithShape="0">
              <a:srgbClr val="1A2440">
                <a:alpha val="16000"/>
              </a:srgbClr>
            </a:outerShdw>
          </a:effectLst>
        </p:spPr>
        <p:txBody>
          <a:bodyPr/>
          <a:lstStyle/>
          <a:p>
            <a:endParaRPr lang="en-IN"/>
          </a:p>
        </p:txBody>
      </p:sp>
      <p:sp>
        <p:nvSpPr>
          <p:cNvPr id="11" name="Text 9"/>
          <p:cNvSpPr/>
          <p:nvPr/>
        </p:nvSpPr>
        <p:spPr>
          <a:xfrm>
            <a:off x="777240" y="1965960"/>
            <a:ext cx="3200400" cy="274320"/>
          </a:xfrm>
          <a:prstGeom prst="rect">
            <a:avLst/>
          </a:prstGeom>
          <a:noFill/>
          <a:ln/>
        </p:spPr>
        <p:txBody>
          <a:bodyPr wrap="square" lIns="0" tIns="0" rIns="0" bIns="0" rtlCol="0" anchor="ctr"/>
          <a:lstStyle/>
          <a:p>
            <a:pPr marL="0" indent="0">
              <a:buNone/>
            </a:pPr>
            <a:r>
              <a:rPr lang="en-US" sz="1150" b="1" kern="0" spc="200" dirty="0">
                <a:solidFill>
                  <a:srgbClr val="2BD4E8"/>
                </a:solidFill>
                <a:latin typeface="Calibri" pitchFamily="34" charset="0"/>
                <a:ea typeface="Calibri" pitchFamily="34" charset="-122"/>
                <a:cs typeface="Calibri" pitchFamily="34" charset="-120"/>
              </a:rPr>
              <a:t>OVERALL COMPLETION(till now)</a:t>
            </a:r>
            <a:endParaRPr lang="en-US" sz="1150" dirty="0"/>
          </a:p>
        </p:txBody>
      </p:sp>
      <p:sp>
        <p:nvSpPr>
          <p:cNvPr id="12" name="Text 10"/>
          <p:cNvSpPr/>
          <p:nvPr/>
        </p:nvSpPr>
        <p:spPr>
          <a:xfrm>
            <a:off x="777240" y="2240280"/>
            <a:ext cx="3200400" cy="1188720"/>
          </a:xfrm>
          <a:prstGeom prst="rect">
            <a:avLst/>
          </a:prstGeom>
          <a:noFill/>
          <a:ln/>
        </p:spPr>
        <p:txBody>
          <a:bodyPr wrap="square" lIns="0" tIns="0" rIns="0" bIns="0"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25</a:t>
            </a:r>
            <a:r>
              <a:rPr lang="en-US" sz="3400" b="1" dirty="0">
                <a:solidFill>
                  <a:srgbClr val="2BD4E8"/>
                </a:solidFill>
                <a:latin typeface="Calibri" pitchFamily="34" charset="0"/>
                <a:ea typeface="Calibri" pitchFamily="34" charset="-122"/>
                <a:cs typeface="Calibri" pitchFamily="34" charset="-120"/>
              </a:rPr>
              <a:t> %</a:t>
            </a:r>
            <a:endParaRPr lang="en-US" sz="7800" dirty="0"/>
          </a:p>
        </p:txBody>
      </p:sp>
      <p:sp>
        <p:nvSpPr>
          <p:cNvPr id="13" name="Shape 11"/>
          <p:cNvSpPr/>
          <p:nvPr/>
        </p:nvSpPr>
        <p:spPr>
          <a:xfrm>
            <a:off x="777240" y="3611880"/>
            <a:ext cx="352044" cy="310896"/>
          </a:xfrm>
          <a:prstGeom prst="roundRect">
            <a:avLst>
              <a:gd name="adj" fmla="val 14706"/>
            </a:avLst>
          </a:prstGeom>
          <a:solidFill>
            <a:srgbClr val="2BD4E8"/>
          </a:solidFill>
          <a:ln/>
        </p:spPr>
        <p:txBody>
          <a:bodyPr/>
          <a:lstStyle/>
          <a:p>
            <a:endParaRPr lang="en-IN"/>
          </a:p>
        </p:txBody>
      </p:sp>
      <p:sp>
        <p:nvSpPr>
          <p:cNvPr id="14" name="Shape 12"/>
          <p:cNvSpPr/>
          <p:nvPr/>
        </p:nvSpPr>
        <p:spPr>
          <a:xfrm>
            <a:off x="1184148" y="3611880"/>
            <a:ext cx="352044" cy="310896"/>
          </a:xfrm>
          <a:prstGeom prst="roundRect">
            <a:avLst>
              <a:gd name="adj" fmla="val 14706"/>
            </a:avLst>
          </a:prstGeom>
          <a:solidFill>
            <a:srgbClr val="2BD4E8"/>
          </a:solidFill>
          <a:ln/>
        </p:spPr>
        <p:txBody>
          <a:bodyPr/>
          <a:lstStyle/>
          <a:p>
            <a:endParaRPr lang="en-IN"/>
          </a:p>
        </p:txBody>
      </p:sp>
      <p:sp>
        <p:nvSpPr>
          <p:cNvPr id="15" name="Shape 13"/>
          <p:cNvSpPr/>
          <p:nvPr/>
        </p:nvSpPr>
        <p:spPr>
          <a:xfrm>
            <a:off x="1591056" y="3611880"/>
            <a:ext cx="352044" cy="310896"/>
          </a:xfrm>
          <a:prstGeom prst="roundRect">
            <a:avLst>
              <a:gd name="adj" fmla="val 14706"/>
            </a:avLst>
          </a:prstGeom>
          <a:solidFill>
            <a:srgbClr val="2A3958"/>
          </a:solidFill>
          <a:ln/>
        </p:spPr>
        <p:txBody>
          <a:bodyPr/>
          <a:lstStyle/>
          <a:p>
            <a:endParaRPr lang="en-IN"/>
          </a:p>
        </p:txBody>
      </p:sp>
      <p:sp>
        <p:nvSpPr>
          <p:cNvPr id="16" name="Shape 14"/>
          <p:cNvSpPr/>
          <p:nvPr/>
        </p:nvSpPr>
        <p:spPr>
          <a:xfrm>
            <a:off x="1997964" y="3611880"/>
            <a:ext cx="352044" cy="310896"/>
          </a:xfrm>
          <a:prstGeom prst="roundRect">
            <a:avLst>
              <a:gd name="adj" fmla="val 14706"/>
            </a:avLst>
          </a:prstGeom>
          <a:solidFill>
            <a:srgbClr val="2A3958"/>
          </a:solidFill>
          <a:ln/>
        </p:spPr>
        <p:txBody>
          <a:bodyPr/>
          <a:lstStyle/>
          <a:p>
            <a:endParaRPr lang="en-IN"/>
          </a:p>
        </p:txBody>
      </p:sp>
      <p:sp>
        <p:nvSpPr>
          <p:cNvPr id="17" name="Shape 15"/>
          <p:cNvSpPr/>
          <p:nvPr/>
        </p:nvSpPr>
        <p:spPr>
          <a:xfrm>
            <a:off x="2404872" y="3611880"/>
            <a:ext cx="352044" cy="310896"/>
          </a:xfrm>
          <a:prstGeom prst="roundRect">
            <a:avLst>
              <a:gd name="adj" fmla="val 14706"/>
            </a:avLst>
          </a:prstGeom>
          <a:solidFill>
            <a:srgbClr val="2A3958"/>
          </a:solidFill>
          <a:ln/>
        </p:spPr>
        <p:txBody>
          <a:bodyPr/>
          <a:lstStyle/>
          <a:p>
            <a:endParaRPr lang="en-IN"/>
          </a:p>
        </p:txBody>
      </p:sp>
      <p:sp>
        <p:nvSpPr>
          <p:cNvPr id="18" name="Shape 16"/>
          <p:cNvSpPr/>
          <p:nvPr/>
        </p:nvSpPr>
        <p:spPr>
          <a:xfrm>
            <a:off x="2811780" y="3611880"/>
            <a:ext cx="352044" cy="310896"/>
          </a:xfrm>
          <a:prstGeom prst="roundRect">
            <a:avLst>
              <a:gd name="adj" fmla="val 14706"/>
            </a:avLst>
          </a:prstGeom>
          <a:solidFill>
            <a:srgbClr val="2A3958"/>
          </a:solidFill>
          <a:ln/>
        </p:spPr>
        <p:txBody>
          <a:bodyPr/>
          <a:lstStyle/>
          <a:p>
            <a:endParaRPr lang="en-IN"/>
          </a:p>
        </p:txBody>
      </p:sp>
      <p:sp>
        <p:nvSpPr>
          <p:cNvPr id="19" name="Shape 17"/>
          <p:cNvSpPr/>
          <p:nvPr/>
        </p:nvSpPr>
        <p:spPr>
          <a:xfrm>
            <a:off x="3218688" y="3611880"/>
            <a:ext cx="352044" cy="310896"/>
          </a:xfrm>
          <a:prstGeom prst="roundRect">
            <a:avLst>
              <a:gd name="adj" fmla="val 14706"/>
            </a:avLst>
          </a:prstGeom>
          <a:solidFill>
            <a:srgbClr val="2A3958"/>
          </a:solidFill>
          <a:ln/>
        </p:spPr>
        <p:txBody>
          <a:bodyPr/>
          <a:lstStyle/>
          <a:p>
            <a:endParaRPr lang="en-IN"/>
          </a:p>
        </p:txBody>
      </p:sp>
      <p:sp>
        <p:nvSpPr>
          <p:cNvPr id="20" name="Shape 18"/>
          <p:cNvSpPr/>
          <p:nvPr/>
        </p:nvSpPr>
        <p:spPr>
          <a:xfrm>
            <a:off x="3625596" y="3611880"/>
            <a:ext cx="352044" cy="310896"/>
          </a:xfrm>
          <a:prstGeom prst="roundRect">
            <a:avLst>
              <a:gd name="adj" fmla="val 14706"/>
            </a:avLst>
          </a:prstGeom>
          <a:solidFill>
            <a:srgbClr val="2A3958"/>
          </a:solidFill>
          <a:ln/>
        </p:spPr>
        <p:txBody>
          <a:bodyPr/>
          <a:lstStyle/>
          <a:p>
            <a:endParaRPr lang="en-IN"/>
          </a:p>
        </p:txBody>
      </p:sp>
      <p:sp>
        <p:nvSpPr>
          <p:cNvPr id="21" name="Text 19"/>
          <p:cNvSpPr/>
          <p:nvPr/>
        </p:nvSpPr>
        <p:spPr>
          <a:xfrm>
            <a:off x="777240" y="4023360"/>
            <a:ext cx="3200400" cy="274320"/>
          </a:xfrm>
          <a:prstGeom prst="rect">
            <a:avLst/>
          </a:prstGeom>
          <a:noFill/>
          <a:ln/>
        </p:spPr>
        <p:txBody>
          <a:bodyPr wrap="square" lIns="0" tIns="0" rIns="0" bIns="0" rtlCol="0" anchor="ctr"/>
          <a:lstStyle/>
          <a:p>
            <a:pPr marL="0" indent="0">
              <a:buNone/>
            </a:pPr>
            <a:r>
              <a:rPr lang="en-US" sz="1150" dirty="0">
                <a:solidFill>
                  <a:srgbClr val="6B7890"/>
                </a:solidFill>
                <a:latin typeface="Calibri" pitchFamily="34" charset="0"/>
                <a:ea typeface="Calibri" pitchFamily="34" charset="-122"/>
                <a:cs typeface="Calibri" pitchFamily="34" charset="-120"/>
              </a:rPr>
              <a:t>Phase 1 complete · Phase 2 underway</a:t>
            </a:r>
            <a:endParaRPr lang="en-US" sz="1150" dirty="0"/>
          </a:p>
        </p:txBody>
      </p:sp>
      <p:sp>
        <p:nvSpPr>
          <p:cNvPr id="22" name="Shape 20"/>
          <p:cNvSpPr/>
          <p:nvPr/>
        </p:nvSpPr>
        <p:spPr>
          <a:xfrm>
            <a:off x="777240" y="4526280"/>
            <a:ext cx="960120" cy="1207008"/>
          </a:xfrm>
          <a:prstGeom prst="roundRect">
            <a:avLst>
              <a:gd name="adj" fmla="val 7619"/>
            </a:avLst>
          </a:prstGeom>
          <a:solidFill>
            <a:srgbClr val="1E2A45"/>
          </a:solidFill>
          <a:ln/>
        </p:spPr>
        <p:txBody>
          <a:bodyPr/>
          <a:lstStyle/>
          <a:p>
            <a:endParaRPr lang="en-IN"/>
          </a:p>
        </p:txBody>
      </p:sp>
      <p:sp>
        <p:nvSpPr>
          <p:cNvPr id="23" name="Text 21"/>
          <p:cNvSpPr/>
          <p:nvPr/>
        </p:nvSpPr>
        <p:spPr>
          <a:xfrm>
            <a:off x="777240"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10</a:t>
            </a:r>
            <a:endParaRPr lang="en-US" sz="2800" dirty="0"/>
          </a:p>
        </p:txBody>
      </p:sp>
      <p:sp>
        <p:nvSpPr>
          <p:cNvPr id="24" name="Text 22"/>
          <p:cNvSpPr/>
          <p:nvPr/>
        </p:nvSpPr>
        <p:spPr>
          <a:xfrm>
            <a:off x="777240"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Tasks done</a:t>
            </a:r>
            <a:endParaRPr lang="en-US" sz="950" dirty="0"/>
          </a:p>
        </p:txBody>
      </p:sp>
      <p:sp>
        <p:nvSpPr>
          <p:cNvPr id="25" name="Shape 23"/>
          <p:cNvSpPr/>
          <p:nvPr/>
        </p:nvSpPr>
        <p:spPr>
          <a:xfrm>
            <a:off x="1856232" y="4526280"/>
            <a:ext cx="960120" cy="1207008"/>
          </a:xfrm>
          <a:prstGeom prst="roundRect">
            <a:avLst>
              <a:gd name="adj" fmla="val 7619"/>
            </a:avLst>
          </a:prstGeom>
          <a:solidFill>
            <a:srgbClr val="1E2A45"/>
          </a:solidFill>
          <a:ln/>
        </p:spPr>
        <p:txBody>
          <a:bodyPr/>
          <a:lstStyle/>
          <a:p>
            <a:endParaRPr lang="en-IN"/>
          </a:p>
        </p:txBody>
      </p:sp>
      <p:sp>
        <p:nvSpPr>
          <p:cNvPr id="26" name="Text 24"/>
          <p:cNvSpPr/>
          <p:nvPr/>
        </p:nvSpPr>
        <p:spPr>
          <a:xfrm>
            <a:off x="1856232"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2</a:t>
            </a:r>
            <a:endParaRPr lang="en-US" sz="2800" dirty="0"/>
          </a:p>
        </p:txBody>
      </p:sp>
      <p:sp>
        <p:nvSpPr>
          <p:cNvPr id="27" name="Text 25"/>
          <p:cNvSpPr/>
          <p:nvPr/>
        </p:nvSpPr>
        <p:spPr>
          <a:xfrm>
            <a:off x="1856232"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Segments printed</a:t>
            </a:r>
            <a:endParaRPr lang="en-US" sz="950" dirty="0"/>
          </a:p>
        </p:txBody>
      </p:sp>
      <p:sp>
        <p:nvSpPr>
          <p:cNvPr id="28" name="Shape 26"/>
          <p:cNvSpPr/>
          <p:nvPr/>
        </p:nvSpPr>
        <p:spPr>
          <a:xfrm>
            <a:off x="2935224" y="4526280"/>
            <a:ext cx="960120" cy="1207008"/>
          </a:xfrm>
          <a:prstGeom prst="roundRect">
            <a:avLst>
              <a:gd name="adj" fmla="val 7619"/>
            </a:avLst>
          </a:prstGeom>
          <a:solidFill>
            <a:srgbClr val="1E2A45"/>
          </a:solidFill>
          <a:ln/>
        </p:spPr>
        <p:txBody>
          <a:bodyPr/>
          <a:lstStyle/>
          <a:p>
            <a:endParaRPr lang="en-IN"/>
          </a:p>
        </p:txBody>
      </p:sp>
      <p:sp>
        <p:nvSpPr>
          <p:cNvPr id="29" name="Text 27"/>
          <p:cNvSpPr/>
          <p:nvPr/>
        </p:nvSpPr>
        <p:spPr>
          <a:xfrm>
            <a:off x="2935224"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a:t>
            </a:r>
            <a:endParaRPr lang="en-US" sz="2800" dirty="0"/>
          </a:p>
        </p:txBody>
      </p:sp>
      <p:sp>
        <p:nvSpPr>
          <p:cNvPr id="30" name="Text 28"/>
          <p:cNvSpPr/>
          <p:nvPr/>
        </p:nvSpPr>
        <p:spPr>
          <a:xfrm>
            <a:off x="2935224"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Pi configured</a:t>
            </a:r>
            <a:endParaRPr lang="en-US" sz="950" dirty="0"/>
          </a:p>
        </p:txBody>
      </p:sp>
      <p:sp>
        <p:nvSpPr>
          <p:cNvPr id="31" name="Text 29"/>
          <p:cNvSpPr/>
          <p:nvPr/>
        </p:nvSpPr>
        <p:spPr>
          <a:xfrm>
            <a:off x="4526280" y="1645920"/>
            <a:ext cx="73152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COMPLETED TASKS</a:t>
            </a:r>
            <a:endParaRPr lang="en-US" sz="1200" dirty="0"/>
          </a:p>
        </p:txBody>
      </p:sp>
      <p:sp>
        <p:nvSpPr>
          <p:cNvPr id="32" name="Shape 30"/>
          <p:cNvSpPr/>
          <p:nvPr/>
        </p:nvSpPr>
        <p:spPr>
          <a:xfrm>
            <a:off x="4526280" y="2103120"/>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33" name="Image 0" descr="preencoded.png"/>
          <p:cNvPicPr>
            <a:picLocks noChangeAspect="1"/>
          </p:cNvPicPr>
          <p:nvPr/>
        </p:nvPicPr>
        <p:blipFill>
          <a:blip r:embed="rId3"/>
          <a:stretch>
            <a:fillRect/>
          </a:stretch>
        </p:blipFill>
        <p:spPr>
          <a:xfrm>
            <a:off x="4690872" y="2304288"/>
            <a:ext cx="274320" cy="274320"/>
          </a:xfrm>
          <a:prstGeom prst="rect">
            <a:avLst/>
          </a:prstGeom>
        </p:spPr>
      </p:pic>
      <p:sp>
        <p:nvSpPr>
          <p:cNvPr id="34" name="Text 31"/>
          <p:cNvSpPr/>
          <p:nvPr/>
        </p:nvSpPr>
        <p:spPr>
          <a:xfrm>
            <a:off x="509320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Literature review &amp; project understanding</a:t>
            </a:r>
            <a:endParaRPr lang="en-US" sz="1200" dirty="0"/>
          </a:p>
        </p:txBody>
      </p:sp>
      <p:sp>
        <p:nvSpPr>
          <p:cNvPr id="35" name="Shape 32"/>
          <p:cNvSpPr/>
          <p:nvPr/>
        </p:nvSpPr>
        <p:spPr>
          <a:xfrm>
            <a:off x="4526280" y="2907792"/>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36" name="Image 1" descr="preencoded.png"/>
          <p:cNvPicPr>
            <a:picLocks noChangeAspect="1"/>
          </p:cNvPicPr>
          <p:nvPr/>
        </p:nvPicPr>
        <p:blipFill>
          <a:blip r:embed="rId3"/>
          <a:stretch>
            <a:fillRect/>
          </a:stretch>
        </p:blipFill>
        <p:spPr>
          <a:xfrm>
            <a:off x="4690872" y="3108960"/>
            <a:ext cx="274320" cy="274320"/>
          </a:xfrm>
          <a:prstGeom prst="rect">
            <a:avLst/>
          </a:prstGeom>
        </p:spPr>
      </p:pic>
      <p:sp>
        <p:nvSpPr>
          <p:cNvPr id="37" name="Text 33"/>
          <p:cNvSpPr/>
          <p:nvPr/>
        </p:nvSpPr>
        <p:spPr>
          <a:xfrm>
            <a:off x="509320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Hardware selection &amp; BOM preparation</a:t>
            </a:r>
            <a:endParaRPr lang="en-US" sz="1200" dirty="0"/>
          </a:p>
        </p:txBody>
      </p:sp>
      <p:sp>
        <p:nvSpPr>
          <p:cNvPr id="38" name="Shape 34"/>
          <p:cNvSpPr/>
          <p:nvPr/>
        </p:nvSpPr>
        <p:spPr>
          <a:xfrm>
            <a:off x="4526280" y="3712464"/>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39" name="Image 2" descr="preencoded.png"/>
          <p:cNvPicPr>
            <a:picLocks noChangeAspect="1"/>
          </p:cNvPicPr>
          <p:nvPr/>
        </p:nvPicPr>
        <p:blipFill>
          <a:blip r:embed="rId3"/>
          <a:stretch>
            <a:fillRect/>
          </a:stretch>
        </p:blipFill>
        <p:spPr>
          <a:xfrm>
            <a:off x="4690872" y="3913632"/>
            <a:ext cx="274320" cy="274320"/>
          </a:xfrm>
          <a:prstGeom prst="rect">
            <a:avLst/>
          </a:prstGeom>
        </p:spPr>
      </p:pic>
      <p:sp>
        <p:nvSpPr>
          <p:cNvPr id="40" name="Text 35"/>
          <p:cNvSpPr/>
          <p:nvPr/>
        </p:nvSpPr>
        <p:spPr>
          <a:xfrm>
            <a:off x="509320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CAD design of snake-robot segment</a:t>
            </a:r>
            <a:endParaRPr lang="en-US" sz="1200" dirty="0"/>
          </a:p>
        </p:txBody>
      </p:sp>
      <p:sp>
        <p:nvSpPr>
          <p:cNvPr id="41" name="Shape 36"/>
          <p:cNvSpPr/>
          <p:nvPr/>
        </p:nvSpPr>
        <p:spPr>
          <a:xfrm>
            <a:off x="4526280" y="4517136"/>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42" name="Image 3" descr="preencoded.png"/>
          <p:cNvPicPr>
            <a:picLocks noChangeAspect="1"/>
          </p:cNvPicPr>
          <p:nvPr/>
        </p:nvPicPr>
        <p:blipFill>
          <a:blip r:embed="rId3"/>
          <a:stretch>
            <a:fillRect/>
          </a:stretch>
        </p:blipFill>
        <p:spPr>
          <a:xfrm>
            <a:off x="4690872" y="4718304"/>
            <a:ext cx="274320" cy="274320"/>
          </a:xfrm>
          <a:prstGeom prst="rect">
            <a:avLst/>
          </a:prstGeom>
        </p:spPr>
      </p:pic>
      <p:sp>
        <p:nvSpPr>
          <p:cNvPr id="43" name="Text 37"/>
          <p:cNvSpPr/>
          <p:nvPr/>
        </p:nvSpPr>
        <p:spPr>
          <a:xfrm>
            <a:off x="509320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Assembly sized to Dynamixel XL330 dims</a:t>
            </a:r>
            <a:endParaRPr lang="en-US" sz="1200" dirty="0"/>
          </a:p>
        </p:txBody>
      </p:sp>
      <p:sp>
        <p:nvSpPr>
          <p:cNvPr id="44" name="Shape 38"/>
          <p:cNvSpPr/>
          <p:nvPr/>
        </p:nvSpPr>
        <p:spPr>
          <a:xfrm>
            <a:off x="4526280" y="5321808"/>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45" name="Image 4" descr="preencoded.png"/>
          <p:cNvPicPr>
            <a:picLocks noChangeAspect="1"/>
          </p:cNvPicPr>
          <p:nvPr/>
        </p:nvPicPr>
        <p:blipFill>
          <a:blip r:embed="rId3"/>
          <a:stretch>
            <a:fillRect/>
          </a:stretch>
        </p:blipFill>
        <p:spPr>
          <a:xfrm>
            <a:off x="4690872" y="5522976"/>
            <a:ext cx="274320" cy="274320"/>
          </a:xfrm>
          <a:prstGeom prst="rect">
            <a:avLst/>
          </a:prstGeom>
        </p:spPr>
      </p:pic>
      <p:sp>
        <p:nvSpPr>
          <p:cNvPr id="46" name="Text 39"/>
          <p:cNvSpPr/>
          <p:nvPr/>
        </p:nvSpPr>
        <p:spPr>
          <a:xfrm>
            <a:off x="509320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3D printing of two prototype segments</a:t>
            </a:r>
            <a:endParaRPr lang="en-US" sz="1200" dirty="0"/>
          </a:p>
        </p:txBody>
      </p:sp>
      <p:sp>
        <p:nvSpPr>
          <p:cNvPr id="47" name="Shape 40"/>
          <p:cNvSpPr/>
          <p:nvPr/>
        </p:nvSpPr>
        <p:spPr>
          <a:xfrm>
            <a:off x="8366760" y="2103120"/>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48" name="Image 5" descr="preencoded.png"/>
          <p:cNvPicPr>
            <a:picLocks noChangeAspect="1"/>
          </p:cNvPicPr>
          <p:nvPr/>
        </p:nvPicPr>
        <p:blipFill>
          <a:blip r:embed="rId3"/>
          <a:stretch>
            <a:fillRect/>
          </a:stretch>
        </p:blipFill>
        <p:spPr>
          <a:xfrm>
            <a:off x="8531352" y="2304288"/>
            <a:ext cx="274320" cy="274320"/>
          </a:xfrm>
          <a:prstGeom prst="rect">
            <a:avLst/>
          </a:prstGeom>
        </p:spPr>
      </p:pic>
      <p:sp>
        <p:nvSpPr>
          <p:cNvPr id="49" name="Text 41"/>
          <p:cNvSpPr/>
          <p:nvPr/>
        </p:nvSpPr>
        <p:spPr>
          <a:xfrm>
            <a:off x="893368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Raspberry Pi setup &amp; configuration</a:t>
            </a:r>
            <a:endParaRPr lang="en-US" sz="1200" dirty="0"/>
          </a:p>
        </p:txBody>
      </p:sp>
      <p:sp>
        <p:nvSpPr>
          <p:cNvPr id="50" name="Shape 42"/>
          <p:cNvSpPr/>
          <p:nvPr/>
        </p:nvSpPr>
        <p:spPr>
          <a:xfrm>
            <a:off x="8366760" y="2907792"/>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51" name="Image 6" descr="preencoded.png"/>
          <p:cNvPicPr>
            <a:picLocks noChangeAspect="1"/>
          </p:cNvPicPr>
          <p:nvPr/>
        </p:nvPicPr>
        <p:blipFill>
          <a:blip r:embed="rId3"/>
          <a:stretch>
            <a:fillRect/>
          </a:stretch>
        </p:blipFill>
        <p:spPr>
          <a:xfrm>
            <a:off x="8531352" y="3108960"/>
            <a:ext cx="274320" cy="274320"/>
          </a:xfrm>
          <a:prstGeom prst="rect">
            <a:avLst/>
          </a:prstGeom>
        </p:spPr>
      </p:pic>
      <p:sp>
        <p:nvSpPr>
          <p:cNvPr id="52" name="Text 43"/>
          <p:cNvSpPr/>
          <p:nvPr/>
        </p:nvSpPr>
        <p:spPr>
          <a:xfrm>
            <a:off x="893368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Wi-Fi connectivity testing on the Pi</a:t>
            </a:r>
            <a:endParaRPr lang="en-US" sz="1200" dirty="0"/>
          </a:p>
        </p:txBody>
      </p:sp>
      <p:sp>
        <p:nvSpPr>
          <p:cNvPr id="53" name="Shape 44"/>
          <p:cNvSpPr/>
          <p:nvPr/>
        </p:nvSpPr>
        <p:spPr>
          <a:xfrm>
            <a:off x="8366760" y="3712464"/>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54" name="Image 7" descr="preencoded.png"/>
          <p:cNvPicPr>
            <a:picLocks noChangeAspect="1"/>
          </p:cNvPicPr>
          <p:nvPr/>
        </p:nvPicPr>
        <p:blipFill>
          <a:blip r:embed="rId3"/>
          <a:stretch>
            <a:fillRect/>
          </a:stretch>
        </p:blipFill>
        <p:spPr>
          <a:xfrm>
            <a:off x="8531352" y="3913632"/>
            <a:ext cx="274320" cy="274320"/>
          </a:xfrm>
          <a:prstGeom prst="rect">
            <a:avLst/>
          </a:prstGeom>
        </p:spPr>
      </p:pic>
      <p:sp>
        <p:nvSpPr>
          <p:cNvPr id="55" name="Text 45"/>
          <p:cNvSpPr/>
          <p:nvPr/>
        </p:nvSpPr>
        <p:spPr>
          <a:xfrm>
            <a:off x="893368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Basic Raspberry Pi lab projects executed</a:t>
            </a:r>
            <a:endParaRPr lang="en-US" sz="1200" dirty="0"/>
          </a:p>
        </p:txBody>
      </p:sp>
      <p:sp>
        <p:nvSpPr>
          <p:cNvPr id="56" name="Shape 46"/>
          <p:cNvSpPr/>
          <p:nvPr/>
        </p:nvSpPr>
        <p:spPr>
          <a:xfrm>
            <a:off x="8366760" y="4517136"/>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57" name="Image 8" descr="preencoded.png"/>
          <p:cNvPicPr>
            <a:picLocks noChangeAspect="1"/>
          </p:cNvPicPr>
          <p:nvPr/>
        </p:nvPicPr>
        <p:blipFill>
          <a:blip r:embed="rId3"/>
          <a:stretch>
            <a:fillRect/>
          </a:stretch>
        </p:blipFill>
        <p:spPr>
          <a:xfrm>
            <a:off x="8531352" y="4718304"/>
            <a:ext cx="274320" cy="274320"/>
          </a:xfrm>
          <a:prstGeom prst="rect">
            <a:avLst/>
          </a:prstGeom>
        </p:spPr>
      </p:pic>
      <p:sp>
        <p:nvSpPr>
          <p:cNvPr id="58" name="Text 47"/>
          <p:cNvSpPr/>
          <p:nvPr/>
        </p:nvSpPr>
        <p:spPr>
          <a:xfrm>
            <a:off x="893368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GitHub repository created &amp; maintained</a:t>
            </a:r>
            <a:endParaRPr lang="en-US" sz="1200" dirty="0"/>
          </a:p>
        </p:txBody>
      </p:sp>
      <p:sp>
        <p:nvSpPr>
          <p:cNvPr id="59" name="Shape 48"/>
          <p:cNvSpPr/>
          <p:nvPr/>
        </p:nvSpPr>
        <p:spPr>
          <a:xfrm>
            <a:off x="8366760" y="5321808"/>
            <a:ext cx="3657600" cy="676656"/>
          </a:xfrm>
          <a:prstGeom prst="roundRect">
            <a:avLst>
              <a:gd name="adj" fmla="val 9459"/>
            </a:avLst>
          </a:prstGeom>
          <a:solidFill>
            <a:srgbClr val="FFFFFF">
              <a:alpha val="70000"/>
            </a:srgbClr>
          </a:solidFill>
          <a:ln w="13335">
            <a:solidFill>
              <a:srgbClr val="B8DCEB">
                <a:alpha val="80000"/>
              </a:srgbClr>
            </a:solidFill>
            <a:prstDash val="solid"/>
          </a:ln>
        </p:spPr>
        <p:txBody>
          <a:bodyPr/>
          <a:lstStyle/>
          <a:p>
            <a:endParaRPr lang="en-IN"/>
          </a:p>
        </p:txBody>
      </p:sp>
      <p:pic>
        <p:nvPicPr>
          <p:cNvPr id="60" name="Image 9" descr="preencoded.png"/>
          <p:cNvPicPr>
            <a:picLocks noChangeAspect="1"/>
          </p:cNvPicPr>
          <p:nvPr/>
        </p:nvPicPr>
        <p:blipFill>
          <a:blip r:embed="rId3"/>
          <a:stretch>
            <a:fillRect/>
          </a:stretch>
        </p:blipFill>
        <p:spPr>
          <a:xfrm>
            <a:off x="8531352" y="5522976"/>
            <a:ext cx="274320" cy="274320"/>
          </a:xfrm>
          <a:prstGeom prst="rect">
            <a:avLst/>
          </a:prstGeom>
        </p:spPr>
      </p:pic>
      <p:sp>
        <p:nvSpPr>
          <p:cNvPr id="61" name="Text 49"/>
          <p:cNvSpPr/>
          <p:nvPr/>
        </p:nvSpPr>
        <p:spPr>
          <a:xfrm>
            <a:off x="893368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Procurement process initiated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3C1085FA-4706-435C-85D3-DD35BE37250A}"/>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Oval 3">
            <a:extLst>
              <a:ext uri="{FF2B5EF4-FFF2-40B4-BE49-F238E27FC236}">
                <a16:creationId xmlns:a16="http://schemas.microsoft.com/office/drawing/2014/main" id="{1338F32B-493B-4D70-8737-21B5B36A0B95}"/>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00" name="PwrBlock"/>
          <p:cNvSpPr/>
          <p:nvPr/>
        </p:nvSpPr>
        <p:spPr>
          <a:xfrm>
            <a:off x="635000" y="1143000"/>
            <a:ext cx="3683000" cy="609600"/>
          </a:xfrm>
          <a:prstGeom prst="rect">
            <a:avLst/>
          </a:prstGeom>
          <a:solidFill>
            <a:srgbClr val="FFFFFF">
              <a:alpha val="70000"/>
            </a:srgbClr>
          </a:solidFill>
          <a:ln w="13335">
            <a:solidFill>
              <a:srgbClr val="B8DCEB">
                <a:alpha val="80000"/>
              </a:srgbClr>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Power Supply</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FFFFFF">
              <a:alpha val="70000"/>
            </a:srgbClr>
          </a:solidFill>
          <a:ln w="13335">
            <a:solidFill>
              <a:srgbClr val="B8DCEB">
                <a:alpha val="80000"/>
              </a:srgbClr>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Raspberry Pi 5  [Central Controller]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FFFFFF">
              <a:alpha val="70000"/>
            </a:srgbClr>
          </a:solidFill>
          <a:ln w="13335">
            <a:solidFill>
              <a:srgbClr val="B8DCEB">
                <a:alpha val="80000"/>
              </a:srgbClr>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Communication Layer  (U2D2 / UART)</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FFFFFF">
              <a:alpha val="70000"/>
            </a:srgbClr>
          </a:solidFill>
          <a:ln w="13335">
            <a:solidFill>
              <a:srgbClr val="B8DCEB">
                <a:alpha val="80000"/>
              </a:srgbClr>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Dynamixel Motor Network</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FFFFFF">
              <a:alpha val="70000"/>
            </a:srgbClr>
          </a:solidFill>
          <a:ln w="13335">
            <a:solidFill>
              <a:srgbClr val="B8DCEB">
                <a:alpha val="80000"/>
              </a:srgbClr>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FFFFFF">
              <a:alpha val="70000"/>
            </a:srgbClr>
          </a:solidFill>
          <a:ln w="13335">
            <a:solidFill>
              <a:srgbClr val="B8DCEB">
                <a:alpha val="80000"/>
              </a:srgbClr>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Control Algorithms</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FFFFFF">
              <a:alpha val="70000"/>
            </a:srgbClr>
          </a:solidFill>
          <a:ln w="13335">
            <a:solidFill>
              <a:srgbClr val="B8DCEB">
                <a:alpha val="80000"/>
              </a:srgbClr>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IMU / Force Sensors</a:t>
            </a:r>
          </a:p>
        </p:txBody>
      </p:sp>
      <p:sp>
        <p:nvSpPr>
          <p:cNvPr id="453" name="CamBox"/>
          <p:cNvSpPr/>
          <p:nvPr/>
        </p:nvSpPr>
        <p:spPr>
          <a:xfrm>
            <a:off x="7620000" y="1968500"/>
            <a:ext cx="2362200" cy="533400"/>
          </a:xfrm>
          <a:prstGeom prst="rect">
            <a:avLst/>
          </a:prstGeom>
          <a:solidFill>
            <a:srgbClr val="FFFFFF">
              <a:alpha val="70000"/>
            </a:srgbClr>
          </a:solidFill>
          <a:ln w="13335">
            <a:solidFill>
              <a:srgbClr val="B8DCEB">
                <a:alpha val="80000"/>
              </a:srgbClr>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Camera Module</a:t>
            </a:r>
          </a:p>
        </p:txBody>
      </p:sp>
      <p:sp>
        <p:nvSpPr>
          <p:cNvPr id="455" name="WirelessBox"/>
          <p:cNvSpPr/>
          <p:nvPr/>
        </p:nvSpPr>
        <p:spPr>
          <a:xfrm>
            <a:off x="7620000" y="2628900"/>
            <a:ext cx="2362200" cy="533400"/>
          </a:xfrm>
          <a:prstGeom prst="rect">
            <a:avLst/>
          </a:prstGeom>
          <a:solidFill>
            <a:srgbClr val="FFFFFF">
              <a:alpha val="70000"/>
            </a:srgbClr>
          </a:solidFill>
          <a:ln w="13335">
            <a:solidFill>
              <a:srgbClr val="B8DCEB">
                <a:alpha val="80000"/>
              </a:srgbClr>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Wireless Control Module</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Current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Raspberry Pi 5 configured and tested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Communication architecture defined</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Mechanical segments fabricated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Dynamixel integration pending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Conceptual Block Diagram</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Architecture finalized</a:t>
            </a:r>
            <a:r>
              <a:rPr lang="en-US" sz="1150" dirty="0">
                <a:solidFill>
                  <a:srgbClr val="E2E8F0"/>
                </a:solidFill>
                <a:latin typeface="Calibri" pitchFamily="34" charset="0"/>
                <a:ea typeface="Calibri" pitchFamily="34" charset="-122"/>
                <a:cs typeface="Calibri" pitchFamily="34" charset="-120"/>
              </a:rPr>
              <a:t>    ·    </a:t>
            </a:r>
            <a:r>
              <a:rPr lang="en-US" sz="1150" b="1" dirty="0">
                <a:solidFill>
                  <a:srgbClr val="E08A1E"/>
                </a:solidFill>
                <a:latin typeface="Calibri" pitchFamily="34" charset="0"/>
                <a:ea typeface="Calibri" pitchFamily="34" charset="-122"/>
                <a:cs typeface="Calibri" pitchFamily="34" charset="-120"/>
              </a:rPr>
              <a:t>Implementation in progress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FUTURE INTEGRATION</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C100413A-99B0-4136-9ECB-6CB6F9AD026B}"/>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Oval 4">
            <a:extLst>
              <a:ext uri="{FF2B5EF4-FFF2-40B4-BE49-F238E27FC236}">
                <a16:creationId xmlns:a16="http://schemas.microsoft.com/office/drawing/2014/main" id="{1D5988B0-36B9-4688-9EF9-CAE4BFB106F8}"/>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CAD DESIGN DEVELOPMENT</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A Segment Designed Around the Motor</a:t>
            </a:r>
            <a:endParaRPr lang="en-US" sz="3000" dirty="0"/>
          </a:p>
        </p:txBody>
      </p:sp>
      <p:sp>
        <p:nvSpPr>
          <p:cNvPr id="10" name="Text 8"/>
          <p:cNvSpPr/>
          <p:nvPr/>
        </p:nvSpPr>
        <p:spPr>
          <a:xfrm>
            <a:off x="548640" y="1600200"/>
            <a:ext cx="4709160" cy="914400"/>
          </a:xfrm>
          <a:prstGeom prst="rect">
            <a:avLst/>
          </a:prstGeom>
          <a:noFill/>
          <a:ln/>
        </p:spPr>
        <p:txBody>
          <a:bodyPr wrap="square" lIns="0" tIns="0" rIns="0" bIns="0" rtlCol="0" anchor="t"/>
          <a:lstStyle/>
          <a:p>
            <a:pPr marL="0" indent="0">
              <a:lnSpc>
                <a:spcPct val="112000"/>
              </a:lnSpc>
              <a:buNone/>
            </a:pPr>
            <a:r>
              <a:rPr lang="en-US" sz="1350" dirty="0">
                <a:solidFill>
                  <a:srgbClr val="3A4658"/>
                </a:solidFill>
                <a:latin typeface="Calibri" pitchFamily="34" charset="0"/>
                <a:ea typeface="Calibri" pitchFamily="34" charset="-122"/>
                <a:cs typeface="Calibri" pitchFamily="34" charset="-120"/>
              </a:rPr>
              <a:t>The CAD model is built to the exact dimensions of the Dynamixel XL330-M288 servo, using a modular, segment-based architecture focused on manufacturability and scalability.</a:t>
            </a:r>
            <a:endParaRPr lang="en-US" sz="1350" dirty="0"/>
          </a:p>
        </p:txBody>
      </p:sp>
      <p:sp>
        <p:nvSpPr>
          <p:cNvPr id="11" name="Text 9"/>
          <p:cNvSpPr/>
          <p:nvPr/>
        </p:nvSpPr>
        <p:spPr>
          <a:xfrm>
            <a:off x="548640" y="2724912"/>
            <a:ext cx="45720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DESIGN CONSIDERATIONS</a:t>
            </a:r>
            <a:endParaRPr lang="en-US" sz="1200" dirty="0"/>
          </a:p>
        </p:txBody>
      </p:sp>
      <p:sp>
        <p:nvSpPr>
          <p:cNvPr id="12" name="Shape 10"/>
          <p:cNvSpPr/>
          <p:nvPr/>
        </p:nvSpPr>
        <p:spPr>
          <a:xfrm>
            <a:off x="548640" y="3127248"/>
            <a:ext cx="4709160" cy="640080"/>
          </a:xfrm>
          <a:prstGeom prst="roundRect">
            <a:avLst>
              <a:gd name="adj" fmla="val 10000"/>
            </a:avLst>
          </a:prstGeom>
          <a:solidFill>
            <a:srgbClr val="FFFFFF">
              <a:alpha val="70000"/>
            </a:srgbClr>
          </a:solidFill>
          <a:ln w="13335">
            <a:solidFill>
              <a:srgbClr val="B8DCEB">
                <a:alpha val="80000"/>
              </a:srgbClr>
            </a:solidFill>
            <a:prstDash val="solid"/>
          </a:ln>
        </p:spPr>
        <p:txBody>
          <a:bodyPr/>
          <a:lstStyle/>
          <a:p>
            <a:endParaRPr lang="en-IN"/>
          </a:p>
        </p:txBody>
      </p:sp>
      <p:sp>
        <p:nvSpPr>
          <p:cNvPr id="13" name="Shape 11"/>
          <p:cNvSpPr/>
          <p:nvPr/>
        </p:nvSpPr>
        <p:spPr>
          <a:xfrm>
            <a:off x="694944" y="3246120"/>
            <a:ext cx="402336" cy="402336"/>
          </a:xfrm>
          <a:prstGeom prst="ellipse">
            <a:avLst/>
          </a:prstGeom>
          <a:solidFill>
            <a:srgbClr val="0E96AC"/>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791505" y="3342681"/>
            <a:ext cx="209215" cy="209215"/>
          </a:xfrm>
          <a:prstGeom prst="rect">
            <a:avLst/>
          </a:prstGeom>
        </p:spPr>
      </p:pic>
      <p:sp>
        <p:nvSpPr>
          <p:cNvPr id="15" name="Text 12"/>
          <p:cNvSpPr/>
          <p:nvPr/>
        </p:nvSpPr>
        <p:spPr>
          <a:xfrm>
            <a:off x="1225296" y="3127248"/>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Motor mounting  </a:t>
            </a:r>
            <a:r>
              <a:rPr lang="en-US" sz="1150" dirty="0">
                <a:solidFill>
                  <a:srgbClr val="6B7890"/>
                </a:solidFill>
                <a:latin typeface="Calibri" pitchFamily="34" charset="0"/>
                <a:ea typeface="Calibri" pitchFamily="34" charset="-122"/>
                <a:cs typeface="Calibri" pitchFamily="34" charset="-120"/>
              </a:rPr>
              <a:t>— Precise seats for XL330 servo bodies.</a:t>
            </a:r>
            <a:endParaRPr lang="en-US" sz="1150" dirty="0"/>
          </a:p>
        </p:txBody>
      </p:sp>
      <p:sp>
        <p:nvSpPr>
          <p:cNvPr id="16" name="Shape 13"/>
          <p:cNvSpPr/>
          <p:nvPr/>
        </p:nvSpPr>
        <p:spPr>
          <a:xfrm>
            <a:off x="548640" y="3877056"/>
            <a:ext cx="4709160" cy="640080"/>
          </a:xfrm>
          <a:prstGeom prst="roundRect">
            <a:avLst>
              <a:gd name="adj" fmla="val 10000"/>
            </a:avLst>
          </a:prstGeom>
          <a:solidFill>
            <a:srgbClr val="FFFFFF">
              <a:alpha val="70000"/>
            </a:srgbClr>
          </a:solidFill>
          <a:ln w="13335">
            <a:solidFill>
              <a:srgbClr val="B8DCEB">
                <a:alpha val="80000"/>
              </a:srgbClr>
            </a:solidFill>
            <a:prstDash val="solid"/>
          </a:ln>
        </p:spPr>
        <p:txBody>
          <a:bodyPr/>
          <a:lstStyle/>
          <a:p>
            <a:endParaRPr lang="en-IN"/>
          </a:p>
        </p:txBody>
      </p:sp>
      <p:sp>
        <p:nvSpPr>
          <p:cNvPr id="17" name="Shape 14"/>
          <p:cNvSpPr/>
          <p:nvPr/>
        </p:nvSpPr>
        <p:spPr>
          <a:xfrm>
            <a:off x="694944" y="3995928"/>
            <a:ext cx="402336" cy="402336"/>
          </a:xfrm>
          <a:prstGeom prst="ellipse">
            <a:avLst/>
          </a:prstGeom>
          <a:solidFill>
            <a:srgbClr val="12A678"/>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791505" y="4092489"/>
            <a:ext cx="209215" cy="209215"/>
          </a:xfrm>
          <a:prstGeom prst="rect">
            <a:avLst/>
          </a:prstGeom>
        </p:spPr>
      </p:pic>
      <p:sp>
        <p:nvSpPr>
          <p:cNvPr id="19" name="Text 15"/>
          <p:cNvSpPr/>
          <p:nvPr/>
        </p:nvSpPr>
        <p:spPr>
          <a:xfrm>
            <a:off x="1225296" y="3877056"/>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Structural rigidity  </a:t>
            </a:r>
            <a:r>
              <a:rPr lang="en-US" sz="1150" dirty="0">
                <a:solidFill>
                  <a:srgbClr val="6B7890"/>
                </a:solidFill>
                <a:latin typeface="Calibri" pitchFamily="34" charset="0"/>
                <a:ea typeface="Calibri" pitchFamily="34" charset="-122"/>
                <a:cs typeface="Calibri" pitchFamily="34" charset="-120"/>
              </a:rPr>
              <a:t>— Stiff frame to resist motion loads.</a:t>
            </a:r>
            <a:endParaRPr lang="en-US" sz="1150" dirty="0"/>
          </a:p>
        </p:txBody>
      </p:sp>
      <p:sp>
        <p:nvSpPr>
          <p:cNvPr id="20" name="Shape 16"/>
          <p:cNvSpPr/>
          <p:nvPr/>
        </p:nvSpPr>
        <p:spPr>
          <a:xfrm>
            <a:off x="548640" y="4626864"/>
            <a:ext cx="4709160" cy="640080"/>
          </a:xfrm>
          <a:prstGeom prst="roundRect">
            <a:avLst>
              <a:gd name="adj" fmla="val 10000"/>
            </a:avLst>
          </a:prstGeom>
          <a:solidFill>
            <a:srgbClr val="FFFFFF">
              <a:alpha val="70000"/>
            </a:srgbClr>
          </a:solidFill>
          <a:ln w="13335">
            <a:solidFill>
              <a:srgbClr val="B8DCEB">
                <a:alpha val="80000"/>
              </a:srgbClr>
            </a:solidFill>
            <a:prstDash val="solid"/>
          </a:ln>
        </p:spPr>
        <p:txBody>
          <a:bodyPr/>
          <a:lstStyle/>
          <a:p>
            <a:endParaRPr lang="en-IN"/>
          </a:p>
        </p:txBody>
      </p:sp>
      <p:sp>
        <p:nvSpPr>
          <p:cNvPr id="21" name="Shape 17"/>
          <p:cNvSpPr/>
          <p:nvPr/>
        </p:nvSpPr>
        <p:spPr>
          <a:xfrm>
            <a:off x="694944" y="4745736"/>
            <a:ext cx="402336" cy="402336"/>
          </a:xfrm>
          <a:prstGeom prst="ellipse">
            <a:avLst/>
          </a:prstGeom>
          <a:solidFill>
            <a:srgbClr val="E08A1E"/>
          </a:solidFill>
          <a:ln/>
        </p:spPr>
        <p:txBody>
          <a:bodyPr/>
          <a:lstStyle/>
          <a:p>
            <a:endParaRPr lang="en-IN"/>
          </a:p>
        </p:txBody>
      </p:sp>
      <p:pic>
        <p:nvPicPr>
          <p:cNvPr id="22" name="Image 2" descr="preencoded.png"/>
          <p:cNvPicPr>
            <a:picLocks noChangeAspect="1"/>
          </p:cNvPicPr>
          <p:nvPr/>
        </p:nvPicPr>
        <p:blipFill>
          <a:blip r:embed="rId5"/>
          <a:stretch>
            <a:fillRect/>
          </a:stretch>
        </p:blipFill>
        <p:spPr>
          <a:xfrm>
            <a:off x="791505" y="4842297"/>
            <a:ext cx="209215" cy="209215"/>
          </a:xfrm>
          <a:prstGeom prst="rect">
            <a:avLst/>
          </a:prstGeom>
        </p:spPr>
      </p:pic>
      <p:sp>
        <p:nvSpPr>
          <p:cNvPr id="23" name="Text 18"/>
          <p:cNvSpPr/>
          <p:nvPr/>
        </p:nvSpPr>
        <p:spPr>
          <a:xfrm>
            <a:off x="1225296" y="4626864"/>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Cable routing  </a:t>
            </a:r>
            <a:r>
              <a:rPr lang="en-US" sz="1150" dirty="0">
                <a:solidFill>
                  <a:srgbClr val="6B7890"/>
                </a:solidFill>
                <a:latin typeface="Calibri" pitchFamily="34" charset="0"/>
                <a:ea typeface="Calibri" pitchFamily="34" charset="-122"/>
                <a:cs typeface="Calibri" pitchFamily="34" charset="-120"/>
              </a:rPr>
              <a:t>— Clean daisy-chain channels for wiring.</a:t>
            </a:r>
            <a:endParaRPr lang="en-US" sz="1150" dirty="0"/>
          </a:p>
        </p:txBody>
      </p:sp>
      <p:sp>
        <p:nvSpPr>
          <p:cNvPr id="24" name="Shape 19"/>
          <p:cNvSpPr/>
          <p:nvPr/>
        </p:nvSpPr>
        <p:spPr>
          <a:xfrm>
            <a:off x="548640" y="5376672"/>
            <a:ext cx="4709160" cy="640080"/>
          </a:xfrm>
          <a:prstGeom prst="roundRect">
            <a:avLst>
              <a:gd name="adj" fmla="val 10000"/>
            </a:avLst>
          </a:prstGeom>
          <a:solidFill>
            <a:srgbClr val="FFFFFF">
              <a:alpha val="70000"/>
            </a:srgbClr>
          </a:solidFill>
          <a:ln w="13335">
            <a:solidFill>
              <a:srgbClr val="B8DCEB">
                <a:alpha val="80000"/>
              </a:srgbClr>
            </a:solidFill>
            <a:prstDash val="solid"/>
          </a:ln>
        </p:spPr>
        <p:txBody>
          <a:bodyPr/>
          <a:lstStyle/>
          <a:p>
            <a:endParaRPr lang="en-IN"/>
          </a:p>
        </p:txBody>
      </p:sp>
      <p:sp>
        <p:nvSpPr>
          <p:cNvPr id="25" name="Shape 20"/>
          <p:cNvSpPr/>
          <p:nvPr/>
        </p:nvSpPr>
        <p:spPr>
          <a:xfrm>
            <a:off x="694944" y="5495544"/>
            <a:ext cx="402336" cy="402336"/>
          </a:xfrm>
          <a:prstGeom prst="ellipse">
            <a:avLst/>
          </a:prstGeom>
          <a:solidFill>
            <a:srgbClr val="0E96AC"/>
          </a:solidFill>
          <a:ln/>
        </p:spPr>
        <p:txBody>
          <a:bodyPr/>
          <a:lstStyle/>
          <a:p>
            <a:endParaRPr lang="en-IN"/>
          </a:p>
        </p:txBody>
      </p:sp>
      <p:pic>
        <p:nvPicPr>
          <p:cNvPr id="26" name="Image 3" descr="preencoded.png"/>
          <p:cNvPicPr>
            <a:picLocks noChangeAspect="1"/>
          </p:cNvPicPr>
          <p:nvPr/>
        </p:nvPicPr>
        <p:blipFill>
          <a:blip r:embed="rId3"/>
          <a:stretch>
            <a:fillRect/>
          </a:stretch>
        </p:blipFill>
        <p:spPr>
          <a:xfrm>
            <a:off x="791505" y="5592105"/>
            <a:ext cx="209215" cy="209215"/>
          </a:xfrm>
          <a:prstGeom prst="rect">
            <a:avLst/>
          </a:prstGeom>
        </p:spPr>
      </p:pic>
      <p:sp>
        <p:nvSpPr>
          <p:cNvPr id="27" name="Text 21"/>
          <p:cNvSpPr/>
          <p:nvPr/>
        </p:nvSpPr>
        <p:spPr>
          <a:xfrm>
            <a:off x="1225296" y="5376672"/>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Electronics ready  </a:t>
            </a:r>
            <a:r>
              <a:rPr lang="en-US" sz="1150" dirty="0">
                <a:solidFill>
                  <a:srgbClr val="6B7890"/>
                </a:solidFill>
                <a:latin typeface="Calibri" pitchFamily="34" charset="0"/>
                <a:ea typeface="Calibri" pitchFamily="34" charset="-122"/>
                <a:cs typeface="Calibri" pitchFamily="34" charset="-120"/>
              </a:rPr>
              <a:t>— Space reserved for future boards.</a:t>
            </a:r>
            <a:endParaRPr lang="en-US" sz="1150" dirty="0"/>
          </a:p>
        </p:txBody>
      </p:sp>
      <p:sp>
        <p:nvSpPr>
          <p:cNvPr id="28" name="Shape 22"/>
          <p:cNvSpPr/>
          <p:nvPr/>
        </p:nvSpPr>
        <p:spPr>
          <a:xfrm>
            <a:off x="5651500" y="1714500"/>
            <a:ext cx="5842000" cy="4432300"/>
          </a:xfrm>
          <a:prstGeom prst="roundRect">
            <a:avLst>
              <a:gd name="adj" fmla="val 2041"/>
            </a:avLst>
          </a:prstGeom>
          <a:solidFill>
            <a:srgbClr val="FFFFFF">
              <a:alpha val="70000"/>
            </a:srgbClr>
          </a:solidFill>
          <a:ln w="13335">
            <a:solidFill>
              <a:srgbClr val="B8DCEB">
                <a:alpha val="80000"/>
              </a:srgbClr>
            </a:solidFill>
            <a:prstDash val="dash"/>
          </a:ln>
        </p:spPr>
        <p:txBody>
          <a:bodyPr/>
          <a:lstStyle/>
          <a:p>
            <a:endParaRPr lang="en-IN"/>
          </a:p>
        </p:txBody>
      </p:sp>
      <p:sp>
        <p:nvSpPr>
          <p:cNvPr id="29" name="Shape 23"/>
          <p:cNvSpPr/>
          <p:nvPr/>
        </p:nvSpPr>
        <p:spPr>
          <a:xfrm>
            <a:off x="-1270000" y="-1270000"/>
            <a:ext cx="381000" cy="381000"/>
          </a:xfrm>
          <a:prstGeom prst="ellipse">
            <a:avLst/>
          </a:prstGeom>
          <a:solidFill>
            <a:srgbClr val="FFFFFF"/>
          </a:solidFill>
          <a:ln/>
        </p:spPr>
        <p:txBody>
          <a:bodyPr/>
          <a:lstStyle/>
          <a:p>
            <a:endParaRPr lang="en-IN"/>
          </a:p>
        </p:txBody>
      </p:sp>
      <p:pic>
        <p:nvPicPr>
          <p:cNvPr id="30" name="Image 4" descr="preencoded.png"/>
          <p:cNvPicPr>
            <a:picLocks noChangeAspect="1"/>
          </p:cNvPicPr>
          <p:nvPr/>
        </p:nvPicPr>
        <p:blipFill>
          <a:blip r:embed="rId6"/>
          <a:stretch>
            <a:fillRect/>
          </a:stretch>
        </p:blipFill>
        <p:spPr>
          <a:xfrm>
            <a:off x="-1270000" y="-1270000"/>
            <a:ext cx="434340" cy="434340"/>
          </a:xfrm>
          <a:prstGeom prst="rect">
            <a:avLst/>
          </a:prstGeom>
        </p:spPr>
      </p:pic>
      <p:sp>
        <p:nvSpPr>
          <p:cNvPr id="31" name="Text 24"/>
          <p:cNvSpPr/>
          <p:nvPr/>
        </p:nvSpPr>
        <p:spPr>
          <a:xfrm>
            <a:off x="5575300" y="-762000"/>
            <a:ext cx="6083300" cy="25400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rPr>
              <a:t>ASSEMBLY FLOW</a:t>
            </a:r>
          </a:p>
        </p:txBody>
      </p:sp>
      <p:sp>
        <p:nvSpPr>
          <p:cNvPr id="32" name="Text 25"/>
          <p:cNvSpPr/>
          <p:nvPr/>
        </p:nvSpPr>
        <p:spPr>
          <a:xfrm>
            <a:off x="5651500" y="-635000"/>
            <a:ext cx="5842000" cy="203200"/>
          </a:xfrm>
          <a:prstGeom prst="rect">
            <a:avLst/>
          </a:prstGeom>
          <a:noFill/>
          <a:ln/>
        </p:spPr>
        <p:txBody>
          <a:bodyPr wrap="square" lIns="0" tIns="0" rIns="0" bIns="0" rtlCol="0" anchor="ctr"/>
          <a:lstStyle/>
          <a:p>
            <a:pPr marL="0" indent="0" algn="ctr">
              <a:lnSpc>
                <a:spcPct val="100000"/>
              </a:lnSpc>
              <a:buNone/>
            </a:pPr>
            <a:r>
              <a:rPr lang="en-US" sz="1000" i="1" dirty="0">
                <a:solidFill>
                  <a:srgbClr val="6B7890"/>
                </a:solidFill>
                <a:latin typeface="Calibri" pitchFamily="34" charset="0"/>
              </a:rPr>
              <a:t>Motor → Segment Parts → Full Chain Assembly</a:t>
            </a:r>
          </a:p>
        </p:txBody>
      </p:sp>
      <p:pic>
        <p:nvPicPr>
          <p:cNvPr id="34" name="Picture 33" descr="The image depicts a simple, sturdy, black, rectangular wooden shelving unit with a rectangular shelf in the middle.&#10;&#10;AI-generated content may be incorrect.">
            <a:extLst>
              <a:ext uri="{FF2B5EF4-FFF2-40B4-BE49-F238E27FC236}">
                <a16:creationId xmlns:a16="http://schemas.microsoft.com/office/drawing/2014/main" id="{43A6F9E7-B592-AE80-4ECD-3893A8BAB62C}"/>
              </a:ext>
            </a:extLst>
          </p:cNvPr>
          <p:cNvPicPr>
            <a:picLocks noChangeAspect="1"/>
          </p:cNvPicPr>
          <p:nvPr/>
        </p:nvPicPr>
        <p:blipFill>
          <a:blip r:embed="rId7"/>
          <a:stretch>
            <a:fillRect/>
          </a:stretch>
        </p:blipFill>
        <p:spPr>
          <a:xfrm>
            <a:off x="8128000" y="1714500"/>
            <a:ext cx="1651000" cy="1968500"/>
          </a:xfrm>
          <a:prstGeom prst="rect">
            <a:avLst/>
          </a:prstGeom>
        </p:spPr>
      </p:pic>
      <p:pic>
        <p:nvPicPr>
          <p:cNvPr id="36" name="Picture 35" descr="The image depicts a simple, grey, rectangular, flat-sided, metallic-looking panel or bracket, likely with some sort of mechanical attachment or mounting hardware visible, placed on a plain, light-colored background.&#10;&#10;AI-generated content may be incorrect.">
            <a:extLst>
              <a:ext uri="{FF2B5EF4-FFF2-40B4-BE49-F238E27FC236}">
                <a16:creationId xmlns:a16="http://schemas.microsoft.com/office/drawing/2014/main" id="{4240D5FB-60B3-92E2-D431-2BF9CD9185A9}"/>
              </a:ext>
            </a:extLst>
          </p:cNvPr>
          <p:cNvPicPr>
            <a:picLocks noChangeAspect="1"/>
          </p:cNvPicPr>
          <p:nvPr/>
        </p:nvPicPr>
        <p:blipFill>
          <a:blip r:embed="rId8"/>
          <a:srcRect l="24792" t="11107" r="14359"/>
          <a:stretch>
            <a:fillRect/>
          </a:stretch>
        </p:blipFill>
        <p:spPr>
          <a:xfrm>
            <a:off x="9842500" y="1714500"/>
            <a:ext cx="1689100" cy="1968500"/>
          </a:xfrm>
          <a:prstGeom prst="rect">
            <a:avLst/>
          </a:prstGeom>
        </p:spPr>
      </p:pic>
      <p:pic>
        <p:nvPicPr>
          <p:cNvPr id="42" name="Picture 41" descr="The image depicts a simple, abstract representation of a zigzag pattern or a wave-like structure, rendered in a monochromatic, minimalistic style.&#10;&#10;AI-generated content may be incorrect.">
            <a:extLst>
              <a:ext uri="{FF2B5EF4-FFF2-40B4-BE49-F238E27FC236}">
                <a16:creationId xmlns:a16="http://schemas.microsoft.com/office/drawing/2014/main" id="{F9FF112A-F15F-989B-A8A9-AB7A565FBEC9}"/>
              </a:ext>
            </a:extLst>
          </p:cNvPr>
          <p:cNvPicPr>
            <a:picLocks noChangeAspect="1"/>
          </p:cNvPicPr>
          <p:nvPr/>
        </p:nvPicPr>
        <p:blipFill>
          <a:blip r:embed="rId9"/>
          <a:srcRect t="15390"/>
          <a:stretch>
            <a:fillRect/>
          </a:stretch>
        </p:blipFill>
        <p:spPr>
          <a:xfrm>
            <a:off x="5651500" y="3810000"/>
            <a:ext cx="5842000" cy="2184400"/>
          </a:xfrm>
          <a:prstGeom prst="rect">
            <a:avLst/>
          </a:prstGeom>
        </p:spPr>
      </p:pic>
      <p:pic>
        <p:nvPicPr>
          <p:cNvPr id="44" name="Picture 43" descr="The image depicts a gray, rectangular frame with an open, hinged structure, likely part of a larger assembly.">
            <a:extLst>
              <a:ext uri="{FF2B5EF4-FFF2-40B4-BE49-F238E27FC236}">
                <a16:creationId xmlns:a16="http://schemas.microsoft.com/office/drawing/2014/main" id="{F0FF4D60-EA60-6E41-F77E-D580B8866D10}"/>
              </a:ext>
            </a:extLst>
          </p:cNvPr>
          <p:cNvPicPr>
            <a:picLocks noChangeAspect="1"/>
          </p:cNvPicPr>
          <p:nvPr/>
        </p:nvPicPr>
        <p:blipFill>
          <a:blip r:embed="rId10"/>
          <a:stretch>
            <a:fillRect/>
          </a:stretch>
        </p:blipFill>
        <p:spPr>
          <a:xfrm>
            <a:off x="7239000" y="2838450"/>
            <a:ext cx="889000" cy="800100"/>
          </a:xfrm>
          <a:prstGeom prst="rect">
            <a:avLst/>
          </a:prstGeom>
        </p:spPr>
      </p:pic>
      <p:pic>
        <p:nvPicPr>
          <p:cNvPr id="9" name="Picture 8">
            <a:extLst>
              <a:ext uri="{FF2B5EF4-FFF2-40B4-BE49-F238E27FC236}">
                <a16:creationId xmlns:a16="http://schemas.microsoft.com/office/drawing/2014/main" id="{17BCD354-05DD-7C00-DFCC-9839F5606164}"/>
              </a:ext>
            </a:extLst>
          </p:cNvPr>
          <p:cNvPicPr>
            <a:picLocks noChangeAspect="1"/>
          </p:cNvPicPr>
          <p:nvPr/>
        </p:nvPicPr>
        <p:blipFill>
          <a:blip r:embed="rId11"/>
          <a:stretch>
            <a:fillRect/>
          </a:stretch>
        </p:blipFill>
        <p:spPr>
          <a:xfrm>
            <a:off x="5651500" y="1714500"/>
            <a:ext cx="1569048" cy="1968500"/>
          </a:xfrm>
          <a:prstGeom prst="rect">
            <a:avLst/>
          </a:prstGeom>
        </p:spPr>
      </p:pic>
      <p:sp>
        <p:nvSpPr>
          <p:cNvPr id="33" name="Arrow: Right 32">
            <a:extLst>
              <a:ext uri="{FF2B5EF4-FFF2-40B4-BE49-F238E27FC236}">
                <a16:creationId xmlns:a16="http://schemas.microsoft.com/office/drawing/2014/main" id="{10B56E54-A4EF-4F38-BCCE-38D5841E70A3}"/>
              </a:ext>
            </a:extLst>
          </p:cNvPr>
          <p:cNvSpPr/>
          <p:nvPr/>
        </p:nvSpPr>
        <p:spPr>
          <a:xfrm>
            <a:off x="7899400" y="2489200"/>
            <a:ext cx="228600" cy="1778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B961D7F9-AF0B-4F55-8E54-70F15AF52D36}"/>
              </a:ext>
            </a:extLst>
          </p:cNvPr>
          <p:cNvSpPr/>
          <p:nvPr/>
        </p:nvSpPr>
        <p:spPr>
          <a:xfrm>
            <a:off x="5651499" y="5867400"/>
            <a:ext cx="5845517" cy="2794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B276ADDA-BC70-4DB9-A06D-4632200C6F1E}"/>
              </a:ext>
            </a:extLst>
          </p:cNvPr>
          <p:cNvSpPr txBox="1"/>
          <p:nvPr/>
        </p:nvSpPr>
        <p:spPr>
          <a:xfrm>
            <a:off x="5575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① Motor</a:t>
            </a:r>
          </a:p>
        </p:txBody>
      </p:sp>
      <p:sp>
        <p:nvSpPr>
          <p:cNvPr id="38" name="Arrow: Down 37">
            <a:extLst>
              <a:ext uri="{FF2B5EF4-FFF2-40B4-BE49-F238E27FC236}">
                <a16:creationId xmlns:a16="http://schemas.microsoft.com/office/drawing/2014/main" id="{FBF37818-9CB0-4641-AE4D-2E2CE8273CA3}"/>
              </a:ext>
            </a:extLst>
          </p:cNvPr>
          <p:cNvSpPr/>
          <p:nvPr/>
        </p:nvSpPr>
        <p:spPr>
          <a:xfrm>
            <a:off x="9486900" y="3657600"/>
            <a:ext cx="177800" cy="228600"/>
          </a:xfrm>
          <a:prstGeom prst="down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53BA8EEA-9717-4EAB-A997-7ABD4D028D86}"/>
              </a:ext>
            </a:extLst>
          </p:cNvPr>
          <p:cNvSpPr txBox="1"/>
          <p:nvPr/>
        </p:nvSpPr>
        <p:spPr>
          <a:xfrm>
            <a:off x="7607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② Segment Parts</a:t>
            </a:r>
          </a:p>
        </p:txBody>
      </p:sp>
      <p:sp>
        <p:nvSpPr>
          <p:cNvPr id="40" name="TextBox 39">
            <a:extLst>
              <a:ext uri="{FF2B5EF4-FFF2-40B4-BE49-F238E27FC236}">
                <a16:creationId xmlns:a16="http://schemas.microsoft.com/office/drawing/2014/main" id="{CF713C95-0380-4CB5-960A-9756BEFA1FCB}"/>
              </a:ext>
            </a:extLst>
          </p:cNvPr>
          <p:cNvSpPr txBox="1"/>
          <p:nvPr/>
        </p:nvSpPr>
        <p:spPr>
          <a:xfrm>
            <a:off x="7874000" y="-762000"/>
            <a:ext cx="2095500" cy="203200"/>
          </a:xfrm>
          <a:prstGeom prst="rect">
            <a:avLst/>
          </a:prstGeom>
          <a:noFill/>
        </p:spPr>
        <p:txBody>
          <a:bodyPr vertOverflow="overflow" vert="horz" wrap="square" rtlCol="0" anchor="t">
            <a:noAutofit/>
          </a:bodyPr>
          <a:lstStyle/>
          <a:p>
            <a:pPr algn="l"/>
            <a:r>
              <a:rPr lang="en-IN" sz="1000">
                <a:solidFill>
                  <a:srgbClr val="6B7890"/>
                </a:solidFill>
              </a:rPr>
              <a:t>③ Full Assembly</a:t>
            </a:r>
          </a:p>
        </p:txBody>
      </p:sp>
      <p:sp>
        <p:nvSpPr>
          <p:cNvPr id="4" name="TextBox 3">
            <a:extLst>
              <a:ext uri="{FF2B5EF4-FFF2-40B4-BE49-F238E27FC236}">
                <a16:creationId xmlns:a16="http://schemas.microsoft.com/office/drawing/2014/main" id="{8B27E486-825F-43C2-9B8F-369DBCC6DF83}"/>
              </a:ext>
            </a:extLst>
          </p:cNvPr>
          <p:cNvSpPr txBox="1"/>
          <p:nvPr/>
        </p:nvSpPr>
        <p:spPr>
          <a:xfrm>
            <a:off x="9639300" y="5880100"/>
            <a:ext cx="1968500" cy="203200"/>
          </a:xfrm>
          <a:prstGeom prst="rect">
            <a:avLst/>
          </a:prstGeom>
          <a:noFill/>
        </p:spPr>
        <p:txBody>
          <a:bodyPr vertOverflow="overflow" vert="horz" wrap="square" rtlCol="0" anchor="t">
            <a:noAutofit/>
          </a:bodyPr>
          <a:lstStyle/>
          <a:p>
            <a:pPr algn="l"/>
            <a:r>
              <a:rPr lang="en-IN" sz="1000" b="1">
                <a:solidFill>
                  <a:srgbClr val="FFFFFF"/>
                </a:solidFill>
              </a:rPr>
              <a:t>③ Full Assembly</a:t>
            </a:r>
          </a:p>
        </p:txBody>
      </p:sp>
    </p:spTree>
    <p:extLst>
      <p:ext uri="{BB962C8B-B14F-4D97-AF65-F5344CB8AC3E}">
        <p14:creationId xmlns:p14="http://schemas.microsoft.com/office/powerpoint/2010/main" val="311740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13260CA-6358-443A-8169-80D0FA169AC5}"/>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Oval 3">
            <a:extLst>
              <a:ext uri="{FF2B5EF4-FFF2-40B4-BE49-F238E27FC236}">
                <a16:creationId xmlns:a16="http://schemas.microsoft.com/office/drawing/2014/main" id="{47848CCA-B4E2-407C-A9D5-A89867BF2735}"/>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PROTOTYPE FABRICATION</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From Model to Printed Hardware</a:t>
            </a:r>
            <a:endParaRPr lang="en-US" sz="3000" dirty="0"/>
          </a:p>
        </p:txBody>
      </p:sp>
      <p:sp>
        <p:nvSpPr>
          <p:cNvPr id="10" name="Shape 8"/>
          <p:cNvSpPr/>
          <p:nvPr/>
        </p:nvSpPr>
        <p:spPr>
          <a:xfrm>
            <a:off x="548640" y="1600200"/>
            <a:ext cx="5074920" cy="2148840"/>
          </a:xfrm>
          <a:prstGeom prst="roundRect">
            <a:avLst>
              <a:gd name="adj" fmla="val 4255"/>
            </a:avLst>
          </a:prstGeom>
          <a:solidFill>
            <a:srgbClr val="FFFFFF">
              <a:alpha val="70000"/>
            </a:srgbClr>
          </a:solidFill>
          <a:ln w="13335">
            <a:solidFill>
              <a:srgbClr val="B8DCEB">
                <a:alpha val="80000"/>
              </a:srgbClr>
            </a:solidFill>
            <a:prstDash val="dash"/>
          </a:ln>
        </p:spPr>
        <p:txBody>
          <a:bodyPr/>
          <a:lstStyle/>
          <a:p>
            <a:endParaRPr lang="en-IN"/>
          </a:p>
        </p:txBody>
      </p:sp>
      <p:sp>
        <p:nvSpPr>
          <p:cNvPr id="11" name="Shape 9"/>
          <p:cNvSpPr/>
          <p:nvPr/>
        </p:nvSpPr>
        <p:spPr>
          <a:xfrm>
            <a:off x="2651760" y="1920240"/>
            <a:ext cx="868680" cy="868680"/>
          </a:xfrm>
          <a:prstGeom prst="ellipse">
            <a:avLst/>
          </a:prstGeom>
          <a:solidFill>
            <a:srgbClr val="FFFFFF"/>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2868930" y="2137410"/>
            <a:ext cx="434340" cy="434340"/>
          </a:xfrm>
          <a:prstGeom prst="rect">
            <a:avLst/>
          </a:prstGeom>
        </p:spPr>
      </p:pic>
      <p:sp>
        <p:nvSpPr>
          <p:cNvPr id="13" name="Text 10"/>
          <p:cNvSpPr/>
          <p:nvPr/>
        </p:nvSpPr>
        <p:spPr>
          <a:xfrm>
            <a:off x="822960" y="2903220"/>
            <a:ext cx="4526280" cy="32004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ea typeface="Calibri" pitchFamily="34" charset="-122"/>
                <a:cs typeface="Calibri" pitchFamily="34" charset="-120"/>
              </a:rPr>
              <a:t>PRINTED SEGMENT — PHOTO 1</a:t>
            </a:r>
            <a:endParaRPr lang="en-US" sz="1300" dirty="0"/>
          </a:p>
        </p:txBody>
      </p:sp>
      <p:sp>
        <p:nvSpPr>
          <p:cNvPr id="14" name="Text 11"/>
          <p:cNvSpPr/>
          <p:nvPr/>
        </p:nvSpPr>
        <p:spPr>
          <a:xfrm>
            <a:off x="914400" y="3223260"/>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first 3D-printed segment</a:t>
            </a:r>
            <a:endParaRPr lang="en-US" sz="1050" dirty="0"/>
          </a:p>
        </p:txBody>
      </p:sp>
      <p:sp>
        <p:nvSpPr>
          <p:cNvPr id="15" name="Shape 12"/>
          <p:cNvSpPr/>
          <p:nvPr/>
        </p:nvSpPr>
        <p:spPr>
          <a:xfrm>
            <a:off x="548640" y="3913632"/>
            <a:ext cx="5074920" cy="2148840"/>
          </a:xfrm>
          <a:prstGeom prst="roundRect">
            <a:avLst>
              <a:gd name="adj" fmla="val 4255"/>
            </a:avLst>
          </a:prstGeom>
          <a:solidFill>
            <a:srgbClr val="FFFFFF">
              <a:alpha val="70000"/>
            </a:srgbClr>
          </a:solidFill>
          <a:ln w="13335">
            <a:solidFill>
              <a:srgbClr val="B8DCEB">
                <a:alpha val="80000"/>
              </a:srgbClr>
            </a:solidFill>
            <a:prstDash val="dash"/>
          </a:ln>
        </p:spPr>
        <p:txBody>
          <a:bodyPr/>
          <a:lstStyle/>
          <a:p>
            <a:endParaRPr lang="en-IN"/>
          </a:p>
        </p:txBody>
      </p:sp>
      <p:sp>
        <p:nvSpPr>
          <p:cNvPr id="16" name="Shape 13"/>
          <p:cNvSpPr/>
          <p:nvPr/>
        </p:nvSpPr>
        <p:spPr>
          <a:xfrm>
            <a:off x="2651760" y="4233672"/>
            <a:ext cx="868680" cy="868680"/>
          </a:xfrm>
          <a:prstGeom prst="ellipse">
            <a:avLst/>
          </a:prstGeom>
          <a:solidFill>
            <a:srgbClr val="FFFFFF"/>
          </a:solidFill>
          <a:ln/>
        </p:spPr>
        <p:txBody>
          <a:bodyPr/>
          <a:lstStyle/>
          <a:p>
            <a:endParaRPr lang="en-IN"/>
          </a:p>
        </p:txBody>
      </p:sp>
      <p:pic>
        <p:nvPicPr>
          <p:cNvPr id="17" name="Image 1" descr="preencoded.png"/>
          <p:cNvPicPr>
            <a:picLocks noChangeAspect="1"/>
          </p:cNvPicPr>
          <p:nvPr/>
        </p:nvPicPr>
        <p:blipFill>
          <a:blip r:embed="rId4"/>
          <a:stretch>
            <a:fillRect/>
          </a:stretch>
        </p:blipFill>
        <p:spPr>
          <a:xfrm>
            <a:off x="2868930" y="4450842"/>
            <a:ext cx="434340" cy="434340"/>
          </a:xfrm>
          <a:prstGeom prst="rect">
            <a:avLst/>
          </a:prstGeom>
        </p:spPr>
      </p:pic>
      <p:sp>
        <p:nvSpPr>
          <p:cNvPr id="18" name="Text 14"/>
          <p:cNvSpPr/>
          <p:nvPr/>
        </p:nvSpPr>
        <p:spPr>
          <a:xfrm>
            <a:off x="822960" y="5216652"/>
            <a:ext cx="4526280" cy="320040"/>
          </a:xfrm>
          <a:prstGeom prst="rect">
            <a:avLst/>
          </a:prstGeom>
          <a:noFill/>
          <a:ln/>
        </p:spPr>
        <p:txBody>
          <a:bodyPr wrap="square" lIns="0" tIns="0" rIns="0" bIns="0" rtlCol="0" anchor="ctr"/>
          <a:lstStyle/>
          <a:p>
            <a:pPr marL="0" indent="0" algn="ctr">
              <a:buNone/>
            </a:pPr>
            <a:r>
              <a:rPr lang="en-US" sz="1300" b="1" kern="0" spc="100" dirty="0">
                <a:solidFill>
                  <a:srgbClr val="E08A1E"/>
                </a:solidFill>
                <a:latin typeface="Calibri" pitchFamily="34" charset="0"/>
                <a:ea typeface="Calibri" pitchFamily="34" charset="-122"/>
                <a:cs typeface="Calibri" pitchFamily="34" charset="-120"/>
              </a:rPr>
              <a:t>PRINTED SEGMENT — PHOTO 2</a:t>
            </a:r>
            <a:endParaRPr lang="en-US" sz="1300" dirty="0"/>
          </a:p>
        </p:txBody>
      </p:sp>
      <p:sp>
        <p:nvSpPr>
          <p:cNvPr id="19" name="Text 15"/>
          <p:cNvSpPr/>
          <p:nvPr/>
        </p:nvSpPr>
        <p:spPr>
          <a:xfrm>
            <a:off x="914400" y="5536692"/>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second segment / assembly</a:t>
            </a:r>
            <a:endParaRPr lang="en-US" sz="1050" dirty="0"/>
          </a:p>
        </p:txBody>
      </p:sp>
      <p:sp>
        <p:nvSpPr>
          <p:cNvPr id="20" name="Text 16"/>
          <p:cNvSpPr/>
          <p:nvPr/>
        </p:nvSpPr>
        <p:spPr>
          <a:xfrm>
            <a:off x="5943600" y="1600200"/>
            <a:ext cx="54864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FABRICATION STATUS</a:t>
            </a:r>
            <a:endParaRPr lang="en-US" sz="1200" dirty="0"/>
          </a:p>
        </p:txBody>
      </p:sp>
      <p:sp>
        <p:nvSpPr>
          <p:cNvPr id="21" name="Shape 17"/>
          <p:cNvSpPr/>
          <p:nvPr/>
        </p:nvSpPr>
        <p:spPr>
          <a:xfrm>
            <a:off x="5943600" y="2084832"/>
            <a:ext cx="5715000" cy="841248"/>
          </a:xfrm>
          <a:prstGeom prst="roundRect">
            <a:avLst>
              <a:gd name="adj" fmla="val 8696"/>
            </a:avLst>
          </a:prstGeom>
          <a:solidFill>
            <a:srgbClr val="FFFFFF">
              <a:alpha val="70000"/>
            </a:srgbClr>
          </a:solidFill>
          <a:ln w="13335">
            <a:solidFill>
              <a:srgbClr val="B8DCEB">
                <a:alpha val="80000"/>
              </a:srgbClr>
            </a:solidFill>
            <a:prstDash val="solid"/>
          </a:ln>
          <a:effectLst>
            <a:outerShdw blurRad="76200" dist="25400" dir="5400000" algn="bl" rotWithShape="0">
              <a:srgbClr val="1A2440">
                <a:alpha val="8000"/>
              </a:srgbClr>
            </a:outerShdw>
          </a:effectLst>
        </p:spPr>
        <p:txBody>
          <a:bodyPr/>
          <a:lstStyle/>
          <a:p>
            <a:endParaRPr lang="en-IN"/>
          </a:p>
        </p:txBody>
      </p:sp>
      <p:sp>
        <p:nvSpPr>
          <p:cNvPr id="22" name="Shape 18"/>
          <p:cNvSpPr/>
          <p:nvPr/>
        </p:nvSpPr>
        <p:spPr>
          <a:xfrm>
            <a:off x="6144768" y="2276856"/>
            <a:ext cx="457200" cy="457200"/>
          </a:xfrm>
          <a:prstGeom prst="ellipse">
            <a:avLst/>
          </a:prstGeom>
          <a:solidFill>
            <a:srgbClr val="12A678"/>
          </a:solidFill>
          <a:ln/>
        </p:spPr>
        <p:txBody>
          <a:bodyPr/>
          <a:lstStyle/>
          <a:p>
            <a:endParaRPr lang="en-IN"/>
          </a:p>
        </p:txBody>
      </p:sp>
      <p:pic>
        <p:nvPicPr>
          <p:cNvPr id="23" name="Image 2" descr="preencoded.png"/>
          <p:cNvPicPr>
            <a:picLocks noChangeAspect="1"/>
          </p:cNvPicPr>
          <p:nvPr/>
        </p:nvPicPr>
        <p:blipFill>
          <a:blip r:embed="rId5"/>
          <a:stretch>
            <a:fillRect/>
          </a:stretch>
        </p:blipFill>
        <p:spPr>
          <a:xfrm>
            <a:off x="6254496" y="2386584"/>
            <a:ext cx="237744" cy="237744"/>
          </a:xfrm>
          <a:prstGeom prst="rect">
            <a:avLst/>
          </a:prstGeom>
        </p:spPr>
      </p:pic>
      <p:sp>
        <p:nvSpPr>
          <p:cNvPr id="24" name="Text 19"/>
          <p:cNvSpPr/>
          <p:nvPr/>
        </p:nvSpPr>
        <p:spPr>
          <a:xfrm>
            <a:off x="6748272" y="221284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Two prototype segments 3D printed</a:t>
            </a:r>
            <a:endParaRPr lang="en-US" sz="1350" dirty="0"/>
          </a:p>
        </p:txBody>
      </p:sp>
      <p:sp>
        <p:nvSpPr>
          <p:cNvPr id="25" name="Text 20"/>
          <p:cNvSpPr/>
          <p:nvPr/>
        </p:nvSpPr>
        <p:spPr>
          <a:xfrm>
            <a:off x="6748272" y="252374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Both segments produced from the CAD model.</a:t>
            </a:r>
            <a:endParaRPr lang="en-US" sz="1100" dirty="0"/>
          </a:p>
        </p:txBody>
      </p:sp>
      <p:sp>
        <p:nvSpPr>
          <p:cNvPr id="26" name="Text 21"/>
          <p:cNvSpPr/>
          <p:nvPr/>
        </p:nvSpPr>
        <p:spPr>
          <a:xfrm>
            <a:off x="10972800" y="223113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27" name="Shape 22"/>
          <p:cNvSpPr/>
          <p:nvPr/>
        </p:nvSpPr>
        <p:spPr>
          <a:xfrm>
            <a:off x="5943600" y="3044952"/>
            <a:ext cx="5715000" cy="841248"/>
          </a:xfrm>
          <a:prstGeom prst="roundRect">
            <a:avLst>
              <a:gd name="adj" fmla="val 8696"/>
            </a:avLst>
          </a:prstGeom>
          <a:solidFill>
            <a:srgbClr val="FFFFFF">
              <a:alpha val="70000"/>
            </a:srgbClr>
          </a:solidFill>
          <a:ln w="13335">
            <a:solidFill>
              <a:srgbClr val="B8DCEB">
                <a:alpha val="80000"/>
              </a:srgbClr>
            </a:solidFill>
            <a:prstDash val="solid"/>
          </a:ln>
          <a:effectLst>
            <a:outerShdw blurRad="76200" dist="25400" dir="5400000" algn="bl" rotWithShape="0">
              <a:srgbClr val="1A2440">
                <a:alpha val="8000"/>
              </a:srgbClr>
            </a:outerShdw>
          </a:effectLst>
        </p:spPr>
        <p:txBody>
          <a:bodyPr/>
          <a:lstStyle/>
          <a:p>
            <a:endParaRPr lang="en-IN"/>
          </a:p>
        </p:txBody>
      </p:sp>
      <p:sp>
        <p:nvSpPr>
          <p:cNvPr id="28" name="Shape 23"/>
          <p:cNvSpPr/>
          <p:nvPr/>
        </p:nvSpPr>
        <p:spPr>
          <a:xfrm>
            <a:off x="6144768" y="3236976"/>
            <a:ext cx="457200" cy="457200"/>
          </a:xfrm>
          <a:prstGeom prst="ellipse">
            <a:avLst/>
          </a:prstGeom>
          <a:solidFill>
            <a:srgbClr val="12A678"/>
          </a:solidFill>
          <a:ln/>
        </p:spPr>
        <p:txBody>
          <a:bodyPr/>
          <a:lstStyle/>
          <a:p>
            <a:endParaRPr lang="en-IN"/>
          </a:p>
        </p:txBody>
      </p:sp>
      <p:pic>
        <p:nvPicPr>
          <p:cNvPr id="29" name="Image 3" descr="preencoded.png"/>
          <p:cNvPicPr>
            <a:picLocks noChangeAspect="1"/>
          </p:cNvPicPr>
          <p:nvPr/>
        </p:nvPicPr>
        <p:blipFill>
          <a:blip r:embed="rId6"/>
          <a:stretch>
            <a:fillRect/>
          </a:stretch>
        </p:blipFill>
        <p:spPr>
          <a:xfrm>
            <a:off x="6254496" y="3346704"/>
            <a:ext cx="237744" cy="237744"/>
          </a:xfrm>
          <a:prstGeom prst="rect">
            <a:avLst/>
          </a:prstGeom>
        </p:spPr>
      </p:pic>
      <p:sp>
        <p:nvSpPr>
          <p:cNvPr id="30" name="Text 24"/>
          <p:cNvSpPr/>
          <p:nvPr/>
        </p:nvSpPr>
        <p:spPr>
          <a:xfrm>
            <a:off x="6748272" y="317296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Initial dimensional verification done</a:t>
            </a:r>
            <a:endParaRPr lang="en-US" sz="1350" dirty="0"/>
          </a:p>
        </p:txBody>
      </p:sp>
      <p:sp>
        <p:nvSpPr>
          <p:cNvPr id="31" name="Text 25"/>
          <p:cNvSpPr/>
          <p:nvPr/>
        </p:nvSpPr>
        <p:spPr>
          <a:xfrm>
            <a:off x="6748272" y="348386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Printed parts measured against design specs.</a:t>
            </a:r>
            <a:endParaRPr lang="en-US" sz="1100" dirty="0"/>
          </a:p>
        </p:txBody>
      </p:sp>
      <p:sp>
        <p:nvSpPr>
          <p:cNvPr id="32" name="Text 26"/>
          <p:cNvSpPr/>
          <p:nvPr/>
        </p:nvSpPr>
        <p:spPr>
          <a:xfrm>
            <a:off x="10972800" y="319125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33" name="Shape 27"/>
          <p:cNvSpPr/>
          <p:nvPr/>
        </p:nvSpPr>
        <p:spPr>
          <a:xfrm>
            <a:off x="5943600" y="4005072"/>
            <a:ext cx="5715000" cy="841248"/>
          </a:xfrm>
          <a:prstGeom prst="roundRect">
            <a:avLst>
              <a:gd name="adj" fmla="val 8696"/>
            </a:avLst>
          </a:prstGeom>
          <a:solidFill>
            <a:srgbClr val="FFFFFF">
              <a:alpha val="70000"/>
            </a:srgbClr>
          </a:solidFill>
          <a:ln w="13335">
            <a:solidFill>
              <a:srgbClr val="B8DCEB">
                <a:alpha val="80000"/>
              </a:srgbClr>
            </a:solidFill>
            <a:prstDash val="solid"/>
          </a:ln>
          <a:effectLst>
            <a:outerShdw blurRad="76200" dist="25400" dir="5400000" algn="bl" rotWithShape="0">
              <a:srgbClr val="1A2440">
                <a:alpha val="8000"/>
              </a:srgbClr>
            </a:outerShdw>
          </a:effectLst>
        </p:spPr>
        <p:txBody>
          <a:bodyPr/>
          <a:lstStyle/>
          <a:p>
            <a:endParaRPr lang="en-IN"/>
          </a:p>
        </p:txBody>
      </p:sp>
      <p:sp>
        <p:nvSpPr>
          <p:cNvPr id="34" name="Shape 28"/>
          <p:cNvSpPr/>
          <p:nvPr/>
        </p:nvSpPr>
        <p:spPr>
          <a:xfrm>
            <a:off x="6144768" y="4197096"/>
            <a:ext cx="457200" cy="457200"/>
          </a:xfrm>
          <a:prstGeom prst="ellipse">
            <a:avLst/>
          </a:prstGeom>
          <a:solidFill>
            <a:srgbClr val="E08A1E"/>
          </a:solidFill>
          <a:ln/>
        </p:spPr>
        <p:txBody>
          <a:bodyPr/>
          <a:lstStyle/>
          <a:p>
            <a:endParaRPr lang="en-IN"/>
          </a:p>
        </p:txBody>
      </p:sp>
      <p:pic>
        <p:nvPicPr>
          <p:cNvPr id="35" name="Image 4" descr="preencoded.png"/>
          <p:cNvPicPr>
            <a:picLocks noChangeAspect="1"/>
          </p:cNvPicPr>
          <p:nvPr/>
        </p:nvPicPr>
        <p:blipFill>
          <a:blip r:embed="rId7"/>
          <a:stretch>
            <a:fillRect/>
          </a:stretch>
        </p:blipFill>
        <p:spPr>
          <a:xfrm>
            <a:off x="6254496" y="4306824"/>
            <a:ext cx="237744" cy="237744"/>
          </a:xfrm>
          <a:prstGeom prst="rect">
            <a:avLst/>
          </a:prstGeom>
        </p:spPr>
      </p:pic>
      <p:sp>
        <p:nvSpPr>
          <p:cNvPr id="36" name="Text 29"/>
          <p:cNvSpPr/>
          <p:nvPr/>
        </p:nvSpPr>
        <p:spPr>
          <a:xfrm>
            <a:off x="6748272" y="413308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Physical validation of CAD initiated</a:t>
            </a:r>
            <a:endParaRPr lang="en-US" sz="1350" dirty="0"/>
          </a:p>
        </p:txBody>
      </p:sp>
      <p:sp>
        <p:nvSpPr>
          <p:cNvPr id="37" name="Text 30"/>
          <p:cNvSpPr/>
          <p:nvPr/>
        </p:nvSpPr>
        <p:spPr>
          <a:xfrm>
            <a:off x="6748272" y="444398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Checking fit, tolerances and assembly.</a:t>
            </a:r>
            <a:endParaRPr lang="en-US" sz="1100" dirty="0"/>
          </a:p>
        </p:txBody>
      </p:sp>
      <p:sp>
        <p:nvSpPr>
          <p:cNvPr id="38" name="Text 31"/>
          <p:cNvSpPr/>
          <p:nvPr/>
        </p:nvSpPr>
        <p:spPr>
          <a:xfrm>
            <a:off x="10972800" y="415137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sp>
        <p:nvSpPr>
          <p:cNvPr id="39" name="Shape 32"/>
          <p:cNvSpPr/>
          <p:nvPr/>
        </p:nvSpPr>
        <p:spPr>
          <a:xfrm>
            <a:off x="5943600" y="4965192"/>
            <a:ext cx="5715000" cy="841248"/>
          </a:xfrm>
          <a:prstGeom prst="roundRect">
            <a:avLst>
              <a:gd name="adj" fmla="val 8696"/>
            </a:avLst>
          </a:prstGeom>
          <a:solidFill>
            <a:srgbClr val="FFFFFF">
              <a:alpha val="70000"/>
            </a:srgbClr>
          </a:solidFill>
          <a:ln w="13335">
            <a:solidFill>
              <a:srgbClr val="B8DCEB">
                <a:alpha val="80000"/>
              </a:srgbClr>
            </a:solidFill>
            <a:prstDash val="solid"/>
          </a:ln>
          <a:effectLst>
            <a:outerShdw blurRad="76200" dist="25400" dir="5400000" algn="bl" rotWithShape="0">
              <a:srgbClr val="1A2440">
                <a:alpha val="8000"/>
              </a:srgbClr>
            </a:outerShdw>
          </a:effectLst>
        </p:spPr>
        <p:txBody>
          <a:bodyPr/>
          <a:lstStyle/>
          <a:p>
            <a:endParaRPr lang="en-IN"/>
          </a:p>
        </p:txBody>
      </p:sp>
      <p:sp>
        <p:nvSpPr>
          <p:cNvPr id="40" name="Shape 33"/>
          <p:cNvSpPr/>
          <p:nvPr/>
        </p:nvSpPr>
        <p:spPr>
          <a:xfrm>
            <a:off x="6144768" y="5157216"/>
            <a:ext cx="457200" cy="457200"/>
          </a:xfrm>
          <a:prstGeom prst="ellipse">
            <a:avLst/>
          </a:prstGeom>
          <a:solidFill>
            <a:srgbClr val="E08A1E"/>
          </a:solidFill>
          <a:ln/>
        </p:spPr>
        <p:txBody>
          <a:bodyPr/>
          <a:lstStyle/>
          <a:p>
            <a:endParaRPr lang="en-IN"/>
          </a:p>
        </p:txBody>
      </p:sp>
      <p:pic>
        <p:nvPicPr>
          <p:cNvPr id="41" name="Image 5" descr="preencoded.png"/>
          <p:cNvPicPr>
            <a:picLocks noChangeAspect="1"/>
          </p:cNvPicPr>
          <p:nvPr/>
        </p:nvPicPr>
        <p:blipFill>
          <a:blip r:embed="rId8"/>
          <a:stretch>
            <a:fillRect/>
          </a:stretch>
        </p:blipFill>
        <p:spPr>
          <a:xfrm>
            <a:off x="6254496" y="5266944"/>
            <a:ext cx="237744" cy="237744"/>
          </a:xfrm>
          <a:prstGeom prst="rect">
            <a:avLst/>
          </a:prstGeom>
        </p:spPr>
      </p:pic>
      <p:sp>
        <p:nvSpPr>
          <p:cNvPr id="42" name="Text 34"/>
          <p:cNvSpPr/>
          <p:nvPr/>
        </p:nvSpPr>
        <p:spPr>
          <a:xfrm>
            <a:off x="6748272" y="509320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Preparing for motor-integration tests</a:t>
            </a:r>
            <a:endParaRPr lang="en-US" sz="1350" dirty="0"/>
          </a:p>
        </p:txBody>
      </p:sp>
      <p:sp>
        <p:nvSpPr>
          <p:cNvPr id="43" name="Text 35"/>
          <p:cNvSpPr/>
          <p:nvPr/>
        </p:nvSpPr>
        <p:spPr>
          <a:xfrm>
            <a:off x="6748272" y="540410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Next: seat XL330 servos into segments.</a:t>
            </a:r>
            <a:endParaRPr lang="en-US" sz="1100" dirty="0"/>
          </a:p>
        </p:txBody>
      </p:sp>
      <p:sp>
        <p:nvSpPr>
          <p:cNvPr id="44" name="Text 36"/>
          <p:cNvSpPr/>
          <p:nvPr/>
        </p:nvSpPr>
        <p:spPr>
          <a:xfrm>
            <a:off x="10972800" y="511149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pic>
        <p:nvPicPr>
          <p:cNvPr id="5" name="Picture 4" descr="The image shows a white, rectangular piece of furniture, possibly a desk or shelf, resting on a patterned carpet with a few scattered fabric scraps nearby.">
            <a:extLst>
              <a:ext uri="{FF2B5EF4-FFF2-40B4-BE49-F238E27FC236}">
                <a16:creationId xmlns:a16="http://schemas.microsoft.com/office/drawing/2014/main" id="{2B7CD62D-6348-4C50-4F1E-F52677B2E6DA}"/>
              </a:ext>
            </a:extLst>
          </p:cNvPr>
          <p:cNvPicPr>
            <a:picLocks noChangeAspect="1"/>
          </p:cNvPicPr>
          <p:nvPr/>
        </p:nvPicPr>
        <p:blipFill>
          <a:blip r:embed="rId9"/>
          <a:srcRect l="23494" t="18612" r="28325" b="16104"/>
          <a:stretch>
            <a:fillRect/>
          </a:stretch>
        </p:blipFill>
        <p:spPr>
          <a:xfrm>
            <a:off x="576072" y="1606526"/>
            <a:ext cx="5047487" cy="2101366"/>
          </a:xfrm>
          <a:prstGeom prst="rect">
            <a:avLst/>
          </a:prstGeom>
        </p:spPr>
      </p:pic>
      <p:pic>
        <p:nvPicPr>
          <p:cNvPr id="7" name="Picture 6" descr="The image shows a white, rectangular plastic structure lying flat on a patterned carpeted floor.&#10;&#10;AI-generated content may be incorrect.">
            <a:extLst>
              <a:ext uri="{FF2B5EF4-FFF2-40B4-BE49-F238E27FC236}">
                <a16:creationId xmlns:a16="http://schemas.microsoft.com/office/drawing/2014/main" id="{B31C5E51-FD00-4342-13F3-2A959BDD17D3}"/>
              </a:ext>
            </a:extLst>
          </p:cNvPr>
          <p:cNvPicPr>
            <a:picLocks noChangeAspect="1"/>
          </p:cNvPicPr>
          <p:nvPr/>
        </p:nvPicPr>
        <p:blipFill>
          <a:blip r:embed="rId10"/>
          <a:srcRect l="17223" t="9297" r="24652" b="21573"/>
          <a:stretch>
            <a:fillRect/>
          </a:stretch>
        </p:blipFill>
        <p:spPr>
          <a:xfrm>
            <a:off x="576072" y="3970730"/>
            <a:ext cx="5001768" cy="203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4A9B86C9-6222-4AD9-9C21-4B32EEF425DD}"/>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Oval 3">
            <a:extLst>
              <a:ext uri="{FF2B5EF4-FFF2-40B4-BE49-F238E27FC236}">
                <a16:creationId xmlns:a16="http://schemas.microsoft.com/office/drawing/2014/main" id="{61FCCD4B-AD5A-404F-95FB-387724F17047}"/>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00" name="LeftBg"/>
          <p:cNvSpPr/>
          <p:nvPr/>
        </p:nvSpPr>
        <p:spPr>
          <a:xfrm>
            <a:off x="101600" y="787400"/>
            <a:ext cx="4699000" cy="5943600"/>
          </a:xfrm>
          <a:prstGeom prst="roundRect">
            <a:avLst>
              <a:gd name="adj" fmla="val 3000"/>
            </a:avLst>
          </a:prstGeom>
          <a:solidFill>
            <a:srgbClr val="FFFFFF">
              <a:alpha val="70000"/>
            </a:srgbClr>
          </a:solidFill>
          <a:ln w="13335">
            <a:solidFill>
              <a:srgbClr val="B8DCEB">
                <a:alpha val="80000"/>
              </a:srgbClr>
            </a:solidFill>
          </a:ln>
        </p:spPr>
        <p:txBody>
          <a:bodyPr/>
          <a:lstStyle/>
          <a:p>
            <a:endParaRPr/>
          </a:p>
        </p:txBody>
      </p:sp>
      <p:sp>
        <p:nvSpPr>
          <p:cNvPr id="10" name="Shape 8"/>
          <p:cNvSpPr/>
          <p:nvPr/>
        </p:nvSpPr>
        <p:spPr>
          <a:xfrm>
            <a:off x="177800" y="939800"/>
            <a:ext cx="4495800" cy="723900"/>
          </a:xfrm>
          <a:prstGeom prst="roundRect">
            <a:avLst>
              <a:gd name="adj" fmla="val 10294"/>
            </a:avLst>
          </a:prstGeom>
          <a:solidFill>
            <a:srgbClr val="FFFFFF">
              <a:alpha val="70000"/>
            </a:srgbClr>
          </a:solidFill>
          <a:ln w="13335">
            <a:solidFill>
              <a:srgbClr val="B8DCEB">
                <a:alpha val="80000"/>
              </a:srgbClr>
            </a:solidFill>
            <a:prstDash val="solid"/>
          </a:ln>
        </p:spPr>
        <p:txBody>
          <a:bodyPr/>
          <a:lstStyle/>
          <a:p>
            <a:endParaRPr lang="en-IN"/>
          </a:p>
        </p:txBody>
      </p:sp>
      <p:sp>
        <p:nvSpPr>
          <p:cNvPr id="11" name="Shape 9"/>
          <p:cNvSpPr/>
          <p:nvPr/>
        </p:nvSpPr>
        <p:spPr>
          <a:xfrm>
            <a:off x="279400" y="1104900"/>
            <a:ext cx="393700" cy="393700"/>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381000" y="1206500"/>
            <a:ext cx="190500" cy="190500"/>
          </a:xfrm>
          <a:prstGeom prst="rect">
            <a:avLst/>
          </a:prstGeom>
        </p:spPr>
      </p:pic>
      <p:sp>
        <p:nvSpPr>
          <p:cNvPr id="13" name="Text 10"/>
          <p:cNvSpPr/>
          <p:nvPr/>
        </p:nvSpPr>
        <p:spPr>
          <a:xfrm>
            <a:off x="762000" y="1041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5 received &amp; configured</a:t>
            </a:r>
            <a:endParaRPr lang="en-US" sz="1250" dirty="0"/>
          </a:p>
        </p:txBody>
      </p:sp>
      <p:pic>
        <p:nvPicPr>
          <p:cNvPr id="14" name="Image 1" descr="preencoded.png"/>
          <p:cNvPicPr>
            <a:picLocks noChangeAspect="1"/>
          </p:cNvPicPr>
          <p:nvPr/>
        </p:nvPicPr>
        <p:blipFill>
          <a:blip r:embed="rId4"/>
          <a:stretch>
            <a:fillRect/>
          </a:stretch>
        </p:blipFill>
        <p:spPr>
          <a:xfrm>
            <a:off x="4368800" y="1193800"/>
            <a:ext cx="215900" cy="215900"/>
          </a:xfrm>
          <a:prstGeom prst="rect">
            <a:avLst/>
          </a:prstGeom>
        </p:spPr>
      </p:pic>
      <p:sp>
        <p:nvSpPr>
          <p:cNvPr id="15" name="Shape 11"/>
          <p:cNvSpPr/>
          <p:nvPr/>
        </p:nvSpPr>
        <p:spPr>
          <a:xfrm>
            <a:off x="177800" y="1854200"/>
            <a:ext cx="4495800" cy="723900"/>
          </a:xfrm>
          <a:prstGeom prst="roundRect">
            <a:avLst>
              <a:gd name="adj" fmla="val 10294"/>
            </a:avLst>
          </a:prstGeom>
          <a:solidFill>
            <a:srgbClr val="FFFFFF">
              <a:alpha val="70000"/>
            </a:srgbClr>
          </a:solidFill>
          <a:ln w="13335">
            <a:solidFill>
              <a:srgbClr val="B8DCEB">
                <a:alpha val="80000"/>
              </a:srgbClr>
            </a:solidFill>
            <a:prstDash val="solid"/>
          </a:ln>
        </p:spPr>
        <p:txBody>
          <a:bodyPr/>
          <a:lstStyle/>
          <a:p>
            <a:endParaRPr lang="en-IN"/>
          </a:p>
        </p:txBody>
      </p:sp>
      <p:sp>
        <p:nvSpPr>
          <p:cNvPr id="16" name="Shape 12"/>
          <p:cNvSpPr/>
          <p:nvPr/>
        </p:nvSpPr>
        <p:spPr>
          <a:xfrm>
            <a:off x="279400" y="2019300"/>
            <a:ext cx="393700" cy="393700"/>
          </a:xfrm>
          <a:prstGeom prst="ellipse">
            <a:avLst/>
          </a:prstGeom>
          <a:solidFill>
            <a:srgbClr val="0E96AC"/>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381000" y="2120900"/>
            <a:ext cx="190500" cy="190500"/>
          </a:xfrm>
          <a:prstGeom prst="rect">
            <a:avLst/>
          </a:prstGeom>
        </p:spPr>
      </p:pic>
      <p:sp>
        <p:nvSpPr>
          <p:cNvPr id="18" name="Text 13"/>
          <p:cNvSpPr/>
          <p:nvPr/>
        </p:nvSpPr>
        <p:spPr>
          <a:xfrm>
            <a:off x="762000" y="19558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OS installation completed</a:t>
            </a:r>
            <a:endParaRPr lang="en-US" sz="1250" dirty="0"/>
          </a:p>
        </p:txBody>
      </p:sp>
      <p:pic>
        <p:nvPicPr>
          <p:cNvPr id="19" name="Image 3" descr="preencoded.png"/>
          <p:cNvPicPr>
            <a:picLocks noChangeAspect="1"/>
          </p:cNvPicPr>
          <p:nvPr/>
        </p:nvPicPr>
        <p:blipFill>
          <a:blip r:embed="rId4"/>
          <a:stretch>
            <a:fillRect/>
          </a:stretch>
        </p:blipFill>
        <p:spPr>
          <a:xfrm>
            <a:off x="4368800" y="2108200"/>
            <a:ext cx="215900" cy="215900"/>
          </a:xfrm>
          <a:prstGeom prst="rect">
            <a:avLst/>
          </a:prstGeom>
        </p:spPr>
      </p:pic>
      <p:sp>
        <p:nvSpPr>
          <p:cNvPr id="20" name="Shape 14"/>
          <p:cNvSpPr/>
          <p:nvPr/>
        </p:nvSpPr>
        <p:spPr>
          <a:xfrm>
            <a:off x="177800" y="2768600"/>
            <a:ext cx="4495800" cy="723900"/>
          </a:xfrm>
          <a:prstGeom prst="roundRect">
            <a:avLst>
              <a:gd name="adj" fmla="val 10294"/>
            </a:avLst>
          </a:prstGeom>
          <a:solidFill>
            <a:srgbClr val="FFFFFF">
              <a:alpha val="70000"/>
            </a:srgbClr>
          </a:solidFill>
          <a:ln w="13335">
            <a:solidFill>
              <a:srgbClr val="B8DCEB">
                <a:alpha val="80000"/>
              </a:srgbClr>
            </a:solidFill>
            <a:prstDash val="solid"/>
          </a:ln>
        </p:spPr>
        <p:txBody>
          <a:bodyPr/>
          <a:lstStyle/>
          <a:p>
            <a:endParaRPr lang="en-IN"/>
          </a:p>
        </p:txBody>
      </p:sp>
      <p:sp>
        <p:nvSpPr>
          <p:cNvPr id="21" name="Shape 15"/>
          <p:cNvSpPr/>
          <p:nvPr/>
        </p:nvSpPr>
        <p:spPr>
          <a:xfrm>
            <a:off x="279400" y="2933700"/>
            <a:ext cx="393700" cy="393700"/>
          </a:xfrm>
          <a:prstGeom prst="ellipse">
            <a:avLst/>
          </a:prstGeom>
          <a:solidFill>
            <a:srgbClr val="0E96AC"/>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381000" y="3035300"/>
            <a:ext cx="190500" cy="190500"/>
          </a:xfrm>
          <a:prstGeom prst="rect">
            <a:avLst/>
          </a:prstGeom>
        </p:spPr>
      </p:pic>
      <p:sp>
        <p:nvSpPr>
          <p:cNvPr id="23" name="Text 16"/>
          <p:cNvSpPr/>
          <p:nvPr/>
        </p:nvSpPr>
        <p:spPr>
          <a:xfrm>
            <a:off x="762000" y="28702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Wi-Fi connectivity established</a:t>
            </a:r>
            <a:endParaRPr lang="en-US" sz="1250" dirty="0"/>
          </a:p>
        </p:txBody>
      </p:sp>
      <p:pic>
        <p:nvPicPr>
          <p:cNvPr id="24" name="Image 5" descr="preencoded.png"/>
          <p:cNvPicPr>
            <a:picLocks noChangeAspect="1"/>
          </p:cNvPicPr>
          <p:nvPr/>
        </p:nvPicPr>
        <p:blipFill>
          <a:blip r:embed="rId4"/>
          <a:stretch>
            <a:fillRect/>
          </a:stretch>
        </p:blipFill>
        <p:spPr>
          <a:xfrm>
            <a:off x="4368800" y="3022600"/>
            <a:ext cx="215900" cy="215900"/>
          </a:xfrm>
          <a:prstGeom prst="rect">
            <a:avLst/>
          </a:prstGeom>
        </p:spPr>
      </p:pic>
      <p:sp>
        <p:nvSpPr>
          <p:cNvPr id="25" name="Shape 17"/>
          <p:cNvSpPr/>
          <p:nvPr/>
        </p:nvSpPr>
        <p:spPr>
          <a:xfrm>
            <a:off x="177800" y="3683000"/>
            <a:ext cx="4495800" cy="723900"/>
          </a:xfrm>
          <a:prstGeom prst="roundRect">
            <a:avLst>
              <a:gd name="adj" fmla="val 10294"/>
            </a:avLst>
          </a:prstGeom>
          <a:solidFill>
            <a:srgbClr val="FFFFFF">
              <a:alpha val="70000"/>
            </a:srgbClr>
          </a:solidFill>
          <a:ln w="13335">
            <a:solidFill>
              <a:srgbClr val="B8DCEB">
                <a:alpha val="80000"/>
              </a:srgbClr>
            </a:solidFill>
            <a:prstDash val="solid"/>
          </a:ln>
        </p:spPr>
        <p:txBody>
          <a:bodyPr/>
          <a:lstStyle/>
          <a:p>
            <a:endParaRPr lang="en-IN"/>
          </a:p>
        </p:txBody>
      </p:sp>
      <p:sp>
        <p:nvSpPr>
          <p:cNvPr id="26" name="Shape 18"/>
          <p:cNvSpPr/>
          <p:nvPr/>
        </p:nvSpPr>
        <p:spPr>
          <a:xfrm>
            <a:off x="279400" y="3848100"/>
            <a:ext cx="393700" cy="393700"/>
          </a:xfrm>
          <a:prstGeom prst="ellipse">
            <a:avLst/>
          </a:prstGeom>
          <a:solidFill>
            <a:srgbClr val="0E96AC"/>
          </a:solidFill>
          <a:ln/>
        </p:spPr>
        <p:txBody>
          <a:bodyPr/>
          <a:lstStyle/>
          <a:p>
            <a:endParaRPr lang="en-IN"/>
          </a:p>
        </p:txBody>
      </p:sp>
      <p:pic>
        <p:nvPicPr>
          <p:cNvPr id="27" name="Image 6" descr="preencoded.png"/>
          <p:cNvPicPr>
            <a:picLocks noChangeAspect="1"/>
          </p:cNvPicPr>
          <p:nvPr/>
        </p:nvPicPr>
        <p:blipFill>
          <a:blip r:embed="rId7"/>
          <a:stretch>
            <a:fillRect/>
          </a:stretch>
        </p:blipFill>
        <p:spPr>
          <a:xfrm>
            <a:off x="381000" y="3949700"/>
            <a:ext cx="190500" cy="190500"/>
          </a:xfrm>
          <a:prstGeom prst="rect">
            <a:avLst/>
          </a:prstGeom>
        </p:spPr>
      </p:pic>
      <p:sp>
        <p:nvSpPr>
          <p:cNvPr id="28" name="Text 19"/>
          <p:cNvSpPr/>
          <p:nvPr/>
        </p:nvSpPr>
        <p:spPr>
          <a:xfrm>
            <a:off x="762000" y="37846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SSH &amp; remote access explored</a:t>
            </a:r>
            <a:endParaRPr lang="en-US" sz="1250" dirty="0"/>
          </a:p>
        </p:txBody>
      </p:sp>
      <p:pic>
        <p:nvPicPr>
          <p:cNvPr id="29" name="Image 7" descr="preencoded.png"/>
          <p:cNvPicPr>
            <a:picLocks noChangeAspect="1"/>
          </p:cNvPicPr>
          <p:nvPr/>
        </p:nvPicPr>
        <p:blipFill>
          <a:blip r:embed="rId4"/>
          <a:stretch>
            <a:fillRect/>
          </a:stretch>
        </p:blipFill>
        <p:spPr>
          <a:xfrm>
            <a:off x="4368800" y="3937000"/>
            <a:ext cx="215900" cy="215900"/>
          </a:xfrm>
          <a:prstGeom prst="rect">
            <a:avLst/>
          </a:prstGeom>
        </p:spPr>
      </p:pic>
      <p:sp>
        <p:nvSpPr>
          <p:cNvPr id="30" name="Shape 20"/>
          <p:cNvSpPr/>
          <p:nvPr/>
        </p:nvSpPr>
        <p:spPr>
          <a:xfrm>
            <a:off x="177800" y="4597400"/>
            <a:ext cx="4495800" cy="723900"/>
          </a:xfrm>
          <a:prstGeom prst="roundRect">
            <a:avLst>
              <a:gd name="adj" fmla="val 10294"/>
            </a:avLst>
          </a:prstGeom>
          <a:solidFill>
            <a:srgbClr val="FFFFFF">
              <a:alpha val="70000"/>
            </a:srgbClr>
          </a:solidFill>
          <a:ln w="13335">
            <a:solidFill>
              <a:srgbClr val="B8DCEB">
                <a:alpha val="80000"/>
              </a:srgbClr>
            </a:solidFill>
            <a:prstDash val="solid"/>
          </a:ln>
        </p:spPr>
        <p:txBody>
          <a:bodyPr/>
          <a:lstStyle/>
          <a:p>
            <a:endParaRPr lang="en-IN"/>
          </a:p>
        </p:txBody>
      </p:sp>
      <p:sp>
        <p:nvSpPr>
          <p:cNvPr id="31" name="Shape 21"/>
          <p:cNvSpPr/>
          <p:nvPr/>
        </p:nvSpPr>
        <p:spPr>
          <a:xfrm>
            <a:off x="279400" y="4762500"/>
            <a:ext cx="393700" cy="393700"/>
          </a:xfrm>
          <a:prstGeom prst="ellipse">
            <a:avLst/>
          </a:prstGeom>
          <a:solidFill>
            <a:srgbClr val="0E96AC"/>
          </a:solidFill>
          <a:ln/>
        </p:spPr>
        <p:txBody>
          <a:bodyPr/>
          <a:lstStyle/>
          <a:p>
            <a:endParaRPr lang="en-IN"/>
          </a:p>
        </p:txBody>
      </p:sp>
      <p:pic>
        <p:nvPicPr>
          <p:cNvPr id="32" name="Image 8" descr="preencoded.png"/>
          <p:cNvPicPr>
            <a:picLocks noChangeAspect="1"/>
          </p:cNvPicPr>
          <p:nvPr/>
        </p:nvPicPr>
        <p:blipFill>
          <a:blip r:embed="rId8"/>
          <a:stretch>
            <a:fillRect/>
          </a:stretch>
        </p:blipFill>
        <p:spPr>
          <a:xfrm>
            <a:off x="381000" y="4864100"/>
            <a:ext cx="190500" cy="190500"/>
          </a:xfrm>
          <a:prstGeom prst="rect">
            <a:avLst/>
          </a:prstGeom>
        </p:spPr>
      </p:pic>
      <p:sp>
        <p:nvSpPr>
          <p:cNvPr id="33" name="Text 22"/>
          <p:cNvSpPr/>
          <p:nvPr/>
        </p:nvSpPr>
        <p:spPr>
          <a:xfrm>
            <a:off x="762000" y="46990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Basic GPIO &amp; intro projects performed</a:t>
            </a:r>
            <a:endParaRPr lang="en-US" sz="1250" dirty="0"/>
          </a:p>
        </p:txBody>
      </p:sp>
      <p:pic>
        <p:nvPicPr>
          <p:cNvPr id="34" name="Image 9" descr="preencoded.png"/>
          <p:cNvPicPr>
            <a:picLocks noChangeAspect="1"/>
          </p:cNvPicPr>
          <p:nvPr/>
        </p:nvPicPr>
        <p:blipFill>
          <a:blip r:embed="rId4"/>
          <a:stretch>
            <a:fillRect/>
          </a:stretch>
        </p:blipFill>
        <p:spPr>
          <a:xfrm>
            <a:off x="4368800" y="4851400"/>
            <a:ext cx="215900" cy="215900"/>
          </a:xfrm>
          <a:prstGeom prst="rect">
            <a:avLst/>
          </a:prstGeom>
        </p:spPr>
      </p:pic>
      <p:sp>
        <p:nvSpPr>
          <p:cNvPr id="35" name="Shape 23"/>
          <p:cNvSpPr/>
          <p:nvPr/>
        </p:nvSpPr>
        <p:spPr>
          <a:xfrm>
            <a:off x="177800" y="5511800"/>
            <a:ext cx="4495800" cy="723900"/>
          </a:xfrm>
          <a:prstGeom prst="roundRect">
            <a:avLst>
              <a:gd name="adj" fmla="val 10294"/>
            </a:avLst>
          </a:prstGeom>
          <a:solidFill>
            <a:srgbClr val="FFFFFF">
              <a:alpha val="70000"/>
            </a:srgbClr>
          </a:solidFill>
          <a:ln w="13335">
            <a:solidFill>
              <a:srgbClr val="B8DCEB">
                <a:alpha val="80000"/>
              </a:srgbClr>
            </a:solidFill>
            <a:prstDash val="solid"/>
          </a:ln>
        </p:spPr>
        <p:txBody>
          <a:bodyPr/>
          <a:lstStyle/>
          <a:p>
            <a:endParaRPr lang="en-IN"/>
          </a:p>
        </p:txBody>
      </p:sp>
      <p:sp>
        <p:nvSpPr>
          <p:cNvPr id="36" name="Shape 24"/>
          <p:cNvSpPr/>
          <p:nvPr/>
        </p:nvSpPr>
        <p:spPr>
          <a:xfrm>
            <a:off x="279400" y="5676900"/>
            <a:ext cx="393700" cy="393700"/>
          </a:xfrm>
          <a:prstGeom prst="ellipse">
            <a:avLst/>
          </a:prstGeom>
          <a:solidFill>
            <a:srgbClr val="0E96AC"/>
          </a:solidFill>
          <a:ln/>
        </p:spPr>
        <p:txBody>
          <a:bodyPr/>
          <a:lstStyle/>
          <a:p>
            <a:endParaRPr lang="en-IN"/>
          </a:p>
        </p:txBody>
      </p:sp>
      <p:pic>
        <p:nvPicPr>
          <p:cNvPr id="37" name="Image 10" descr="preencoded.png"/>
          <p:cNvPicPr>
            <a:picLocks noChangeAspect="1"/>
          </p:cNvPicPr>
          <p:nvPr/>
        </p:nvPicPr>
        <p:blipFill>
          <a:blip r:embed="rId9"/>
          <a:stretch>
            <a:fillRect/>
          </a:stretch>
        </p:blipFill>
        <p:spPr>
          <a:xfrm>
            <a:off x="381000" y="5778500"/>
            <a:ext cx="190500" cy="190500"/>
          </a:xfrm>
          <a:prstGeom prst="rect">
            <a:avLst/>
          </a:prstGeom>
        </p:spPr>
      </p:pic>
      <p:sp>
        <p:nvSpPr>
          <p:cNvPr id="38" name="Text 25"/>
          <p:cNvSpPr/>
          <p:nvPr/>
        </p:nvSpPr>
        <p:spPr>
          <a:xfrm>
            <a:off x="762000" y="5613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Linux environment &amp; Python familiarity</a:t>
            </a:r>
            <a:endParaRPr lang="en-US" sz="1250" dirty="0"/>
          </a:p>
        </p:txBody>
      </p:sp>
      <p:pic>
        <p:nvPicPr>
          <p:cNvPr id="39" name="Image 11" descr="preencoded.png"/>
          <p:cNvPicPr>
            <a:picLocks noChangeAspect="1"/>
          </p:cNvPicPr>
          <p:nvPr/>
        </p:nvPicPr>
        <p:blipFill>
          <a:blip r:embed="rId4"/>
          <a:stretch>
            <a:fillRect/>
          </a:stretch>
        </p:blipFill>
        <p:spPr>
          <a:xfrm>
            <a:off x="4368800" y="5765800"/>
            <a:ext cx="215900" cy="215900"/>
          </a:xfrm>
          <a:prstGeom prst="rect">
            <a:avLst/>
          </a:prstGeom>
        </p:spPr>
      </p:pic>
      <p:sp>
        <p:nvSpPr>
          <p:cNvPr id="310" name="Card0"/>
          <p:cNvSpPr/>
          <p:nvPr/>
        </p:nvSpPr>
        <p:spPr>
          <a:xfrm>
            <a:off x="5080000" y="1003300"/>
            <a:ext cx="3251200" cy="1828800"/>
          </a:xfrm>
          <a:prstGeom prst="roundRect">
            <a:avLst>
              <a:gd name="adj" fmla="val 5000"/>
            </a:avLst>
          </a:prstGeom>
          <a:solidFill>
            <a:srgbClr val="FFFFFF">
              <a:alpha val="70000"/>
            </a:srgbClr>
          </a:solidFill>
          <a:ln w="13335">
            <a:solidFill>
              <a:srgbClr val="B8DCEB">
                <a:alpha val="80000"/>
              </a:srgbClr>
            </a:solidFill>
          </a:ln>
          <a:effectLst>
            <a:outerShdw blurRad="38100" dist="25400" dir="5400000" algn="ctr" rotWithShape="0">
              <a:srgbClr val="607090">
                <a:alpha val="22000"/>
              </a:srgbClr>
            </a:outerShdw>
          </a:effectLst>
        </p:spPr>
        <p:txBody>
          <a:bodyPr/>
          <a:lstStyle/>
          <a:p>
            <a:endParaRPr/>
          </a:p>
        </p:txBody>
      </p:sp>
      <p:sp>
        <p:nvSpPr>
          <p:cNvPr id="311" name="Card1"/>
          <p:cNvSpPr/>
          <p:nvPr/>
        </p:nvSpPr>
        <p:spPr>
          <a:xfrm>
            <a:off x="8458200" y="1003300"/>
            <a:ext cx="3251200" cy="1828800"/>
          </a:xfrm>
          <a:prstGeom prst="roundRect">
            <a:avLst>
              <a:gd name="adj" fmla="val 5000"/>
            </a:avLst>
          </a:prstGeom>
          <a:solidFill>
            <a:srgbClr val="FFFFFF">
              <a:alpha val="70000"/>
            </a:srgbClr>
          </a:solidFill>
          <a:ln w="13335">
            <a:solidFill>
              <a:srgbClr val="B8DCEB">
                <a:alpha val="80000"/>
              </a:srgbClr>
            </a:solidFill>
          </a:ln>
          <a:effectLst>
            <a:outerShdw blurRad="38100" dist="25400" dir="5400000" algn="ctr" rotWithShape="0">
              <a:srgbClr val="607090">
                <a:alpha val="22000"/>
              </a:srgbClr>
            </a:outerShdw>
          </a:effectLst>
        </p:spPr>
        <p:txBody>
          <a:bodyPr/>
          <a:lstStyle/>
          <a:p>
            <a:endParaRPr/>
          </a:p>
        </p:txBody>
      </p:sp>
      <p:sp>
        <p:nvSpPr>
          <p:cNvPr id="312" name="Card2"/>
          <p:cNvSpPr/>
          <p:nvPr/>
        </p:nvSpPr>
        <p:spPr>
          <a:xfrm>
            <a:off x="5080000" y="3162300"/>
            <a:ext cx="3251200" cy="1828800"/>
          </a:xfrm>
          <a:prstGeom prst="roundRect">
            <a:avLst>
              <a:gd name="adj" fmla="val 5000"/>
            </a:avLst>
          </a:prstGeom>
          <a:solidFill>
            <a:srgbClr val="FFFFFF">
              <a:alpha val="70000"/>
            </a:srgbClr>
          </a:solidFill>
          <a:ln w="13335">
            <a:solidFill>
              <a:srgbClr val="B8DCEB">
                <a:alpha val="80000"/>
              </a:srgbClr>
            </a:solidFill>
          </a:ln>
          <a:effectLst>
            <a:outerShdw blurRad="38100" dist="25400" dir="5400000" algn="ctr" rotWithShape="0">
              <a:srgbClr val="607090">
                <a:alpha val="22000"/>
              </a:srgbClr>
            </a:outerShdw>
          </a:effectLst>
        </p:spPr>
        <p:txBody>
          <a:bodyPr/>
          <a:lstStyle/>
          <a:p>
            <a:endParaRPr/>
          </a:p>
        </p:txBody>
      </p:sp>
      <p:sp>
        <p:nvSpPr>
          <p:cNvPr id="313" name="Card3"/>
          <p:cNvSpPr/>
          <p:nvPr/>
        </p:nvSpPr>
        <p:spPr>
          <a:xfrm>
            <a:off x="8458200" y="3162300"/>
            <a:ext cx="3251200" cy="1828800"/>
          </a:xfrm>
          <a:prstGeom prst="roundRect">
            <a:avLst>
              <a:gd name="adj" fmla="val 5000"/>
            </a:avLst>
          </a:prstGeom>
          <a:solidFill>
            <a:srgbClr val="FFFFFF">
              <a:alpha val="70000"/>
            </a:srgbClr>
          </a:solidFill>
          <a:ln w="13335">
            <a:solidFill>
              <a:srgbClr val="B8DCEB">
                <a:alpha val="80000"/>
              </a:srgbClr>
            </a:solidFill>
          </a:ln>
          <a:effectLst>
            <a:outerShdw blurRad="38100" dist="25400" dir="5400000" algn="ctr" rotWithShape="0">
              <a:srgbClr val="607090">
                <a:alpha val="22000"/>
              </a:srgbClr>
            </a:outerShdw>
          </a:effectLst>
        </p:spPr>
        <p:txBody>
          <a:bodyPr/>
          <a:lstStyle/>
          <a:p>
            <a:endParaRPr/>
          </a:p>
        </p:txBody>
      </p:sp>
      <p:pic>
        <p:nvPicPr>
          <p:cNvPr id="46" name="Picture 45"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DE1F7E33-CA39-C0EF-A173-4BAD70E88A32}"/>
              </a:ext>
            </a:extLst>
          </p:cNvPr>
          <p:cNvPicPr>
            <a:picLocks noChangeAspect="1"/>
          </p:cNvPicPr>
          <p:nvPr/>
        </p:nvPicPr>
        <p:blipFill>
          <a:blip r:embed="rId10"/>
          <a:srcRect r="60211"/>
          <a:stretch>
            <a:fillRect/>
          </a:stretch>
        </p:blipFill>
        <p:spPr>
          <a:xfrm>
            <a:off x="5105400" y="1028700"/>
            <a:ext cx="3200400" cy="1778000"/>
          </a:xfrm>
          <a:prstGeom prst="rect">
            <a:avLst/>
          </a:prstGeom>
        </p:spPr>
      </p:pic>
      <p:pic>
        <p:nvPicPr>
          <p:cNvPr id="5" name="Picture 4" descr="The image shows a Windows command prompt window, with a user logged into a remote Linux system via SSH, navigating through directories and listing files on a desktop.&#10;&#10;AI-generated content may be incorrect.">
            <a:extLst>
              <a:ext uri="{FF2B5EF4-FFF2-40B4-BE49-F238E27FC236}">
                <a16:creationId xmlns:a16="http://schemas.microsoft.com/office/drawing/2014/main" id="{476EAFDA-9F87-F6F2-3722-50C8B96B4274}"/>
              </a:ext>
            </a:extLst>
          </p:cNvPr>
          <p:cNvPicPr>
            <a:picLocks noChangeAspect="1"/>
          </p:cNvPicPr>
          <p:nvPr/>
        </p:nvPicPr>
        <p:blipFill>
          <a:blip r:embed="rId11"/>
          <a:srcRect b="23740"/>
          <a:stretch>
            <a:fillRect/>
          </a:stretch>
        </p:blipFill>
        <p:spPr>
          <a:xfrm>
            <a:off x="5105400" y="3187700"/>
            <a:ext cx="3200400" cy="1778000"/>
          </a:xfrm>
          <a:prstGeom prst="rect">
            <a:avLst/>
          </a:prstGeom>
        </p:spPr>
      </p:pic>
      <p:pic>
        <p:nvPicPr>
          <p:cNvPr id="7" name="Picture 6" descr="The image shows a purple rectangular device, presumably a Raspberry Pi E, with four black USB ports, placed on a wooden surface.">
            <a:extLst>
              <a:ext uri="{FF2B5EF4-FFF2-40B4-BE49-F238E27FC236}">
                <a16:creationId xmlns:a16="http://schemas.microsoft.com/office/drawing/2014/main" id="{2B20CD64-9A81-0E6C-1B7D-03F8DCC66540}"/>
              </a:ext>
            </a:extLst>
          </p:cNvPr>
          <p:cNvPicPr>
            <a:picLocks noChangeAspect="1"/>
          </p:cNvPicPr>
          <p:nvPr/>
        </p:nvPicPr>
        <p:blipFill>
          <a:blip r:embed="rId12"/>
          <a:srcRect l="19186" t="3630" r="28657" b="6275"/>
          <a:stretch>
            <a:fillRect/>
          </a:stretch>
        </p:blipFill>
        <p:spPr>
          <a:xfrm>
            <a:off x="8483600" y="3187700"/>
            <a:ext cx="3200400" cy="1778000"/>
          </a:xfrm>
          <a:prstGeom prst="rect">
            <a:avLst/>
          </a:prstGeom>
        </p:spPr>
      </p:pic>
      <p:pic>
        <p:nvPicPr>
          <p:cNvPr id="9" name="Picture 8"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FEAE6426-EE78-D26E-1075-61019A1547A7}"/>
              </a:ext>
            </a:extLst>
          </p:cNvPr>
          <p:cNvPicPr>
            <a:picLocks noChangeAspect="1"/>
          </p:cNvPicPr>
          <p:nvPr/>
        </p:nvPicPr>
        <p:blipFill>
          <a:blip r:embed="rId10"/>
          <a:srcRect l="37886"/>
          <a:stretch>
            <a:fillRect/>
          </a:stretch>
        </p:blipFill>
        <p:spPr>
          <a:xfrm>
            <a:off x="8483600" y="1028700"/>
            <a:ext cx="3200400" cy="1778000"/>
          </a:xfrm>
          <a:prstGeom prst="rect">
            <a:avLst/>
          </a:prstGeom>
        </p:spPr>
      </p:pic>
      <p:sp>
        <p:nvSpPr>
          <p:cNvPr id="301" name="Divider"/>
          <p:cNvSpPr/>
          <p:nvPr/>
        </p:nvSpPr>
        <p:spPr>
          <a:xfrm>
            <a:off x="4864100" y="127000"/>
            <a:ext cx="25400" cy="6629400"/>
          </a:xfrm>
          <a:prstGeom prst="rect">
            <a:avLst/>
          </a:prstGeom>
          <a:solidFill>
            <a:srgbClr val="DDE5F0"/>
          </a:solidFill>
          <a:ln>
            <a:noFill/>
          </a:ln>
        </p:spPr>
        <p:txBody>
          <a:bodyPr/>
          <a:lstStyle/>
          <a:p>
            <a:endParaRPr/>
          </a:p>
        </p:txBody>
      </p:sp>
      <p:sp>
        <p:nvSpPr>
          <p:cNvPr id="330" name="BannerBg"/>
          <p:cNvSpPr/>
          <p:nvPr/>
        </p:nvSpPr>
        <p:spPr>
          <a:xfrm>
            <a:off x="5054600" y="5397500"/>
            <a:ext cx="6680200" cy="381000"/>
          </a:xfrm>
          <a:prstGeom prst="roundRect">
            <a:avLst>
              <a:gd name="adj" fmla="val 10000"/>
            </a:avLst>
          </a:prstGeom>
          <a:solidFill>
            <a:srgbClr val="D4EDDA"/>
          </a:solidFill>
          <a:ln w="12700">
            <a:solidFill>
              <a:srgbClr val="28A745"/>
            </a:solidFill>
          </a:ln>
        </p:spPr>
        <p:txBody>
          <a:bodyPr/>
          <a:lstStyle/>
          <a:p>
            <a:endParaRPr/>
          </a:p>
        </p:txBody>
      </p:sp>
      <p:sp>
        <p:nvSpPr>
          <p:cNvPr id="331" name="BannerText"/>
          <p:cNvSpPr/>
          <p:nvPr/>
        </p:nvSpPr>
        <p:spPr>
          <a:xfrm>
            <a:off x="5105400" y="5473700"/>
            <a:ext cx="6578600" cy="279400"/>
          </a:xfrm>
          <a:prstGeom prst="rect">
            <a:avLst/>
          </a:prstGeom>
          <a:noFill/>
        </p:spPr>
        <p:txBody>
          <a:bodyPr wrap="square" rtlCol="0"/>
          <a:lstStyle/>
          <a:p>
            <a:pPr marL="0" indent="0" algn="ctr">
              <a:buNone/>
            </a:pPr>
            <a:r>
              <a:rPr lang="en-US" sz="1000" b="1" dirty="0">
                <a:solidFill>
                  <a:srgbClr val="0A3D1F"/>
                </a:solidFill>
                <a:latin typeface="Calibri" pitchFamily="34" charset="0"/>
              </a:rPr>
              <a:t>Raspberry Pi Platform Successfully Configured and Tested</a:t>
            </a:r>
          </a:p>
        </p:txBody>
      </p:sp>
      <p:sp>
        <p:nvSpPr>
          <p:cNvPr id="320" name="Cap0"/>
          <p:cNvSpPr/>
          <p:nvPr/>
        </p:nvSpPr>
        <p:spPr>
          <a:xfrm>
            <a:off x="50800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Raspberry Pi OS Desktop</a:t>
            </a:r>
          </a:p>
        </p:txBody>
      </p:sp>
      <p:sp>
        <p:nvSpPr>
          <p:cNvPr id="321" name="Cap1"/>
          <p:cNvSpPr/>
          <p:nvPr/>
        </p:nvSpPr>
        <p:spPr>
          <a:xfrm>
            <a:off x="84582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GPIO / Python Testing</a:t>
            </a:r>
          </a:p>
        </p:txBody>
      </p:sp>
      <p:sp>
        <p:nvSpPr>
          <p:cNvPr id="322" name="Cap2"/>
          <p:cNvSpPr/>
          <p:nvPr/>
        </p:nvSpPr>
        <p:spPr>
          <a:xfrm>
            <a:off x="50800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SSH Remote Access</a:t>
            </a:r>
          </a:p>
        </p:txBody>
      </p:sp>
      <p:sp>
        <p:nvSpPr>
          <p:cNvPr id="323" name="Cap3"/>
          <p:cNvSpPr/>
          <p:nvPr/>
        </p:nvSpPr>
        <p:spPr>
          <a:xfrm>
            <a:off x="84582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System Configuration</a:t>
            </a:r>
          </a:p>
        </p:txBody>
      </p:sp>
      <p:sp>
        <p:nvSpPr>
          <p:cNvPr id="303" name="RightHeading"/>
          <p:cNvSpPr/>
          <p:nvPr/>
        </p:nvSpPr>
        <p:spPr>
          <a:xfrm>
            <a:off x="5029200" y="660400"/>
            <a:ext cx="6959600" cy="279400"/>
          </a:xfrm>
          <a:prstGeom prst="rect">
            <a:avLst/>
          </a:prstGeom>
          <a:noFill/>
        </p:spPr>
        <p:txBody>
          <a:bodyPr wrap="square" rtlCol="0"/>
          <a:lstStyle/>
          <a:p>
            <a:pPr marL="0" indent="0">
              <a:buNone/>
            </a:pPr>
            <a:r>
              <a:rPr lang="en-US" sz="1200" b="1" dirty="0">
                <a:solidFill>
                  <a:srgbClr val="0E96AC"/>
                </a:solidFill>
                <a:latin typeface="Calibri" pitchFamily="34" charset="0"/>
              </a:rPr>
              <a:t>Development Environment Setup</a:t>
            </a:r>
          </a:p>
        </p:txBody>
      </p:sp>
      <p:sp>
        <p:nvSpPr>
          <p:cNvPr id="302" name="MilesLabel"/>
          <p:cNvSpPr/>
          <p:nvPr/>
        </p:nvSpPr>
        <p:spPr>
          <a:xfrm>
            <a:off x="228600" y="787400"/>
            <a:ext cx="4318000" cy="177800"/>
          </a:xfrm>
          <a:prstGeom prst="rect">
            <a:avLst/>
          </a:prstGeom>
          <a:noFill/>
        </p:spPr>
        <p:txBody>
          <a:bodyPr wrap="square" rtlCol="0"/>
          <a:lstStyle/>
          <a:p>
            <a:pPr marL="0" indent="0">
              <a:buNone/>
            </a:pPr>
            <a:r>
              <a:rPr lang="en-US" sz="900" b="1" spc="100" dirty="0">
                <a:solidFill>
                  <a:srgbClr val="3A6D82"/>
                </a:solidFill>
                <a:latin typeface="Calibri" pitchFamily="34" charset="0"/>
              </a:rPr>
              <a:t>PROGRESS MILESTONES</a:t>
            </a:r>
          </a:p>
        </p:txBody>
      </p:sp>
      <p:sp>
        <p:nvSpPr>
          <p:cNvPr id="3" name="Text 1"/>
          <p:cNvSpPr/>
          <p:nvPr/>
        </p:nvSpPr>
        <p:spPr>
          <a:xfrm>
            <a:off x="228600" y="330200"/>
            <a:ext cx="4546600" cy="381000"/>
          </a:xfrm>
          <a:prstGeom prst="rect">
            <a:avLst/>
          </a:prstGeom>
          <a:noFill/>
          <a:ln/>
        </p:spPr>
        <p:txBody>
          <a:bodyPr wrap="square" lIns="0" tIns="0" rIns="0" bIns="0" rtlCol="0" anchor="ctr"/>
          <a:lstStyle/>
          <a:p>
            <a:pPr marL="0" indent="0">
              <a:buNone/>
            </a:pPr>
            <a:r>
              <a:rPr lang="en-US" sz="2200" b="1" dirty="0">
                <a:solidFill>
                  <a:srgbClr val="16223A"/>
                </a:solidFill>
                <a:latin typeface="Calibri" pitchFamily="34" charset="0"/>
                <a:ea typeface="Calibri" pitchFamily="34" charset="-122"/>
                <a:cs typeface="Calibri" pitchFamily="34" charset="-120"/>
              </a:rPr>
              <a:t>Standing Up the Compute Platform</a:t>
            </a:r>
            <a:endParaRPr lang="en-US" sz="3000" dirty="0"/>
          </a:p>
        </p:txBody>
      </p:sp>
      <p:sp>
        <p:nvSpPr>
          <p:cNvPr id="2" name="Text 0"/>
          <p:cNvSpPr/>
          <p:nvPr/>
        </p:nvSpPr>
        <p:spPr>
          <a:xfrm>
            <a:off x="228600" y="127000"/>
            <a:ext cx="4546600" cy="2286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RASPBERRY PI LEARNING &amp; DEVELOPMENT</a:t>
            </a:r>
            <a:endParaRPr lang="en-US" sz="1200" dirty="0"/>
          </a:p>
        </p:txBody>
      </p:sp>
    </p:spTree>
    <p:extLst>
      <p:ext uri="{BB962C8B-B14F-4D97-AF65-F5344CB8AC3E}">
        <p14:creationId xmlns:p14="http://schemas.microsoft.com/office/powerpoint/2010/main" val="284060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3306E957-8870-4D98-B07D-158F0B0E0838}"/>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Oval 1">
            <a:extLst>
              <a:ext uri="{FF2B5EF4-FFF2-40B4-BE49-F238E27FC236}">
                <a16:creationId xmlns:a16="http://schemas.microsoft.com/office/drawing/2014/main" id="{412F8194-1EBB-4B48-B84F-D4584A96AB76}"/>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HARDWARE PROCUREMENT &amp; RESOURCE AVAILABILITY</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Hardware Procurement &amp; Resource Availability</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FFFFFF">
              <a:alpha val="70000"/>
            </a:srgbClr>
          </a:solidFill>
          <a:ln w="13335">
            <a:solidFill>
              <a:srgbClr val="B8DCEB">
                <a:alpha val="80000"/>
              </a:srgbClr>
            </a:solid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Hardware Strategy: </a:t>
            </a:r>
            <a:r>
              <a:rPr lang="en-IN" sz="1300" dirty="0">
                <a:solidFill>
                  <a:srgbClr val="16223A"/>
                </a:solidFill>
                <a:latin typeface="Calibri"/>
              </a:rPr>
              <a:t>Raspberry Pi 4 was planned in the BOM; however, a Raspberry Pi 5 was already available in the laboratory, enabling immediate software development and testing without waiting for delivery. To accelerate development, the team utilised the laboratory Raspberry Pi 5 platform while the ordered components remain under procurement.</a:t>
            </a:r>
          </a:p>
        </p:txBody>
      </p:sp>
      <p:sp>
        <p:nvSpPr>
          <p:cNvPr id="120" name="card0_bg"/>
          <p:cNvSpPr>
            <a:spLocks noGrp="1"/>
          </p:cNvSpPr>
          <p:nvPr/>
        </p:nvSpPr>
        <p:spPr>
          <a:xfrm>
            <a:off x="546100" y="2260600"/>
            <a:ext cx="3568700" cy="1714500"/>
          </a:xfrm>
          <a:prstGeom prst="roundRect">
            <a:avLst>
              <a:gd name="adj" fmla="val 10000"/>
            </a:avLst>
          </a:prstGeom>
          <a:solidFill>
            <a:srgbClr val="FFFFFF">
              <a:alpha val="70000"/>
            </a:srgbClr>
          </a:solidFill>
          <a:ln w="13335">
            <a:solidFill>
              <a:srgbClr val="B8DCEB">
                <a:alpha val="80000"/>
              </a:srgbClr>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FFFFF">
              <a:alpha val="70000"/>
            </a:srgbClr>
          </a:solidFill>
          <a:ln w="13335">
            <a:solidFill>
              <a:srgbClr val="B8DCEB">
                <a:alpha val="80000"/>
              </a:srgbClr>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FFFFFF">
              <a:alpha val="70000"/>
            </a:srgbClr>
          </a:solidFill>
          <a:ln w="13335">
            <a:solidFill>
              <a:srgbClr val="B8DCEB">
                <a:alpha val="80000"/>
              </a:srgbClr>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AVAILABLE &amp; IN USE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ORDERED — AWAITING DELIVERY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COMPLETED PREPARATORY WORK</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Raspberry Pi 5 (Laboratory Resource)</a:t>
            </a:r>
          </a:p>
          <a:p>
            <a:pPr marL="180000" indent="-180000">
              <a:buFont typeface="Arial"/>
              <a:buChar char="•"/>
            </a:pPr>
            <a:r>
              <a:rPr lang="en-IN" sz="1200" dirty="0">
                <a:solidFill>
                  <a:srgbClr val="1E4620"/>
                </a:solidFill>
                <a:latin typeface="Calibri"/>
              </a:rPr>
              <a:t>Raspberry Pi Starter Kit</a:t>
            </a:r>
          </a:p>
          <a:p>
            <a:pPr marL="180000" indent="-180000">
              <a:buFont typeface="Arial"/>
              <a:buChar char="•"/>
            </a:pPr>
            <a:r>
              <a:rPr lang="en-IN" sz="1200" dirty="0">
                <a:solidFill>
                  <a:srgbClr val="1E4620"/>
                </a:solidFill>
                <a:latin typeface="Calibri"/>
              </a:rPr>
              <a:t>Raspberry Pi OS Environment</a:t>
            </a:r>
          </a:p>
          <a:p>
            <a:pPr marL="180000" indent="-180000">
              <a:buFont typeface="Arial"/>
              <a:buChar char="•"/>
            </a:pPr>
            <a:r>
              <a:rPr lang="en-IN" sz="1200" dirty="0">
                <a:solidFill>
                  <a:srgbClr val="1E4620"/>
                </a:solidFill>
                <a:latin typeface="Calibri"/>
              </a:rPr>
              <a:t>GitHub Repository</a:t>
            </a:r>
          </a:p>
          <a:p>
            <a:pPr marL="180000" indent="-180000">
              <a:buFont typeface="Arial"/>
              <a:buChar char="•"/>
            </a:pPr>
            <a:r>
              <a:rPr lang="en-IN" sz="1200" dirty="0">
                <a:solidFill>
                  <a:srgbClr val="1E4620"/>
                </a:solidFill>
                <a:latin typeface="Calibri"/>
              </a:rPr>
              <a:t>3D Printed Prototype Segments</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Dynamixel XL330 Smart Servo Motors</a:t>
            </a:r>
          </a:p>
          <a:p>
            <a:pPr marL="180000" indent="-180000">
              <a:buFont typeface="Arial"/>
              <a:buChar char="•"/>
            </a:pPr>
            <a:r>
              <a:rPr lang="en-IN" sz="1000" dirty="0">
                <a:solidFill>
                  <a:srgbClr val="374151"/>
                </a:solidFill>
                <a:latin typeface="Calibri"/>
              </a:rPr>
              <a:t>U2D2 Communication Interface</a:t>
            </a:r>
          </a:p>
          <a:p>
            <a:pPr marL="180000" indent="-180000">
              <a:buFont typeface="Arial"/>
              <a:buChar char="•"/>
            </a:pPr>
            <a:r>
              <a:rPr lang="en-IN" sz="1000" dirty="0">
                <a:solidFill>
                  <a:srgbClr val="374151"/>
                </a:solidFill>
                <a:latin typeface="Calibri"/>
              </a:rPr>
              <a:t>U2D2 Power Hub Board</a:t>
            </a:r>
          </a:p>
          <a:p>
            <a:pPr marL="180000" indent="-180000">
              <a:buFont typeface="Arial"/>
              <a:buChar char="•"/>
            </a:pPr>
            <a:r>
              <a:rPr lang="en-IN" sz="1000" dirty="0">
                <a:solidFill>
                  <a:srgbClr val="374151"/>
                </a:solidFill>
                <a:latin typeface="Calibri"/>
              </a:rPr>
              <a:t>Dynamixel Communication Cables</a:t>
            </a:r>
          </a:p>
          <a:p>
            <a:pPr marL="180000" indent="-180000">
              <a:buFont typeface="Arial"/>
              <a:buChar char="•"/>
            </a:pPr>
            <a:r>
              <a:rPr lang="en-IN" sz="1000" dirty="0">
                <a:solidFill>
                  <a:srgbClr val="374151"/>
                </a:solidFill>
                <a:latin typeface="Calibri"/>
              </a:rPr>
              <a:t>5V Power Supply</a:t>
            </a:r>
          </a:p>
          <a:p>
            <a:pPr marL="180000" indent="-180000">
              <a:buFont typeface="Arial"/>
              <a:buChar char="•"/>
            </a:pPr>
            <a:r>
              <a:rPr lang="en-IN" sz="1000" dirty="0">
                <a:solidFill>
                  <a:srgbClr val="374151"/>
                </a:solidFill>
                <a:latin typeface="Calibri"/>
              </a:rPr>
              <a:t>ESP32 Development Board</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Hardware selection finalised</a:t>
            </a:r>
          </a:p>
          <a:p>
            <a:pPr marL="180000" indent="-180000">
              <a:buFont typeface="Arial"/>
              <a:buChar char="•"/>
            </a:pPr>
            <a:r>
              <a:rPr lang="en-IN" sz="1000" dirty="0">
                <a:solidFill>
                  <a:srgbClr val="374151"/>
                </a:solidFill>
                <a:latin typeface="Calibri"/>
              </a:rPr>
              <a:t>Bill of Materials prepared</a:t>
            </a:r>
          </a:p>
          <a:p>
            <a:pPr marL="180000" indent="-180000">
              <a:buFont typeface="Arial"/>
              <a:buChar char="•"/>
            </a:pPr>
            <a:r>
              <a:rPr lang="en-IN" sz="1000" dirty="0">
                <a:solidFill>
                  <a:srgbClr val="374151"/>
                </a:solidFill>
                <a:latin typeface="Calibri"/>
              </a:rPr>
              <a:t>CAD model completed</a:t>
            </a:r>
          </a:p>
          <a:p>
            <a:pPr marL="180000" indent="-180000">
              <a:buFont typeface="Arial"/>
              <a:buChar char="•"/>
            </a:pPr>
            <a:r>
              <a:rPr lang="en-IN" sz="1000" dirty="0">
                <a:solidFill>
                  <a:srgbClr val="374151"/>
                </a:solidFill>
                <a:latin typeface="Calibri"/>
              </a:rPr>
              <a:t>Segment fabrication initiated</a:t>
            </a:r>
          </a:p>
          <a:p>
            <a:pPr marL="180000" indent="-180000">
              <a:buFont typeface="Arial"/>
              <a:buChar char="•"/>
            </a:pPr>
            <a:r>
              <a:rPr lang="en-IN" sz="1000" dirty="0">
                <a:solidFill>
                  <a:srgbClr val="374151"/>
                </a:solidFill>
                <a:latin typeface="Calibri"/>
              </a:rPr>
              <a:t>Software environment configured</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DEVELOPMENT PROGRESS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E7A3E"/>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Component</a:t>
            </a:r>
          </a:p>
          <a:p>
            <a:pPr algn="ctr">
              <a:buNone/>
            </a:pPr>
            <a:r>
              <a:rPr lang="en-IN" sz="1400" dirty="0">
                <a:solidFill>
                  <a:srgbClr val="374151"/>
                </a:solidFill>
                <a:latin typeface="Calibri"/>
              </a:rPr>
              <a:t>Selection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E7A3E"/>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Procurement</a:t>
            </a:r>
          </a:p>
          <a:p>
            <a:pPr algn="ctr">
              <a:buNone/>
            </a:pPr>
            <a:r>
              <a:rPr lang="en-IN" sz="1400" dirty="0">
                <a:solidFill>
                  <a:srgbClr val="374151"/>
                </a:solidFill>
                <a:latin typeface="Calibri"/>
              </a:rPr>
              <a:t>Initiated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7A3E"/>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CAD</a:t>
            </a:r>
          </a:p>
          <a:p>
            <a:pPr algn="ctr">
              <a:buNone/>
            </a:pPr>
            <a:r>
              <a:rPr lang="en-IN" sz="1400" dirty="0">
                <a:solidFill>
                  <a:srgbClr val="374151"/>
                </a:solidFill>
                <a:latin typeface="Calibri"/>
              </a:rPr>
              <a:t>Design</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7A3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Prototype</a:t>
            </a:r>
          </a:p>
          <a:p>
            <a:pPr algn="ctr">
              <a:buNone/>
            </a:pPr>
            <a:r>
              <a:rPr lang="en-IN" sz="1400" dirty="0">
                <a:solidFill>
                  <a:srgbClr val="374151"/>
                </a:solidFill>
                <a:latin typeface="Calibri"/>
              </a:rPr>
              <a:t>Printing</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1E7A3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RPi</a:t>
            </a:r>
          </a:p>
          <a:p>
            <a:pPr algn="ctr">
              <a:buNone/>
            </a:pPr>
            <a:r>
              <a:rPr lang="en-IN" sz="1400" dirty="0">
                <a:solidFill>
                  <a:srgbClr val="374151"/>
                </a:solidFill>
                <a:latin typeface="Calibri"/>
              </a:rPr>
              <a:t>Learning</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D97706"/>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Motor</a:t>
            </a:r>
          </a:p>
          <a:p>
            <a:pPr algn="ctr">
              <a:buNone/>
            </a:pPr>
            <a:r>
              <a:rPr lang="en-IN" sz="1400" dirty="0">
                <a:solidFill>
                  <a:srgbClr val="374151"/>
                </a:solidFill>
                <a:latin typeface="Calibri"/>
              </a:rPr>
              <a:t>Integration</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Awaiting HW</a:t>
            </a:r>
          </a:p>
        </p:txBody>
      </p:sp>
      <p:sp>
        <p:nvSpPr>
          <p:cNvPr id="316" name="step6_circle"/>
          <p:cNvSpPr>
            <a:spLocks noGrp="1"/>
          </p:cNvSpPr>
          <p:nvPr/>
        </p:nvSpPr>
        <p:spPr>
          <a:xfrm>
            <a:off x="9613900" y="4241800"/>
            <a:ext cx="457200" cy="457200"/>
          </a:xfrm>
          <a:prstGeom prst="roundRect">
            <a:avLst>
              <a:gd name="adj" fmla="val 50000"/>
            </a:avLst>
          </a:prstGeom>
          <a:solidFill>
            <a:srgbClr val="94A3B8"/>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Locomotion</a:t>
            </a:r>
          </a:p>
          <a:p>
            <a:pPr algn="ctr">
              <a:buNone/>
            </a:pPr>
            <a:r>
              <a:rPr lang="en-IN" sz="1400" dirty="0">
                <a:solidFill>
                  <a:srgbClr val="374151"/>
                </a:solidFill>
                <a:latin typeface="Calibri"/>
              </a:rPr>
              <a:t>Testing</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FFFFFF">
              <a:alpha val="70000"/>
            </a:srgbClr>
          </a:solidFill>
          <a:ln w="13335">
            <a:solidFill>
              <a:srgbClr val="B8DCEB">
                <a:alpha val="80000"/>
              </a:srgbClr>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t>
            </a:r>
            <a:r>
              <a:rPr lang="en-IN" sz="1100" dirty="0">
                <a:solidFill>
                  <a:srgbClr val="374151"/>
                </a:solidFill>
                <a:latin typeface="Calibri"/>
              </a:rPr>
              <a:t>Although the primary Dynamixel hardware has not yet arrived, the team has successfully utilised available laboratory resources to complete design, fabrication, documentation, and software preparation activities, ensuring project progress is maintained.</a:t>
            </a:r>
          </a:p>
        </p:txBody>
      </p:sp>
    </p:spTree>
    <p:extLst>
      <p:ext uri="{BB962C8B-B14F-4D97-AF65-F5344CB8AC3E}">
        <p14:creationId xmlns:p14="http://schemas.microsoft.com/office/powerpoint/2010/main" val="414498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2B74F7E-C79F-46CB-9BF0-A1211E81040C}"/>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Oval 1">
            <a:extLst>
              <a:ext uri="{FF2B5EF4-FFF2-40B4-BE49-F238E27FC236}">
                <a16:creationId xmlns:a16="http://schemas.microsoft.com/office/drawing/2014/main" id="{0621DCD0-CCC9-42F5-923C-9D1051F993E6}"/>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0" name="bg_hdr"/>
          <p:cNvSpPr>
            <a:spLocks noGrp="1"/>
          </p:cNvSpPr>
          <p:nvPr/>
        </p:nvSpPr>
        <p:spPr>
          <a:xfrm>
            <a:off x="0" y="0"/>
            <a:ext cx="12192000" cy="1371600"/>
          </a:xfrm>
          <a:prstGeom prst="rect">
            <a:avLst/>
          </a:prstGeom>
          <a:solidFill>
            <a:srgbClr val="F4F6F9"/>
          </a:solidFill>
          <a:ln>
            <a:noFill/>
          </a:ln>
        </p:spPr>
        <p:txBody>
          <a:bodyPr/>
          <a:lstStyle/>
          <a:p>
            <a:endParaRPr lang="en-US" dirty="0"/>
          </a:p>
        </p:txBody>
      </p:sp>
      <p:sp>
        <p:nvSpPr>
          <p:cNvPr id="101" name="bg_body"/>
          <p:cNvSpPr>
            <a:spLocks noGrp="1"/>
          </p:cNvSpPr>
          <p:nvPr/>
        </p:nvSpPr>
        <p:spPr>
          <a:xfrm>
            <a:off x="0" y="1371600"/>
            <a:ext cx="12192000" cy="5486400"/>
          </a:xfrm>
          <a:prstGeom prst="rect">
            <a:avLst/>
          </a:prstGeom>
          <a:solidFill>
            <a:srgbClr val="FFFFFF"/>
          </a:solidFill>
          <a:ln>
            <a:noFill/>
          </a:ln>
        </p:spPr>
        <p:txBody>
          <a:bodyPr/>
          <a:lstStyle/>
          <a:p>
            <a:endParaRPr lang="en-US" dirty="0"/>
          </a:p>
        </p:txBody>
      </p:sp>
      <p:sp>
        <p:nvSpPr>
          <p:cNvPr id="102" name="teal_bar"/>
          <p:cNvSpPr>
            <a:spLocks noGrp="1"/>
          </p:cNvSpPr>
          <p:nvPr/>
        </p:nvSpPr>
        <p:spPr>
          <a:xfrm>
            <a:off x="0" y="0"/>
            <a:ext cx="12192000" cy="63500"/>
          </a:xfrm>
          <a:prstGeom prst="rect">
            <a:avLst/>
          </a:prstGeom>
          <a:solidFill>
            <a:srgbClr val="0E96AC"/>
          </a:solidFill>
          <a:ln>
            <a:noFill/>
          </a:ln>
        </p:spPr>
        <p:txBody>
          <a:bodyPr/>
          <a:lstStyle/>
          <a:p>
            <a:endParaRPr lang="en-US" dirty="0"/>
          </a:p>
        </p:txBody>
      </p:sp>
      <p:sp>
        <p:nvSpPr>
          <p:cNvPr id="103" name="div_v"/>
          <p:cNvSpPr>
            <a:spLocks noGrp="1"/>
          </p:cNvSpPr>
          <p:nvPr/>
        </p:nvSpPr>
        <p:spPr>
          <a:xfrm>
            <a:off x="4241800" y="1422400"/>
            <a:ext cx="25400" cy="5257800"/>
          </a:xfrm>
          <a:prstGeom prst="rect">
            <a:avLst/>
          </a:prstGeom>
          <a:solidFill>
            <a:srgbClr val="CBD5E1"/>
          </a:solidFill>
          <a:ln>
            <a:noFill/>
          </a:ln>
        </p:spPr>
        <p:txBody>
          <a:bodyPr/>
          <a:lstStyle/>
          <a:p>
            <a:endParaRPr lang="en-US" dirty="0"/>
          </a:p>
        </p:txBody>
      </p:sp>
      <p:sp>
        <p:nvSpPr>
          <p:cNvPr id="104" name="subt"/>
          <p:cNvSpPr txBox="1">
            <a:spLocks noGrp="1"/>
          </p:cNvSpPr>
          <p:nvPr/>
        </p:nvSpPr>
        <p:spPr>
          <a:xfrm>
            <a:off x="546100" y="177800"/>
            <a:ext cx="8890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REPOSITORY &amp; DOCUMENTATION</a:t>
            </a:r>
          </a:p>
        </p:txBody>
      </p:sp>
      <p:sp>
        <p:nvSpPr>
          <p:cNvPr id="105" name="ttl"/>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Version Control From Day One</a:t>
            </a:r>
          </a:p>
        </p:txBody>
      </p:sp>
      <p:sp>
        <p:nvSpPr>
          <p:cNvPr id="106" name="hdr_ln"/>
          <p:cNvSpPr>
            <a:spLocks noGrp="1"/>
          </p:cNvSpPr>
          <p:nvPr/>
        </p:nvSpPr>
        <p:spPr>
          <a:xfrm>
            <a:off x="546100" y="1320800"/>
            <a:ext cx="11099800" cy="25400"/>
          </a:xfrm>
          <a:prstGeom prst="rect">
            <a:avLst/>
          </a:prstGeom>
          <a:solidFill>
            <a:srgbClr val="0E96AC"/>
          </a:solidFill>
          <a:ln>
            <a:noFill/>
          </a:ln>
        </p:spPr>
        <p:txBody>
          <a:bodyPr/>
          <a:lstStyle/>
          <a:p>
            <a:endParaRPr lang="en-US" dirty="0"/>
          </a:p>
        </p:txBody>
      </p:sp>
      <p:sp>
        <p:nvSpPr>
          <p:cNvPr id="200" name="rbg0"/>
          <p:cNvSpPr>
            <a:spLocks noGrp="1"/>
          </p:cNvSpPr>
          <p:nvPr/>
        </p:nvSpPr>
        <p:spPr>
          <a:xfrm>
            <a:off x="546100" y="1422400"/>
            <a:ext cx="3632200" cy="838200"/>
          </a:xfrm>
          <a:prstGeom prst="rect">
            <a:avLst/>
          </a:prstGeom>
          <a:solidFill>
            <a:srgbClr val="FFFFFF">
              <a:alpha val="70000"/>
            </a:srgbClr>
          </a:solidFill>
          <a:ln w="13335">
            <a:solidFill>
              <a:srgbClr val="B8DCEB">
                <a:alpha val="80000"/>
              </a:srgbClr>
            </a:solidFill>
          </a:ln>
        </p:spPr>
        <p:txBody>
          <a:bodyPr/>
          <a:lstStyle/>
          <a:p>
            <a:endParaRPr lang="en-US" dirty="0"/>
          </a:p>
        </p:txBody>
      </p:sp>
      <p:sp>
        <p:nvSpPr>
          <p:cNvPr id="210" name="nc0"/>
          <p:cNvSpPr>
            <a:spLocks noGrp="1"/>
          </p:cNvSpPr>
          <p:nvPr/>
        </p:nvSpPr>
        <p:spPr>
          <a:xfrm>
            <a:off x="609600" y="1689100"/>
            <a:ext cx="304800" cy="304800"/>
          </a:xfrm>
          <a:prstGeom prst="ellipse">
            <a:avLst/>
          </a:prstGeom>
          <a:solidFill>
            <a:srgbClr val="0E96AC"/>
          </a:solidFill>
          <a:ln>
            <a:noFill/>
          </a:ln>
        </p:spPr>
        <p:txBody>
          <a:bodyPr/>
          <a:lstStyle/>
          <a:p>
            <a:endParaRPr lang="en-US" dirty="0"/>
          </a:p>
        </p:txBody>
      </p:sp>
      <p:sp>
        <p:nvSpPr>
          <p:cNvPr id="220" name="nct0"/>
          <p:cNvSpPr txBox="1">
            <a:spLocks noGrp="1"/>
          </p:cNvSpPr>
          <p:nvPr/>
        </p:nvSpPr>
        <p:spPr>
          <a:xfrm>
            <a:off x="609600" y="1689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1</a:t>
            </a:r>
          </a:p>
        </p:txBody>
      </p:sp>
      <p:sp>
        <p:nvSpPr>
          <p:cNvPr id="230" name="bt0"/>
          <p:cNvSpPr txBox="1">
            <a:spLocks noGrp="1"/>
          </p:cNvSpPr>
          <p:nvPr/>
        </p:nvSpPr>
        <p:spPr>
          <a:xfrm>
            <a:off x="1003300" y="1498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Repository created</a:t>
            </a:r>
          </a:p>
          <a:p>
            <a:pPr marL="0" indent="0">
              <a:buNone/>
            </a:pPr>
            <a:r>
              <a:rPr lang="en-IN" sz="1400" dirty="0">
                <a:solidFill>
                  <a:srgbClr val="6B7890"/>
                </a:solidFill>
                <a:latin typeface="Calibri"/>
              </a:rPr>
              <a:t>Central home for the whole project.</a:t>
            </a:r>
          </a:p>
        </p:txBody>
      </p:sp>
      <p:sp>
        <p:nvSpPr>
          <p:cNvPr id="240" name="rdiv0"/>
          <p:cNvSpPr>
            <a:spLocks noGrp="1"/>
          </p:cNvSpPr>
          <p:nvPr/>
        </p:nvSpPr>
        <p:spPr>
          <a:xfrm>
            <a:off x="546100" y="2247900"/>
            <a:ext cx="3632200" cy="12700"/>
          </a:xfrm>
          <a:prstGeom prst="rect">
            <a:avLst/>
          </a:prstGeom>
          <a:solidFill>
            <a:srgbClr val="E2E8F0"/>
          </a:solidFill>
          <a:ln>
            <a:noFill/>
          </a:ln>
        </p:spPr>
        <p:txBody>
          <a:bodyPr/>
          <a:lstStyle/>
          <a:p>
            <a:endParaRPr lang="en-US" dirty="0"/>
          </a:p>
        </p:txBody>
      </p:sp>
      <p:sp>
        <p:nvSpPr>
          <p:cNvPr id="211" name="nc1"/>
          <p:cNvSpPr>
            <a:spLocks noGrp="1"/>
          </p:cNvSpPr>
          <p:nvPr/>
        </p:nvSpPr>
        <p:spPr>
          <a:xfrm>
            <a:off x="609600" y="2527300"/>
            <a:ext cx="304800" cy="304800"/>
          </a:xfrm>
          <a:prstGeom prst="ellipse">
            <a:avLst/>
          </a:prstGeom>
          <a:solidFill>
            <a:srgbClr val="0E96AC"/>
          </a:solidFill>
          <a:ln>
            <a:noFill/>
          </a:ln>
        </p:spPr>
        <p:txBody>
          <a:bodyPr/>
          <a:lstStyle/>
          <a:p>
            <a:endParaRPr lang="en-US" dirty="0"/>
          </a:p>
        </p:txBody>
      </p:sp>
      <p:sp>
        <p:nvSpPr>
          <p:cNvPr id="221" name="nct1"/>
          <p:cNvSpPr txBox="1">
            <a:spLocks noGrp="1"/>
          </p:cNvSpPr>
          <p:nvPr/>
        </p:nvSpPr>
        <p:spPr>
          <a:xfrm>
            <a:off x="609600" y="25273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2</a:t>
            </a:r>
          </a:p>
        </p:txBody>
      </p:sp>
      <p:sp>
        <p:nvSpPr>
          <p:cNvPr id="231" name="bt1"/>
          <p:cNvSpPr txBox="1">
            <a:spLocks noGrp="1"/>
          </p:cNvSpPr>
          <p:nvPr/>
        </p:nvSpPr>
        <p:spPr>
          <a:xfrm>
            <a:off x="1003300" y="23368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Version control established</a:t>
            </a:r>
          </a:p>
          <a:p>
            <a:pPr marL="0" indent="0">
              <a:buNone/>
            </a:pPr>
            <a:r>
              <a:rPr lang="en-IN" sz="1400" dirty="0">
                <a:solidFill>
                  <a:srgbClr val="6B7890"/>
                </a:solidFill>
                <a:latin typeface="Calibri"/>
              </a:rPr>
              <a:t>Tracked, reversible change history.</a:t>
            </a:r>
          </a:p>
        </p:txBody>
      </p:sp>
      <p:sp>
        <p:nvSpPr>
          <p:cNvPr id="241" name="rdiv1"/>
          <p:cNvSpPr>
            <a:spLocks noGrp="1"/>
          </p:cNvSpPr>
          <p:nvPr/>
        </p:nvSpPr>
        <p:spPr>
          <a:xfrm>
            <a:off x="546100" y="3086100"/>
            <a:ext cx="3632200" cy="12700"/>
          </a:xfrm>
          <a:prstGeom prst="rect">
            <a:avLst/>
          </a:prstGeom>
          <a:solidFill>
            <a:srgbClr val="E2E8F0"/>
          </a:solidFill>
          <a:ln>
            <a:noFill/>
          </a:ln>
        </p:spPr>
        <p:txBody>
          <a:bodyPr/>
          <a:lstStyle/>
          <a:p>
            <a:endParaRPr lang="en-US" dirty="0"/>
          </a:p>
        </p:txBody>
      </p:sp>
      <p:sp>
        <p:nvSpPr>
          <p:cNvPr id="202" name="rbg2"/>
          <p:cNvSpPr>
            <a:spLocks noGrp="1"/>
          </p:cNvSpPr>
          <p:nvPr/>
        </p:nvSpPr>
        <p:spPr>
          <a:xfrm>
            <a:off x="546100" y="3098800"/>
            <a:ext cx="3632200" cy="838200"/>
          </a:xfrm>
          <a:prstGeom prst="rect">
            <a:avLst/>
          </a:prstGeom>
          <a:solidFill>
            <a:srgbClr val="FFFFFF">
              <a:alpha val="70000"/>
            </a:srgbClr>
          </a:solidFill>
          <a:ln w="13335">
            <a:solidFill>
              <a:srgbClr val="B8DCEB">
                <a:alpha val="80000"/>
              </a:srgbClr>
            </a:solidFill>
          </a:ln>
        </p:spPr>
        <p:txBody>
          <a:bodyPr/>
          <a:lstStyle/>
          <a:p>
            <a:endParaRPr lang="en-US" dirty="0"/>
          </a:p>
        </p:txBody>
      </p:sp>
      <p:sp>
        <p:nvSpPr>
          <p:cNvPr id="212" name="nc2"/>
          <p:cNvSpPr>
            <a:spLocks noGrp="1"/>
          </p:cNvSpPr>
          <p:nvPr/>
        </p:nvSpPr>
        <p:spPr>
          <a:xfrm>
            <a:off x="609600" y="3365500"/>
            <a:ext cx="304800" cy="304800"/>
          </a:xfrm>
          <a:prstGeom prst="ellipse">
            <a:avLst/>
          </a:prstGeom>
          <a:solidFill>
            <a:srgbClr val="0E96AC"/>
          </a:solidFill>
          <a:ln>
            <a:noFill/>
          </a:ln>
        </p:spPr>
        <p:txBody>
          <a:bodyPr/>
          <a:lstStyle/>
          <a:p>
            <a:endParaRPr lang="en-US" dirty="0"/>
          </a:p>
        </p:txBody>
      </p:sp>
      <p:sp>
        <p:nvSpPr>
          <p:cNvPr id="222" name="nct2"/>
          <p:cNvSpPr txBox="1">
            <a:spLocks noGrp="1"/>
          </p:cNvSpPr>
          <p:nvPr/>
        </p:nvSpPr>
        <p:spPr>
          <a:xfrm>
            <a:off x="609600" y="33655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3</a:t>
            </a:r>
          </a:p>
        </p:txBody>
      </p:sp>
      <p:sp>
        <p:nvSpPr>
          <p:cNvPr id="232" name="bt2"/>
          <p:cNvSpPr txBox="1">
            <a:spLocks noGrp="1"/>
          </p:cNvSpPr>
          <p:nvPr/>
        </p:nvSpPr>
        <p:spPr>
          <a:xfrm>
            <a:off x="1003300" y="31750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CAD files uploaded</a:t>
            </a:r>
          </a:p>
          <a:p>
            <a:pPr marL="0" indent="0">
              <a:buNone/>
            </a:pPr>
            <a:r>
              <a:rPr lang="en-IN" sz="1400" dirty="0">
                <a:solidFill>
                  <a:srgbClr val="6B7890"/>
                </a:solidFill>
                <a:latin typeface="Calibri"/>
              </a:rPr>
              <a:t>Design source committed to the repo.</a:t>
            </a:r>
          </a:p>
        </p:txBody>
      </p:sp>
      <p:sp>
        <p:nvSpPr>
          <p:cNvPr id="242" name="rdiv2"/>
          <p:cNvSpPr>
            <a:spLocks noGrp="1"/>
          </p:cNvSpPr>
          <p:nvPr/>
        </p:nvSpPr>
        <p:spPr>
          <a:xfrm>
            <a:off x="546100" y="3924300"/>
            <a:ext cx="3632200" cy="12700"/>
          </a:xfrm>
          <a:prstGeom prst="rect">
            <a:avLst/>
          </a:prstGeom>
          <a:solidFill>
            <a:srgbClr val="E2E8F0"/>
          </a:solidFill>
          <a:ln>
            <a:noFill/>
          </a:ln>
        </p:spPr>
        <p:txBody>
          <a:bodyPr/>
          <a:lstStyle/>
          <a:p>
            <a:endParaRPr lang="en-US" dirty="0"/>
          </a:p>
        </p:txBody>
      </p:sp>
      <p:sp>
        <p:nvSpPr>
          <p:cNvPr id="213" name="nc3"/>
          <p:cNvSpPr>
            <a:spLocks noGrp="1"/>
          </p:cNvSpPr>
          <p:nvPr/>
        </p:nvSpPr>
        <p:spPr>
          <a:xfrm>
            <a:off x="609600" y="4203700"/>
            <a:ext cx="304800" cy="304800"/>
          </a:xfrm>
          <a:prstGeom prst="ellipse">
            <a:avLst/>
          </a:prstGeom>
          <a:solidFill>
            <a:srgbClr val="0E96AC"/>
          </a:solidFill>
          <a:ln>
            <a:noFill/>
          </a:ln>
        </p:spPr>
        <p:txBody>
          <a:bodyPr/>
          <a:lstStyle/>
          <a:p>
            <a:endParaRPr lang="en-US" dirty="0"/>
          </a:p>
        </p:txBody>
      </p:sp>
      <p:sp>
        <p:nvSpPr>
          <p:cNvPr id="223" name="nct3"/>
          <p:cNvSpPr txBox="1">
            <a:spLocks noGrp="1"/>
          </p:cNvSpPr>
          <p:nvPr/>
        </p:nvSpPr>
        <p:spPr>
          <a:xfrm>
            <a:off x="609600" y="42037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4</a:t>
            </a:r>
          </a:p>
        </p:txBody>
      </p:sp>
      <p:sp>
        <p:nvSpPr>
          <p:cNvPr id="233" name="bt3"/>
          <p:cNvSpPr txBox="1">
            <a:spLocks noGrp="1"/>
          </p:cNvSpPr>
          <p:nvPr/>
        </p:nvSpPr>
        <p:spPr>
          <a:xfrm>
            <a:off x="1003300" y="40132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Design iterations documented</a:t>
            </a:r>
          </a:p>
          <a:p>
            <a:pPr marL="0" indent="0">
              <a:buNone/>
            </a:pPr>
            <a:r>
              <a:rPr lang="en-IN" sz="1400" dirty="0">
                <a:solidFill>
                  <a:srgbClr val="6B7890"/>
                </a:solidFill>
                <a:latin typeface="Calibri"/>
              </a:rPr>
              <a:t>Every revision captured in commits.</a:t>
            </a:r>
          </a:p>
        </p:txBody>
      </p:sp>
      <p:sp>
        <p:nvSpPr>
          <p:cNvPr id="243" name="rdiv3"/>
          <p:cNvSpPr>
            <a:spLocks noGrp="1"/>
          </p:cNvSpPr>
          <p:nvPr/>
        </p:nvSpPr>
        <p:spPr>
          <a:xfrm>
            <a:off x="546100" y="4762500"/>
            <a:ext cx="3632200" cy="12700"/>
          </a:xfrm>
          <a:prstGeom prst="rect">
            <a:avLst/>
          </a:prstGeom>
          <a:solidFill>
            <a:srgbClr val="E2E8F0"/>
          </a:solidFill>
          <a:ln>
            <a:noFill/>
          </a:ln>
        </p:spPr>
        <p:txBody>
          <a:bodyPr/>
          <a:lstStyle/>
          <a:p>
            <a:endParaRPr lang="en-US" dirty="0"/>
          </a:p>
        </p:txBody>
      </p:sp>
      <p:sp>
        <p:nvSpPr>
          <p:cNvPr id="204" name="rbg4"/>
          <p:cNvSpPr>
            <a:spLocks noGrp="1"/>
          </p:cNvSpPr>
          <p:nvPr/>
        </p:nvSpPr>
        <p:spPr>
          <a:xfrm>
            <a:off x="546100" y="4775200"/>
            <a:ext cx="3632200" cy="838200"/>
          </a:xfrm>
          <a:prstGeom prst="rect">
            <a:avLst/>
          </a:prstGeom>
          <a:solidFill>
            <a:srgbClr val="FFFFFF">
              <a:alpha val="70000"/>
            </a:srgbClr>
          </a:solidFill>
          <a:ln w="13335">
            <a:solidFill>
              <a:srgbClr val="B8DCEB">
                <a:alpha val="80000"/>
              </a:srgbClr>
            </a:solidFill>
          </a:ln>
        </p:spPr>
        <p:txBody>
          <a:bodyPr/>
          <a:lstStyle/>
          <a:p>
            <a:endParaRPr lang="en-US" dirty="0"/>
          </a:p>
        </p:txBody>
      </p:sp>
      <p:sp>
        <p:nvSpPr>
          <p:cNvPr id="214" name="nc4"/>
          <p:cNvSpPr>
            <a:spLocks noGrp="1"/>
          </p:cNvSpPr>
          <p:nvPr/>
        </p:nvSpPr>
        <p:spPr>
          <a:xfrm>
            <a:off x="609600" y="5041900"/>
            <a:ext cx="304800" cy="304800"/>
          </a:xfrm>
          <a:prstGeom prst="ellipse">
            <a:avLst/>
          </a:prstGeom>
          <a:solidFill>
            <a:srgbClr val="0E96AC"/>
          </a:solidFill>
          <a:ln>
            <a:noFill/>
          </a:ln>
        </p:spPr>
        <p:txBody>
          <a:bodyPr/>
          <a:lstStyle/>
          <a:p>
            <a:endParaRPr lang="en-US" dirty="0"/>
          </a:p>
        </p:txBody>
      </p:sp>
      <p:sp>
        <p:nvSpPr>
          <p:cNvPr id="224" name="nct4"/>
          <p:cNvSpPr txBox="1">
            <a:spLocks noGrp="1"/>
          </p:cNvSpPr>
          <p:nvPr/>
        </p:nvSpPr>
        <p:spPr>
          <a:xfrm>
            <a:off x="609600" y="50419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5</a:t>
            </a:r>
          </a:p>
        </p:txBody>
      </p:sp>
      <p:sp>
        <p:nvSpPr>
          <p:cNvPr id="234" name="bt4"/>
          <p:cNvSpPr txBox="1">
            <a:spLocks noGrp="1"/>
          </p:cNvSpPr>
          <p:nvPr/>
        </p:nvSpPr>
        <p:spPr>
          <a:xfrm>
            <a:off x="1003300" y="48514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Progress tracking in place</a:t>
            </a:r>
          </a:p>
          <a:p>
            <a:pPr marL="0" indent="0">
              <a:buNone/>
            </a:pPr>
            <a:r>
              <a:rPr lang="en-IN" sz="1400" dirty="0">
                <a:solidFill>
                  <a:srgbClr val="6B7890"/>
                </a:solidFill>
                <a:latin typeface="Calibri"/>
              </a:rPr>
              <a:t>Milestones and issues logged.</a:t>
            </a:r>
          </a:p>
        </p:txBody>
      </p:sp>
      <p:sp>
        <p:nvSpPr>
          <p:cNvPr id="244" name="rdiv4"/>
          <p:cNvSpPr>
            <a:spLocks noGrp="1"/>
          </p:cNvSpPr>
          <p:nvPr/>
        </p:nvSpPr>
        <p:spPr>
          <a:xfrm>
            <a:off x="546100" y="5600700"/>
            <a:ext cx="3632200" cy="12700"/>
          </a:xfrm>
          <a:prstGeom prst="rect">
            <a:avLst/>
          </a:prstGeom>
          <a:solidFill>
            <a:srgbClr val="E2E8F0"/>
          </a:solidFill>
          <a:ln>
            <a:noFill/>
          </a:ln>
        </p:spPr>
        <p:txBody>
          <a:bodyPr/>
          <a:lstStyle/>
          <a:p>
            <a:endParaRPr lang="en-US" dirty="0"/>
          </a:p>
        </p:txBody>
      </p:sp>
      <p:sp>
        <p:nvSpPr>
          <p:cNvPr id="215" name="nc5"/>
          <p:cNvSpPr>
            <a:spLocks noGrp="1"/>
          </p:cNvSpPr>
          <p:nvPr/>
        </p:nvSpPr>
        <p:spPr>
          <a:xfrm>
            <a:off x="609600" y="5880100"/>
            <a:ext cx="304800" cy="304800"/>
          </a:xfrm>
          <a:prstGeom prst="ellipse">
            <a:avLst/>
          </a:prstGeom>
          <a:solidFill>
            <a:srgbClr val="0E96AC"/>
          </a:solidFill>
          <a:ln>
            <a:noFill/>
          </a:ln>
        </p:spPr>
        <p:txBody>
          <a:bodyPr/>
          <a:lstStyle/>
          <a:p>
            <a:endParaRPr lang="en-US" dirty="0"/>
          </a:p>
        </p:txBody>
      </p:sp>
      <p:sp>
        <p:nvSpPr>
          <p:cNvPr id="225" name="nct5"/>
          <p:cNvSpPr txBox="1">
            <a:spLocks noGrp="1"/>
          </p:cNvSpPr>
          <p:nvPr/>
        </p:nvSpPr>
        <p:spPr>
          <a:xfrm>
            <a:off x="609600" y="5880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6</a:t>
            </a:r>
          </a:p>
        </p:txBody>
      </p:sp>
      <p:sp>
        <p:nvSpPr>
          <p:cNvPr id="235" name="bt5"/>
          <p:cNvSpPr txBox="1">
            <a:spLocks noGrp="1"/>
          </p:cNvSpPr>
          <p:nvPr/>
        </p:nvSpPr>
        <p:spPr>
          <a:xfrm>
            <a:off x="1003300" y="5689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Team collaboration workflow</a:t>
            </a:r>
          </a:p>
          <a:p>
            <a:pPr marL="0" indent="0">
              <a:buNone/>
            </a:pPr>
            <a:r>
              <a:rPr lang="en-IN" sz="1400" dirty="0">
                <a:solidFill>
                  <a:srgbClr val="6B7890"/>
                </a:solidFill>
                <a:latin typeface="Calibri"/>
              </a:rPr>
              <a:t>Shared branches and pull requests.</a:t>
            </a:r>
          </a:p>
        </p:txBody>
      </p:sp>
      <p:sp>
        <p:nvSpPr>
          <p:cNvPr id="300" name="fr0"/>
          <p:cNvSpPr>
            <a:spLocks noGrp="1"/>
          </p:cNvSpPr>
          <p:nvPr/>
        </p:nvSpPr>
        <p:spPr>
          <a:xfrm>
            <a:off x="4406900" y="1409700"/>
            <a:ext cx="6176383" cy="2338618"/>
          </a:xfrm>
          <a:prstGeom prst="rect">
            <a:avLst/>
          </a:prstGeom>
          <a:solidFill>
            <a:srgbClr val="FFFFFF">
              <a:alpha val="70000"/>
            </a:srgbClr>
          </a:solidFill>
          <a:ln w="13335">
            <a:solidFill>
              <a:srgbClr val="B8DCEB">
                <a:alpha val="80000"/>
              </a:srgbClr>
            </a:solidFill>
          </a:ln>
        </p:spPr>
        <p:txBody>
          <a:bodyPr/>
          <a:lstStyle/>
          <a:p>
            <a:endParaRPr lang="en-US" dirty="0"/>
          </a:p>
        </p:txBody>
      </p:sp>
      <p:sp>
        <p:nvSpPr>
          <p:cNvPr id="301" name="fr1"/>
          <p:cNvSpPr>
            <a:spLocks noGrp="1"/>
          </p:cNvSpPr>
          <p:nvPr/>
        </p:nvSpPr>
        <p:spPr>
          <a:xfrm>
            <a:off x="4343400" y="4102100"/>
            <a:ext cx="5164394" cy="1703848"/>
          </a:xfrm>
          <a:prstGeom prst="rect">
            <a:avLst/>
          </a:prstGeom>
          <a:solidFill>
            <a:srgbClr val="FFFFFF">
              <a:alpha val="70000"/>
            </a:srgbClr>
          </a:solidFill>
          <a:ln w="13335">
            <a:solidFill>
              <a:srgbClr val="B8DCEB">
                <a:alpha val="80000"/>
              </a:srgbClr>
            </a:solidFill>
          </a:ln>
        </p:spPr>
        <p:txBody>
          <a:bodyPr/>
          <a:lstStyle/>
          <a:p>
            <a:endParaRPr lang="en-US" dirty="0"/>
          </a:p>
        </p:txBody>
      </p:sp>
      <p:pic>
        <p:nvPicPr>
          <p:cNvPr id="9" name="Picture 8" descr="Locomotion set too 2D forward sine curve movement.&#10;&#10;AI-generated content may be incorrect.">
            <a:extLst>
              <a:ext uri="{FF2B5EF4-FFF2-40B4-BE49-F238E27FC236}">
                <a16:creationId xmlns:a16="http://schemas.microsoft.com/office/drawing/2014/main" id="{ED2047AF-DB81-F6EB-B705-0BA0C0456025}"/>
              </a:ext>
            </a:extLst>
          </p:cNvPr>
          <p:cNvPicPr>
            <a:picLocks noChangeAspect="1"/>
          </p:cNvPicPr>
          <p:nvPr/>
        </p:nvPicPr>
        <p:blipFill>
          <a:blip r:embed="rId3"/>
          <a:stretch>
            <a:fillRect/>
          </a:stretch>
        </p:blipFill>
        <p:spPr>
          <a:xfrm>
            <a:off x="4419600" y="1461524"/>
            <a:ext cx="6150983" cy="2056376"/>
          </a:xfrm>
          <a:prstGeom prst="rect">
            <a:avLst/>
          </a:prstGeom>
        </p:spPr>
      </p:pic>
      <p:pic>
        <p:nvPicPr>
          <p:cNvPr id="5" name="Picture 4" descr="step&#10;&#10;AI-generated content may be incorrect.">
            <a:extLst>
              <a:ext uri="{FF2B5EF4-FFF2-40B4-BE49-F238E27FC236}">
                <a16:creationId xmlns:a16="http://schemas.microsoft.com/office/drawing/2014/main" id="{80777DB4-B751-FFD3-5E4E-49618F172697}"/>
              </a:ext>
            </a:extLst>
          </p:cNvPr>
          <p:cNvPicPr>
            <a:picLocks noChangeAspect="1"/>
          </p:cNvPicPr>
          <p:nvPr/>
        </p:nvPicPr>
        <p:blipFill>
          <a:blip r:embed="rId4"/>
          <a:stretch>
            <a:fillRect/>
          </a:stretch>
        </p:blipFill>
        <p:spPr>
          <a:xfrm>
            <a:off x="4356100" y="4110447"/>
            <a:ext cx="5139813" cy="1473200"/>
          </a:xfrm>
          <a:prstGeom prst="rect">
            <a:avLst/>
          </a:prstGeom>
        </p:spPr>
      </p:pic>
      <p:pic>
        <p:nvPicPr>
          <p:cNvPr id="7" name="Picture 6" descr="The image shows a collection of text documents and files related to Raspberry Pi setup and testing, including installation guides, hardware documentation, and various scripts and manuals.&#10;&#10;AI-generated content may be incorrect.">
            <a:extLst>
              <a:ext uri="{FF2B5EF4-FFF2-40B4-BE49-F238E27FC236}">
                <a16:creationId xmlns:a16="http://schemas.microsoft.com/office/drawing/2014/main" id="{95193EA5-352B-66B9-D1D8-D963F722885B}"/>
              </a:ext>
            </a:extLst>
          </p:cNvPr>
          <p:cNvPicPr>
            <a:picLocks noChangeAspect="1"/>
          </p:cNvPicPr>
          <p:nvPr/>
        </p:nvPicPr>
        <p:blipFill>
          <a:blip r:embed="rId5"/>
          <a:stretch>
            <a:fillRect/>
          </a:stretch>
        </p:blipFill>
        <p:spPr>
          <a:xfrm>
            <a:off x="9957620" y="3827640"/>
            <a:ext cx="1776053" cy="3017659"/>
          </a:xfrm>
          <a:prstGeom prst="rect">
            <a:avLst/>
          </a:prstGeom>
        </p:spPr>
      </p:pic>
      <p:sp>
        <p:nvSpPr>
          <p:cNvPr id="310" name="cov0"/>
          <p:cNvSpPr>
            <a:spLocks noGrp="1"/>
          </p:cNvSpPr>
          <p:nvPr/>
        </p:nvSpPr>
        <p:spPr>
          <a:xfrm>
            <a:off x="4406900" y="3512752"/>
            <a:ext cx="6176383" cy="235565"/>
          </a:xfrm>
          <a:prstGeom prst="rect">
            <a:avLst/>
          </a:prstGeom>
          <a:solidFill>
            <a:srgbClr val="16223A"/>
          </a:solidFill>
          <a:ln>
            <a:noFill/>
          </a:ln>
        </p:spPr>
        <p:txBody>
          <a:bodyPr/>
          <a:lstStyle/>
          <a:p>
            <a:endParaRPr lang="en-US" dirty="0"/>
          </a:p>
        </p:txBody>
      </p:sp>
      <p:sp>
        <p:nvSpPr>
          <p:cNvPr id="320" name="cap0"/>
          <p:cNvSpPr txBox="1">
            <a:spLocks noGrp="1"/>
          </p:cNvSpPr>
          <p:nvPr/>
        </p:nvSpPr>
        <p:spPr>
          <a:xfrm>
            <a:off x="4383386" y="3535937"/>
            <a:ext cx="6223410" cy="229624"/>
          </a:xfrm>
          <a:prstGeom prst="rect">
            <a:avLst/>
          </a:prstGeom>
          <a:noFill/>
          <a:ln>
            <a:noFill/>
          </a:ln>
        </p:spPr>
        <p:txBody>
          <a:bodyPr anchor="ctr">
            <a:normAutofit lnSpcReduction="10000"/>
          </a:bodyPr>
          <a:lstStyle/>
          <a:p>
            <a:pPr marL="0" indent="0">
              <a:buNone/>
            </a:pPr>
            <a:r>
              <a:rPr lang="en-IN" sz="1000" b="1" dirty="0">
                <a:solidFill>
                  <a:srgbClr val="FFFFFF"/>
                </a:solidFill>
                <a:latin typeface="Calibri"/>
              </a:rPr>
              <a:t>GitHub repository — project root &amp; structure</a:t>
            </a:r>
          </a:p>
        </p:txBody>
      </p:sp>
      <p:sp>
        <p:nvSpPr>
          <p:cNvPr id="311" name="cov1"/>
          <p:cNvSpPr>
            <a:spLocks noGrp="1"/>
          </p:cNvSpPr>
          <p:nvPr/>
        </p:nvSpPr>
        <p:spPr>
          <a:xfrm>
            <a:off x="4343400" y="5579192"/>
            <a:ext cx="5164394" cy="202304"/>
          </a:xfrm>
          <a:prstGeom prst="rect">
            <a:avLst/>
          </a:prstGeom>
          <a:solidFill>
            <a:srgbClr val="16223A"/>
          </a:solidFill>
          <a:ln>
            <a:noFill/>
          </a:ln>
        </p:spPr>
        <p:txBody>
          <a:bodyPr/>
          <a:lstStyle/>
          <a:p>
            <a:endParaRPr lang="en-US" dirty="0"/>
          </a:p>
        </p:txBody>
      </p:sp>
      <p:sp>
        <p:nvSpPr>
          <p:cNvPr id="321" name="cap1"/>
          <p:cNvSpPr txBox="1">
            <a:spLocks noGrp="1"/>
          </p:cNvSpPr>
          <p:nvPr/>
        </p:nvSpPr>
        <p:spPr>
          <a:xfrm>
            <a:off x="4318819" y="5543012"/>
            <a:ext cx="5177094" cy="271283"/>
          </a:xfrm>
          <a:prstGeom prst="rect">
            <a:avLst/>
          </a:prstGeom>
          <a:noFill/>
          <a:ln>
            <a:noFill/>
          </a:ln>
        </p:spPr>
        <p:txBody>
          <a:bodyPr anchor="ctr">
            <a:normAutofit/>
          </a:bodyPr>
          <a:lstStyle/>
          <a:p>
            <a:pPr marL="0" indent="0">
              <a:buNone/>
            </a:pPr>
            <a:r>
              <a:rPr lang="en-IN" sz="1000" b="1" dirty="0">
                <a:solidFill>
                  <a:srgbClr val="FFFFFF"/>
                </a:solidFill>
                <a:latin typeface="Calibri"/>
              </a:rPr>
              <a:t>Commit history — tracked iterations &amp; uploads</a:t>
            </a:r>
          </a:p>
        </p:txBody>
      </p:sp>
      <p:sp>
        <p:nvSpPr>
          <p:cNvPr id="330" name="arr0"/>
          <p:cNvSpPr>
            <a:spLocks noGrp="1"/>
          </p:cNvSpPr>
          <p:nvPr/>
        </p:nvSpPr>
        <p:spPr>
          <a:xfrm>
            <a:off x="7360879" y="3750647"/>
            <a:ext cx="355600" cy="266700"/>
          </a:xfrm>
          <a:prstGeom prst="downArrow">
            <a:avLst>
              <a:gd name="adj1" fmla="val 50000"/>
              <a:gd name="adj2" fmla="val 50000"/>
            </a:avLst>
          </a:prstGeom>
          <a:solidFill>
            <a:srgbClr val="0E96AC"/>
          </a:solidFill>
          <a:ln>
            <a:noFill/>
          </a:ln>
        </p:spPr>
        <p:txBody>
          <a:bodyPr/>
          <a:lstStyle/>
          <a:p>
            <a:endParaRPr lang="en-US" dirty="0"/>
          </a:p>
        </p:txBody>
      </p:sp>
      <p:sp>
        <p:nvSpPr>
          <p:cNvPr id="331" name="arr1"/>
          <p:cNvSpPr>
            <a:spLocks noGrp="1"/>
          </p:cNvSpPr>
          <p:nvPr/>
        </p:nvSpPr>
        <p:spPr>
          <a:xfrm rot="16200000">
            <a:off x="9554907" y="5036459"/>
            <a:ext cx="355600" cy="177800"/>
          </a:xfrm>
          <a:prstGeom prst="downArrow">
            <a:avLst>
              <a:gd name="adj1" fmla="val 50000"/>
              <a:gd name="adj2" fmla="val 50000"/>
            </a:avLst>
          </a:prstGeom>
          <a:solidFill>
            <a:srgbClr val="0E96AC"/>
          </a:solidFill>
          <a:ln>
            <a:noFill/>
          </a:ln>
        </p:spPr>
        <p:txBody>
          <a:bodyPr/>
          <a:lstStyle/>
          <a:p>
            <a:endParaRPr lang="en-US" dirty="0"/>
          </a:p>
        </p:txBody>
      </p:sp>
      <p:sp>
        <p:nvSpPr>
          <p:cNvPr id="340" name="gh_lbl"/>
          <p:cNvSpPr txBox="1">
            <a:spLocks noGrp="1"/>
          </p:cNvSpPr>
          <p:nvPr/>
        </p:nvSpPr>
        <p:spPr>
          <a:xfrm>
            <a:off x="4419600" y="1371600"/>
            <a:ext cx="3810000" cy="177800"/>
          </a:xfrm>
          <a:prstGeom prst="rect">
            <a:avLst/>
          </a:prstGeom>
          <a:noFill/>
          <a:ln>
            <a:noFill/>
          </a:ln>
        </p:spPr>
        <p:txBody>
          <a:bodyPr anchor="t">
            <a:normAutofit fontScale="70000" lnSpcReduction="20000"/>
          </a:bodyPr>
          <a:lstStyle/>
          <a:p>
            <a:pPr marL="0" indent="0">
              <a:buNone/>
            </a:pPr>
            <a:r>
              <a:rPr lang="en-IN" sz="900" b="1" spc="200" dirty="0">
                <a:solidFill>
                  <a:srgbClr val="0E96AC"/>
                </a:solidFill>
                <a:latin typeface="Calibri"/>
              </a:rPr>
              <a:t>GITHUB REPOSITORY SCREENSHOTS</a:t>
            </a:r>
          </a:p>
        </p:txBody>
      </p:sp>
      <p:sp>
        <p:nvSpPr>
          <p:cNvPr id="400" name="sum_strip"/>
          <p:cNvSpPr>
            <a:spLocks noGrp="1"/>
          </p:cNvSpPr>
          <p:nvPr/>
        </p:nvSpPr>
        <p:spPr>
          <a:xfrm>
            <a:off x="546100" y="6451600"/>
            <a:ext cx="3632200" cy="254000"/>
          </a:xfrm>
          <a:prstGeom prst="rect">
            <a:avLst/>
          </a:prstGeom>
          <a:solidFill>
            <a:srgbClr val="0E96AC"/>
          </a:solidFill>
          <a:ln>
            <a:noFill/>
          </a:ln>
        </p:spPr>
        <p:txBody>
          <a:bodyPr anchor="ctr"/>
          <a:lstStyle/>
          <a:p>
            <a:pPr algn="ctr">
              <a:buNone/>
            </a:pPr>
            <a:r>
              <a:rPr lang="en-IN" sz="900" b="1" dirty="0">
                <a:solidFill>
                  <a:srgbClr val="FFFFFF"/>
                </a:solidFill>
                <a:latin typeface="Calibri"/>
              </a:rPr>
              <a:t>✓ All milestones tracked in GitHub</a:t>
            </a:r>
          </a:p>
        </p:txBody>
      </p:sp>
    </p:spTree>
    <p:extLst>
      <p:ext uri="{BB962C8B-B14F-4D97-AF65-F5344CB8AC3E}">
        <p14:creationId xmlns:p14="http://schemas.microsoft.com/office/powerpoint/2010/main" val="78625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A1CFDBFD-FAAD-4597-AC48-63932F925683}"/>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Oval 3">
            <a:extLst>
              <a:ext uri="{FF2B5EF4-FFF2-40B4-BE49-F238E27FC236}">
                <a16:creationId xmlns:a16="http://schemas.microsoft.com/office/drawing/2014/main" id="{DA0B1E6F-CD47-420E-A80A-A859B276AAC9}"/>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PROJECT TIMELINE</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Eight Phases · Currently at 25%</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alpha val="70000"/>
            </a:srgbClr>
          </a:solidFill>
          <a:ln w="13335">
            <a:solidFill>
              <a:srgbClr val="B8DCEB">
                <a:alpha val="80000"/>
              </a:srgbClr>
            </a:solidFill>
            <a:prstDash val="solid"/>
          </a:ln>
          <a:effectLst>
            <a:outerShdw blurRad="63500" dist="25400" dir="5400000" algn="bl" rotWithShape="0">
              <a:srgbClr val="1A2440">
                <a:alpha val="8000"/>
              </a:srgbClr>
            </a:outerShdw>
          </a:effectLst>
        </p:spPr>
        <p:txBody>
          <a:bodyPr/>
          <a:lstStyle/>
          <a:p>
            <a:endParaRPr lang="en-IN"/>
          </a:p>
        </p:txBody>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Research &amp; Design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Completed</a:t>
            </a:r>
            <a:endParaRPr lang="en-US" sz="800" dirty="0"/>
          </a:p>
        </p:txBody>
      </p:sp>
      <p:sp>
        <p:nvSpPr>
          <p:cNvPr id="17" name="Shape 15"/>
          <p:cNvSpPr/>
          <p:nvPr/>
        </p:nvSpPr>
        <p:spPr>
          <a:xfrm>
            <a:off x="694944" y="3346704"/>
            <a:ext cx="347472" cy="347472"/>
          </a:xfrm>
          <a:prstGeom prst="ellipse">
            <a:avLst/>
          </a:prstGeom>
          <a:solidFill>
            <a:srgbClr val="12A678"/>
          </a:solidFill>
          <a:ln w="31750">
            <a:solidFill>
              <a:srgbClr val="F6F8FB"/>
            </a:solidFill>
            <a:prstDash val="solid"/>
          </a:ln>
        </p:spPr>
        <p:txBody>
          <a:bodyPr/>
          <a:lstStyle/>
          <a:p>
            <a:endParaRPr lang="en-IN"/>
          </a:p>
        </p:txBody>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alpha val="70000"/>
            </a:srgbClr>
          </a:solidFill>
          <a:ln w="13335">
            <a:solidFill>
              <a:srgbClr val="B8DCEB">
                <a:alpha val="80000"/>
              </a:srgbClr>
            </a:solidFill>
            <a:prstDash val="solid"/>
          </a:ln>
          <a:effectLst>
            <a:outerShdw blurRad="63500" dist="25400" dir="5400000" algn="bl" rotWithShape="0">
              <a:srgbClr val="1A2440">
                <a:alpha val="8000"/>
              </a:srgbClr>
            </a:outerShdw>
          </a:effectLst>
        </p:spPr>
        <p:txBody>
          <a:bodyPr/>
          <a:lstStyle/>
          <a:p>
            <a:endParaRPr lang="en-IN"/>
          </a:p>
        </p:txBody>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Hardware Procurement</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In progress</a:t>
            </a:r>
            <a:endParaRPr lang="en-US" sz="800" dirty="0"/>
          </a:p>
        </p:txBody>
      </p:sp>
      <p:sp>
        <p:nvSpPr>
          <p:cNvPr id="24" name="Shape 22"/>
          <p:cNvSpPr/>
          <p:nvPr/>
        </p:nvSpPr>
        <p:spPr>
          <a:xfrm>
            <a:off x="2190641" y="3346704"/>
            <a:ext cx="347472" cy="347472"/>
          </a:xfrm>
          <a:prstGeom prst="ellipse">
            <a:avLst/>
          </a:prstGeom>
          <a:solidFill>
            <a:srgbClr val="E08A1E"/>
          </a:solidFill>
          <a:ln w="31750">
            <a:solidFill>
              <a:srgbClr val="F6F8FB"/>
            </a:solidFill>
            <a:prstDash val="solid"/>
          </a:ln>
        </p:spPr>
        <p:txBody>
          <a:bodyPr/>
          <a:lstStyle/>
          <a:p>
            <a:endParaRPr lang="en-IN"/>
          </a:p>
        </p:txBody>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alpha val="70000"/>
            </a:srgbClr>
          </a:solidFill>
          <a:ln w="13335">
            <a:solidFill>
              <a:srgbClr val="B8DCEB">
                <a:alpha val="80000"/>
              </a:srgbClr>
            </a:solidFill>
            <a:prstDash val="solid"/>
          </a:ln>
          <a:effectLst>
            <a:outerShdw blurRad="63500" dist="25400" dir="5400000" algn="bl" rotWithShape="0">
              <a:srgbClr val="1A2440">
                <a:alpha val="8000"/>
              </a:srgbClr>
            </a:outerShdw>
          </a:effectLst>
        </p:spPr>
        <p:txBody>
          <a:bodyPr/>
          <a:lstStyle/>
          <a:p>
            <a:endParaRPr lang="en-IN"/>
          </a:p>
        </p:txBody>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Mechanical Assembly</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Up next</a:t>
            </a:r>
            <a:endParaRPr lang="en-US" sz="800" dirty="0"/>
          </a:p>
        </p:txBody>
      </p:sp>
      <p:sp>
        <p:nvSpPr>
          <p:cNvPr id="31" name="Shape 29"/>
          <p:cNvSpPr/>
          <p:nvPr/>
        </p:nvSpPr>
        <p:spPr>
          <a:xfrm>
            <a:off x="3686338" y="3346704"/>
            <a:ext cx="347472" cy="347472"/>
          </a:xfrm>
          <a:prstGeom prst="ellipse">
            <a:avLst/>
          </a:prstGeom>
          <a:solidFill>
            <a:srgbClr val="0E96AC"/>
          </a:solidFill>
          <a:ln w="31750">
            <a:solidFill>
              <a:srgbClr val="F6F8FB"/>
            </a:solidFill>
            <a:prstDash val="solid"/>
          </a:ln>
        </p:spPr>
        <p:txBody>
          <a:bodyPr/>
          <a:lstStyle/>
          <a:p>
            <a:endParaRPr lang="en-IN"/>
          </a:p>
        </p:txBody>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alpha val="70000"/>
            </a:srgbClr>
          </a:solidFill>
          <a:ln w="13335">
            <a:solidFill>
              <a:srgbClr val="B8DCEB">
                <a:alpha val="80000"/>
              </a:srgbClr>
            </a:solidFill>
            <a:prstDash val="solid"/>
          </a:ln>
          <a:effectLst>
            <a:outerShdw blurRad="63500" dist="25400" dir="5400000" algn="bl" rotWithShape="0">
              <a:srgbClr val="1A2440">
                <a:alpha val="8000"/>
              </a:srgbClr>
            </a:outerShdw>
          </a:effectLst>
        </p:spPr>
        <p:txBody>
          <a:bodyPr/>
          <a:lstStyle/>
          <a:p>
            <a:endParaRPr lang="en-IN"/>
          </a:p>
        </p:txBody>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Motor Integration</a:t>
            </a:r>
            <a:endParaRPr lang="en-US" sz="1050" dirty="0"/>
          </a:p>
        </p:txBody>
      </p:sp>
      <p:sp>
        <p:nvSpPr>
          <p:cNvPr id="37" name="Shape 35"/>
          <p:cNvSpPr/>
          <p:nvPr/>
        </p:nvSpPr>
        <p:spPr>
          <a:xfrm>
            <a:off x="5182035" y="3346704"/>
            <a:ext cx="347472" cy="347472"/>
          </a:xfrm>
          <a:prstGeom prst="ellipse">
            <a:avLst/>
          </a:prstGeom>
          <a:solidFill>
            <a:srgbClr val="E2E8F0"/>
          </a:solidFill>
          <a:ln w="31750">
            <a:solidFill>
              <a:srgbClr val="F6F8FB"/>
            </a:solidFill>
            <a:prstDash val="solid"/>
          </a:ln>
        </p:spPr>
        <p:txBody>
          <a:bodyPr/>
          <a:lstStyle/>
          <a:p>
            <a:endParaRPr lang="en-IN"/>
          </a:p>
        </p:txBody>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alpha val="70000"/>
            </a:srgbClr>
          </a:solidFill>
          <a:ln w="13335">
            <a:solidFill>
              <a:srgbClr val="B8DCEB">
                <a:alpha val="80000"/>
              </a:srgbClr>
            </a:solidFill>
            <a:prstDash val="solid"/>
          </a:ln>
          <a:effectLst>
            <a:outerShdw blurRad="63500" dist="25400" dir="5400000" algn="bl" rotWithShape="0">
              <a:srgbClr val="1A2440">
                <a:alpha val="8000"/>
              </a:srgbClr>
            </a:outerShdw>
          </a:effectLst>
        </p:spPr>
        <p:txBody>
          <a:bodyPr/>
          <a:lstStyle/>
          <a:p>
            <a:endParaRPr lang="en-IN"/>
          </a:p>
        </p:txBody>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Control Algorithms</a:t>
            </a:r>
            <a:endParaRPr lang="en-US" sz="1050" dirty="0"/>
          </a:p>
        </p:txBody>
      </p:sp>
      <p:sp>
        <p:nvSpPr>
          <p:cNvPr id="43" name="Shape 41"/>
          <p:cNvSpPr/>
          <p:nvPr/>
        </p:nvSpPr>
        <p:spPr>
          <a:xfrm>
            <a:off x="6677733" y="3346704"/>
            <a:ext cx="347472" cy="347472"/>
          </a:xfrm>
          <a:prstGeom prst="ellipse">
            <a:avLst/>
          </a:prstGeom>
          <a:solidFill>
            <a:srgbClr val="E2E8F0"/>
          </a:solidFill>
          <a:ln w="31750">
            <a:solidFill>
              <a:srgbClr val="F6F8FB"/>
            </a:solidFill>
            <a:prstDash val="solid"/>
          </a:ln>
        </p:spPr>
        <p:txBody>
          <a:bodyPr/>
          <a:lstStyle/>
          <a:p>
            <a:endParaRPr lang="en-IN"/>
          </a:p>
        </p:txBody>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alpha val="70000"/>
            </a:srgbClr>
          </a:solidFill>
          <a:ln w="13335">
            <a:solidFill>
              <a:srgbClr val="B8DCEB">
                <a:alpha val="80000"/>
              </a:srgbClr>
            </a:solidFill>
            <a:prstDash val="solid"/>
          </a:ln>
          <a:effectLst>
            <a:outerShdw blurRad="63500" dist="25400" dir="5400000" algn="bl" rotWithShape="0">
              <a:srgbClr val="1A2440">
                <a:alpha val="8000"/>
              </a:srgbClr>
            </a:outerShdw>
          </a:effectLst>
        </p:spPr>
        <p:txBody>
          <a:bodyPr/>
          <a:lstStyle/>
          <a:p>
            <a:endParaRPr lang="en-IN"/>
          </a:p>
        </p:txBody>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Sensor Integration</a:t>
            </a:r>
            <a:endParaRPr lang="en-US" sz="1050" dirty="0"/>
          </a:p>
        </p:txBody>
      </p:sp>
      <p:sp>
        <p:nvSpPr>
          <p:cNvPr id="49" name="Shape 47"/>
          <p:cNvSpPr/>
          <p:nvPr/>
        </p:nvSpPr>
        <p:spPr>
          <a:xfrm>
            <a:off x="8173430" y="3346704"/>
            <a:ext cx="347472" cy="347472"/>
          </a:xfrm>
          <a:prstGeom prst="ellipse">
            <a:avLst/>
          </a:prstGeom>
          <a:solidFill>
            <a:srgbClr val="E2E8F0"/>
          </a:solidFill>
          <a:ln w="31750">
            <a:solidFill>
              <a:srgbClr val="F6F8FB"/>
            </a:solidFill>
            <a:prstDash val="solid"/>
          </a:ln>
        </p:spPr>
        <p:txBody>
          <a:bodyPr/>
          <a:lstStyle/>
          <a:p>
            <a:endParaRPr lang="en-IN"/>
          </a:p>
        </p:txBody>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alpha val="70000"/>
            </a:srgbClr>
          </a:solidFill>
          <a:ln w="13335">
            <a:solidFill>
              <a:srgbClr val="B8DCEB">
                <a:alpha val="80000"/>
              </a:srgbClr>
            </a:solidFill>
            <a:prstDash val="solid"/>
          </a:ln>
          <a:effectLst>
            <a:outerShdw blurRad="63500" dist="25400" dir="5400000" algn="bl" rotWithShape="0">
              <a:srgbClr val="1A2440">
                <a:alpha val="8000"/>
              </a:srgbClr>
            </a:outerShdw>
          </a:effectLst>
        </p:spPr>
        <p:txBody>
          <a:bodyPr/>
          <a:lstStyle/>
          <a:p>
            <a:endParaRPr lang="en-IN"/>
          </a:p>
        </p:txBody>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Testing &amp; Optimisation</a:t>
            </a:r>
            <a:endParaRPr lang="en-US" sz="1050" dirty="0"/>
          </a:p>
        </p:txBody>
      </p:sp>
      <p:sp>
        <p:nvSpPr>
          <p:cNvPr id="55" name="Shape 53"/>
          <p:cNvSpPr/>
          <p:nvPr/>
        </p:nvSpPr>
        <p:spPr>
          <a:xfrm>
            <a:off x="9669127" y="3346704"/>
            <a:ext cx="347472" cy="347472"/>
          </a:xfrm>
          <a:prstGeom prst="ellipse">
            <a:avLst/>
          </a:prstGeom>
          <a:solidFill>
            <a:srgbClr val="E2E8F0"/>
          </a:solidFill>
          <a:ln w="31750">
            <a:solidFill>
              <a:srgbClr val="F6F8FB"/>
            </a:solidFill>
            <a:prstDash val="solid"/>
          </a:ln>
        </p:spPr>
        <p:txBody>
          <a:bodyPr/>
          <a:lstStyle/>
          <a:p>
            <a:endParaRPr lang="en-IN"/>
          </a:p>
        </p:txBody>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alpha val="70000"/>
            </a:srgbClr>
          </a:solidFill>
          <a:ln w="13335">
            <a:solidFill>
              <a:srgbClr val="B8DCEB">
                <a:alpha val="80000"/>
              </a:srgbClr>
            </a:solidFill>
            <a:prstDash val="solid"/>
          </a:ln>
          <a:effectLst>
            <a:outerShdw blurRad="63500" dist="25400" dir="5400000" algn="bl" rotWithShape="0">
              <a:srgbClr val="1A2440">
                <a:alpha val="8000"/>
              </a:srgbClr>
            </a:outerShdw>
          </a:effectLst>
        </p:spPr>
        <p:txBody>
          <a:bodyPr/>
          <a:lstStyle/>
          <a:p>
            <a:endParaRPr lang="en-IN"/>
          </a:p>
        </p:txBody>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2E8F0"/>
          </a:solidFill>
          <a:ln w="31750">
            <a:solidFill>
              <a:srgbClr val="F6F8FB"/>
            </a:solidFill>
            <a:prstDash val="solid"/>
          </a:ln>
        </p:spPr>
        <p:txBody>
          <a:bodyPr/>
          <a:lstStyle/>
          <a:p>
            <a:endParaRPr lang="en-IN"/>
          </a:p>
        </p:txBody>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1632857" y="5394960"/>
            <a:ext cx="1691640" cy="457200"/>
          </a:xfrm>
          <a:prstGeom prst="roundRect">
            <a:avLst>
              <a:gd name="adj" fmla="val 50000"/>
            </a:avLst>
          </a:prstGeom>
          <a:solidFill>
            <a:srgbClr val="FFFFFF">
              <a:alpha val="70000"/>
            </a:srgbClr>
          </a:solidFill>
          <a:ln w="13335">
            <a:solidFill>
              <a:srgbClr val="B8DCEB">
                <a:alpha val="80000"/>
              </a:srgbClr>
            </a:solidFill>
          </a:ln>
        </p:spPr>
        <p:txBody>
          <a:bodyPr/>
          <a:lstStyle/>
          <a:p>
            <a:endParaRPr lang="en-IN"/>
          </a:p>
        </p:txBody>
      </p:sp>
      <p:sp>
        <p:nvSpPr>
          <p:cNvPr id="64" name="Text 62"/>
          <p:cNvSpPr/>
          <p:nvPr/>
        </p:nvSpPr>
        <p:spPr>
          <a:xfrm>
            <a:off x="1632857"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0B521A48-FB39-41E1-A9F8-EA45E08F1EF0}"/>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Oval 3">
            <a:extLst>
              <a:ext uri="{FF2B5EF4-FFF2-40B4-BE49-F238E27FC236}">
                <a16:creationId xmlns:a16="http://schemas.microsoft.com/office/drawing/2014/main" id="{1CA6AACB-93E4-4168-A217-B720124B0EAB}"/>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CURRENT ACHIEVEMENTS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Concrete Wins in Quarter One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01952"/>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Architecture finalized</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System block diagram locked.</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3"/>
          <p:cNvSpPr/>
          <p:nvPr/>
        </p:nvSpPr>
        <p:spPr>
          <a:xfrm>
            <a:off x="4645152" y="1901952"/>
            <a:ext cx="713232" cy="713232"/>
          </a:xfrm>
          <a:prstGeom prst="ellipse">
            <a:avLst/>
          </a:prstGeom>
          <a:solidFill>
            <a:srgbClr val="12A678"/>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CAD design completed</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Segment modelled to motor specs.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7"/>
          <p:cNvSpPr/>
          <p:nvPr/>
        </p:nvSpPr>
        <p:spPr>
          <a:xfrm>
            <a:off x="8467344" y="1901952"/>
            <a:ext cx="713232" cy="713232"/>
          </a:xfrm>
          <a:prstGeom prst="ellipse">
            <a:avLst/>
          </a:prstGeom>
          <a:solidFill>
            <a:srgbClr val="E08A1E"/>
          </a:solidFill>
          <a:ln/>
        </p:spPr>
        <p:txBody>
          <a:bodyPr/>
          <a:lstStyle/>
          <a:p>
            <a:endParaRPr lang="en-IN"/>
          </a:p>
        </p:txBody>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Prototype fabrication started</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Two segments printed &amp; checked.</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1"/>
          <p:cNvSpPr/>
          <p:nvPr/>
        </p:nvSpPr>
        <p:spPr>
          <a:xfrm>
            <a:off x="822960" y="4151376"/>
            <a:ext cx="713232" cy="713232"/>
          </a:xfrm>
          <a:prstGeom prst="ellipse">
            <a:avLst/>
          </a:prstGeom>
          <a:solidFill>
            <a:srgbClr val="0E96AC"/>
          </a:solidFill>
          <a:ln/>
        </p:spPr>
        <p:txBody>
          <a:bodyPr/>
          <a:lstStyle/>
          <a:p>
            <a:endParaRPr lang="en-IN"/>
          </a:p>
        </p:txBody>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Pi environment established</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OS, network and tooling ready.</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5"/>
          <p:cNvSpPr/>
          <p:nvPr/>
        </p:nvSpPr>
        <p:spPr>
          <a:xfrm>
            <a:off x="4645152" y="4151376"/>
            <a:ext cx="713232" cy="713232"/>
          </a:xfrm>
          <a:prstGeom prst="ellipse">
            <a:avLst/>
          </a:prstGeom>
          <a:solidFill>
            <a:srgbClr val="12A678"/>
          </a:solidFill>
          <a:ln/>
        </p:spPr>
        <p:txBody>
          <a:bodyPr/>
          <a:lstStyle/>
          <a:p>
            <a:endParaRPr lang="en-IN"/>
          </a:p>
        </p:txBody>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GitHub workflow operational</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Version control and docs live.</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alpha val="70000"/>
            </a:srgbClr>
          </a:solidFill>
          <a:ln w="13335">
            <a:solidFill>
              <a:srgbClr val="B8DCEB">
                <a:alpha val="80000"/>
              </a:srgbClr>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29"/>
          <p:cNvSpPr/>
          <p:nvPr/>
        </p:nvSpPr>
        <p:spPr>
          <a:xfrm>
            <a:off x="8467344" y="4151376"/>
            <a:ext cx="713232" cy="713232"/>
          </a:xfrm>
          <a:prstGeom prst="ellipse">
            <a:avLst/>
          </a:prstGeom>
          <a:solidFill>
            <a:srgbClr val="E08A1E"/>
          </a:solidFill>
          <a:ln/>
        </p:spPr>
        <p:txBody>
          <a:bodyPr/>
          <a:lstStyle/>
          <a:p>
            <a:endParaRPr lang="en-IN"/>
          </a:p>
        </p:txBody>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Procurement initiated</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Core compute received; rest ordered.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8" name="Oval 27">
            <a:extLst>
              <a:ext uri="{FF2B5EF4-FFF2-40B4-BE49-F238E27FC236}">
                <a16:creationId xmlns:a16="http://schemas.microsoft.com/office/drawing/2014/main" id="{E576B51C-9347-4512-B1BD-595A1CEC5517}"/>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7" name="Oval 26">
            <a:extLst>
              <a:ext uri="{FF2B5EF4-FFF2-40B4-BE49-F238E27FC236}">
                <a16:creationId xmlns:a16="http://schemas.microsoft.com/office/drawing/2014/main" id="{A4A0233D-3C4A-49BA-9193-5E664E302CA9}"/>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TopBar"/>
          <p:cNvSpPr>
            <a:spLocks noGrp="1"/>
          </p:cNvSpPr>
          <p:nvPr/>
        </p:nvSpPr>
        <p:spPr>
          <a:xfrm>
            <a:off x="0" y="0"/>
            <a:ext cx="12192000" cy="76200"/>
          </a:xfrm>
          <a:prstGeom prst="rect">
            <a:avLst/>
          </a:prstGeom>
          <a:solidFill>
            <a:srgbClr val="0E96AC"/>
          </a:solidFill>
          <a:ln>
            <a:noFill/>
          </a:ln>
        </p:spPr>
        <p:txBody>
          <a:bodyPr/>
          <a:lstStyle/>
          <a:p>
            <a:endParaRPr/>
          </a:p>
        </p:txBody>
      </p:sp>
      <p:sp>
        <p:nvSpPr>
          <p:cNvPr id="11" name="Eyebrow"/>
          <p:cNvSpPr>
            <a:spLocks noGrp="1"/>
          </p:cNvSpPr>
          <p:nvPr/>
        </p:nvSpPr>
        <p:spPr>
          <a:xfrm>
            <a:off x="533400" y="177800"/>
            <a:ext cx="8890000" cy="228600"/>
          </a:xfrm>
          <a:prstGeom prst="rect">
            <a:avLst/>
          </a:prstGeom>
          <a:noFill/>
          <a:ln>
            <a:noFill/>
          </a:ln>
        </p:spPr>
        <p:txBody>
          <a:bodyPr/>
          <a:lstStyle/>
          <a:p>
            <a:pPr marL="0" indent="0" algn="l">
              <a:buNone/>
            </a:pPr>
            <a:r>
              <a:rPr lang="en-IN" sz="1100" b="1" dirty="0">
                <a:solidFill>
                  <a:srgbClr val="0E96AC"/>
                </a:solidFill>
                <a:latin typeface="Calibri" pitchFamily="34" charset="0"/>
              </a:rPr>
              <a:t>SIMULATION &amp; VALIDATION</a:t>
            </a:r>
          </a:p>
        </p:txBody>
      </p:sp>
      <p:sp>
        <p:nvSpPr>
          <p:cNvPr id="12" name="AccentLine"/>
          <p:cNvSpPr>
            <a:spLocks noGrp="1"/>
          </p:cNvSpPr>
          <p:nvPr/>
        </p:nvSpPr>
        <p:spPr>
          <a:xfrm>
            <a:off x="533400" y="431800"/>
            <a:ext cx="11125200" cy="12700"/>
          </a:xfrm>
          <a:prstGeom prst="rect">
            <a:avLst/>
          </a:prstGeom>
          <a:solidFill>
            <a:srgbClr val="0E96AC"/>
          </a:solidFill>
          <a:ln>
            <a:noFill/>
          </a:ln>
        </p:spPr>
        <p:txBody>
          <a:bodyPr/>
          <a:lstStyle/>
          <a:p>
            <a:endParaRPr/>
          </a:p>
        </p:txBody>
      </p:sp>
      <p:sp>
        <p:nvSpPr>
          <p:cNvPr id="13" name="MainTitle"/>
          <p:cNvSpPr>
            <a:spLocks noGrp="1"/>
          </p:cNvSpPr>
          <p:nvPr/>
        </p:nvSpPr>
        <p:spPr>
          <a:xfrm>
            <a:off x="533400" y="508000"/>
            <a:ext cx="10160000" cy="508000"/>
          </a:xfrm>
          <a:prstGeom prst="rect">
            <a:avLst/>
          </a:prstGeom>
          <a:noFill/>
          <a:ln>
            <a:noFill/>
          </a:ln>
        </p:spPr>
        <p:txBody>
          <a:bodyPr/>
          <a:lstStyle/>
          <a:p>
            <a:pPr marL="0" indent="0" algn="l">
              <a:buNone/>
            </a:pPr>
            <a:r>
              <a:rPr lang="en-IN" sz="2400" b="1" dirty="0">
                <a:solidFill>
                  <a:srgbClr val="16223A"/>
                </a:solidFill>
                <a:latin typeface="Calibri" pitchFamily="34" charset="0"/>
              </a:rPr>
              <a:t>Simulation-Based Validation of Control Architecture</a:t>
            </a:r>
          </a:p>
        </p:txBody>
      </p:sp>
      <p:pic>
        <p:nvPicPr>
          <p:cNvPr id="2" name="Picture 1">
            <a:extLst>
              <a:ext uri="{FF2B5EF4-FFF2-40B4-BE49-F238E27FC236}">
                <a16:creationId xmlns:a16="http://schemas.microsoft.com/office/drawing/2014/main" id="{FF57F7DB-A372-8BEE-AF61-AC58FDC57F17}"/>
              </a:ext>
            </a:extLst>
          </p:cNvPr>
          <p:cNvPicPr>
            <a:picLocks noChangeAspect="1"/>
          </p:cNvPicPr>
          <p:nvPr/>
        </p:nvPicPr>
        <p:blipFill>
          <a:blip r:embed="rId2"/>
          <a:stretch>
            <a:fillRect/>
          </a:stretch>
        </p:blipFill>
        <p:spPr>
          <a:xfrm>
            <a:off x="533400" y="1270000"/>
            <a:ext cx="6350000" cy="4772421"/>
          </a:xfrm>
          <a:prstGeom prst="rect">
            <a:avLst/>
          </a:prstGeom>
        </p:spPr>
      </p:pic>
      <p:sp>
        <p:nvSpPr>
          <p:cNvPr id="4" name="Caption">
            <a:extLst>
              <a:ext uri="{FF2B5EF4-FFF2-40B4-BE49-F238E27FC236}">
                <a16:creationId xmlns:a16="http://schemas.microsoft.com/office/drawing/2014/main" id="{0A70087A-913A-4173-8A2B-10264A92E2F2}"/>
              </a:ext>
            </a:extLst>
          </p:cNvPr>
          <p:cNvSpPr txBox="1"/>
          <p:nvPr/>
        </p:nvSpPr>
        <p:spPr>
          <a:xfrm>
            <a:off x="533400" y="6121400"/>
            <a:ext cx="6350000" cy="584200"/>
          </a:xfrm>
          <a:prstGeom prst="rect">
            <a:avLst/>
          </a:prstGeom>
          <a:noFill/>
        </p:spPr>
        <p:txBody>
          <a:bodyPr vertOverflow="overflow" vert="horz" wrap="square" rtlCol="0" anchor="t" anchorCtr="0">
            <a:spAutoFit/>
          </a:bodyPr>
          <a:lstStyle/>
          <a:p>
            <a:pPr algn="l"/>
            <a:r>
              <a:rPr lang="en-US" sz="1050" i="1">
                <a:solidFill>
                  <a:srgbClr val="6B7280"/>
                </a:solidFill>
                <a:latin typeface="Calibri"/>
                <a:ea typeface="Calibri"/>
                <a:cs typeface="Calibri"/>
              </a:rPr>
              <a:t>Wokwi-based simulation environment developed to validate locomotion control, sensor integration, and communication architecture before physical Dynamixel hardware arrival.</a:t>
            </a:r>
            <a:endParaRPr lang="en-IN" sz="1050" i="1">
              <a:solidFill>
                <a:srgbClr val="6B7280"/>
              </a:solidFill>
              <a:latin typeface="Calibri"/>
              <a:ea typeface="Calibri"/>
              <a:cs typeface="Calibri"/>
            </a:endParaRPr>
          </a:p>
        </p:txBody>
      </p:sp>
      <p:sp>
        <p:nvSpPr>
          <p:cNvPr id="5" name="ColSep">
            <a:extLst>
              <a:ext uri="{FF2B5EF4-FFF2-40B4-BE49-F238E27FC236}">
                <a16:creationId xmlns:a16="http://schemas.microsoft.com/office/drawing/2014/main" id="{F4B4824F-43FB-40F3-A930-950484DEE059}"/>
              </a:ext>
            </a:extLst>
          </p:cNvPr>
          <p:cNvSpPr/>
          <p:nvPr/>
        </p:nvSpPr>
        <p:spPr>
          <a:xfrm>
            <a:off x="7010400" y="1219200"/>
            <a:ext cx="12700" cy="5486400"/>
          </a:xfrm>
          <a:prstGeom prst="rect">
            <a:avLst/>
          </a:prstGeom>
          <a:solidFill>
            <a:srgbClr val="D0D7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ObjBar">
            <a:extLst>
              <a:ext uri="{FF2B5EF4-FFF2-40B4-BE49-F238E27FC236}">
                <a16:creationId xmlns:a16="http://schemas.microsoft.com/office/drawing/2014/main" id="{178EDC1E-CA49-4444-807D-C176B8B794B6}"/>
              </a:ext>
            </a:extLst>
          </p:cNvPr>
          <p:cNvSpPr/>
          <p:nvPr/>
        </p:nvSpPr>
        <p:spPr>
          <a:xfrm>
            <a:off x="7112000" y="1270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SIMULATION OBJECTIVE</a:t>
            </a:r>
          </a:p>
        </p:txBody>
      </p:sp>
      <p:sp>
        <p:nvSpPr>
          <p:cNvPr id="7" name="ObjText">
            <a:extLst>
              <a:ext uri="{FF2B5EF4-FFF2-40B4-BE49-F238E27FC236}">
                <a16:creationId xmlns:a16="http://schemas.microsoft.com/office/drawing/2014/main" id="{AB2E6402-3A0B-4197-BB71-81ED271D7DB2}"/>
              </a:ext>
            </a:extLst>
          </p:cNvPr>
          <p:cNvSpPr txBox="1"/>
          <p:nvPr/>
        </p:nvSpPr>
        <p:spPr>
          <a:xfrm>
            <a:off x="7112000" y="1549400"/>
            <a:ext cx="4546600" cy="812800"/>
          </a:xfrm>
          <a:prstGeom prst="rect">
            <a:avLst/>
          </a:prstGeom>
          <a:noFill/>
        </p:spPr>
        <p:txBody>
          <a:bodyPr vertOverflow="overflow" vert="horz" wrap="square" rtlCol="0" anchor="t" anchorCtr="0">
            <a:spAutoFit/>
          </a:bodyPr>
          <a:lstStyle/>
          <a:p>
            <a:pPr algn="l"/>
            <a:r>
              <a:rPr lang="en-US" sz="1050">
                <a:solidFill>
                  <a:srgbClr val="16223A"/>
                </a:solidFill>
                <a:latin typeface="Calibri"/>
                <a:ea typeface="Calibri"/>
                <a:cs typeface="Calibri"/>
              </a:rPr>
              <a:t>A virtual testing platform to validate the control architecture before Dynamixel actuators and communication hardware arrive — enabling software development, algorithm verification, and sensor integration in parallel with procurement.</a:t>
            </a:r>
            <a:endParaRPr lang="en-IN" sz="1050">
              <a:solidFill>
                <a:srgbClr val="16223A"/>
              </a:solidFill>
              <a:latin typeface="Calibri"/>
              <a:ea typeface="Calibri"/>
              <a:cs typeface="Calibri"/>
            </a:endParaRPr>
          </a:p>
        </p:txBody>
      </p:sp>
      <p:sp>
        <p:nvSpPr>
          <p:cNvPr id="8" name="CompBar">
            <a:extLst>
              <a:ext uri="{FF2B5EF4-FFF2-40B4-BE49-F238E27FC236}">
                <a16:creationId xmlns:a16="http://schemas.microsoft.com/office/drawing/2014/main" id="{13A72280-DA83-4A91-A182-E29B80090FB4}"/>
              </a:ext>
            </a:extLst>
          </p:cNvPr>
          <p:cNvSpPr/>
          <p:nvPr/>
        </p:nvSpPr>
        <p:spPr>
          <a:xfrm>
            <a:off x="7112000" y="2413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COMPONENTS SIMULATED</a:t>
            </a:r>
          </a:p>
        </p:txBody>
      </p:sp>
      <p:pic>
        <p:nvPicPr>
          <p:cNvPr id="14" name="Graphic 14" descr="Controll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0600" y="2743200"/>
            <a:ext cx="330200" cy="330200"/>
          </a:xfrm>
          <a:prstGeom prst="rect">
            <a:avLst/>
          </a:prstGeom>
        </p:spPr>
      </p:pic>
      <p:pic>
        <p:nvPicPr>
          <p:cNvPr id="15" name="Graphic 15" descr="Sensor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3600" y="2743200"/>
            <a:ext cx="330200" cy="330200"/>
          </a:xfrm>
          <a:prstGeom prst="rect">
            <a:avLst/>
          </a:prstGeom>
        </p:spPr>
      </p:pic>
      <p:pic>
        <p:nvPicPr>
          <p:cNvPr id="16" name="Graphic 16" descr="Displa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26600" y="2743200"/>
            <a:ext cx="330200" cy="330200"/>
          </a:xfrm>
          <a:prstGeom prst="rect">
            <a:avLst/>
          </a:prstGeom>
        </p:spPr>
      </p:pic>
      <p:pic>
        <p:nvPicPr>
          <p:cNvPr id="17" name="Graphic 17" descr="Actuator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69600" y="2743200"/>
            <a:ext cx="330200" cy="330200"/>
          </a:xfrm>
          <a:prstGeom prst="rect">
            <a:avLst/>
          </a:prstGeom>
        </p:spPr>
      </p:pic>
      <p:sp>
        <p:nvSpPr>
          <p:cNvPr id="9" name="TextBox 8">
            <a:extLst>
              <a:ext uri="{FF2B5EF4-FFF2-40B4-BE49-F238E27FC236}">
                <a16:creationId xmlns:a16="http://schemas.microsoft.com/office/drawing/2014/main" id="{F14FDCAF-EA1B-4688-86EC-4FDF39171679}"/>
              </a:ext>
            </a:extLst>
          </p:cNvPr>
          <p:cNvSpPr txBox="1"/>
          <p:nvPr/>
        </p:nvSpPr>
        <p:spPr>
          <a:xfrm>
            <a:off x="6946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Controller</a:t>
            </a:r>
          </a:p>
        </p:txBody>
      </p:sp>
      <p:sp>
        <p:nvSpPr>
          <p:cNvPr id="18" name="TextBox 17">
            <a:extLst>
              <a:ext uri="{FF2B5EF4-FFF2-40B4-BE49-F238E27FC236}">
                <a16:creationId xmlns:a16="http://schemas.microsoft.com/office/drawing/2014/main" id="{BCAC9736-26F2-4544-A0F4-600AE742E3F5}"/>
              </a:ext>
            </a:extLst>
          </p:cNvPr>
          <p:cNvSpPr txBox="1"/>
          <p:nvPr/>
        </p:nvSpPr>
        <p:spPr>
          <a:xfrm>
            <a:off x="8089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Sensors</a:t>
            </a:r>
          </a:p>
        </p:txBody>
      </p:sp>
      <p:sp>
        <p:nvSpPr>
          <p:cNvPr id="19" name="TextBox 18">
            <a:extLst>
              <a:ext uri="{FF2B5EF4-FFF2-40B4-BE49-F238E27FC236}">
                <a16:creationId xmlns:a16="http://schemas.microsoft.com/office/drawing/2014/main" id="{73C8DB26-9565-46C7-9618-2E76312967B5}"/>
              </a:ext>
            </a:extLst>
          </p:cNvPr>
          <p:cNvSpPr txBox="1"/>
          <p:nvPr/>
        </p:nvSpPr>
        <p:spPr>
          <a:xfrm>
            <a:off x="9232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Display</a:t>
            </a:r>
          </a:p>
        </p:txBody>
      </p:sp>
      <p:sp>
        <p:nvSpPr>
          <p:cNvPr id="20" name="TextBox 19">
            <a:extLst>
              <a:ext uri="{FF2B5EF4-FFF2-40B4-BE49-F238E27FC236}">
                <a16:creationId xmlns:a16="http://schemas.microsoft.com/office/drawing/2014/main" id="{943EA61A-F56F-4D25-A1D6-D7B8CDF5A8FC}"/>
              </a:ext>
            </a:extLst>
          </p:cNvPr>
          <p:cNvSpPr txBox="1"/>
          <p:nvPr/>
        </p:nvSpPr>
        <p:spPr>
          <a:xfrm>
            <a:off x="10375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Actuators</a:t>
            </a:r>
          </a:p>
        </p:txBody>
      </p:sp>
      <p:sp>
        <p:nvSpPr>
          <p:cNvPr id="21" name="CompSub">
            <a:extLst>
              <a:ext uri="{FF2B5EF4-FFF2-40B4-BE49-F238E27FC236}">
                <a16:creationId xmlns:a16="http://schemas.microsoft.com/office/drawing/2014/main" id="{E9BA4A95-644D-43CC-86B7-250148BF0C59}"/>
              </a:ext>
            </a:extLst>
          </p:cNvPr>
          <p:cNvSpPr txBox="1"/>
          <p:nvPr/>
        </p:nvSpPr>
        <p:spPr>
          <a:xfrm>
            <a:off x="7112000" y="3327400"/>
            <a:ext cx="4546600" cy="330200"/>
          </a:xfrm>
          <a:prstGeom prst="rect">
            <a:avLst/>
          </a:prstGeom>
          <a:noFill/>
        </p:spPr>
        <p:txBody>
          <a:bodyPr vertOverflow="overflow" vert="horz" wrap="square" rtlCol="0" anchor="t" anchorCtr="0">
            <a:spAutoFit/>
          </a:bodyPr>
          <a:lstStyle/>
          <a:p>
            <a:pPr algn="l"/>
            <a:r>
              <a:rPr lang="en-IN" sz="900" i="1">
                <a:solidFill>
                  <a:srgbClr val="6B7280"/>
                </a:solidFill>
                <a:latin typeface="Calibri"/>
                <a:ea typeface="Calibri"/>
                <a:cs typeface="Calibri"/>
              </a:rPr>
              <a:t>ESP32 · 5-Servo joint network · MPU6050 IMU · HC-SR04 ultrasonic · SSD1306 OLED · control &amp; communication framework</a:t>
            </a:r>
          </a:p>
        </p:txBody>
      </p:sp>
      <p:sp>
        <p:nvSpPr>
          <p:cNvPr id="22" name="ValBar">
            <a:extLst>
              <a:ext uri="{FF2B5EF4-FFF2-40B4-BE49-F238E27FC236}">
                <a16:creationId xmlns:a16="http://schemas.microsoft.com/office/drawing/2014/main" id="{969CB65F-F6A4-423C-A59B-AAE9CC13FF12}"/>
              </a:ext>
            </a:extLst>
          </p:cNvPr>
          <p:cNvSpPr/>
          <p:nvPr/>
        </p:nvSpPr>
        <p:spPr>
          <a:xfrm>
            <a:off x="7112000" y="37084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FUNCTIONAL VALIDATION COMPLETED</a:t>
            </a:r>
          </a:p>
        </p:txBody>
      </p:sp>
      <p:sp>
        <p:nvSpPr>
          <p:cNvPr id="23" name="BenBar">
            <a:extLst>
              <a:ext uri="{FF2B5EF4-FFF2-40B4-BE49-F238E27FC236}">
                <a16:creationId xmlns:a16="http://schemas.microsoft.com/office/drawing/2014/main" id="{17226090-79FF-4BDE-85B8-E78705648C85}"/>
              </a:ext>
            </a:extLst>
          </p:cNvPr>
          <p:cNvSpPr/>
          <p:nvPr/>
        </p:nvSpPr>
        <p:spPr>
          <a:xfrm>
            <a:off x="7112000" y="52832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ENGINEERING BENEFITS</a:t>
            </a:r>
          </a:p>
        </p:txBody>
      </p:sp>
      <p:sp>
        <p:nvSpPr>
          <p:cNvPr id="24" name="ValList">
            <a:extLst>
              <a:ext uri="{FF2B5EF4-FFF2-40B4-BE49-F238E27FC236}">
                <a16:creationId xmlns:a16="http://schemas.microsoft.com/office/drawing/2014/main" id="{8F2F53C0-A6EB-4C72-B492-9B0DAB6755D0}"/>
              </a:ext>
            </a:extLst>
          </p:cNvPr>
          <p:cNvSpPr txBox="1"/>
          <p:nvPr/>
        </p:nvSpPr>
        <p:spPr>
          <a:xfrm>
            <a:off x="7112000" y="3987800"/>
            <a:ext cx="4546600" cy="1244600"/>
          </a:xfrm>
          <a:prstGeom prst="rect">
            <a:avLst/>
          </a:prstGeom>
          <a:noFill/>
        </p:spPr>
        <p:txBody>
          <a:bodyPr vertOverflow="overflow" vert="horz" wrap="square" rtlCol="0" anchor="t" anchorCtr="0">
            <a:noAutofit/>
          </a:bodyPr>
          <a:lstStyle/>
          <a:p>
            <a:pPr marL="170000" indent="-170000">
              <a:lnSpc>
                <a:spcPts val="1380"/>
              </a:lnSpc>
              <a:spcAft>
                <a:spcPts val="200"/>
              </a:spcAft>
              <a:buClr>
                <a:srgbClr val="1F9D55"/>
              </a:buClr>
              <a:buFont typeface="Arial"/>
              <a:buChar char="✓"/>
            </a:pPr>
            <a:r>
              <a:rPr lang="en-IN" sz="1000" dirty="0">
                <a:solidFill>
                  <a:srgbClr val="16223A"/>
                </a:solidFill>
                <a:latin typeface="Calibri"/>
              </a:rPr>
              <a:t>Multi-joint servo coordination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Travelling-wave serpentine gait generation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Obstacle detection via ultrasonic sensing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IMU integration for orientation feedback</a:t>
            </a:r>
          </a:p>
          <a:p>
            <a:pPr marL="170000" indent="-170000">
              <a:lnSpc>
                <a:spcPts val="1380"/>
              </a:lnSpc>
              <a:spcAft>
                <a:spcPts val="200"/>
              </a:spcAft>
              <a:buClr>
                <a:srgbClr val="1F9D55"/>
              </a:buClr>
              <a:buFont typeface="Arial"/>
              <a:buChar char="✓"/>
            </a:pPr>
            <a:r>
              <a:rPr lang="en-IN" sz="1000" dirty="0">
                <a:solidFill>
                  <a:srgbClr val="16223A"/>
                </a:solidFill>
                <a:latin typeface="Calibri"/>
              </a:rPr>
              <a:t>OLED-based system status monitoring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Sensor–controller–actuator communication</a:t>
            </a:r>
          </a:p>
        </p:txBody>
      </p:sp>
      <p:sp>
        <p:nvSpPr>
          <p:cNvPr id="25" name="BenList">
            <a:extLst>
              <a:ext uri="{FF2B5EF4-FFF2-40B4-BE49-F238E27FC236}">
                <a16:creationId xmlns:a16="http://schemas.microsoft.com/office/drawing/2014/main" id="{FF6D1A2A-EA57-464C-91D6-7133350B2A9C}"/>
              </a:ext>
            </a:extLst>
          </p:cNvPr>
          <p:cNvSpPr txBox="1"/>
          <p:nvPr/>
        </p:nvSpPr>
        <p:spPr>
          <a:xfrm>
            <a:off x="7112000" y="5562600"/>
            <a:ext cx="4546600" cy="609600"/>
          </a:xfrm>
          <a:prstGeom prst="rect">
            <a:avLst/>
          </a:prstGeom>
          <a:noFill/>
        </p:spPr>
        <p:txBody>
          <a:bodyPr vertOverflow="overflow" vert="horz" wrap="square" rtlCol="0" anchor="t" anchorCtr="0">
            <a:noAutofit/>
          </a:bodyPr>
          <a:lstStyle/>
          <a:p>
            <a:pPr marL="150000" indent="-150000">
              <a:lnSpc>
                <a:spcPts val="1180"/>
              </a:lnSpc>
              <a:spcAft>
                <a:spcPts val="150"/>
              </a:spcAft>
              <a:buFont typeface="Arial"/>
              <a:buChar char="•"/>
            </a:pPr>
            <a:r>
              <a:rPr lang="en-IN" sz="950" dirty="0">
                <a:solidFill>
                  <a:srgbClr val="16223A"/>
                </a:solidFill>
                <a:latin typeface="Calibri"/>
              </a:rPr>
              <a:t>Reduced dependence on hardware delivery timelines</a:t>
            </a:r>
          </a:p>
          <a:p>
            <a:pPr marL="150000" indent="-150000">
              <a:lnSpc>
                <a:spcPts val="1180"/>
              </a:lnSpc>
              <a:spcAft>
                <a:spcPts val="150"/>
              </a:spcAft>
              <a:buFont typeface="Arial"/>
              <a:buChar char="•"/>
            </a:pPr>
            <a:r>
              <a:rPr lang="en-IN" sz="950" dirty="0">
                <a:solidFill>
                  <a:srgbClr val="16223A"/>
                </a:solidFill>
                <a:latin typeface="Calibri"/>
              </a:rPr>
              <a:t>Enabled early software debugging &amp; control-architecture verification</a:t>
            </a:r>
          </a:p>
          <a:p>
            <a:pPr marL="150000" indent="-150000">
              <a:lnSpc>
                <a:spcPts val="1180"/>
              </a:lnSpc>
              <a:spcAft>
                <a:spcPts val="150"/>
              </a:spcAft>
              <a:buFont typeface="Arial"/>
              <a:buChar char="•"/>
            </a:pPr>
            <a:r>
              <a:rPr lang="en-IN" sz="950" dirty="0">
                <a:solidFill>
                  <a:srgbClr val="16223A"/>
                </a:solidFill>
                <a:latin typeface="Calibri"/>
              </a:rPr>
              <a:t>Established migration path to Raspberry Pi 5 + Dynamixel XL330, reducing integration risk</a:t>
            </a:r>
          </a:p>
        </p:txBody>
      </p:sp>
      <p:sp>
        <p:nvSpPr>
          <p:cNvPr id="26" name="OutcomeBox">
            <a:extLst>
              <a:ext uri="{FF2B5EF4-FFF2-40B4-BE49-F238E27FC236}">
                <a16:creationId xmlns:a16="http://schemas.microsoft.com/office/drawing/2014/main" id="{A1111AB1-B2DD-4A6B-94F7-1E0F10B973B3}"/>
              </a:ext>
            </a:extLst>
          </p:cNvPr>
          <p:cNvSpPr/>
          <p:nvPr/>
        </p:nvSpPr>
        <p:spPr>
          <a:xfrm>
            <a:off x="7112000" y="6248400"/>
            <a:ext cx="4546600" cy="508000"/>
          </a:xfrm>
          <a:prstGeom prst="rect">
            <a:avLst/>
          </a:prstGeom>
          <a:solidFill>
            <a:srgbClr val="FFFFFF">
              <a:alpha val="70000"/>
            </a:srgbClr>
          </a:solidFill>
          <a:ln w="13335" cap="flat" cmpd="sng" algn="ctr">
            <a:solidFill>
              <a:srgbClr val="B8DCEB">
                <a:alpha val="80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buNone/>
            </a:pPr>
            <a:r>
              <a:rPr lang="en-IN" sz="950" b="1" dirty="0">
                <a:solidFill>
                  <a:srgbClr val="0A7A8E"/>
                </a:solidFill>
                <a:latin typeface="Calibri"/>
              </a:rPr>
              <a:t>KEY OUTCOME  </a:t>
            </a:r>
            <a:r>
              <a:rPr lang="en-IN" sz="950" dirty="0">
                <a:solidFill>
                  <a:srgbClr val="16223A"/>
                </a:solidFill>
                <a:latin typeface="Calibri"/>
              </a:rPr>
              <a:t>A complete software-validation framework was developed, allowing locomotion, sensing, and control workflows to be tested before physical robot assembly.</a:t>
            </a:r>
          </a:p>
        </p:txBody>
      </p:sp>
    </p:spTree>
    <p:extLst>
      <p:ext uri="{BB962C8B-B14F-4D97-AF65-F5344CB8AC3E}">
        <p14:creationId xmlns:p14="http://schemas.microsoft.com/office/powerpoint/2010/main" val="3745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29D0DB8-0815-462E-A121-2EE55A0181F9}"/>
              </a:ext>
            </a:extLst>
          </p:cNvPr>
          <p:cNvSpPr/>
          <p:nvPr/>
        </p:nvSpPr>
        <p:spPr>
          <a:xfrm>
            <a:off x="0" y="4826000"/>
            <a:ext cx="2032000" cy="2032000"/>
          </a:xfrm>
          <a:prstGeom prst="ellipse">
            <a:avLst/>
          </a:prstGeom>
          <a:solidFill>
            <a:srgbClr val="5C8FEF">
              <a:alpha val="13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Oval 5">
            <a:extLst>
              <a:ext uri="{FF2B5EF4-FFF2-40B4-BE49-F238E27FC236}">
                <a16:creationId xmlns:a16="http://schemas.microsoft.com/office/drawing/2014/main" id="{A1671203-8237-4371-A1AA-97EAF20B04E3}"/>
              </a:ext>
            </a:extLst>
          </p:cNvPr>
          <p:cNvSpPr/>
          <p:nvPr/>
        </p:nvSpPr>
        <p:spPr>
          <a:xfrm>
            <a:off x="10033000" y="304800"/>
            <a:ext cx="2159000" cy="2159000"/>
          </a:xfrm>
          <a:prstGeom prst="ellipse">
            <a:avLst/>
          </a:prstGeom>
          <a:solidFill>
            <a:srgbClr val="32CBE2">
              <a:alpha val="18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opBar">
            <a:extLst>
              <a:ext uri="{FF2B5EF4-FFF2-40B4-BE49-F238E27FC236}">
                <a16:creationId xmlns:a16="http://schemas.microsoft.com/office/drawing/2014/main" id="{30ED9168-1A8D-46D3-AF26-084DB3ADAA2A}"/>
              </a:ext>
            </a:extLst>
          </p:cNvPr>
          <p:cNvSpPr/>
          <p:nvPr/>
        </p:nvSpPr>
        <p:spPr>
          <a:xfrm>
            <a:off x="0" y="0"/>
            <a:ext cx="12192000" cy="762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Eyebrow">
            <a:extLst>
              <a:ext uri="{FF2B5EF4-FFF2-40B4-BE49-F238E27FC236}">
                <a16:creationId xmlns:a16="http://schemas.microsoft.com/office/drawing/2014/main" id="{18DBE4B9-D6CE-44B5-B1C7-914B242C66E1}"/>
              </a:ext>
            </a:extLst>
          </p:cNvPr>
          <p:cNvSpPr txBox="1"/>
          <p:nvPr/>
        </p:nvSpPr>
        <p:spPr>
          <a:xfrm>
            <a:off x="533400" y="177800"/>
            <a:ext cx="8890000" cy="228600"/>
          </a:xfrm>
          <a:prstGeom prst="rect">
            <a:avLst/>
          </a:prstGeom>
          <a:noFill/>
        </p:spPr>
        <p:txBody>
          <a:bodyPr vertOverflow="overflow" vert="horz" wrap="square" rtlCol="0" anchor="ctr" anchorCtr="0">
            <a:spAutoFit/>
          </a:bodyPr>
          <a:lstStyle/>
          <a:p>
            <a:pPr algn="l"/>
            <a:r>
              <a:rPr lang="en-IN" sz="1100" b="1">
                <a:solidFill>
                  <a:srgbClr val="0E96AC"/>
                </a:solidFill>
                <a:latin typeface="Calibri"/>
                <a:ea typeface="Calibri"/>
                <a:cs typeface="Calibri"/>
              </a:rPr>
              <a:t>FUTURE WORK &amp; DEVELOPMENT ROADMAP</a:t>
            </a:r>
          </a:p>
        </p:txBody>
      </p:sp>
      <p:sp>
        <p:nvSpPr>
          <p:cNvPr id="4" name="AccentLine">
            <a:extLst>
              <a:ext uri="{FF2B5EF4-FFF2-40B4-BE49-F238E27FC236}">
                <a16:creationId xmlns:a16="http://schemas.microsoft.com/office/drawing/2014/main" id="{442F3D03-E326-4CE5-A515-22A546C90469}"/>
              </a:ext>
            </a:extLst>
          </p:cNvPr>
          <p:cNvSpPr/>
          <p:nvPr/>
        </p:nvSpPr>
        <p:spPr>
          <a:xfrm>
            <a:off x="533400" y="431800"/>
            <a:ext cx="11125200" cy="127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MainTitle">
            <a:extLst>
              <a:ext uri="{FF2B5EF4-FFF2-40B4-BE49-F238E27FC236}">
                <a16:creationId xmlns:a16="http://schemas.microsoft.com/office/drawing/2014/main" id="{5EE60894-65EF-4387-A4AF-239835B25496}"/>
              </a:ext>
            </a:extLst>
          </p:cNvPr>
          <p:cNvSpPr txBox="1"/>
          <p:nvPr/>
        </p:nvSpPr>
        <p:spPr>
          <a:xfrm>
            <a:off x="533400" y="508000"/>
            <a:ext cx="11125200" cy="508000"/>
          </a:xfrm>
          <a:prstGeom prst="rect">
            <a:avLst/>
          </a:prstGeom>
          <a:noFill/>
        </p:spPr>
        <p:txBody>
          <a:bodyPr vertOverflow="overflow" vert="horz" wrap="square" rtlCol="0" anchor="ctr" anchorCtr="0">
            <a:spAutoFit/>
          </a:bodyPr>
          <a:lstStyle/>
          <a:p>
            <a:pPr algn="l"/>
            <a:r>
              <a:rPr lang="en-US" sz="2400" b="1">
                <a:solidFill>
                  <a:srgbClr val="16223A"/>
                </a:solidFill>
                <a:latin typeface="Calibri"/>
                <a:ea typeface="Calibri"/>
                <a:cs typeface="Calibri"/>
              </a:rPr>
              <a:t>Planned Activities for the Next Development Phase</a:t>
            </a:r>
            <a:endParaRPr lang="en-IN" sz="2400" b="1">
              <a:solidFill>
                <a:srgbClr val="16223A"/>
              </a:solidFill>
              <a:latin typeface="Calibri"/>
              <a:ea typeface="Calibri"/>
              <a:cs typeface="Calibri"/>
            </a:endParaRPr>
          </a:p>
        </p:txBody>
      </p:sp>
      <p:sp>
        <p:nvSpPr>
          <p:cNvPr id="201" name="Pill0"/>
          <p:cNvSpPr/>
          <p:nvPr/>
        </p:nvSpPr>
        <p:spPr>
          <a:xfrm>
            <a:off x="533400" y="1219200"/>
            <a:ext cx="1752600" cy="584200"/>
          </a:xfrm>
          <a:prstGeom prst="roundRect">
            <a:avLst/>
          </a:prstGeom>
          <a:solidFill>
            <a:srgbClr val="1F9D55"/>
          </a:solidFill>
          <a:ln>
            <a:noFill/>
          </a:ln>
        </p:spPr>
        <p:txBody>
          <a:bodyPr/>
          <a:lstStyle/>
          <a:p>
            <a:endParaRPr/>
          </a:p>
        </p:txBody>
      </p:sp>
      <p:sp>
        <p:nvSpPr>
          <p:cNvPr id="202" name="Num0"/>
          <p:cNvSpPr/>
          <p:nvPr/>
        </p:nvSpPr>
        <p:spPr>
          <a:xfrm>
            <a:off x="635000" y="1346200"/>
            <a:ext cx="330200" cy="330200"/>
          </a:xfrm>
          <a:prstGeom prst="ellipse">
            <a:avLst/>
          </a:prstGeom>
          <a:solidFill>
            <a:srgbClr val="FFFFFF"/>
          </a:solidFill>
          <a:ln>
            <a:noFill/>
          </a:ln>
        </p:spPr>
        <p:txBody>
          <a:bodyPr/>
          <a:lstStyle/>
          <a:p>
            <a:endParaRPr/>
          </a:p>
        </p:txBody>
      </p:sp>
      <p:sp>
        <p:nvSpPr>
          <p:cNvPr id="203" name="NumT0"/>
          <p:cNvSpPr txBox="1"/>
          <p:nvPr/>
        </p:nvSpPr>
        <p:spPr>
          <a:xfrm>
            <a:off x="635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1</a:t>
            </a:r>
          </a:p>
        </p:txBody>
      </p:sp>
      <p:sp>
        <p:nvSpPr>
          <p:cNvPr id="204" name="PillT0"/>
          <p:cNvSpPr txBox="1"/>
          <p:nvPr/>
        </p:nvSpPr>
        <p:spPr>
          <a:xfrm>
            <a:off x="1016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Hardware Arrival</a:t>
            </a:r>
          </a:p>
        </p:txBody>
      </p:sp>
      <p:sp>
        <p:nvSpPr>
          <p:cNvPr id="205" name="Card0"/>
          <p:cNvSpPr/>
          <p:nvPr/>
        </p:nvSpPr>
        <p:spPr>
          <a:xfrm>
            <a:off x="533400" y="1905000"/>
            <a:ext cx="1752600" cy="1676400"/>
          </a:xfrm>
          <a:prstGeom prst="roundRect">
            <a:avLst/>
          </a:prstGeom>
          <a:solidFill>
            <a:srgbClr val="FFFFFF">
              <a:alpha val="70000"/>
            </a:srgbClr>
          </a:solidFill>
          <a:ln w="13335">
            <a:solidFill>
              <a:srgbClr val="B8DCEB">
                <a:alpha val="80000"/>
              </a:srgbClr>
            </a:solidFill>
          </a:ln>
        </p:spPr>
        <p:txBody>
          <a:bodyPr/>
          <a:lstStyle/>
          <a:p>
            <a:endParaRPr/>
          </a:p>
        </p:txBody>
      </p:sp>
      <p:sp>
        <p:nvSpPr>
          <p:cNvPr id="206" name="Strip0"/>
          <p:cNvSpPr/>
          <p:nvPr/>
        </p:nvSpPr>
        <p:spPr>
          <a:xfrm>
            <a:off x="533400" y="1905000"/>
            <a:ext cx="1752600" cy="38100"/>
          </a:xfrm>
          <a:prstGeom prst="rect">
            <a:avLst/>
          </a:prstGeom>
          <a:solidFill>
            <a:srgbClr val="1F9D55"/>
          </a:solidFill>
          <a:ln>
            <a:noFill/>
          </a:ln>
        </p:spPr>
        <p:txBody>
          <a:bodyPr/>
          <a:lstStyle/>
          <a:p>
            <a:endParaRPr/>
          </a:p>
        </p:txBody>
      </p:sp>
      <p:sp>
        <p:nvSpPr>
          <p:cNvPr id="207" name="CardT0"/>
          <p:cNvSpPr txBox="1"/>
          <p:nvPr/>
        </p:nvSpPr>
        <p:spPr>
          <a:xfrm>
            <a:off x="635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Dynamixel XL330 motors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U2D2 interface</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Verify purchased components</a:t>
            </a:r>
          </a:p>
        </p:txBody>
      </p:sp>
      <p:sp>
        <p:nvSpPr>
          <p:cNvPr id="209" name="Pill1"/>
          <p:cNvSpPr/>
          <p:nvPr/>
        </p:nvSpPr>
        <p:spPr>
          <a:xfrm>
            <a:off x="2387600" y="1219200"/>
            <a:ext cx="1752600" cy="584200"/>
          </a:xfrm>
          <a:prstGeom prst="roundRect">
            <a:avLst/>
          </a:prstGeom>
          <a:solidFill>
            <a:srgbClr val="1F9D55"/>
          </a:solidFill>
          <a:ln>
            <a:noFill/>
          </a:ln>
        </p:spPr>
        <p:txBody>
          <a:bodyPr/>
          <a:lstStyle/>
          <a:p>
            <a:endParaRPr/>
          </a:p>
        </p:txBody>
      </p:sp>
      <p:sp>
        <p:nvSpPr>
          <p:cNvPr id="210" name="Num1"/>
          <p:cNvSpPr/>
          <p:nvPr/>
        </p:nvSpPr>
        <p:spPr>
          <a:xfrm>
            <a:off x="2489200" y="1346200"/>
            <a:ext cx="330200" cy="330200"/>
          </a:xfrm>
          <a:prstGeom prst="ellipse">
            <a:avLst/>
          </a:prstGeom>
          <a:solidFill>
            <a:srgbClr val="FFFFFF"/>
          </a:solidFill>
          <a:ln>
            <a:noFill/>
          </a:ln>
        </p:spPr>
        <p:txBody>
          <a:bodyPr/>
          <a:lstStyle/>
          <a:p>
            <a:endParaRPr/>
          </a:p>
        </p:txBody>
      </p:sp>
      <p:sp>
        <p:nvSpPr>
          <p:cNvPr id="211" name="NumT1"/>
          <p:cNvSpPr txBox="1"/>
          <p:nvPr/>
        </p:nvSpPr>
        <p:spPr>
          <a:xfrm>
            <a:off x="24892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2</a:t>
            </a:r>
          </a:p>
        </p:txBody>
      </p:sp>
      <p:sp>
        <p:nvSpPr>
          <p:cNvPr id="212" name="PillT1"/>
          <p:cNvSpPr txBox="1"/>
          <p:nvPr/>
        </p:nvSpPr>
        <p:spPr>
          <a:xfrm>
            <a:off x="28702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Mechanical Assembly</a:t>
            </a:r>
          </a:p>
        </p:txBody>
      </p:sp>
      <p:sp>
        <p:nvSpPr>
          <p:cNvPr id="213" name="Card1"/>
          <p:cNvSpPr/>
          <p:nvPr/>
        </p:nvSpPr>
        <p:spPr>
          <a:xfrm>
            <a:off x="2387600" y="1905000"/>
            <a:ext cx="1752600" cy="1676400"/>
          </a:xfrm>
          <a:prstGeom prst="roundRect">
            <a:avLst/>
          </a:prstGeom>
          <a:solidFill>
            <a:srgbClr val="FFFFFF">
              <a:alpha val="70000"/>
            </a:srgbClr>
          </a:solidFill>
          <a:ln w="13335">
            <a:solidFill>
              <a:srgbClr val="B8DCEB">
                <a:alpha val="80000"/>
              </a:srgbClr>
            </a:solidFill>
          </a:ln>
        </p:spPr>
        <p:txBody>
          <a:bodyPr/>
          <a:lstStyle/>
          <a:p>
            <a:endParaRPr/>
          </a:p>
        </p:txBody>
      </p:sp>
      <p:sp>
        <p:nvSpPr>
          <p:cNvPr id="214" name="Strip1"/>
          <p:cNvSpPr/>
          <p:nvPr/>
        </p:nvSpPr>
        <p:spPr>
          <a:xfrm>
            <a:off x="2387600" y="1905000"/>
            <a:ext cx="1752600" cy="38100"/>
          </a:xfrm>
          <a:prstGeom prst="rect">
            <a:avLst/>
          </a:prstGeom>
          <a:solidFill>
            <a:srgbClr val="1F9D55"/>
          </a:solidFill>
          <a:ln>
            <a:noFill/>
          </a:ln>
        </p:spPr>
        <p:txBody>
          <a:bodyPr/>
          <a:lstStyle/>
          <a:p>
            <a:endParaRPr/>
          </a:p>
        </p:txBody>
      </p:sp>
      <p:sp>
        <p:nvSpPr>
          <p:cNvPr id="215" name="CardT1"/>
          <p:cNvSpPr txBox="1"/>
          <p:nvPr/>
        </p:nvSpPr>
        <p:spPr>
          <a:xfrm>
            <a:off x="24892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Assemble complete snake body</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Install Dynamixel actuators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Route communication cables</a:t>
            </a:r>
          </a:p>
        </p:txBody>
      </p:sp>
      <p:sp>
        <p:nvSpPr>
          <p:cNvPr id="217" name="Pill2"/>
          <p:cNvSpPr/>
          <p:nvPr/>
        </p:nvSpPr>
        <p:spPr>
          <a:xfrm>
            <a:off x="4241800" y="1219200"/>
            <a:ext cx="1752600" cy="584200"/>
          </a:xfrm>
          <a:prstGeom prst="roundRect">
            <a:avLst/>
          </a:prstGeom>
          <a:solidFill>
            <a:srgbClr val="1E6FD6"/>
          </a:solidFill>
          <a:ln>
            <a:noFill/>
          </a:ln>
        </p:spPr>
        <p:txBody>
          <a:bodyPr/>
          <a:lstStyle/>
          <a:p>
            <a:endParaRPr/>
          </a:p>
        </p:txBody>
      </p:sp>
      <p:sp>
        <p:nvSpPr>
          <p:cNvPr id="218" name="Num2"/>
          <p:cNvSpPr/>
          <p:nvPr/>
        </p:nvSpPr>
        <p:spPr>
          <a:xfrm>
            <a:off x="4343400" y="1346200"/>
            <a:ext cx="330200" cy="330200"/>
          </a:xfrm>
          <a:prstGeom prst="ellipse">
            <a:avLst/>
          </a:prstGeom>
          <a:solidFill>
            <a:srgbClr val="FFFFFF"/>
          </a:solidFill>
          <a:ln>
            <a:noFill/>
          </a:ln>
        </p:spPr>
        <p:txBody>
          <a:bodyPr/>
          <a:lstStyle/>
          <a:p>
            <a:endParaRPr/>
          </a:p>
        </p:txBody>
      </p:sp>
      <p:sp>
        <p:nvSpPr>
          <p:cNvPr id="219" name="NumT2"/>
          <p:cNvSpPr txBox="1"/>
          <p:nvPr/>
        </p:nvSpPr>
        <p:spPr>
          <a:xfrm>
            <a:off x="43434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3</a:t>
            </a:r>
          </a:p>
        </p:txBody>
      </p:sp>
      <p:sp>
        <p:nvSpPr>
          <p:cNvPr id="220" name="PillT2"/>
          <p:cNvSpPr txBox="1"/>
          <p:nvPr/>
        </p:nvSpPr>
        <p:spPr>
          <a:xfrm>
            <a:off x="47244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Communication Setup</a:t>
            </a:r>
          </a:p>
        </p:txBody>
      </p:sp>
      <p:sp>
        <p:nvSpPr>
          <p:cNvPr id="221" name="Card2"/>
          <p:cNvSpPr/>
          <p:nvPr/>
        </p:nvSpPr>
        <p:spPr>
          <a:xfrm>
            <a:off x="4241800" y="1905000"/>
            <a:ext cx="1752600" cy="1676400"/>
          </a:xfrm>
          <a:prstGeom prst="roundRect">
            <a:avLst/>
          </a:prstGeom>
          <a:solidFill>
            <a:srgbClr val="FFFFFF">
              <a:alpha val="70000"/>
            </a:srgbClr>
          </a:solidFill>
          <a:ln w="13335">
            <a:solidFill>
              <a:srgbClr val="B8DCEB">
                <a:alpha val="80000"/>
              </a:srgbClr>
            </a:solidFill>
          </a:ln>
        </p:spPr>
        <p:txBody>
          <a:bodyPr/>
          <a:lstStyle/>
          <a:p>
            <a:endParaRPr/>
          </a:p>
        </p:txBody>
      </p:sp>
      <p:sp>
        <p:nvSpPr>
          <p:cNvPr id="222" name="Strip2"/>
          <p:cNvSpPr/>
          <p:nvPr/>
        </p:nvSpPr>
        <p:spPr>
          <a:xfrm>
            <a:off x="4241800" y="1905000"/>
            <a:ext cx="1752600" cy="38100"/>
          </a:xfrm>
          <a:prstGeom prst="rect">
            <a:avLst/>
          </a:prstGeom>
          <a:solidFill>
            <a:srgbClr val="1E6FD6"/>
          </a:solidFill>
          <a:ln>
            <a:noFill/>
          </a:ln>
        </p:spPr>
        <p:txBody>
          <a:bodyPr/>
          <a:lstStyle/>
          <a:p>
            <a:endParaRPr/>
          </a:p>
        </p:txBody>
      </p:sp>
      <p:sp>
        <p:nvSpPr>
          <p:cNvPr id="223" name="CardT2"/>
          <p:cNvSpPr txBox="1"/>
          <p:nvPr/>
        </p:nvSpPr>
        <p:spPr>
          <a:xfrm>
            <a:off x="43434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Configure motor IDs</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Establish serial communication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Validate daisy-chain architecture</a:t>
            </a:r>
          </a:p>
        </p:txBody>
      </p:sp>
      <p:sp>
        <p:nvSpPr>
          <p:cNvPr id="225" name="Pill3"/>
          <p:cNvSpPr/>
          <p:nvPr/>
        </p:nvSpPr>
        <p:spPr>
          <a:xfrm>
            <a:off x="6096000" y="1219200"/>
            <a:ext cx="1752600" cy="584200"/>
          </a:xfrm>
          <a:prstGeom prst="roundRect">
            <a:avLst/>
          </a:prstGeom>
          <a:solidFill>
            <a:srgbClr val="1E6FD6"/>
          </a:solidFill>
          <a:ln>
            <a:noFill/>
          </a:ln>
        </p:spPr>
        <p:txBody>
          <a:bodyPr/>
          <a:lstStyle/>
          <a:p>
            <a:endParaRPr/>
          </a:p>
        </p:txBody>
      </p:sp>
      <p:sp>
        <p:nvSpPr>
          <p:cNvPr id="226" name="Num3"/>
          <p:cNvSpPr/>
          <p:nvPr/>
        </p:nvSpPr>
        <p:spPr>
          <a:xfrm>
            <a:off x="6197600" y="1346200"/>
            <a:ext cx="330200" cy="330200"/>
          </a:xfrm>
          <a:prstGeom prst="ellipse">
            <a:avLst/>
          </a:prstGeom>
          <a:solidFill>
            <a:srgbClr val="FFFFFF"/>
          </a:solidFill>
          <a:ln>
            <a:noFill/>
          </a:ln>
        </p:spPr>
        <p:txBody>
          <a:bodyPr/>
          <a:lstStyle/>
          <a:p>
            <a:endParaRPr/>
          </a:p>
        </p:txBody>
      </p:sp>
      <p:sp>
        <p:nvSpPr>
          <p:cNvPr id="227" name="NumT3"/>
          <p:cNvSpPr txBox="1"/>
          <p:nvPr/>
        </p:nvSpPr>
        <p:spPr>
          <a:xfrm>
            <a:off x="61976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4</a:t>
            </a:r>
          </a:p>
        </p:txBody>
      </p:sp>
      <p:sp>
        <p:nvSpPr>
          <p:cNvPr id="228" name="PillT3"/>
          <p:cNvSpPr txBox="1"/>
          <p:nvPr/>
        </p:nvSpPr>
        <p:spPr>
          <a:xfrm>
            <a:off x="65786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Locomotion Development</a:t>
            </a:r>
          </a:p>
        </p:txBody>
      </p:sp>
      <p:sp>
        <p:nvSpPr>
          <p:cNvPr id="229" name="Card3"/>
          <p:cNvSpPr/>
          <p:nvPr/>
        </p:nvSpPr>
        <p:spPr>
          <a:xfrm>
            <a:off x="6096000" y="1905000"/>
            <a:ext cx="1752600" cy="1676400"/>
          </a:xfrm>
          <a:prstGeom prst="roundRect">
            <a:avLst/>
          </a:prstGeom>
          <a:solidFill>
            <a:srgbClr val="FFFFFF">
              <a:alpha val="70000"/>
            </a:srgbClr>
          </a:solidFill>
          <a:ln w="13335">
            <a:solidFill>
              <a:srgbClr val="B8DCEB">
                <a:alpha val="80000"/>
              </a:srgbClr>
            </a:solidFill>
          </a:ln>
        </p:spPr>
        <p:txBody>
          <a:bodyPr/>
          <a:lstStyle/>
          <a:p>
            <a:endParaRPr/>
          </a:p>
        </p:txBody>
      </p:sp>
      <p:sp>
        <p:nvSpPr>
          <p:cNvPr id="230" name="Strip3"/>
          <p:cNvSpPr/>
          <p:nvPr/>
        </p:nvSpPr>
        <p:spPr>
          <a:xfrm>
            <a:off x="6096000" y="1905000"/>
            <a:ext cx="1752600" cy="38100"/>
          </a:xfrm>
          <a:prstGeom prst="rect">
            <a:avLst/>
          </a:prstGeom>
          <a:solidFill>
            <a:srgbClr val="1E6FD6"/>
          </a:solidFill>
          <a:ln>
            <a:noFill/>
          </a:ln>
        </p:spPr>
        <p:txBody>
          <a:bodyPr/>
          <a:lstStyle/>
          <a:p>
            <a:endParaRPr/>
          </a:p>
        </p:txBody>
      </p:sp>
      <p:sp>
        <p:nvSpPr>
          <p:cNvPr id="231" name="CardT3"/>
          <p:cNvSpPr txBox="1"/>
          <p:nvPr/>
        </p:nvSpPr>
        <p:spPr>
          <a:xfrm>
            <a:off x="61976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Port simulation code to Pi 5</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Implement serpentine locomotion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Synchronize multi-joint movement</a:t>
            </a:r>
          </a:p>
        </p:txBody>
      </p:sp>
      <p:sp>
        <p:nvSpPr>
          <p:cNvPr id="233" name="Pill4"/>
          <p:cNvSpPr/>
          <p:nvPr/>
        </p:nvSpPr>
        <p:spPr>
          <a:xfrm>
            <a:off x="7950200" y="1219200"/>
            <a:ext cx="1752600" cy="584200"/>
          </a:xfrm>
          <a:prstGeom prst="roundRect">
            <a:avLst/>
          </a:prstGeom>
          <a:solidFill>
            <a:srgbClr val="E8821E"/>
          </a:solidFill>
          <a:ln>
            <a:noFill/>
          </a:ln>
        </p:spPr>
        <p:txBody>
          <a:bodyPr/>
          <a:lstStyle/>
          <a:p>
            <a:endParaRPr/>
          </a:p>
        </p:txBody>
      </p:sp>
      <p:sp>
        <p:nvSpPr>
          <p:cNvPr id="234" name="Num4"/>
          <p:cNvSpPr/>
          <p:nvPr/>
        </p:nvSpPr>
        <p:spPr>
          <a:xfrm>
            <a:off x="8051800" y="1346200"/>
            <a:ext cx="330200" cy="330200"/>
          </a:xfrm>
          <a:prstGeom prst="ellipse">
            <a:avLst/>
          </a:prstGeom>
          <a:solidFill>
            <a:srgbClr val="FFFFFF"/>
          </a:solidFill>
          <a:ln>
            <a:noFill/>
          </a:ln>
        </p:spPr>
        <p:txBody>
          <a:bodyPr/>
          <a:lstStyle/>
          <a:p>
            <a:endParaRPr/>
          </a:p>
        </p:txBody>
      </p:sp>
      <p:sp>
        <p:nvSpPr>
          <p:cNvPr id="235" name="NumT4"/>
          <p:cNvSpPr txBox="1"/>
          <p:nvPr/>
        </p:nvSpPr>
        <p:spPr>
          <a:xfrm>
            <a:off x="80518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5</a:t>
            </a:r>
          </a:p>
        </p:txBody>
      </p:sp>
      <p:sp>
        <p:nvSpPr>
          <p:cNvPr id="236" name="PillT4"/>
          <p:cNvSpPr txBox="1"/>
          <p:nvPr/>
        </p:nvSpPr>
        <p:spPr>
          <a:xfrm>
            <a:off x="84328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Sensor Integration</a:t>
            </a:r>
          </a:p>
        </p:txBody>
      </p:sp>
      <p:sp>
        <p:nvSpPr>
          <p:cNvPr id="237" name="Card4"/>
          <p:cNvSpPr/>
          <p:nvPr/>
        </p:nvSpPr>
        <p:spPr>
          <a:xfrm>
            <a:off x="7950200" y="1905000"/>
            <a:ext cx="1752600" cy="1676400"/>
          </a:xfrm>
          <a:prstGeom prst="roundRect">
            <a:avLst/>
          </a:prstGeom>
          <a:solidFill>
            <a:srgbClr val="FFFFFF">
              <a:alpha val="70000"/>
            </a:srgbClr>
          </a:solidFill>
          <a:ln w="13335">
            <a:solidFill>
              <a:srgbClr val="B8DCEB">
                <a:alpha val="80000"/>
              </a:srgbClr>
            </a:solidFill>
          </a:ln>
        </p:spPr>
        <p:txBody>
          <a:bodyPr/>
          <a:lstStyle/>
          <a:p>
            <a:endParaRPr/>
          </a:p>
        </p:txBody>
      </p:sp>
      <p:sp>
        <p:nvSpPr>
          <p:cNvPr id="238" name="Strip4"/>
          <p:cNvSpPr/>
          <p:nvPr/>
        </p:nvSpPr>
        <p:spPr>
          <a:xfrm>
            <a:off x="7950200" y="1905000"/>
            <a:ext cx="1752600" cy="38100"/>
          </a:xfrm>
          <a:prstGeom prst="rect">
            <a:avLst/>
          </a:prstGeom>
          <a:solidFill>
            <a:srgbClr val="E8821E"/>
          </a:solidFill>
          <a:ln>
            <a:noFill/>
          </a:ln>
        </p:spPr>
        <p:txBody>
          <a:bodyPr/>
          <a:lstStyle/>
          <a:p>
            <a:endParaRPr/>
          </a:p>
        </p:txBody>
      </p:sp>
      <p:sp>
        <p:nvSpPr>
          <p:cNvPr id="239" name="CardT4"/>
          <p:cNvSpPr txBox="1"/>
          <p:nvPr/>
        </p:nvSpPr>
        <p:spPr>
          <a:xfrm>
            <a:off x="80518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MPU6050 IMU</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obstacle detection</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Implement feedback control</a:t>
            </a:r>
          </a:p>
        </p:txBody>
      </p:sp>
      <p:sp>
        <p:nvSpPr>
          <p:cNvPr id="240" name="Pill5"/>
          <p:cNvSpPr/>
          <p:nvPr/>
        </p:nvSpPr>
        <p:spPr>
          <a:xfrm>
            <a:off x="9804400" y="1219200"/>
            <a:ext cx="1752600" cy="584200"/>
          </a:xfrm>
          <a:prstGeom prst="roundRect">
            <a:avLst/>
          </a:prstGeom>
          <a:solidFill>
            <a:srgbClr val="E8821E"/>
          </a:solidFill>
          <a:ln>
            <a:noFill/>
          </a:ln>
        </p:spPr>
        <p:txBody>
          <a:bodyPr/>
          <a:lstStyle/>
          <a:p>
            <a:endParaRPr/>
          </a:p>
        </p:txBody>
      </p:sp>
      <p:sp>
        <p:nvSpPr>
          <p:cNvPr id="241" name="Num5"/>
          <p:cNvSpPr/>
          <p:nvPr/>
        </p:nvSpPr>
        <p:spPr>
          <a:xfrm>
            <a:off x="9906000" y="1346200"/>
            <a:ext cx="330200" cy="330200"/>
          </a:xfrm>
          <a:prstGeom prst="ellipse">
            <a:avLst/>
          </a:prstGeom>
          <a:solidFill>
            <a:srgbClr val="FFFFFF"/>
          </a:solidFill>
          <a:ln>
            <a:noFill/>
          </a:ln>
        </p:spPr>
        <p:txBody>
          <a:bodyPr/>
          <a:lstStyle/>
          <a:p>
            <a:endParaRPr/>
          </a:p>
        </p:txBody>
      </p:sp>
      <p:sp>
        <p:nvSpPr>
          <p:cNvPr id="242" name="NumT5"/>
          <p:cNvSpPr txBox="1"/>
          <p:nvPr/>
        </p:nvSpPr>
        <p:spPr>
          <a:xfrm>
            <a:off x="9906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6</a:t>
            </a:r>
          </a:p>
        </p:txBody>
      </p:sp>
      <p:sp>
        <p:nvSpPr>
          <p:cNvPr id="243" name="PillT5"/>
          <p:cNvSpPr txBox="1"/>
          <p:nvPr/>
        </p:nvSpPr>
        <p:spPr>
          <a:xfrm>
            <a:off x="10287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Testing &amp; Optimization</a:t>
            </a:r>
          </a:p>
        </p:txBody>
      </p:sp>
      <p:sp>
        <p:nvSpPr>
          <p:cNvPr id="244" name="Card5"/>
          <p:cNvSpPr/>
          <p:nvPr/>
        </p:nvSpPr>
        <p:spPr>
          <a:xfrm>
            <a:off x="9804400" y="1905000"/>
            <a:ext cx="1752600" cy="1676400"/>
          </a:xfrm>
          <a:prstGeom prst="roundRect">
            <a:avLst/>
          </a:prstGeom>
          <a:solidFill>
            <a:srgbClr val="FFFFFF">
              <a:alpha val="70000"/>
            </a:srgbClr>
          </a:solidFill>
          <a:ln w="13335">
            <a:solidFill>
              <a:srgbClr val="B8DCEB">
                <a:alpha val="80000"/>
              </a:srgbClr>
            </a:solidFill>
          </a:ln>
        </p:spPr>
        <p:txBody>
          <a:bodyPr/>
          <a:lstStyle/>
          <a:p>
            <a:endParaRPr/>
          </a:p>
        </p:txBody>
      </p:sp>
      <p:sp>
        <p:nvSpPr>
          <p:cNvPr id="245" name="Strip5"/>
          <p:cNvSpPr/>
          <p:nvPr/>
        </p:nvSpPr>
        <p:spPr>
          <a:xfrm>
            <a:off x="9804400" y="1905000"/>
            <a:ext cx="1752600" cy="38100"/>
          </a:xfrm>
          <a:prstGeom prst="rect">
            <a:avLst/>
          </a:prstGeom>
          <a:solidFill>
            <a:srgbClr val="E8821E"/>
          </a:solidFill>
          <a:ln>
            <a:noFill/>
          </a:ln>
        </p:spPr>
        <p:txBody>
          <a:bodyPr/>
          <a:lstStyle/>
          <a:p>
            <a:endParaRPr/>
          </a:p>
        </p:txBody>
      </p:sp>
      <p:sp>
        <p:nvSpPr>
          <p:cNvPr id="246" name="CardT5"/>
          <p:cNvSpPr txBox="1"/>
          <p:nvPr/>
        </p:nvSpPr>
        <p:spPr>
          <a:xfrm>
            <a:off x="9906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Motion performance testing</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Power &amp; reliability analysis</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System optimization</a:t>
            </a:r>
          </a:p>
        </p:txBody>
      </p:sp>
      <p:pic>
        <p:nvPicPr>
          <p:cNvPr id="247" name="Graphic 247" descr="Hardware arrival"/>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0400" y="1993900"/>
            <a:ext cx="279400" cy="279400"/>
          </a:xfrm>
          <a:prstGeom prst="rect">
            <a:avLst/>
          </a:prstGeom>
        </p:spPr>
      </p:pic>
      <p:pic>
        <p:nvPicPr>
          <p:cNvPr id="248" name="Graphic 248" descr="Mechanical assembl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4600" y="1993900"/>
            <a:ext cx="279400" cy="279400"/>
          </a:xfrm>
          <a:prstGeom prst="rect">
            <a:avLst/>
          </a:prstGeom>
        </p:spPr>
      </p:pic>
      <p:pic>
        <p:nvPicPr>
          <p:cNvPr id="249" name="Graphic 249" descr="Communication setu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1993900"/>
            <a:ext cx="279400" cy="279400"/>
          </a:xfrm>
          <a:prstGeom prst="rect">
            <a:avLst/>
          </a:prstGeom>
        </p:spPr>
      </p:pic>
      <p:pic>
        <p:nvPicPr>
          <p:cNvPr id="250" name="Graphic 250" descr="Locomotion developmen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93000" y="1993900"/>
            <a:ext cx="279400" cy="279400"/>
          </a:xfrm>
          <a:prstGeom prst="rect">
            <a:avLst/>
          </a:prstGeom>
        </p:spPr>
      </p:pic>
      <p:pic>
        <p:nvPicPr>
          <p:cNvPr id="251" name="Graphic 251" descr="Sensor integr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47200" y="1993900"/>
            <a:ext cx="279400" cy="279400"/>
          </a:xfrm>
          <a:prstGeom prst="rect">
            <a:avLst/>
          </a:prstGeom>
        </p:spPr>
      </p:pic>
      <p:pic>
        <p:nvPicPr>
          <p:cNvPr id="252" name="Graphic 252" descr="Testing and optimiz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01400" y="1993900"/>
            <a:ext cx="279400" cy="279400"/>
          </a:xfrm>
          <a:prstGeom prst="rect">
            <a:avLst/>
          </a:prstGeom>
        </p:spPr>
      </p:pic>
      <p:sp>
        <p:nvSpPr>
          <p:cNvPr id="400" name="Lg"/>
          <p:cNvSpPr/>
          <p:nvPr/>
        </p:nvSpPr>
        <p:spPr>
          <a:xfrm>
            <a:off x="533400" y="3759200"/>
            <a:ext cx="139700" cy="139700"/>
          </a:xfrm>
          <a:prstGeom prst="ellipse">
            <a:avLst/>
          </a:prstGeom>
          <a:solidFill>
            <a:srgbClr val="1F9D55"/>
          </a:solidFill>
          <a:ln>
            <a:noFill/>
          </a:ln>
        </p:spPr>
        <p:txBody>
          <a:bodyPr/>
          <a:lstStyle/>
          <a:p>
            <a:endParaRPr/>
          </a:p>
        </p:txBody>
      </p:sp>
      <p:sp>
        <p:nvSpPr>
          <p:cNvPr id="401" name="LgT"/>
          <p:cNvSpPr txBox="1"/>
          <p:nvPr/>
        </p:nvSpPr>
        <p:spPr>
          <a:xfrm>
            <a:off x="72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Completed phase</a:t>
            </a:r>
          </a:p>
        </p:txBody>
      </p:sp>
      <p:sp>
        <p:nvSpPr>
          <p:cNvPr id="402" name="Lg"/>
          <p:cNvSpPr/>
          <p:nvPr/>
        </p:nvSpPr>
        <p:spPr>
          <a:xfrm>
            <a:off x="2438400" y="3759200"/>
            <a:ext cx="139700" cy="139700"/>
          </a:xfrm>
          <a:prstGeom prst="ellipse">
            <a:avLst/>
          </a:prstGeom>
          <a:solidFill>
            <a:srgbClr val="1E6FD6"/>
          </a:solidFill>
          <a:ln>
            <a:noFill/>
          </a:ln>
        </p:spPr>
        <p:txBody>
          <a:bodyPr/>
          <a:lstStyle/>
          <a:p>
            <a:endParaRPr/>
          </a:p>
        </p:txBody>
      </p:sp>
      <p:sp>
        <p:nvSpPr>
          <p:cNvPr id="403" name="LgT"/>
          <p:cNvSpPr txBox="1"/>
          <p:nvPr/>
        </p:nvSpPr>
        <p:spPr>
          <a:xfrm>
            <a:off x="2628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Ongoing work</a:t>
            </a:r>
          </a:p>
        </p:txBody>
      </p:sp>
      <p:sp>
        <p:nvSpPr>
          <p:cNvPr id="404" name="Lg"/>
          <p:cNvSpPr/>
          <p:nvPr/>
        </p:nvSpPr>
        <p:spPr>
          <a:xfrm>
            <a:off x="4343400" y="3759200"/>
            <a:ext cx="139700" cy="139700"/>
          </a:xfrm>
          <a:prstGeom prst="ellipse">
            <a:avLst/>
          </a:prstGeom>
          <a:solidFill>
            <a:srgbClr val="E8821E"/>
          </a:solidFill>
          <a:ln>
            <a:noFill/>
          </a:ln>
        </p:spPr>
        <p:txBody>
          <a:bodyPr/>
          <a:lstStyle/>
          <a:p>
            <a:endParaRPr/>
          </a:p>
        </p:txBody>
      </p:sp>
      <p:sp>
        <p:nvSpPr>
          <p:cNvPr id="405" name="LgT"/>
          <p:cNvSpPr txBox="1"/>
          <p:nvPr/>
        </p:nvSpPr>
        <p:spPr>
          <a:xfrm>
            <a:off x="453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Future milestone</a:t>
            </a:r>
          </a:p>
        </p:txBody>
      </p:sp>
      <p:sp>
        <p:nvSpPr>
          <p:cNvPr id="406" name="DelCard"/>
          <p:cNvSpPr/>
          <p:nvPr/>
        </p:nvSpPr>
        <p:spPr>
          <a:xfrm>
            <a:off x="533400" y="4064000"/>
            <a:ext cx="5461000" cy="2489200"/>
          </a:xfrm>
          <a:prstGeom prst="roundRect">
            <a:avLst/>
          </a:prstGeom>
          <a:solidFill>
            <a:srgbClr val="FFFFFF">
              <a:alpha val="70000"/>
            </a:srgbClr>
          </a:solidFill>
          <a:ln w="13335">
            <a:solidFill>
              <a:srgbClr val="B8DCEB">
                <a:alpha val="80000"/>
              </a:srgbClr>
            </a:solidFill>
          </a:ln>
        </p:spPr>
        <p:txBody>
          <a:bodyPr/>
          <a:lstStyle/>
          <a:p>
            <a:endParaRPr/>
          </a:p>
        </p:txBody>
      </p:sp>
      <p:sp>
        <p:nvSpPr>
          <p:cNvPr id="407" name="DelStrip"/>
          <p:cNvSpPr/>
          <p:nvPr/>
        </p:nvSpPr>
        <p:spPr>
          <a:xfrm>
            <a:off x="533400" y="4064000"/>
            <a:ext cx="63500" cy="2489200"/>
          </a:xfrm>
          <a:prstGeom prst="rect">
            <a:avLst/>
          </a:prstGeom>
          <a:solidFill>
            <a:srgbClr val="0E96AC"/>
          </a:solidFill>
          <a:ln>
            <a:noFill/>
          </a:ln>
        </p:spPr>
        <p:txBody>
          <a:bodyPr/>
          <a:lstStyle/>
          <a:p>
            <a:endParaRPr/>
          </a:p>
        </p:txBody>
      </p:sp>
      <p:sp>
        <p:nvSpPr>
          <p:cNvPr id="408" name="DelHead"/>
          <p:cNvSpPr txBox="1"/>
          <p:nvPr/>
        </p:nvSpPr>
        <p:spPr>
          <a:xfrm>
            <a:off x="736600" y="4191000"/>
            <a:ext cx="5130800" cy="279400"/>
          </a:xfrm>
          <a:prstGeom prst="rect">
            <a:avLst/>
          </a:prstGeom>
          <a:noFill/>
        </p:spPr>
        <p:txBody>
          <a:bodyPr wrap="square" lIns="50800" tIns="25400" rIns="50800" bIns="25400" anchor="t">
            <a:noAutofit/>
          </a:bodyPr>
          <a:lstStyle/>
          <a:p>
            <a:pPr>
              <a:buNone/>
            </a:pPr>
            <a:r>
              <a:rPr lang="en-IN" sz="1200" b="1" dirty="0">
                <a:solidFill>
                  <a:srgbClr val="16223A"/>
                </a:solidFill>
                <a:latin typeface="Calibri"/>
              </a:rPr>
              <a:t>EXPECTED DELIVERABLES</a:t>
            </a:r>
          </a:p>
        </p:txBody>
      </p:sp>
      <p:sp>
        <p:nvSpPr>
          <p:cNvPr id="409" name="DelList"/>
          <p:cNvSpPr txBox="1"/>
          <p:nvPr/>
        </p:nvSpPr>
        <p:spPr>
          <a:xfrm>
            <a:off x="736600" y="4546600"/>
            <a:ext cx="5080000" cy="1905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Wingdings"/>
              <a:buChar char="Ø"/>
            </a:pPr>
            <a:r>
              <a:rPr lang="en-IN" sz="1000" dirty="0">
                <a:solidFill>
                  <a:srgbClr val="16223A"/>
                </a:solidFill>
                <a:latin typeface="Calibri"/>
              </a:rPr>
              <a:t>Fully assembled snake robot</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Dynamixel-based locomotion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Sensor-assisted navigation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Integrated Raspberry Pi 5 control system</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Demonstration-ready prototype</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Final SURGE project showcase</a:t>
            </a:r>
          </a:p>
        </p:txBody>
      </p:sp>
      <p:sp>
        <p:nvSpPr>
          <p:cNvPr id="410" name="TgtCard"/>
          <p:cNvSpPr/>
          <p:nvPr/>
        </p:nvSpPr>
        <p:spPr>
          <a:xfrm>
            <a:off x="6197600" y="4064000"/>
            <a:ext cx="5461000" cy="2489200"/>
          </a:xfrm>
          <a:prstGeom prst="roundRect">
            <a:avLst/>
          </a:prstGeom>
          <a:solidFill>
            <a:srgbClr val="FFFFFF">
              <a:alpha val="70000"/>
            </a:srgbClr>
          </a:solidFill>
          <a:ln w="13335">
            <a:solidFill>
              <a:srgbClr val="B8DCEB">
                <a:alpha val="80000"/>
              </a:srgbClr>
            </a:solidFill>
          </a:ln>
        </p:spPr>
        <p:txBody>
          <a:bodyPr/>
          <a:lstStyle/>
          <a:p>
            <a:endParaRPr/>
          </a:p>
        </p:txBody>
      </p:sp>
      <p:sp>
        <p:nvSpPr>
          <p:cNvPr id="411" name="TgtHead"/>
          <p:cNvSpPr txBox="1"/>
          <p:nvPr/>
        </p:nvSpPr>
        <p:spPr>
          <a:xfrm>
            <a:off x="6400800" y="4191000"/>
            <a:ext cx="5130800" cy="279400"/>
          </a:xfrm>
          <a:prstGeom prst="rect">
            <a:avLst/>
          </a:prstGeom>
          <a:noFill/>
        </p:spPr>
        <p:txBody>
          <a:bodyPr wrap="square" lIns="50800" tIns="25400" rIns="50800" bIns="25400" anchor="t">
            <a:noAutofit/>
          </a:bodyPr>
          <a:lstStyle/>
          <a:p>
            <a:pPr>
              <a:buNone/>
            </a:pPr>
            <a:r>
              <a:rPr lang="en-IN" sz="1200" b="1" dirty="0">
                <a:solidFill>
                  <a:srgbClr val="0A7A8E"/>
                </a:solidFill>
                <a:latin typeface="Calibri"/>
              </a:rPr>
              <a:t>TARGET FOR NEXT REVIEW</a:t>
            </a:r>
          </a:p>
        </p:txBody>
      </p:sp>
      <p:sp>
        <p:nvSpPr>
          <p:cNvPr id="412" name="TgtList"/>
          <p:cNvSpPr txBox="1"/>
          <p:nvPr/>
        </p:nvSpPr>
        <p:spPr>
          <a:xfrm>
            <a:off x="6400800" y="4546600"/>
            <a:ext cx="5080000" cy="1397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Arial"/>
              <a:buChar char="•"/>
            </a:pPr>
            <a:r>
              <a:rPr lang="en-IN" sz="1000" dirty="0">
                <a:solidFill>
                  <a:srgbClr val="16223A"/>
                </a:solidFill>
                <a:latin typeface="Calibri"/>
              </a:rPr>
              <a:t>Complete hardware integration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Demonstrate basic snake locomotion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communication architecture</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sensing framework</a:t>
            </a:r>
          </a:p>
        </p:txBody>
      </p:sp>
      <p:sp>
        <p:nvSpPr>
          <p:cNvPr id="413" name="TgtBadge"/>
          <p:cNvSpPr/>
          <p:nvPr/>
        </p:nvSpPr>
        <p:spPr>
          <a:xfrm>
            <a:off x="6400800" y="5994400"/>
            <a:ext cx="5054600" cy="406400"/>
          </a:xfrm>
          <a:prstGeom prst="roundRect">
            <a:avLst/>
          </a:prstGeom>
          <a:solidFill>
            <a:srgbClr val="0A7A8E"/>
          </a:solidFill>
          <a:ln>
            <a:noFill/>
          </a:ln>
        </p:spPr>
        <p:txBody>
          <a:bodyPr/>
          <a:lstStyle/>
          <a:p>
            <a:endParaRPr/>
          </a:p>
        </p:txBody>
      </p:sp>
      <p:sp>
        <p:nvSpPr>
          <p:cNvPr id="414" name="TgtBadgeT"/>
          <p:cNvSpPr txBox="1"/>
          <p:nvPr/>
        </p:nvSpPr>
        <p:spPr>
          <a:xfrm>
            <a:off x="6400800" y="5994400"/>
            <a:ext cx="5054600" cy="406400"/>
          </a:xfrm>
          <a:prstGeom prst="rect">
            <a:avLst/>
          </a:prstGeom>
          <a:noFill/>
        </p:spPr>
        <p:txBody>
          <a:bodyPr wrap="square" lIns="50800" tIns="25400" rIns="50800" bIns="25400" anchor="ctr">
            <a:noAutofit/>
          </a:bodyPr>
          <a:lstStyle/>
          <a:p>
            <a:pPr algn="ctr">
              <a:buNone/>
            </a:pPr>
            <a:r>
              <a:rPr lang="en-IN" sz="1100" b="1" dirty="0">
                <a:solidFill>
                  <a:srgbClr val="FFFFFF"/>
                </a:solidFill>
                <a:latin typeface="Calibri"/>
              </a:rPr>
              <a:t>Goal: ~60–70% project completion</a:t>
            </a:r>
          </a:p>
        </p:txBody>
      </p:sp>
      <p:sp>
        <p:nvSpPr>
          <p:cNvPr id="600" name="Chev0"/>
          <p:cNvSpPr/>
          <p:nvPr/>
        </p:nvSpPr>
        <p:spPr>
          <a:xfrm>
            <a:off x="2222500" y="1397000"/>
            <a:ext cx="228600" cy="228600"/>
          </a:xfrm>
          <a:prstGeom prst="chevron">
            <a:avLst/>
          </a:prstGeom>
          <a:solidFill>
            <a:srgbClr val="16223A"/>
          </a:solidFill>
          <a:ln>
            <a:noFill/>
          </a:ln>
        </p:spPr>
        <p:txBody>
          <a:bodyPr/>
          <a:lstStyle/>
          <a:p>
            <a:endParaRPr/>
          </a:p>
        </p:txBody>
      </p:sp>
      <p:sp>
        <p:nvSpPr>
          <p:cNvPr id="601" name="Chev1"/>
          <p:cNvSpPr/>
          <p:nvPr/>
        </p:nvSpPr>
        <p:spPr>
          <a:xfrm>
            <a:off x="4076700" y="1397000"/>
            <a:ext cx="228600" cy="228600"/>
          </a:xfrm>
          <a:prstGeom prst="chevron">
            <a:avLst/>
          </a:prstGeom>
          <a:solidFill>
            <a:srgbClr val="16223A"/>
          </a:solidFill>
          <a:ln>
            <a:noFill/>
          </a:ln>
        </p:spPr>
        <p:txBody>
          <a:bodyPr/>
          <a:lstStyle/>
          <a:p>
            <a:endParaRPr/>
          </a:p>
        </p:txBody>
      </p:sp>
      <p:sp>
        <p:nvSpPr>
          <p:cNvPr id="602" name="Chev2"/>
          <p:cNvSpPr/>
          <p:nvPr/>
        </p:nvSpPr>
        <p:spPr>
          <a:xfrm>
            <a:off x="5930900" y="1397000"/>
            <a:ext cx="228600" cy="228600"/>
          </a:xfrm>
          <a:prstGeom prst="chevron">
            <a:avLst/>
          </a:prstGeom>
          <a:solidFill>
            <a:srgbClr val="16223A"/>
          </a:solidFill>
          <a:ln>
            <a:noFill/>
          </a:ln>
        </p:spPr>
        <p:txBody>
          <a:bodyPr/>
          <a:lstStyle/>
          <a:p>
            <a:endParaRPr/>
          </a:p>
        </p:txBody>
      </p:sp>
      <p:sp>
        <p:nvSpPr>
          <p:cNvPr id="603" name="Chev3"/>
          <p:cNvSpPr/>
          <p:nvPr/>
        </p:nvSpPr>
        <p:spPr>
          <a:xfrm>
            <a:off x="7785100" y="1397000"/>
            <a:ext cx="228600" cy="228600"/>
          </a:xfrm>
          <a:prstGeom prst="chevron">
            <a:avLst/>
          </a:prstGeom>
          <a:solidFill>
            <a:srgbClr val="16223A"/>
          </a:solidFill>
          <a:ln>
            <a:noFill/>
          </a:ln>
        </p:spPr>
        <p:txBody>
          <a:bodyPr/>
          <a:lstStyle/>
          <a:p>
            <a:endParaRPr/>
          </a:p>
        </p:txBody>
      </p:sp>
      <p:sp>
        <p:nvSpPr>
          <p:cNvPr id="604" name="Chev4"/>
          <p:cNvSpPr/>
          <p:nvPr/>
        </p:nvSpPr>
        <p:spPr>
          <a:xfrm>
            <a:off x="9639300" y="1397000"/>
            <a:ext cx="228600" cy="228600"/>
          </a:xfrm>
          <a:prstGeom prst="chevron">
            <a:avLst/>
          </a:prstGeom>
          <a:solidFill>
            <a:srgbClr val="16223A"/>
          </a:solidFill>
          <a:ln>
            <a:noFill/>
          </a:ln>
        </p:spPr>
        <p:txBody>
          <a:bodyPr/>
          <a:lstStyle/>
          <a:p>
            <a:endParaRPr/>
          </a:p>
        </p:txBody>
      </p:sp>
    </p:spTree>
    <p:extLst>
      <p:ext uri="{BB962C8B-B14F-4D97-AF65-F5344CB8AC3E}">
        <p14:creationId xmlns:p14="http://schemas.microsoft.com/office/powerpoint/2010/main" val="3269739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WHAT CHANGED SINCE THIS REVIEW</a:t>
            </a:r>
            <a:endParaRPr lang="en-US" sz="1200" dirty="0"/>
          </a:p>
        </p:txBody>
      </p:sp>
      <p:sp>
        <p:nvSpPr>
          <p:cNvPr id="7" name="Text 5"/>
          <p:cNvSpPr/>
          <p:nvPr/>
        </p:nvSpPr>
        <p:spPr>
          <a:xfrm>
            <a:off x="777240" y="1170432"/>
            <a:ext cx="10881360" cy="9144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Generation 2 — Corrections &amp; Cause</a:t>
            </a:r>
            <a:endParaRPr lang="en-US" sz="5200" dirty="0"/>
          </a:p>
        </p:txBody>
      </p:sp>
      <p:sp>
        <p:nvSpPr>
          <p:cNvPr id="8" name="Text 6"/>
          <p:cNvSpPr/>
          <p:nvPr/>
        </p:nvSpPr>
        <p:spPr>
          <a:xfrm>
            <a:off x="804672" y="1938528"/>
            <a:ext cx="10881360" cy="457200"/>
          </a:xfrm>
          <a:prstGeom prst="rect">
            <a:avLst/>
          </a:prstGeom>
          <a:noFill/>
          <a:ln/>
        </p:spPr>
        <p:txBody>
          <a:bodyPr wrap="square" lIns="0" tIns="0" rIns="0" bIns="0" rtlCol="0" anchor="ctr"/>
          <a:lstStyle/>
          <a:p>
            <a:pPr marL="0" indent="0">
              <a:buNone/>
            </a:pPr>
            <a:r>
              <a:rPr lang="en-US" sz="1300" dirty="0">
                <a:solidFill>
                  <a:srgbClr val="2BD4E8"/>
                </a:solidFill>
                <a:latin typeface="Calibri" pitchFamily="34" charset="0"/>
                <a:ea typeface="Calibri" pitchFamily="34" charset="-122"/>
                <a:cs typeface="Calibri" pitchFamily="34" charset="-120"/>
              </a:rPr>
              <a:t>This slide records what has since been superseded.</a:t>
            </a:r>
            <a:endParaRPr lang="en-US" sz="2400" dirty="0"/>
          </a:p>
        </p:txBody>
      </p:sp>
      <p:sp>
        <p:nvSpPr>
          <p:cNvPr id="18" name="Shape 15"/>
          <p:cNvSpPr/>
          <p:nvPr/>
        </p:nvSpPr>
        <p:spPr>
          <a:xfrm>
            <a:off x="777240" y="4983480"/>
            <a:ext cx="2670048" cy="1234440"/>
          </a:xfrm>
          <a:prstGeom prst="roundRect">
            <a:avLst>
              <a:gd name="adj" fmla="val 5926"/>
            </a:avLst>
          </a:prstGeom>
          <a:solidFill>
            <a:srgbClr val="FFFFFF">
              <a:alpha val="12000"/>
            </a:srgbClr>
          </a:solidFill>
          <a:ln w="13970">
            <a:solidFill>
              <a:srgbClr val="A8D8EA">
                <a:alpha val="42000"/>
              </a:srgbClr>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Constraint</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WHAT HAPPENED</a:t>
            </a:r>
            <a:endParaRPr lang="en-US" sz="900" dirty="0"/>
          </a:p>
        </p:txBody>
      </p:sp>
      <p:sp>
        <p:nvSpPr>
          <p:cNvPr id="22" name="Text 19"/>
          <p:cNvSpPr/>
          <p:nvPr/>
        </p:nvSpPr>
        <p:spPr>
          <a:xfrm>
            <a:off x="978408"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2 of 10 XL330 received, then the part vanished</a:t>
            </a:r>
            <a:endParaRPr lang="en-US" sz="1300" dirty="0"/>
          </a:p>
        </p:txBody>
      </p:sp>
      <p:sp>
        <p:nvSpPr>
          <p:cNvPr id="23" name="Shape 20"/>
          <p:cNvSpPr/>
          <p:nvPr/>
        </p:nvSpPr>
        <p:spPr>
          <a:xfrm>
            <a:off x="3648456" y="4983480"/>
            <a:ext cx="2670048" cy="1234440"/>
          </a:xfrm>
          <a:prstGeom prst="roundRect">
            <a:avLst>
              <a:gd name="adj" fmla="val 5926"/>
            </a:avLst>
          </a:prstGeom>
          <a:solidFill>
            <a:srgbClr val="FFFFFF">
              <a:alpha val="12000"/>
            </a:srgbClr>
          </a:solidFill>
          <a:ln w="13970">
            <a:solidFill>
              <a:srgbClr val="A8D8EA">
                <a:alpha val="42000"/>
              </a:srgbClr>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Six-week stall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IMPACT</a:t>
            </a:r>
            <a:endParaRPr lang="en-US" sz="900" dirty="0"/>
          </a:p>
        </p:txBody>
      </p:sp>
      <p:sp>
        <p:nvSpPr>
          <p:cNvPr id="27" name="Text 24"/>
          <p:cNvSpPr/>
          <p:nvPr/>
        </p:nvSpPr>
        <p:spPr>
          <a:xfrm>
            <a:off x="3849624"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Control stack written against absent hardware</a:t>
            </a:r>
            <a:endParaRPr lang="en-US" sz="1300" dirty="0"/>
          </a:p>
        </p:txBody>
      </p:sp>
      <p:sp>
        <p:nvSpPr>
          <p:cNvPr id="28" name="Shape 25"/>
          <p:cNvSpPr/>
          <p:nvPr/>
        </p:nvSpPr>
        <p:spPr>
          <a:xfrm>
            <a:off x="6519672" y="4983480"/>
            <a:ext cx="2670048" cy="1234440"/>
          </a:xfrm>
          <a:prstGeom prst="roundRect">
            <a:avLst>
              <a:gd name="adj" fmla="val 5926"/>
            </a:avLst>
          </a:prstGeom>
          <a:solidFill>
            <a:srgbClr val="FFFFFF">
              <a:alpha val="12000"/>
            </a:srgbClr>
          </a:solidFill>
          <a:ln w="13970">
            <a:solidFill>
              <a:srgbClr val="A8D8EA">
                <a:alpha val="42000"/>
              </a:srgbClr>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Re-architecture</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COMMIT a32b675 · 2026-08-20</a:t>
            </a:r>
            <a:endParaRPr lang="en-US" sz="900" dirty="0"/>
          </a:p>
        </p:txBody>
      </p:sp>
      <p:sp>
        <p:nvSpPr>
          <p:cNvPr id="32" name="Text 29"/>
          <p:cNvSpPr/>
          <p:nvPr/>
        </p:nvSpPr>
        <p:spPr>
          <a:xfrm>
            <a:off x="6720840"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“No dynamixel in the market. So switched to Servos”</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3"/>
          <a:stretch>
            <a:fillRect/>
          </a:stretch>
        </p:blipFill>
        <p:spPr>
          <a:xfrm>
            <a:off x="10652760" y="159317"/>
            <a:ext cx="762000" cy="762000"/>
          </a:xfrm>
          <a:prstGeom prst="rect">
            <a:avLst/>
          </a:prstGeom>
        </p:spPr>
      </p:pic>
      <p:graphicFrame>
        <p:nvGraphicFramePr>
          <p:cNvPr id="33" name="CorrectionsRegister"/>
          <p:cNvGraphicFramePr>
            <a:graphicFrameLocks noGrp="1"/>
          </p:cNvGraphicFramePr>
          <p:nvPr>
            <p:extLst>
              <p:ext uri="{D42A27DB-BD31-4B8C-83A1-F6EECF244321}">
                <p14:modId xmlns:p14="http://schemas.microsoft.com/office/powerpoint/2010/main" val="1743092344"/>
              </p:ext>
            </p:extLst>
          </p:nvPr>
        </p:nvGraphicFramePr>
        <p:xfrm>
          <a:off x="530352" y="2432304"/>
          <a:ext cx="11128247" cy="2249424"/>
        </p:xfrm>
        <a:graphic>
          <a:graphicData uri="http://schemas.openxmlformats.org/drawingml/2006/table">
            <a:tbl>
              <a:tblPr>
                <a:tableStyleId>{5C22544A-7EE6-4342-B048-85BDC9FD1C3A}</a:tableStyleId>
              </a:tblPr>
              <a:tblGrid>
                <a:gridCol w="189992">
                  <a:extLst>
                    <a:ext uri="{9D8B030D-6E8A-4147-A177-3AD203B41FA5}">
                      <a16:colId xmlns:a16="http://schemas.microsoft.com/office/drawing/2014/main" val="20000"/>
                    </a:ext>
                  </a:extLst>
                </a:gridCol>
                <a:gridCol w="4747768">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tblGrid>
              <a:tr h="566928">
                <a:tc>
                  <a:txBody>
                    <a:bodyPr/>
                    <a:lstStyle/>
                    <a:p>
                      <a:endParaRPr sz="1000" b="1" dirty="0">
                        <a:solidFill>
                          <a:srgbClr val="0E96AC"/>
                        </a:solidFill>
                        <a:latin typeface="Calibri"/>
                      </a:endParaRPr>
                    </a:p>
                  </a:txBody>
                  <a:tcPr marR="73152" marT="36576" marB="36576">
                    <a:solidFill>
                      <a:srgbClr val="1A2440"/>
                    </a:solidFill>
                  </a:tcPr>
                </a:tc>
                <a:tc>
                  <a:txBody>
                    <a:bodyPr/>
                    <a:lstStyle/>
                    <a:p>
                      <a:r>
                        <a:rPr sz="1000" b="1">
                          <a:solidFill>
                            <a:srgbClr val="0E96AC"/>
                          </a:solidFill>
                          <a:latin typeface="Calibri"/>
                        </a:rPr>
                        <a:t>THAT DECK SAID</a:t>
                      </a:r>
                    </a:p>
                  </a:txBody>
                  <a:tcPr marR="73152" marT="36576" marB="36576">
                    <a:solidFill>
                      <a:srgbClr val="1A2440"/>
                    </a:solidFill>
                  </a:tcPr>
                </a:tc>
                <a:tc>
                  <a:txBody>
                    <a:bodyPr/>
                    <a:lstStyle/>
                    <a:p>
                      <a:r>
                        <a:rPr sz="1000" b="1">
                          <a:solidFill>
                            <a:srgbClr val="0E96AC"/>
                          </a:solidFill>
                          <a:latin typeface="Calibri"/>
                        </a:rPr>
                        <a:t>TODAY</a:t>
                      </a:r>
                    </a:p>
                  </a:txBody>
                  <a:tcPr marR="73152" marT="36576" marB="36576">
                    <a:solidFill>
                      <a:srgbClr val="1A2440"/>
                    </a:solidFill>
                  </a:tcPr>
                </a:tc>
                <a:tc>
                  <a:txBody>
                    <a:bodyPr/>
                    <a:lstStyle/>
                    <a:p>
                      <a:r>
                        <a:rPr sz="1000" b="1">
                          <a:solidFill>
                            <a:srgbClr val="0E96AC"/>
                          </a:solidFill>
                          <a:latin typeface="Calibri"/>
                        </a:rPr>
                        <a:t>WHY</a:t>
                      </a:r>
                    </a:p>
                  </a:txBody>
                  <a:tcPr marR="73152" marT="36576" marB="36576">
                    <a:solidFill>
                      <a:srgbClr val="1A2440"/>
                    </a:solidFill>
                  </a:tcPr>
                </a:tc>
                <a:extLst>
                  <a:ext uri="{0D108BD9-81ED-4DB2-BD59-A6C34878D82A}">
                    <a16:rowId xmlns:a16="http://schemas.microsoft.com/office/drawing/2014/main" val="10000"/>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XL330 · U2D2 · Power Hub — “ORDERED, AWAITING DELIVERY”</a:t>
                      </a:r>
                    </a:p>
                  </a:txBody>
                  <a:tcPr marR="73152" marT="36576" marB="36576">
                    <a:solidFill>
                      <a:srgbClr val="16223A"/>
                    </a:solidFill>
                  </a:tcPr>
                </a:tc>
                <a:tc>
                  <a:txBody>
                    <a:bodyPr/>
                    <a:lstStyle/>
                    <a:p>
                      <a:r>
                        <a:rPr sz="950" b="1">
                          <a:solidFill>
                            <a:srgbClr val="E2E8F0"/>
                          </a:solidFill>
                          <a:latin typeface="Calibri"/>
                        </a:rPr>
                        <a:t>Order cancelled. 10× ST3215 + Waveshare ESP32 driver in hand</a:t>
                      </a:r>
                    </a:p>
                  </a:txBody>
                  <a:tcPr marR="73152" marT="36576" marB="36576">
                    <a:solidFill>
                      <a:srgbClr val="16223A"/>
                    </a:solidFill>
                  </a:tcPr>
                </a:tc>
                <a:tc>
                  <a:txBody>
                    <a:bodyPr/>
                    <a:lstStyle/>
                    <a:p>
                      <a:r>
                        <a:rPr sz="950" b="0">
                          <a:solidFill>
                            <a:srgbClr val="6B7890"/>
                          </a:solidFill>
                          <a:latin typeface="Calibri"/>
                        </a:rPr>
                        <a:t>Part unobtainable in India</a:t>
                      </a:r>
                    </a:p>
                  </a:txBody>
                  <a:tcPr marR="73152" marT="36576" marB="36576">
                    <a:solidFill>
                      <a:srgbClr val="16223A"/>
                    </a:solidFill>
                  </a:tcPr>
                </a:tc>
                <a:extLst>
                  <a:ext uri="{0D108BD9-81ED-4DB2-BD59-A6C34878D82A}">
                    <a16:rowId xmlns:a16="http://schemas.microsoft.com/office/drawing/2014/main" val="10001"/>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“Eight Phases · Currently at 25%”</a:t>
                      </a:r>
                    </a:p>
                  </a:txBody>
                  <a:tcPr marR="73152" marT="36576" marB="36576">
                    <a:solidFill>
                      <a:srgbClr val="16223A"/>
                    </a:solidFill>
                  </a:tcPr>
                </a:tc>
                <a:tc>
                  <a:txBody>
                    <a:bodyPr/>
                    <a:lstStyle/>
                    <a:p>
                      <a:r>
                        <a:rPr sz="950" b="1">
                          <a:solidFill>
                            <a:srgbClr val="E2E8F0"/>
                          </a:solidFill>
                          <a:latin typeface="Calibri"/>
                        </a:rPr>
                        <a:t>Phase 3 — Fabrication &amp; Assembly</a:t>
                      </a:r>
                    </a:p>
                  </a:txBody>
                  <a:tcPr marR="73152" marT="36576" marB="36576">
                    <a:solidFill>
                      <a:srgbClr val="16223A"/>
                    </a:solidFill>
                  </a:tcPr>
                </a:tc>
                <a:tc>
                  <a:txBody>
                    <a:bodyPr/>
                    <a:lstStyle/>
                    <a:p>
                      <a:r>
                        <a:rPr sz="950" b="0">
                          <a:solidFill>
                            <a:srgbClr val="6B7890"/>
                          </a:solidFill>
                          <a:latin typeface="Calibri"/>
                        </a:rPr>
                        <a:t>Eight weeks of Gen 2 work since</a:t>
                      </a:r>
                    </a:p>
                  </a:txBody>
                  <a:tcPr marR="73152" marT="36576" marB="36576">
                    <a:solidFill>
                      <a:srgbClr val="16223A"/>
                    </a:solidFill>
                  </a:tcPr>
                </a:tc>
                <a:extLst>
                  <a:ext uri="{0D108BD9-81ED-4DB2-BD59-A6C34878D82A}">
                    <a16:rowId xmlns:a16="http://schemas.microsoft.com/office/drawing/2014/main" val="10002"/>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“Prototype fabrication started”</a:t>
                      </a:r>
                    </a:p>
                  </a:txBody>
                  <a:tcPr marR="73152" marT="36576" marB="36576">
                    <a:solidFill>
                      <a:srgbClr val="16223A"/>
                    </a:solidFill>
                  </a:tcPr>
                </a:tc>
                <a:tc>
                  <a:txBody>
                    <a:bodyPr/>
                    <a:lstStyle/>
                    <a:p>
                      <a:r>
                        <a:rPr sz="950" b="1" dirty="0">
                          <a:solidFill>
                            <a:srgbClr val="E2E8F0"/>
                          </a:solidFill>
                          <a:latin typeface="Calibri"/>
                        </a:rPr>
                        <a:t>Gen 1 segments printed; Gen 2 v6</a:t>
                      </a:r>
                      <a:r>
                        <a:rPr lang="en-IN" sz="950" b="1" dirty="0">
                          <a:solidFill>
                            <a:srgbClr val="E2E8F0"/>
                          </a:solidFill>
                          <a:latin typeface="Calibri"/>
                        </a:rPr>
                        <a:t> printed</a:t>
                      </a:r>
                      <a:endParaRPr sz="950" b="1" dirty="0">
                        <a:solidFill>
                          <a:srgbClr val="E2E8F0"/>
                        </a:solidFill>
                        <a:latin typeface="Calibri"/>
                      </a:endParaRPr>
                    </a:p>
                  </a:txBody>
                  <a:tcPr marR="73152" marT="36576" marB="36576">
                    <a:solidFill>
                      <a:srgbClr val="16223A"/>
                    </a:solidFill>
                  </a:tcPr>
                </a:tc>
                <a:tc>
                  <a:txBody>
                    <a:bodyPr/>
                    <a:lstStyle/>
                    <a:p>
                      <a:r>
                        <a:rPr sz="950" b="0" dirty="0">
                          <a:solidFill>
                            <a:srgbClr val="6B7890"/>
                          </a:solidFill>
                          <a:latin typeface="Calibri"/>
                        </a:rPr>
                        <a:t>Design of record changed</a:t>
                      </a:r>
                    </a:p>
                  </a:txBody>
                  <a:tcPr marR="73152" marT="36576" marB="36576">
                    <a:solidFill>
                      <a:srgbClr val="16223A"/>
                    </a:solidFill>
                  </a:tcPr>
                </a:tc>
                <a:extLst>
                  <a:ext uri="{0D108BD9-81ED-4DB2-BD59-A6C34878D82A}">
                    <a16:rowId xmlns:a16="http://schemas.microsoft.com/office/drawing/2014/main" val="10003"/>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Roadmap step 1 — “Receive Dynamixel XL330 motors”</a:t>
                      </a:r>
                    </a:p>
                  </a:txBody>
                  <a:tcPr marR="73152" marT="36576" marB="36576">
                    <a:solidFill>
                      <a:srgbClr val="16223A"/>
                    </a:solidFill>
                  </a:tcPr>
                </a:tc>
                <a:tc>
                  <a:txBody>
                    <a:bodyPr/>
                    <a:lstStyle/>
                    <a:p>
                      <a:r>
                        <a:rPr sz="950" b="1">
                          <a:solidFill>
                            <a:srgbClr val="E2E8F0"/>
                          </a:solidFill>
                          <a:latin typeface="Calibri"/>
                        </a:rPr>
                        <a:t>Superseded — see slide 29</a:t>
                      </a:r>
                    </a:p>
                  </a:txBody>
                  <a:tcPr marR="73152" marT="36576" marB="36576">
                    <a:solidFill>
                      <a:srgbClr val="16223A"/>
                    </a:solidFill>
                  </a:tcPr>
                </a:tc>
                <a:tc>
                  <a:txBody>
                    <a:bodyPr/>
                    <a:lstStyle/>
                    <a:p>
                      <a:r>
                        <a:rPr sz="950" b="0" dirty="0">
                          <a:solidFill>
                            <a:srgbClr val="6B7890"/>
                          </a:solidFill>
                          <a:latin typeface="Calibri"/>
                        </a:rPr>
                        <a:t>Different motors received</a:t>
                      </a:r>
                    </a:p>
                  </a:txBody>
                  <a:tcPr marR="73152" marT="36576" marB="36576">
                    <a:solidFill>
                      <a:srgbClr val="16223A"/>
                    </a:solidFill>
                  </a:tcPr>
                </a:tc>
                <a:extLst>
                  <a:ext uri="{0D108BD9-81ED-4DB2-BD59-A6C34878D82A}">
                    <a16:rowId xmlns:a16="http://schemas.microsoft.com/office/drawing/2014/main" val="10004"/>
                  </a:ext>
                </a:extLst>
              </a:tr>
            </a:tbl>
          </a:graphicData>
        </a:graphic>
      </p:graphicFrame>
      <p:sp>
        <p:nvSpPr>
          <p:cNvPr id="34" name="PivotCallout"/>
          <p:cNvSpPr txBox="1"/>
          <p:nvPr/>
        </p:nvSpPr>
        <p:spPr>
          <a:xfrm>
            <a:off x="777240" y="6345936"/>
            <a:ext cx="10607040" cy="384048"/>
          </a:xfrm>
          <a:prstGeom prst="rect">
            <a:avLst/>
          </a:prstGeom>
          <a:noFill/>
        </p:spPr>
        <p:txBody>
          <a:bodyPr wrap="square">
            <a:spAutoFit/>
          </a:bodyPr>
          <a:lstStyle/>
          <a:p>
            <a:r>
              <a:rPr sz="1050" b="1">
                <a:solidFill>
                  <a:srgbClr val="E8821E"/>
                </a:solidFill>
                <a:latin typeface="Calibri"/>
              </a:rPr>
              <a:t>WHAT IT BOUGHT   </a:t>
            </a:r>
            <a:r>
              <a:rPr sz="1050" b="0">
                <a:solidFill>
                  <a:srgbClr val="E2E8F0"/>
                </a:solidFill>
                <a:latin typeface="Calibri"/>
              </a:rPr>
              <a:t>5.7× joint torque (0.52 → 2.94 N·m)  ·  a 12 V rail  ·  sourceable in India  —  consequences of the switch, not its reason. Torque budget: slide 23.</a:t>
            </a:r>
          </a:p>
        </p:txBody>
      </p:sp>
    </p:spTree>
    <p:extLst>
      <p:ext uri="{BB962C8B-B14F-4D97-AF65-F5344CB8AC3E}">
        <p14:creationId xmlns:p14="http://schemas.microsoft.com/office/powerpoint/2010/main" val="1029810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4832" y="400050"/>
            <a:ext cx="1263966"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CURRENT UPDATE</a:t>
            </a:r>
            <a:endParaRPr lang="en-US" sz="1050" dirty="0"/>
          </a:p>
        </p:txBody>
      </p:sp>
      <p:sp>
        <p:nvSpPr>
          <p:cNvPr id="3" name="Text 1"/>
          <p:cNvSpPr/>
          <p:nvPr/>
        </p:nvSpPr>
        <p:spPr>
          <a:xfrm>
            <a:off x="704832" y="666750"/>
            <a:ext cx="10667733"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The planar robot is working; Gen 3 is next</a:t>
            </a:r>
            <a:endParaRPr lang="en-US" sz="3000" dirty="0"/>
          </a:p>
        </p:txBody>
      </p:sp>
      <p:sp>
        <p:nvSpPr>
          <p:cNvPr id="4" name="Shape 2"/>
          <p:cNvSpPr/>
          <p:nvPr/>
        </p:nvSpPr>
        <p:spPr>
          <a:xfrm>
            <a:off x="704832" y="1200150"/>
            <a:ext cx="10782030" cy="19050"/>
          </a:xfrm>
          <a:prstGeom prst="rect">
            <a:avLst/>
          </a:prstGeom>
          <a:solidFill>
            <a:srgbClr val="0E96AC">
              <a:alpha val="32000"/>
            </a:srgbClr>
          </a:solidFill>
          <a:ln w="12700">
            <a:solidFill>
              <a:srgbClr val="FFFFFF">
                <a:alpha val="0"/>
              </a:srgbClr>
            </a:solidFill>
            <a:prstDash val="solid"/>
          </a:ln>
        </p:spPr>
        <p:txBody>
          <a:bodyPr/>
          <a:lstStyle/>
          <a:p>
            <a:endParaRPr lang="en-IN"/>
          </a:p>
        </p:txBody>
      </p:sp>
      <p:sp>
        <p:nvSpPr>
          <p:cNvPr id="5" name="Shape 3"/>
          <p:cNvSpPr/>
          <p:nvPr/>
        </p:nvSpPr>
        <p:spPr>
          <a:xfrm>
            <a:off x="704832" y="1466850"/>
            <a:ext cx="4095648" cy="443865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3000"/>
              </a:srgbClr>
            </a:outerShdw>
          </a:effectLst>
        </p:spPr>
        <p:txBody>
          <a:bodyPr/>
          <a:lstStyle/>
          <a:p>
            <a:endParaRPr lang="en-IN"/>
          </a:p>
        </p:txBody>
      </p:sp>
      <p:sp>
        <p:nvSpPr>
          <p:cNvPr id="6" name="Shape 4"/>
          <p:cNvSpPr/>
          <p:nvPr/>
        </p:nvSpPr>
        <p:spPr>
          <a:xfrm>
            <a:off x="1000100" y="2747070"/>
            <a:ext cx="3505112" cy="0"/>
          </a:xfrm>
          <a:prstGeom prst="line">
            <a:avLst/>
          </a:prstGeom>
          <a:solidFill>
            <a:srgbClr val="FFFFFF">
              <a:alpha val="0"/>
            </a:srgbClr>
          </a:solidFill>
          <a:ln w="9525">
            <a:solidFill>
              <a:srgbClr val="16223A"/>
            </a:solidFill>
            <a:prstDash val="solid"/>
          </a:ln>
        </p:spPr>
      </p:sp>
      <p:sp>
        <p:nvSpPr>
          <p:cNvPr id="7" name="Text 5"/>
          <p:cNvSpPr/>
          <p:nvPr/>
        </p:nvSpPr>
        <p:spPr>
          <a:xfrm>
            <a:off x="1000100" y="1847850"/>
            <a:ext cx="3505112" cy="221010"/>
          </a:xfrm>
          <a:prstGeom prst="rect">
            <a:avLst/>
          </a:prstGeom>
          <a:noFill/>
          <a:ln/>
        </p:spPr>
        <p:txBody>
          <a:bodyPr wrap="square" lIns="0" tIns="0" rIns="0" bIns="0" rtlCol="0" anchor="t"/>
          <a:lstStyle/>
          <a:p>
            <a:pPr marL="0" indent="0" algn="l">
              <a:buNone/>
            </a:pPr>
            <a:r>
              <a:rPr lang="en-US" sz="1450" b="1" dirty="0">
                <a:solidFill>
                  <a:srgbClr val="0E96AC"/>
                </a:solidFill>
                <a:latin typeface="Calibri" pitchFamily="34" charset="0"/>
                <a:ea typeface="Calibri" pitchFamily="34" charset="-122"/>
                <a:cs typeface="Calibri" pitchFamily="34" charset="-120"/>
              </a:rPr>
              <a:t>GEN 2.0</a:t>
            </a:r>
            <a:endParaRPr lang="en-US" sz="1450" dirty="0"/>
          </a:p>
        </p:txBody>
      </p:sp>
      <p:sp>
        <p:nvSpPr>
          <p:cNvPr id="8" name="Text 6"/>
          <p:cNvSpPr/>
          <p:nvPr/>
        </p:nvSpPr>
        <p:spPr>
          <a:xfrm>
            <a:off x="1000100" y="2068860"/>
            <a:ext cx="3505112" cy="280987"/>
          </a:xfrm>
          <a:prstGeom prst="rect">
            <a:avLst/>
          </a:prstGeom>
          <a:noFill/>
          <a:ln/>
        </p:spPr>
        <p:txBody>
          <a:bodyPr wrap="square" lIns="0" tIns="0" rIns="0" bIns="0" rtlCol="0" anchor="t"/>
          <a:lstStyle/>
          <a:p>
            <a:pPr marL="0" indent="0" algn="l">
              <a:buNone/>
            </a:pPr>
            <a:r>
              <a:rPr lang="en-US" sz="1800" b="1" dirty="0">
                <a:solidFill>
                  <a:srgbClr val="16223A"/>
                </a:solidFill>
                <a:latin typeface="Calibri" pitchFamily="34" charset="0"/>
                <a:ea typeface="Calibri" pitchFamily="34" charset="-122"/>
                <a:cs typeface="Calibri" pitchFamily="34" charset="-120"/>
              </a:rPr>
              <a:t>Working planar robot</a:t>
            </a:r>
            <a:endParaRPr lang="en-US" sz="1800" dirty="0"/>
          </a:p>
        </p:txBody>
      </p:sp>
      <p:sp>
        <p:nvSpPr>
          <p:cNvPr id="9" name="Text 7"/>
          <p:cNvSpPr/>
          <p:nvPr/>
        </p:nvSpPr>
        <p:spPr>
          <a:xfrm>
            <a:off x="1000100" y="2349847"/>
            <a:ext cx="3505112" cy="221010"/>
          </a:xfrm>
          <a:prstGeom prst="rect">
            <a:avLst/>
          </a:prstGeom>
          <a:noFill/>
          <a:ln/>
        </p:spPr>
        <p:txBody>
          <a:bodyPr wrap="square" lIns="0" tIns="0" rIns="0" bIns="0" rtlCol="0" anchor="t"/>
          <a:lstStyle/>
          <a:p>
            <a:pPr marL="0" indent="0" algn="l">
              <a:buNone/>
            </a:pPr>
            <a:r>
              <a:rPr lang="en-US" sz="1450" dirty="0">
                <a:solidFill>
                  <a:srgbClr val="16223A"/>
                </a:solidFill>
                <a:latin typeface="Calibri" pitchFamily="34" charset="0"/>
                <a:ea typeface="Calibri" pitchFamily="34" charset="-122"/>
                <a:cs typeface="Calibri" pitchFamily="34" charset="-120"/>
              </a:rPr>
              <a:t>Onboard and bench control are operating.</a:t>
            </a:r>
            <a:endParaRPr lang="en-US" sz="1450" dirty="0"/>
          </a:p>
        </p:txBody>
      </p:sp>
      <p:sp>
        <p:nvSpPr>
          <p:cNvPr id="10" name="Shape 8"/>
          <p:cNvSpPr/>
          <p:nvPr/>
        </p:nvSpPr>
        <p:spPr>
          <a:xfrm>
            <a:off x="1000100" y="3986361"/>
            <a:ext cx="3505112" cy="0"/>
          </a:xfrm>
          <a:prstGeom prst="line">
            <a:avLst/>
          </a:prstGeom>
          <a:solidFill>
            <a:srgbClr val="FFFFFF">
              <a:alpha val="0"/>
            </a:srgbClr>
          </a:solidFill>
          <a:ln w="9525">
            <a:solidFill>
              <a:srgbClr val="16223A"/>
            </a:solidFill>
            <a:prstDash val="solid"/>
          </a:ln>
        </p:spPr>
      </p:sp>
      <p:sp>
        <p:nvSpPr>
          <p:cNvPr id="11" name="Text 9"/>
          <p:cNvSpPr/>
          <p:nvPr/>
        </p:nvSpPr>
        <p:spPr>
          <a:xfrm>
            <a:off x="1000100" y="2866132"/>
            <a:ext cx="3505112" cy="221010"/>
          </a:xfrm>
          <a:prstGeom prst="rect">
            <a:avLst/>
          </a:prstGeom>
          <a:noFill/>
          <a:ln/>
        </p:spPr>
        <p:txBody>
          <a:bodyPr wrap="square" lIns="0" tIns="0" rIns="0" bIns="0" rtlCol="0" anchor="t"/>
          <a:lstStyle/>
          <a:p>
            <a:pPr marL="0" indent="0" algn="l">
              <a:buNone/>
            </a:pPr>
            <a:r>
              <a:rPr lang="en-US" sz="1450" b="1" dirty="0">
                <a:solidFill>
                  <a:srgbClr val="0E96AC"/>
                </a:solidFill>
                <a:latin typeface="Calibri" pitchFamily="34" charset="0"/>
                <a:ea typeface="Calibri" pitchFamily="34" charset="-122"/>
                <a:cs typeface="Calibri" pitchFamily="34" charset="-120"/>
              </a:rPr>
              <a:t>GEN 2.1</a:t>
            </a:r>
            <a:endParaRPr lang="en-US" sz="1450" dirty="0"/>
          </a:p>
        </p:txBody>
      </p:sp>
      <p:sp>
        <p:nvSpPr>
          <p:cNvPr id="12" name="Text 10"/>
          <p:cNvSpPr/>
          <p:nvPr/>
        </p:nvSpPr>
        <p:spPr>
          <a:xfrm>
            <a:off x="1000100" y="3087142"/>
            <a:ext cx="3505112" cy="280987"/>
          </a:xfrm>
          <a:prstGeom prst="rect">
            <a:avLst/>
          </a:prstGeom>
          <a:noFill/>
          <a:ln/>
        </p:spPr>
        <p:txBody>
          <a:bodyPr wrap="square" lIns="0" tIns="0" rIns="0" bIns="0" rtlCol="0" anchor="t"/>
          <a:lstStyle/>
          <a:p>
            <a:pPr marL="0" indent="0" algn="l">
              <a:buNone/>
            </a:pPr>
            <a:r>
              <a:rPr lang="en-US" sz="1800" b="1" dirty="0">
                <a:solidFill>
                  <a:srgbClr val="16223A"/>
                </a:solidFill>
                <a:latin typeface="Calibri" pitchFamily="34" charset="0"/>
                <a:ea typeface="Calibri" pitchFamily="34" charset="-122"/>
                <a:cs typeface="Calibri" pitchFamily="34" charset="-120"/>
              </a:rPr>
              <a:t>Shared host control</a:t>
            </a:r>
            <a:endParaRPr lang="en-US" sz="1800" dirty="0"/>
          </a:p>
        </p:txBody>
      </p:sp>
      <p:sp>
        <p:nvSpPr>
          <p:cNvPr id="13" name="Text 11"/>
          <p:cNvSpPr/>
          <p:nvPr/>
        </p:nvSpPr>
        <p:spPr>
          <a:xfrm>
            <a:off x="1000100" y="3368129"/>
            <a:ext cx="3505112" cy="442020"/>
          </a:xfrm>
          <a:prstGeom prst="rect">
            <a:avLst/>
          </a:prstGeom>
          <a:noFill/>
          <a:ln/>
        </p:spPr>
        <p:txBody>
          <a:bodyPr wrap="square" lIns="0" tIns="0" rIns="0" bIns="0" rtlCol="0" anchor="t"/>
          <a:lstStyle/>
          <a:p>
            <a:pPr marL="0" indent="0" algn="l">
              <a:buNone/>
            </a:pPr>
            <a:r>
              <a:rPr lang="en-US" sz="1450" dirty="0">
                <a:solidFill>
                  <a:srgbClr val="16223A"/>
                </a:solidFill>
                <a:latin typeface="Calibri" pitchFamily="34" charset="0"/>
                <a:ea typeface="Calibri" pitchFamily="34" charset="-122"/>
                <a:cs typeface="Calibri" pitchFamily="34" charset="-120"/>
              </a:rPr>
              <a:t>Dashboard and gamepad support tuning and steering.</a:t>
            </a:r>
            <a:endParaRPr lang="en-US" sz="1450" dirty="0"/>
          </a:p>
        </p:txBody>
      </p:sp>
      <p:sp>
        <p:nvSpPr>
          <p:cNvPr id="14" name="Text 12"/>
          <p:cNvSpPr/>
          <p:nvPr/>
        </p:nvSpPr>
        <p:spPr>
          <a:xfrm>
            <a:off x="1000100" y="4105424"/>
            <a:ext cx="3505112" cy="221010"/>
          </a:xfrm>
          <a:prstGeom prst="rect">
            <a:avLst/>
          </a:prstGeom>
          <a:noFill/>
          <a:ln/>
        </p:spPr>
        <p:txBody>
          <a:bodyPr wrap="square" lIns="0" tIns="0" rIns="0" bIns="0" rtlCol="0" anchor="t"/>
          <a:lstStyle/>
          <a:p>
            <a:pPr marL="0" indent="0" algn="l">
              <a:buNone/>
            </a:pPr>
            <a:r>
              <a:rPr lang="en-US" sz="1450" b="1" dirty="0">
                <a:solidFill>
                  <a:srgbClr val="D57B12"/>
                </a:solidFill>
                <a:latin typeface="Calibri" pitchFamily="34" charset="0"/>
                <a:ea typeface="Calibri" pitchFamily="34" charset="-122"/>
                <a:cs typeface="Calibri" pitchFamily="34" charset="-120"/>
              </a:rPr>
              <a:t>GEN 3.0</a:t>
            </a:r>
            <a:endParaRPr lang="en-US" sz="1450" dirty="0"/>
          </a:p>
        </p:txBody>
      </p:sp>
      <p:sp>
        <p:nvSpPr>
          <p:cNvPr id="15" name="Text 13"/>
          <p:cNvSpPr/>
          <p:nvPr/>
        </p:nvSpPr>
        <p:spPr>
          <a:xfrm>
            <a:off x="1000100" y="4326434"/>
            <a:ext cx="3505112" cy="280987"/>
          </a:xfrm>
          <a:prstGeom prst="rect">
            <a:avLst/>
          </a:prstGeom>
          <a:noFill/>
          <a:ln/>
        </p:spPr>
        <p:txBody>
          <a:bodyPr wrap="square" lIns="0" tIns="0" rIns="0" bIns="0" rtlCol="0" anchor="t"/>
          <a:lstStyle/>
          <a:p>
            <a:pPr marL="0" indent="0" algn="l">
              <a:buNone/>
            </a:pPr>
            <a:r>
              <a:rPr lang="en-US" sz="1800" b="1" dirty="0">
                <a:solidFill>
                  <a:srgbClr val="16223A"/>
                </a:solidFill>
                <a:latin typeface="Calibri" pitchFamily="34" charset="0"/>
                <a:ea typeface="Calibri" pitchFamily="34" charset="-122"/>
                <a:cs typeface="Calibri" pitchFamily="34" charset="-120"/>
              </a:rPr>
              <a:t>In development</a:t>
            </a:r>
            <a:endParaRPr lang="en-US" sz="1800" dirty="0"/>
          </a:p>
        </p:txBody>
      </p:sp>
      <p:sp>
        <p:nvSpPr>
          <p:cNvPr id="16" name="Text 14"/>
          <p:cNvSpPr/>
          <p:nvPr/>
        </p:nvSpPr>
        <p:spPr>
          <a:xfrm>
            <a:off x="1000100" y="4607421"/>
            <a:ext cx="3505112" cy="442020"/>
          </a:xfrm>
          <a:prstGeom prst="rect">
            <a:avLst/>
          </a:prstGeom>
          <a:noFill/>
          <a:ln/>
        </p:spPr>
        <p:txBody>
          <a:bodyPr wrap="square" lIns="0" tIns="0" rIns="0" bIns="0" rtlCol="0" anchor="t"/>
          <a:lstStyle/>
          <a:p>
            <a:pPr marL="0" indent="0" algn="l">
              <a:buNone/>
            </a:pPr>
            <a:r>
              <a:rPr lang="en-US" sz="1450" dirty="0">
                <a:solidFill>
                  <a:srgbClr val="16223A"/>
                </a:solidFill>
                <a:latin typeface="Calibri" pitchFamily="34" charset="0"/>
                <a:ea typeface="Calibri" pitchFamily="34" charset="-122"/>
                <a:cs typeface="Calibri" pitchFamily="34" charset="-120"/>
              </a:rPr>
              <a:t>Alternating yaw and pitch joints extend the mechanism.</a:t>
            </a:r>
            <a:endParaRPr lang="en-US" sz="1450" dirty="0"/>
          </a:p>
        </p:txBody>
      </p:sp>
      <p:sp>
        <p:nvSpPr>
          <p:cNvPr id="17" name="Shape 15"/>
          <p:cNvSpPr/>
          <p:nvPr/>
        </p:nvSpPr>
        <p:spPr>
          <a:xfrm>
            <a:off x="5143371" y="1466850"/>
            <a:ext cx="6343491" cy="4438650"/>
          </a:xfrm>
          <a:prstGeom prst="roundRect">
            <a:avLst/>
          </a:prstGeom>
          <a:solidFill>
            <a:srgbClr val="FFFFFF">
              <a:alpha val="0"/>
            </a:srgbClr>
          </a:solidFill>
          <a:ln w="9525">
            <a:solidFill>
              <a:srgbClr val="FFFFFF"/>
            </a:solidFill>
            <a:prstDash val="solid"/>
          </a:ln>
          <a:effectLst>
            <a:outerShdw blurRad="3770" dist="1588" dir="5400000" algn="bl" rotWithShape="0">
              <a:srgbClr val="16223A">
                <a:alpha val="13000"/>
              </a:srgbClr>
            </a:outerShdw>
          </a:effectLst>
        </p:spPr>
        <p:txBody>
          <a:bodyPr/>
          <a:lstStyle/>
          <a:p>
            <a:endParaRPr lang="en-IN"/>
          </a:p>
        </p:txBody>
      </p:sp>
      <p:sp>
        <p:nvSpPr>
          <p:cNvPr id="18" name="Text 16"/>
          <p:cNvSpPr/>
          <p:nvPr/>
        </p:nvSpPr>
        <p:spPr>
          <a:xfrm>
            <a:off x="5819630" y="3190875"/>
            <a:ext cx="4990975" cy="304800"/>
          </a:xfrm>
          <a:prstGeom prst="rect">
            <a:avLst/>
          </a:prstGeom>
          <a:noFill/>
          <a:ln/>
        </p:spPr>
        <p:txBody>
          <a:bodyPr wrap="square" lIns="0" tIns="0" rIns="0" bIns="0" rtlCol="0" anchor="t"/>
          <a:lstStyle/>
          <a:p>
            <a:pPr marL="0" indent="0" algn="ctr">
              <a:buNone/>
            </a:pPr>
            <a:r>
              <a:rPr lang="en-US" sz="1950" b="1" dirty="0">
                <a:solidFill>
                  <a:srgbClr val="16223A"/>
                </a:solidFill>
                <a:latin typeface="Calibri" pitchFamily="34" charset="0"/>
                <a:ea typeface="Calibri" pitchFamily="34" charset="-122"/>
                <a:cs typeface="Calibri" pitchFamily="34" charset="-120"/>
              </a:rPr>
              <a:t>Current Gen 2 prototype photo</a:t>
            </a:r>
            <a:endParaRPr lang="en-US" sz="1950" dirty="0"/>
          </a:p>
        </p:txBody>
      </p:sp>
      <p:sp>
        <p:nvSpPr>
          <p:cNvPr id="19" name="Text 17"/>
          <p:cNvSpPr/>
          <p:nvPr/>
        </p:nvSpPr>
        <p:spPr>
          <a:xfrm>
            <a:off x="5819630" y="3495675"/>
            <a:ext cx="4990975" cy="214610"/>
          </a:xfrm>
          <a:prstGeom prst="rect">
            <a:avLst/>
          </a:prstGeom>
          <a:noFill/>
          <a:ln/>
        </p:spPr>
        <p:txBody>
          <a:bodyPr wrap="square" lIns="0" tIns="0" rIns="0" bIns="0" rtlCol="0" anchor="t"/>
          <a:lstStyle/>
          <a:p>
            <a:pPr marL="0" indent="0" algn="ctr">
              <a:buNone/>
            </a:pPr>
            <a:r>
              <a:rPr lang="en-US" sz="1300" dirty="0">
                <a:solidFill>
                  <a:srgbClr val="4B5B70"/>
                </a:solidFill>
                <a:latin typeface="Calibri" pitchFamily="34" charset="0"/>
                <a:ea typeface="Calibri" pitchFamily="34" charset="-122"/>
                <a:cs typeface="Calibri" pitchFamily="34" charset="-120"/>
              </a:rPr>
              <a:t>Place: gen2-st3215/media/20260925_164442.jpg</a:t>
            </a:r>
            <a:endParaRPr lang="en-US" sz="1300" dirty="0"/>
          </a:p>
        </p:txBody>
      </p:sp>
      <p:sp>
        <p:nvSpPr>
          <p:cNvPr id="20" name="Text 18"/>
          <p:cNvSpPr/>
          <p:nvPr/>
        </p:nvSpPr>
        <p:spPr>
          <a:xfrm>
            <a:off x="704832" y="6334125"/>
            <a:ext cx="2309085" cy="166688"/>
          </a:xfrm>
          <a:prstGeom prst="rect">
            <a:avLst/>
          </a:prstGeom>
          <a:noFill/>
          <a:ln/>
        </p:spPr>
        <p:txBody>
          <a:bodyPr wrap="square" lIns="0" tIns="0" rIns="0" bIns="0" rtlCol="0" anchor="t"/>
          <a:lstStyle/>
          <a:p>
            <a:pPr marL="0" indent="0" algn="l">
              <a:buNone/>
            </a:pPr>
            <a:r>
              <a:rPr lang="en-US" sz="1050" dirty="0">
                <a:solidFill>
                  <a:srgbClr val="627083"/>
                </a:solidFill>
                <a:latin typeface="Calibri" pitchFamily="34" charset="0"/>
                <a:ea typeface="Calibri" pitchFamily="34" charset="-122"/>
                <a:cs typeface="Calibri" pitchFamily="34" charset="-120"/>
              </a:rPr>
              <a:t>SURGE-090 • Current development update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4832" y="400050"/>
            <a:ext cx="1265007"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DESIGN DECISION</a:t>
            </a:r>
            <a:endParaRPr lang="en-US" sz="1050" dirty="0"/>
          </a:p>
        </p:txBody>
      </p:sp>
      <p:sp>
        <p:nvSpPr>
          <p:cNvPr id="3" name="Text 1"/>
          <p:cNvSpPr/>
          <p:nvPr/>
        </p:nvSpPr>
        <p:spPr>
          <a:xfrm>
            <a:off x="704832" y="666750"/>
            <a:ext cx="10572486"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The actuator changed; the modular idea stayed</a:t>
            </a:r>
            <a:endParaRPr lang="en-US" sz="3000" dirty="0"/>
          </a:p>
        </p:txBody>
      </p:sp>
      <p:sp>
        <p:nvSpPr>
          <p:cNvPr id="4" name="Shape 2"/>
          <p:cNvSpPr/>
          <p:nvPr/>
        </p:nvSpPr>
        <p:spPr>
          <a:xfrm>
            <a:off x="704832" y="1428750"/>
            <a:ext cx="10782030" cy="447675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3000"/>
              </a:srgbClr>
            </a:outerShdw>
          </a:effectLst>
        </p:spPr>
      </p:sp>
      <p:sp>
        <p:nvSpPr>
          <p:cNvPr id="5" name="Text 3"/>
          <p:cNvSpPr/>
          <p:nvPr/>
        </p:nvSpPr>
        <p:spPr>
          <a:xfrm>
            <a:off x="1171546" y="1819275"/>
            <a:ext cx="4119980" cy="166688"/>
          </a:xfrm>
          <a:prstGeom prst="rect">
            <a:avLst/>
          </a:prstGeom>
          <a:noFill/>
          <a:ln/>
        </p:spPr>
        <p:txBody>
          <a:bodyPr wrap="square" lIns="0" tIns="0" rIns="0" bIns="0" rtlCol="0" anchor="t"/>
          <a:lstStyle/>
          <a:p>
            <a:pPr marL="0" indent="0" algn="l">
              <a:buNone/>
            </a:pPr>
            <a:r>
              <a:rPr lang="en-US" sz="1050" b="1" dirty="0">
                <a:solidFill>
                  <a:srgbClr val="6A7789"/>
                </a:solidFill>
                <a:latin typeface="Calibri" pitchFamily="34" charset="0"/>
                <a:ea typeface="Calibri" pitchFamily="34" charset="-122"/>
                <a:cs typeface="Calibri" pitchFamily="34" charset="-120"/>
              </a:rPr>
              <a:t>GEN 1 REFERENCE</a:t>
            </a:r>
            <a:endParaRPr lang="en-US" sz="1050" dirty="0"/>
          </a:p>
        </p:txBody>
      </p:sp>
      <p:sp>
        <p:nvSpPr>
          <p:cNvPr id="6" name="Text 4"/>
          <p:cNvSpPr/>
          <p:nvPr/>
        </p:nvSpPr>
        <p:spPr>
          <a:xfrm>
            <a:off x="1171546" y="1985963"/>
            <a:ext cx="4119980" cy="319088"/>
          </a:xfrm>
          <a:prstGeom prst="rect">
            <a:avLst/>
          </a:prstGeom>
          <a:noFill/>
          <a:ln/>
        </p:spPr>
        <p:txBody>
          <a:bodyPr wrap="square" lIns="0" tIns="0" rIns="0" bIns="0" rtlCol="0" anchor="t"/>
          <a:lstStyle/>
          <a:p>
            <a:pPr marL="0" indent="0" algn="l">
              <a:buNone/>
            </a:pPr>
            <a:r>
              <a:rPr lang="en-US" sz="2050" b="1" dirty="0">
                <a:solidFill>
                  <a:srgbClr val="16223A"/>
                </a:solidFill>
                <a:latin typeface="Calibri" pitchFamily="34" charset="0"/>
                <a:ea typeface="Calibri" pitchFamily="34" charset="-122"/>
                <a:cs typeface="Calibri" pitchFamily="34" charset="-120"/>
              </a:rPr>
              <a:t>Original Dynamixel design</a:t>
            </a:r>
            <a:endParaRPr lang="en-US" sz="2050" dirty="0"/>
          </a:p>
        </p:txBody>
      </p:sp>
      <p:sp>
        <p:nvSpPr>
          <p:cNvPr id="7" name="Shape 5"/>
          <p:cNvSpPr/>
          <p:nvPr/>
        </p:nvSpPr>
        <p:spPr>
          <a:xfrm>
            <a:off x="1171546" y="2309813"/>
            <a:ext cx="4119980" cy="0"/>
          </a:xfrm>
          <a:prstGeom prst="line">
            <a:avLst/>
          </a:prstGeom>
          <a:solidFill>
            <a:srgbClr val="FFFFFF">
              <a:alpha val="0"/>
            </a:srgbClr>
          </a:solidFill>
          <a:ln w="9525">
            <a:solidFill>
              <a:srgbClr val="16223A"/>
            </a:solidFill>
            <a:prstDash val="solid"/>
          </a:ln>
        </p:spPr>
      </p:sp>
      <p:sp>
        <p:nvSpPr>
          <p:cNvPr id="8" name="Text 6"/>
          <p:cNvSpPr/>
          <p:nvPr/>
        </p:nvSpPr>
        <p:spPr>
          <a:xfrm>
            <a:off x="1171546" y="2428875"/>
            <a:ext cx="4119980" cy="200025"/>
          </a:xfrm>
          <a:prstGeom prst="rect">
            <a:avLst/>
          </a:prstGeom>
          <a:noFill/>
          <a:ln/>
        </p:spPr>
        <p:txBody>
          <a:bodyPr wrap="square" lIns="0" tIns="0" rIns="0" bIns="0" rtlCol="0" anchor="t"/>
          <a:lstStyle/>
          <a:p>
            <a:pPr marL="0" indent="0" algn="l">
              <a:buNone/>
            </a:pPr>
            <a:r>
              <a:rPr lang="en-US" sz="1300" b="1" dirty="0">
                <a:solidFill>
                  <a:srgbClr val="0E96AC"/>
                </a:solidFill>
                <a:latin typeface="Calibri" pitchFamily="34" charset="0"/>
                <a:ea typeface="Calibri" pitchFamily="34" charset="-122"/>
                <a:cs typeface="Calibri" pitchFamily="34" charset="-120"/>
              </a:rPr>
              <a:t>ARCHITECTURE</a:t>
            </a:r>
            <a:endParaRPr lang="en-US" sz="1300" dirty="0"/>
          </a:p>
        </p:txBody>
      </p:sp>
      <p:sp>
        <p:nvSpPr>
          <p:cNvPr id="9" name="Text 7"/>
          <p:cNvSpPr/>
          <p:nvPr/>
        </p:nvSpPr>
        <p:spPr>
          <a:xfrm>
            <a:off x="1171546" y="2628900"/>
            <a:ext cx="4119980" cy="205680"/>
          </a:xfrm>
          <a:prstGeom prst="rect">
            <a:avLst/>
          </a:prstGeom>
          <a:noFill/>
          <a:ln/>
        </p:spPr>
        <p:txBody>
          <a:bodyPr wrap="square" lIns="0" tIns="0" rIns="0" bIns="0" rtlCol="0" anchor="t"/>
          <a:lstStyle/>
          <a:p>
            <a:pPr marL="0" indent="0" algn="l">
              <a:buNone/>
            </a:pPr>
            <a:r>
              <a:rPr lang="en-US" sz="1350" dirty="0">
                <a:solidFill>
                  <a:srgbClr val="16223A"/>
                </a:solidFill>
                <a:latin typeface="Calibri" pitchFamily="34" charset="0"/>
                <a:ea typeface="Calibri" pitchFamily="34" charset="-122"/>
                <a:cs typeface="Calibri" pitchFamily="34" charset="-120"/>
              </a:rPr>
              <a:t>Ten coordinated joints</a:t>
            </a:r>
            <a:endParaRPr lang="en-US" sz="1350" dirty="0"/>
          </a:p>
        </p:txBody>
      </p:sp>
      <p:sp>
        <p:nvSpPr>
          <p:cNvPr id="10" name="Shape 8"/>
          <p:cNvSpPr/>
          <p:nvPr/>
        </p:nvSpPr>
        <p:spPr>
          <a:xfrm>
            <a:off x="1171546" y="2953643"/>
            <a:ext cx="4119980" cy="0"/>
          </a:xfrm>
          <a:prstGeom prst="line">
            <a:avLst/>
          </a:prstGeom>
          <a:solidFill>
            <a:srgbClr val="FFFFFF">
              <a:alpha val="0"/>
            </a:srgbClr>
          </a:solidFill>
          <a:ln w="9525">
            <a:solidFill>
              <a:srgbClr val="16223A"/>
            </a:solidFill>
            <a:prstDash val="solid"/>
          </a:ln>
        </p:spPr>
      </p:sp>
      <p:sp>
        <p:nvSpPr>
          <p:cNvPr id="11" name="Text 9"/>
          <p:cNvSpPr/>
          <p:nvPr/>
        </p:nvSpPr>
        <p:spPr>
          <a:xfrm>
            <a:off x="1171546" y="3072705"/>
            <a:ext cx="4119980" cy="200025"/>
          </a:xfrm>
          <a:prstGeom prst="rect">
            <a:avLst/>
          </a:prstGeom>
          <a:noFill/>
          <a:ln/>
        </p:spPr>
        <p:txBody>
          <a:bodyPr wrap="square" lIns="0" tIns="0" rIns="0" bIns="0" rtlCol="0" anchor="t"/>
          <a:lstStyle/>
          <a:p>
            <a:pPr marL="0" indent="0" algn="l">
              <a:buNone/>
            </a:pPr>
            <a:r>
              <a:rPr lang="en-US" sz="1300" b="1" dirty="0">
                <a:solidFill>
                  <a:srgbClr val="0E96AC"/>
                </a:solidFill>
                <a:latin typeface="Calibri" pitchFamily="34" charset="0"/>
                <a:ea typeface="Calibri" pitchFamily="34" charset="-122"/>
                <a:cs typeface="Calibri" pitchFamily="34" charset="-120"/>
              </a:rPr>
              <a:t>INTERFACE</a:t>
            </a:r>
            <a:endParaRPr lang="en-US" sz="1300" dirty="0"/>
          </a:p>
        </p:txBody>
      </p:sp>
      <p:sp>
        <p:nvSpPr>
          <p:cNvPr id="12" name="Text 10"/>
          <p:cNvSpPr/>
          <p:nvPr/>
        </p:nvSpPr>
        <p:spPr>
          <a:xfrm>
            <a:off x="1171546" y="3272730"/>
            <a:ext cx="4119980" cy="205680"/>
          </a:xfrm>
          <a:prstGeom prst="rect">
            <a:avLst/>
          </a:prstGeom>
          <a:noFill/>
          <a:ln/>
        </p:spPr>
        <p:txBody>
          <a:bodyPr wrap="square" lIns="0" tIns="0" rIns="0" bIns="0" rtlCol="0" anchor="t"/>
          <a:lstStyle/>
          <a:p>
            <a:pPr marL="0" indent="0" algn="l">
              <a:buNone/>
            </a:pPr>
            <a:r>
              <a:rPr lang="en-US" sz="1350" dirty="0">
                <a:solidFill>
                  <a:srgbClr val="16223A"/>
                </a:solidFill>
                <a:latin typeface="Calibri" pitchFamily="34" charset="0"/>
                <a:ea typeface="Calibri" pitchFamily="34" charset="-122"/>
                <a:cs typeface="Calibri" pitchFamily="34" charset="-120"/>
              </a:rPr>
              <a:t>Dynamixel communication</a:t>
            </a:r>
            <a:endParaRPr lang="en-US" sz="1350" dirty="0"/>
          </a:p>
        </p:txBody>
      </p:sp>
      <p:sp>
        <p:nvSpPr>
          <p:cNvPr id="13" name="Shape 11"/>
          <p:cNvSpPr/>
          <p:nvPr/>
        </p:nvSpPr>
        <p:spPr>
          <a:xfrm>
            <a:off x="1171546" y="3597473"/>
            <a:ext cx="4119980" cy="0"/>
          </a:xfrm>
          <a:prstGeom prst="line">
            <a:avLst/>
          </a:prstGeom>
          <a:solidFill>
            <a:srgbClr val="FFFFFF">
              <a:alpha val="0"/>
            </a:srgbClr>
          </a:solidFill>
          <a:ln w="9525">
            <a:solidFill>
              <a:srgbClr val="16223A"/>
            </a:solidFill>
            <a:prstDash val="solid"/>
          </a:ln>
        </p:spPr>
      </p:sp>
      <p:sp>
        <p:nvSpPr>
          <p:cNvPr id="14" name="Text 12"/>
          <p:cNvSpPr/>
          <p:nvPr/>
        </p:nvSpPr>
        <p:spPr>
          <a:xfrm>
            <a:off x="1171546" y="3716536"/>
            <a:ext cx="4119980" cy="200025"/>
          </a:xfrm>
          <a:prstGeom prst="rect">
            <a:avLst/>
          </a:prstGeom>
          <a:noFill/>
          <a:ln/>
        </p:spPr>
        <p:txBody>
          <a:bodyPr wrap="square" lIns="0" tIns="0" rIns="0" bIns="0" rtlCol="0" anchor="t"/>
          <a:lstStyle/>
          <a:p>
            <a:pPr marL="0" indent="0" algn="l">
              <a:buNone/>
            </a:pPr>
            <a:r>
              <a:rPr lang="en-US" sz="1300" b="1" dirty="0">
                <a:solidFill>
                  <a:srgbClr val="0E96AC"/>
                </a:solidFill>
                <a:latin typeface="Calibri" pitchFamily="34" charset="0"/>
                <a:ea typeface="Calibri" pitchFamily="34" charset="-122"/>
                <a:cs typeface="Calibri" pitchFamily="34" charset="-120"/>
              </a:rPr>
              <a:t>POWER</a:t>
            </a:r>
            <a:endParaRPr lang="en-US" sz="1300" dirty="0"/>
          </a:p>
        </p:txBody>
      </p:sp>
      <p:sp>
        <p:nvSpPr>
          <p:cNvPr id="15" name="Text 13"/>
          <p:cNvSpPr/>
          <p:nvPr/>
        </p:nvSpPr>
        <p:spPr>
          <a:xfrm>
            <a:off x="1171546" y="3916561"/>
            <a:ext cx="4119980" cy="205680"/>
          </a:xfrm>
          <a:prstGeom prst="rect">
            <a:avLst/>
          </a:prstGeom>
          <a:noFill/>
          <a:ln/>
        </p:spPr>
        <p:txBody>
          <a:bodyPr wrap="square" lIns="0" tIns="0" rIns="0" bIns="0" rtlCol="0" anchor="t"/>
          <a:lstStyle/>
          <a:p>
            <a:pPr marL="0" indent="0" algn="l">
              <a:buNone/>
            </a:pPr>
            <a:r>
              <a:rPr lang="en-US" sz="1350" dirty="0">
                <a:solidFill>
                  <a:srgbClr val="16223A"/>
                </a:solidFill>
                <a:latin typeface="Calibri" pitchFamily="34" charset="0"/>
                <a:ea typeface="Calibri" pitchFamily="34" charset="-122"/>
                <a:cs typeface="Calibri" pitchFamily="34" charset="-120"/>
              </a:rPr>
              <a:t>Original distribution concept</a:t>
            </a:r>
            <a:endParaRPr lang="en-US" sz="1350" dirty="0"/>
          </a:p>
        </p:txBody>
      </p:sp>
      <p:sp>
        <p:nvSpPr>
          <p:cNvPr id="16" name="Text 14"/>
          <p:cNvSpPr/>
          <p:nvPr/>
        </p:nvSpPr>
        <p:spPr>
          <a:xfrm>
            <a:off x="5859887" y="3409950"/>
            <a:ext cx="379428" cy="514350"/>
          </a:xfrm>
          <a:prstGeom prst="rect">
            <a:avLst/>
          </a:prstGeom>
          <a:noFill/>
          <a:ln/>
        </p:spPr>
        <p:txBody>
          <a:bodyPr wrap="square" lIns="0" tIns="0" rIns="0" bIns="0" rtlCol="0" anchor="t"/>
          <a:lstStyle/>
          <a:p>
            <a:pPr marL="0" indent="0" algn="l">
              <a:buNone/>
            </a:pPr>
            <a:r>
              <a:rPr lang="en-US" sz="3300" dirty="0">
                <a:solidFill>
                  <a:srgbClr val="0E96AC"/>
                </a:solidFill>
                <a:latin typeface="Calibri" pitchFamily="34" charset="0"/>
                <a:ea typeface="Calibri" pitchFamily="34" charset="-122"/>
                <a:cs typeface="Calibri" pitchFamily="34" charset="-120"/>
              </a:rPr>
              <a:t>→</a:t>
            </a:r>
            <a:endParaRPr lang="en-US" sz="3300" dirty="0"/>
          </a:p>
        </p:txBody>
      </p:sp>
      <p:sp>
        <p:nvSpPr>
          <p:cNvPr id="17" name="Text 15"/>
          <p:cNvSpPr/>
          <p:nvPr/>
        </p:nvSpPr>
        <p:spPr>
          <a:xfrm>
            <a:off x="6807675" y="1819275"/>
            <a:ext cx="4119980" cy="166688"/>
          </a:xfrm>
          <a:prstGeom prst="rect">
            <a:avLst/>
          </a:prstGeom>
          <a:noFill/>
          <a:ln/>
        </p:spPr>
        <p:txBody>
          <a:bodyPr wrap="square" lIns="0" tIns="0" rIns="0" bIns="0" rtlCol="0" anchor="t"/>
          <a:lstStyle/>
          <a:p>
            <a:pPr marL="0" indent="0" algn="l">
              <a:buNone/>
            </a:pPr>
            <a:r>
              <a:rPr lang="en-US" sz="1050" b="1" dirty="0">
                <a:solidFill>
                  <a:srgbClr val="6A7789"/>
                </a:solidFill>
                <a:latin typeface="Calibri" pitchFamily="34" charset="0"/>
                <a:ea typeface="Calibri" pitchFamily="34" charset="-122"/>
                <a:cs typeface="Calibri" pitchFamily="34" charset="-120"/>
              </a:rPr>
              <a:t>GEN 2 IMPLEMENTATION</a:t>
            </a:r>
            <a:endParaRPr lang="en-US" sz="1050" dirty="0"/>
          </a:p>
        </p:txBody>
      </p:sp>
      <p:sp>
        <p:nvSpPr>
          <p:cNvPr id="18" name="Text 16"/>
          <p:cNvSpPr/>
          <p:nvPr/>
        </p:nvSpPr>
        <p:spPr>
          <a:xfrm>
            <a:off x="6807675" y="1985963"/>
            <a:ext cx="4119980" cy="319088"/>
          </a:xfrm>
          <a:prstGeom prst="rect">
            <a:avLst/>
          </a:prstGeom>
          <a:noFill/>
          <a:ln/>
        </p:spPr>
        <p:txBody>
          <a:bodyPr wrap="square" lIns="0" tIns="0" rIns="0" bIns="0" rtlCol="0" anchor="t"/>
          <a:lstStyle/>
          <a:p>
            <a:pPr marL="0" indent="0" algn="l">
              <a:buNone/>
            </a:pPr>
            <a:r>
              <a:rPr lang="en-US" sz="2050" b="1" dirty="0">
                <a:solidFill>
                  <a:srgbClr val="16223A"/>
                </a:solidFill>
                <a:latin typeface="Calibri" pitchFamily="34" charset="0"/>
                <a:ea typeface="Calibri" pitchFamily="34" charset="-122"/>
                <a:cs typeface="Calibri" pitchFamily="34" charset="-120"/>
              </a:rPr>
              <a:t>ST3215 platform</a:t>
            </a:r>
            <a:endParaRPr lang="en-US" sz="2050" dirty="0"/>
          </a:p>
        </p:txBody>
      </p:sp>
      <p:sp>
        <p:nvSpPr>
          <p:cNvPr id="19" name="Shape 17"/>
          <p:cNvSpPr/>
          <p:nvPr/>
        </p:nvSpPr>
        <p:spPr>
          <a:xfrm>
            <a:off x="6807675" y="2309813"/>
            <a:ext cx="4119980" cy="0"/>
          </a:xfrm>
          <a:prstGeom prst="line">
            <a:avLst/>
          </a:prstGeom>
          <a:solidFill>
            <a:srgbClr val="FFFFFF">
              <a:alpha val="0"/>
            </a:srgbClr>
          </a:solidFill>
          <a:ln w="9525">
            <a:solidFill>
              <a:srgbClr val="16223A"/>
            </a:solidFill>
            <a:prstDash val="solid"/>
          </a:ln>
        </p:spPr>
      </p:sp>
      <p:sp>
        <p:nvSpPr>
          <p:cNvPr id="20" name="Text 18"/>
          <p:cNvSpPr/>
          <p:nvPr/>
        </p:nvSpPr>
        <p:spPr>
          <a:xfrm>
            <a:off x="6807675" y="2428875"/>
            <a:ext cx="4119980" cy="200025"/>
          </a:xfrm>
          <a:prstGeom prst="rect">
            <a:avLst/>
          </a:prstGeom>
          <a:noFill/>
          <a:ln/>
        </p:spPr>
        <p:txBody>
          <a:bodyPr wrap="square" lIns="0" tIns="0" rIns="0" bIns="0" rtlCol="0" anchor="t"/>
          <a:lstStyle/>
          <a:p>
            <a:pPr marL="0" indent="0" algn="l">
              <a:buNone/>
            </a:pPr>
            <a:r>
              <a:rPr lang="en-US" sz="1300" b="1" dirty="0">
                <a:solidFill>
                  <a:srgbClr val="0E96AC"/>
                </a:solidFill>
                <a:latin typeface="Calibri" pitchFamily="34" charset="0"/>
                <a:ea typeface="Calibri" pitchFamily="34" charset="-122"/>
                <a:cs typeface="Calibri" pitchFamily="34" charset="-120"/>
              </a:rPr>
              <a:t>ARCHITECTURE</a:t>
            </a:r>
            <a:endParaRPr lang="en-US" sz="1300" dirty="0"/>
          </a:p>
        </p:txBody>
      </p:sp>
      <p:sp>
        <p:nvSpPr>
          <p:cNvPr id="21" name="Text 19"/>
          <p:cNvSpPr/>
          <p:nvPr/>
        </p:nvSpPr>
        <p:spPr>
          <a:xfrm>
            <a:off x="6807675" y="2628900"/>
            <a:ext cx="4119980" cy="205680"/>
          </a:xfrm>
          <a:prstGeom prst="rect">
            <a:avLst/>
          </a:prstGeom>
          <a:noFill/>
          <a:ln/>
        </p:spPr>
        <p:txBody>
          <a:bodyPr wrap="square" lIns="0" tIns="0" rIns="0" bIns="0" rtlCol="0" anchor="t"/>
          <a:lstStyle/>
          <a:p>
            <a:pPr marL="0" indent="0" algn="l">
              <a:buNone/>
            </a:pPr>
            <a:r>
              <a:rPr lang="en-US" sz="1350" dirty="0">
                <a:solidFill>
                  <a:srgbClr val="16223A"/>
                </a:solidFill>
                <a:latin typeface="Calibri" pitchFamily="34" charset="0"/>
                <a:ea typeface="Calibri" pitchFamily="34" charset="-122"/>
                <a:cs typeface="Calibri" pitchFamily="34" charset="-120"/>
              </a:rPr>
              <a:t>Ten-joint modular idea retained</a:t>
            </a:r>
            <a:endParaRPr lang="en-US" sz="1350" dirty="0"/>
          </a:p>
        </p:txBody>
      </p:sp>
      <p:sp>
        <p:nvSpPr>
          <p:cNvPr id="22" name="Shape 20"/>
          <p:cNvSpPr/>
          <p:nvPr/>
        </p:nvSpPr>
        <p:spPr>
          <a:xfrm>
            <a:off x="6807675" y="2953643"/>
            <a:ext cx="4119980" cy="0"/>
          </a:xfrm>
          <a:prstGeom prst="line">
            <a:avLst/>
          </a:prstGeom>
          <a:solidFill>
            <a:srgbClr val="FFFFFF">
              <a:alpha val="0"/>
            </a:srgbClr>
          </a:solidFill>
          <a:ln w="9525">
            <a:solidFill>
              <a:srgbClr val="16223A"/>
            </a:solidFill>
            <a:prstDash val="solid"/>
          </a:ln>
        </p:spPr>
      </p:sp>
      <p:sp>
        <p:nvSpPr>
          <p:cNvPr id="23" name="Text 21"/>
          <p:cNvSpPr/>
          <p:nvPr/>
        </p:nvSpPr>
        <p:spPr>
          <a:xfrm>
            <a:off x="6807675" y="3072705"/>
            <a:ext cx="4119980" cy="200025"/>
          </a:xfrm>
          <a:prstGeom prst="rect">
            <a:avLst/>
          </a:prstGeom>
          <a:noFill/>
          <a:ln/>
        </p:spPr>
        <p:txBody>
          <a:bodyPr wrap="square" lIns="0" tIns="0" rIns="0" bIns="0" rtlCol="0" anchor="t"/>
          <a:lstStyle/>
          <a:p>
            <a:pPr marL="0" indent="0" algn="l">
              <a:buNone/>
            </a:pPr>
            <a:r>
              <a:rPr lang="en-US" sz="1300" b="1" dirty="0">
                <a:solidFill>
                  <a:srgbClr val="0E96AC"/>
                </a:solidFill>
                <a:latin typeface="Calibri" pitchFamily="34" charset="0"/>
                <a:ea typeface="Calibri" pitchFamily="34" charset="-122"/>
                <a:cs typeface="Calibri" pitchFamily="34" charset="-120"/>
              </a:rPr>
              <a:t>INTERFACE</a:t>
            </a:r>
            <a:endParaRPr lang="en-US" sz="1300" dirty="0"/>
          </a:p>
        </p:txBody>
      </p:sp>
      <p:sp>
        <p:nvSpPr>
          <p:cNvPr id="24" name="Text 22"/>
          <p:cNvSpPr/>
          <p:nvPr/>
        </p:nvSpPr>
        <p:spPr>
          <a:xfrm>
            <a:off x="6807675" y="3272730"/>
            <a:ext cx="4119980" cy="205680"/>
          </a:xfrm>
          <a:prstGeom prst="rect">
            <a:avLst/>
          </a:prstGeom>
          <a:noFill/>
          <a:ln/>
        </p:spPr>
        <p:txBody>
          <a:bodyPr wrap="square" lIns="0" tIns="0" rIns="0" bIns="0" rtlCol="0" anchor="t"/>
          <a:lstStyle/>
          <a:p>
            <a:pPr marL="0" indent="0" algn="l">
              <a:buNone/>
            </a:pPr>
            <a:r>
              <a:rPr lang="en-US" sz="1350" dirty="0">
                <a:solidFill>
                  <a:srgbClr val="16223A"/>
                </a:solidFill>
                <a:latin typeface="Calibri" pitchFamily="34" charset="0"/>
                <a:ea typeface="Calibri" pitchFamily="34" charset="-122"/>
                <a:cs typeface="Calibri" pitchFamily="34" charset="-120"/>
              </a:rPr>
              <a:t>Communication moved to the ST3215 bus</a:t>
            </a:r>
            <a:endParaRPr lang="en-US" sz="1350" dirty="0"/>
          </a:p>
        </p:txBody>
      </p:sp>
      <p:sp>
        <p:nvSpPr>
          <p:cNvPr id="25" name="Shape 23"/>
          <p:cNvSpPr/>
          <p:nvPr/>
        </p:nvSpPr>
        <p:spPr>
          <a:xfrm>
            <a:off x="6807675" y="3597473"/>
            <a:ext cx="4119980" cy="0"/>
          </a:xfrm>
          <a:prstGeom prst="line">
            <a:avLst/>
          </a:prstGeom>
          <a:solidFill>
            <a:srgbClr val="FFFFFF">
              <a:alpha val="0"/>
            </a:srgbClr>
          </a:solidFill>
          <a:ln w="9525">
            <a:solidFill>
              <a:srgbClr val="16223A"/>
            </a:solidFill>
            <a:prstDash val="solid"/>
          </a:ln>
        </p:spPr>
      </p:sp>
      <p:sp>
        <p:nvSpPr>
          <p:cNvPr id="26" name="Text 24"/>
          <p:cNvSpPr/>
          <p:nvPr/>
        </p:nvSpPr>
        <p:spPr>
          <a:xfrm>
            <a:off x="6807675" y="3716536"/>
            <a:ext cx="4119980" cy="200025"/>
          </a:xfrm>
          <a:prstGeom prst="rect">
            <a:avLst/>
          </a:prstGeom>
          <a:noFill/>
          <a:ln/>
        </p:spPr>
        <p:txBody>
          <a:bodyPr wrap="square" lIns="0" tIns="0" rIns="0" bIns="0" rtlCol="0" anchor="t"/>
          <a:lstStyle/>
          <a:p>
            <a:pPr marL="0" indent="0" algn="l">
              <a:buNone/>
            </a:pPr>
            <a:r>
              <a:rPr lang="en-US" sz="1300" b="1" dirty="0">
                <a:solidFill>
                  <a:srgbClr val="0E96AC"/>
                </a:solidFill>
                <a:latin typeface="Calibri" pitchFamily="34" charset="0"/>
                <a:ea typeface="Calibri" pitchFamily="34" charset="-122"/>
                <a:cs typeface="Calibri" pitchFamily="34" charset="-120"/>
              </a:rPr>
              <a:t>MECHANICS + POWER</a:t>
            </a:r>
            <a:endParaRPr lang="en-US" sz="1300" dirty="0"/>
          </a:p>
        </p:txBody>
      </p:sp>
      <p:sp>
        <p:nvSpPr>
          <p:cNvPr id="27" name="Text 25"/>
          <p:cNvSpPr/>
          <p:nvPr/>
        </p:nvSpPr>
        <p:spPr>
          <a:xfrm>
            <a:off x="6807675" y="3916561"/>
            <a:ext cx="4119980" cy="205680"/>
          </a:xfrm>
          <a:prstGeom prst="rect">
            <a:avLst/>
          </a:prstGeom>
          <a:noFill/>
          <a:ln/>
        </p:spPr>
        <p:txBody>
          <a:bodyPr wrap="square" lIns="0" tIns="0" rIns="0" bIns="0" rtlCol="0" anchor="t"/>
          <a:lstStyle/>
          <a:p>
            <a:pPr marL="0" indent="0" algn="l">
              <a:buNone/>
            </a:pPr>
            <a:r>
              <a:rPr lang="en-US" sz="1350" dirty="0">
                <a:solidFill>
                  <a:srgbClr val="16223A"/>
                </a:solidFill>
                <a:latin typeface="Calibri" pitchFamily="34" charset="0"/>
                <a:ea typeface="Calibri" pitchFamily="34" charset="-122"/>
                <a:cs typeface="Calibri" pitchFamily="34" charset="-120"/>
              </a:rPr>
              <a:t>Mounts, wiring and distribution redesigned together</a:t>
            </a:r>
            <a:endParaRPr lang="en-US" sz="1350" dirty="0"/>
          </a:p>
        </p:txBody>
      </p:sp>
      <p:sp>
        <p:nvSpPr>
          <p:cNvPr id="28" name="Shape 26"/>
          <p:cNvSpPr/>
          <p:nvPr/>
        </p:nvSpPr>
        <p:spPr>
          <a:xfrm>
            <a:off x="9477138" y="4657725"/>
            <a:ext cx="1714457" cy="1000125"/>
          </a:xfrm>
          <a:prstGeom prst="roundRect">
            <a:avLst/>
          </a:prstGeom>
          <a:solidFill>
            <a:srgbClr val="0E96AC">
              <a:alpha val="7000"/>
            </a:srgbClr>
          </a:solidFill>
          <a:ln w="19050">
            <a:solidFill>
              <a:srgbClr val="0E96AC"/>
            </a:solidFill>
            <a:prstDash val="solid"/>
          </a:ln>
        </p:spPr>
      </p:sp>
      <p:sp>
        <p:nvSpPr>
          <p:cNvPr id="29" name="Text 27"/>
          <p:cNvSpPr/>
          <p:nvPr/>
        </p:nvSpPr>
        <p:spPr>
          <a:xfrm>
            <a:off x="9591435" y="4917802"/>
            <a:ext cx="1485863" cy="479971"/>
          </a:xfrm>
          <a:prstGeom prst="rect">
            <a:avLst/>
          </a:prstGeom>
          <a:noFill/>
          <a:ln/>
        </p:spPr>
        <p:txBody>
          <a:bodyPr wrap="square" lIns="0" tIns="0" rIns="0" bIns="0" rtlCol="0" anchor="t"/>
          <a:lstStyle/>
          <a:p>
            <a:pPr marL="0" indent="0" algn="ctr">
              <a:buNone/>
            </a:pPr>
            <a:r>
              <a:rPr lang="en-US" sz="1050" dirty="0">
                <a:solidFill>
                  <a:srgbClr val="16223A"/>
                </a:solidFill>
                <a:latin typeface="Calibri" pitchFamily="34" charset="0"/>
                <a:ea typeface="Calibri" pitchFamily="34" charset="-122"/>
                <a:cs typeface="Calibri" pitchFamily="34" charset="-120"/>
              </a:rPr>
              <a:t>ST3215 reference photo</a:t>
            </a:r>
            <a:endParaRPr lang="en-US" sz="1050" dirty="0"/>
          </a:p>
          <a:p>
            <a:pPr marL="0" indent="0" algn="ctr">
              <a:buNone/>
            </a:pPr>
            <a:r>
              <a:rPr lang="en-US" sz="1050" dirty="0">
                <a:solidFill>
                  <a:srgbClr val="16223A"/>
                </a:solidFill>
                <a:latin typeface="Calibri" pitchFamily="34" charset="0"/>
                <a:ea typeface="Calibri" pitchFamily="34" charset="-122"/>
                <a:cs typeface="Calibri" pitchFamily="34" charset="-120"/>
              </a:rPr>
              <a:t>waveshare servo photo.png</a:t>
            </a:r>
            <a:endParaRPr lang="en-US" sz="1050" dirty="0"/>
          </a:p>
        </p:txBody>
      </p:sp>
      <p:sp>
        <p:nvSpPr>
          <p:cNvPr id="30" name="Text 28"/>
          <p:cNvSpPr/>
          <p:nvPr/>
        </p:nvSpPr>
        <p:spPr>
          <a:xfrm>
            <a:off x="704832" y="6324600"/>
            <a:ext cx="3912966" cy="166688"/>
          </a:xfrm>
          <a:prstGeom prst="rect">
            <a:avLst/>
          </a:prstGeom>
          <a:noFill/>
          <a:ln/>
        </p:spPr>
        <p:txBody>
          <a:bodyPr wrap="square" lIns="0" tIns="0" rIns="0" bIns="0" rtlCol="0" anchor="t"/>
          <a:lstStyle/>
          <a:p>
            <a:pPr marL="0" indent="0" algn="l">
              <a:buNone/>
            </a:pPr>
            <a:r>
              <a:rPr lang="en-US" sz="1050" dirty="0">
                <a:solidFill>
                  <a:srgbClr val="627083"/>
                </a:solidFill>
                <a:latin typeface="Calibri" pitchFamily="34" charset="0"/>
                <a:ea typeface="Calibri" pitchFamily="34" charset="-122"/>
                <a:cs typeface="Calibri" pitchFamily="34" charset="-120"/>
              </a:rPr>
              <a:t>The actuator decision changed mechanics, wiring and software together.</a:t>
            </a:r>
            <a:endParaRPr lang="en-US" sz="1050" dirty="0"/>
          </a:p>
        </p:txBody>
      </p:sp>
    </p:spTree>
    <p:extLst>
      <p:ext uri="{BB962C8B-B14F-4D97-AF65-F5344CB8AC3E}">
        <p14:creationId xmlns:p14="http://schemas.microsoft.com/office/powerpoint/2010/main" val="3977097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8FA"/>
          </a:solidFill>
          <a:ln w="12700">
            <a:solidFill>
              <a:srgbClr val="FFFFFF">
                <a:alpha val="0"/>
              </a:srgbClr>
            </a:solidFill>
            <a:prstDash val="solid"/>
          </a:ln>
        </p:spPr>
      </p:sp>
      <p:sp>
        <p:nvSpPr>
          <p:cNvPr id="3" name="Text 1"/>
          <p:cNvSpPr/>
          <p:nvPr/>
        </p:nvSpPr>
        <p:spPr>
          <a:xfrm>
            <a:off x="704832" y="400050"/>
            <a:ext cx="1459893"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PHYSICAL ASSEMBLY</a:t>
            </a:r>
            <a:endParaRPr lang="en-US" sz="1050" dirty="0"/>
          </a:p>
        </p:txBody>
      </p:sp>
      <p:sp>
        <p:nvSpPr>
          <p:cNvPr id="4" name="Text 2"/>
          <p:cNvSpPr/>
          <p:nvPr/>
        </p:nvSpPr>
        <p:spPr>
          <a:xfrm>
            <a:off x="704832" y="66675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Eleven segments, ten coordinated joints</a:t>
            </a:r>
            <a:endParaRPr lang="en-US" sz="3000" dirty="0"/>
          </a:p>
        </p:txBody>
      </p:sp>
      <p:sp>
        <p:nvSpPr>
          <p:cNvPr id="5" name="Shape 3"/>
          <p:cNvSpPr/>
          <p:nvPr/>
        </p:nvSpPr>
        <p:spPr>
          <a:xfrm>
            <a:off x="704832" y="1428750"/>
            <a:ext cx="10782030" cy="4572000"/>
          </a:xfrm>
          <a:prstGeom prst="roundRect">
            <a:avLst/>
          </a:prstGeom>
          <a:solidFill>
            <a:srgbClr val="FFFFFF">
              <a:alpha val="0"/>
            </a:srgbClr>
          </a:solidFill>
          <a:ln w="9525">
            <a:solidFill>
              <a:srgbClr val="FFFFFF"/>
            </a:solidFill>
            <a:prstDash val="solid"/>
          </a:ln>
          <a:effectLst>
            <a:outerShdw blurRad="3770" dist="1588" dir="5400000" algn="bl" rotWithShape="0">
              <a:srgbClr val="16223A">
                <a:alpha val="13000"/>
              </a:srgbClr>
            </a:outerShdw>
          </a:effectLst>
        </p:spPr>
      </p:sp>
      <p:sp>
        <p:nvSpPr>
          <p:cNvPr id="6" name="Shape 4"/>
          <p:cNvSpPr/>
          <p:nvPr/>
        </p:nvSpPr>
        <p:spPr>
          <a:xfrm>
            <a:off x="714357" y="1438275"/>
            <a:ext cx="2571686" cy="4552950"/>
          </a:xfrm>
          <a:prstGeom prst="rect">
            <a:avLst/>
          </a:prstGeom>
          <a:solidFill>
            <a:srgbClr val="FFFFFF">
              <a:alpha val="78000"/>
            </a:srgbClr>
          </a:solidFill>
          <a:ln w="12700">
            <a:solidFill>
              <a:srgbClr val="FFFFFF">
                <a:alpha val="0"/>
              </a:srgbClr>
            </a:solidFill>
            <a:prstDash val="solid"/>
          </a:ln>
        </p:spPr>
      </p:sp>
      <p:sp>
        <p:nvSpPr>
          <p:cNvPr id="7" name="Text 5"/>
          <p:cNvSpPr/>
          <p:nvPr/>
        </p:nvSpPr>
        <p:spPr>
          <a:xfrm>
            <a:off x="981050" y="1838325"/>
            <a:ext cx="2038299" cy="257175"/>
          </a:xfrm>
          <a:prstGeom prst="rect">
            <a:avLst/>
          </a:prstGeom>
          <a:noFill/>
          <a:ln/>
        </p:spPr>
        <p:txBody>
          <a:bodyPr wrap="square" lIns="0" tIns="0" rIns="0" bIns="0" rtlCol="0" anchor="t"/>
          <a:lstStyle/>
          <a:p>
            <a:pPr marL="0" indent="0" algn="l">
              <a:buNone/>
            </a:pPr>
            <a:r>
              <a:rPr lang="en-US" sz="1650" b="1" dirty="0">
                <a:solidFill>
                  <a:srgbClr val="0E96AC"/>
                </a:solidFill>
                <a:latin typeface="Calibri" pitchFamily="34" charset="0"/>
                <a:ea typeface="Calibri" pitchFamily="34" charset="-122"/>
                <a:cs typeface="Calibri" pitchFamily="34" charset="-120"/>
              </a:rPr>
              <a:t>WORKING CHAIN</a:t>
            </a:r>
            <a:endParaRPr lang="en-US" sz="1650" dirty="0"/>
          </a:p>
        </p:txBody>
      </p:sp>
      <p:sp>
        <p:nvSpPr>
          <p:cNvPr id="8" name="Text 6"/>
          <p:cNvSpPr/>
          <p:nvPr/>
        </p:nvSpPr>
        <p:spPr>
          <a:xfrm>
            <a:off x="981050" y="2095500"/>
            <a:ext cx="2038299" cy="230163"/>
          </a:xfrm>
          <a:prstGeom prst="rect">
            <a:avLst/>
          </a:prstGeom>
          <a:noFill/>
          <a:ln/>
        </p:spPr>
        <p:txBody>
          <a:bodyPr wrap="square" lIns="0" tIns="0" rIns="0" bIns="0" rtlCol="0" anchor="t"/>
          <a:lstStyle/>
          <a:p>
            <a:pPr marL="0" indent="0" algn="l">
              <a:buNone/>
            </a:pPr>
            <a:r>
              <a:rPr lang="en-US" sz="1450" dirty="0">
                <a:solidFill>
                  <a:srgbClr val="16223A"/>
                </a:solidFill>
                <a:latin typeface="Calibri" pitchFamily="34" charset="0"/>
                <a:ea typeface="Calibri" pitchFamily="34" charset="-122"/>
                <a:cs typeface="Calibri" pitchFamily="34" charset="-120"/>
              </a:rPr>
              <a:t>Modular body sections</a:t>
            </a:r>
            <a:endParaRPr lang="en-US" sz="1450" dirty="0"/>
          </a:p>
        </p:txBody>
      </p:sp>
      <p:sp>
        <p:nvSpPr>
          <p:cNvPr id="9" name="Text 7"/>
          <p:cNvSpPr/>
          <p:nvPr/>
        </p:nvSpPr>
        <p:spPr>
          <a:xfrm>
            <a:off x="981050" y="2325663"/>
            <a:ext cx="2038299" cy="230163"/>
          </a:xfrm>
          <a:prstGeom prst="rect">
            <a:avLst/>
          </a:prstGeom>
          <a:noFill/>
          <a:ln/>
        </p:spPr>
        <p:txBody>
          <a:bodyPr wrap="square" lIns="0" tIns="0" rIns="0" bIns="0" rtlCol="0" anchor="t"/>
          <a:lstStyle/>
          <a:p>
            <a:pPr marL="0" indent="0" algn="l">
              <a:buNone/>
            </a:pPr>
            <a:r>
              <a:rPr lang="en-US" sz="1450" dirty="0">
                <a:solidFill>
                  <a:srgbClr val="16223A"/>
                </a:solidFill>
                <a:latin typeface="Calibri" pitchFamily="34" charset="0"/>
                <a:ea typeface="Calibri" pitchFamily="34" charset="-122"/>
                <a:cs typeface="Calibri" pitchFamily="34" charset="-120"/>
              </a:rPr>
              <a:t>Ten yaw joints</a:t>
            </a:r>
            <a:endParaRPr lang="en-US" sz="1450" dirty="0"/>
          </a:p>
        </p:txBody>
      </p:sp>
      <p:sp>
        <p:nvSpPr>
          <p:cNvPr id="10" name="Text 8"/>
          <p:cNvSpPr/>
          <p:nvPr/>
        </p:nvSpPr>
        <p:spPr>
          <a:xfrm>
            <a:off x="981050" y="2555825"/>
            <a:ext cx="2038299" cy="460325"/>
          </a:xfrm>
          <a:prstGeom prst="rect">
            <a:avLst/>
          </a:prstGeom>
          <a:noFill/>
          <a:ln/>
        </p:spPr>
        <p:txBody>
          <a:bodyPr wrap="square" lIns="0" tIns="0" rIns="0" bIns="0" rtlCol="0" anchor="t"/>
          <a:lstStyle/>
          <a:p>
            <a:pPr marL="0" indent="0" algn="l">
              <a:buNone/>
            </a:pPr>
            <a:r>
              <a:rPr lang="en-US" sz="1450" dirty="0">
                <a:solidFill>
                  <a:srgbClr val="16223A"/>
                </a:solidFill>
                <a:latin typeface="Calibri" pitchFamily="34" charset="0"/>
                <a:ea typeface="Calibri" pitchFamily="34" charset="-122"/>
                <a:cs typeface="Calibri" pitchFamily="34" charset="-120"/>
              </a:rPr>
              <a:t>Daisy-chained servo connections</a:t>
            </a:r>
            <a:endParaRPr lang="en-US" sz="1450" dirty="0"/>
          </a:p>
        </p:txBody>
      </p:sp>
      <p:sp>
        <p:nvSpPr>
          <p:cNvPr id="11" name="Text 9"/>
          <p:cNvSpPr/>
          <p:nvPr/>
        </p:nvSpPr>
        <p:spPr>
          <a:xfrm>
            <a:off x="4524262" y="3295650"/>
            <a:ext cx="3905152" cy="304800"/>
          </a:xfrm>
          <a:prstGeom prst="rect">
            <a:avLst/>
          </a:prstGeom>
          <a:noFill/>
          <a:ln/>
        </p:spPr>
        <p:txBody>
          <a:bodyPr wrap="square" lIns="0" tIns="0" rIns="0" bIns="0" rtlCol="0" anchor="t"/>
          <a:lstStyle/>
          <a:p>
            <a:pPr marL="0" indent="0" algn="ctr">
              <a:buNone/>
            </a:pPr>
            <a:r>
              <a:rPr lang="en-US" sz="1950" b="1" dirty="0">
                <a:solidFill>
                  <a:srgbClr val="16223A"/>
                </a:solidFill>
                <a:latin typeface="Calibri" pitchFamily="34" charset="0"/>
                <a:ea typeface="Calibri" pitchFamily="34" charset="-122"/>
                <a:cs typeface="Calibri" pitchFamily="34" charset="-120"/>
              </a:rPr>
              <a:t>Full-chain assembly photo</a:t>
            </a:r>
            <a:endParaRPr lang="en-US" sz="1950" dirty="0"/>
          </a:p>
        </p:txBody>
      </p:sp>
      <p:sp>
        <p:nvSpPr>
          <p:cNvPr id="12" name="Text 10"/>
          <p:cNvSpPr/>
          <p:nvPr/>
        </p:nvSpPr>
        <p:spPr>
          <a:xfrm>
            <a:off x="4524262" y="3600450"/>
            <a:ext cx="3905152" cy="429220"/>
          </a:xfrm>
          <a:prstGeom prst="rect">
            <a:avLst/>
          </a:prstGeom>
          <a:noFill/>
          <a:ln/>
        </p:spPr>
        <p:txBody>
          <a:bodyPr wrap="square" lIns="0" tIns="0" rIns="0" bIns="0" rtlCol="0" anchor="t"/>
          <a:lstStyle/>
          <a:p>
            <a:pPr marL="0" indent="0" algn="ctr">
              <a:buNone/>
            </a:pPr>
            <a:r>
              <a:rPr lang="en-US" sz="1300" dirty="0">
                <a:solidFill>
                  <a:srgbClr val="506074"/>
                </a:solidFill>
                <a:latin typeface="Calibri" pitchFamily="34" charset="0"/>
                <a:ea typeface="Calibri" pitchFamily="34" charset="-122"/>
                <a:cs typeface="Calibri" pitchFamily="34" charset="-120"/>
              </a:rPr>
              <a:t>Place: gen2-st3215/media/20260923_224427.jpg</a:t>
            </a:r>
            <a:endParaRPr lang="en-US" sz="1300" dirty="0"/>
          </a:p>
          <a:p>
            <a:pPr marL="0" indent="0" algn="ctr">
              <a:buNone/>
            </a:pPr>
            <a:r>
              <a:rPr lang="en-US" sz="1300" dirty="0">
                <a:solidFill>
                  <a:srgbClr val="506074"/>
                </a:solidFill>
                <a:latin typeface="Calibri" pitchFamily="34" charset="0"/>
                <a:ea typeface="Calibri" pitchFamily="34" charset="-122"/>
                <a:cs typeface="Calibri" pitchFamily="34" charset="-120"/>
              </a:rPr>
              <a:t>Preserve the complete visible chain.</a:t>
            </a:r>
            <a:endParaRPr lang="en-US" sz="1300" dirty="0"/>
          </a:p>
        </p:txBody>
      </p:sp>
      <p:sp>
        <p:nvSpPr>
          <p:cNvPr id="13" name="Shape 11"/>
          <p:cNvSpPr/>
          <p:nvPr/>
        </p:nvSpPr>
        <p:spPr>
          <a:xfrm>
            <a:off x="3857529" y="2343150"/>
            <a:ext cx="342891" cy="342900"/>
          </a:xfrm>
          <a:prstGeom prst="ellipse">
            <a:avLst/>
          </a:prstGeom>
          <a:solidFill>
            <a:srgbClr val="0E96AC"/>
          </a:solidFill>
          <a:ln w="12700">
            <a:solidFill>
              <a:srgbClr val="FFFFFF">
                <a:alpha val="0"/>
              </a:srgbClr>
            </a:solidFill>
            <a:prstDash val="solid"/>
          </a:ln>
          <a:effectLst>
            <a:outerShdw blurRad="1786" dist="695" dir="5400000" algn="bl" rotWithShape="0">
              <a:srgbClr val="0E96AC">
                <a:alpha val="30000"/>
              </a:srgbClr>
            </a:outerShdw>
          </a:effectLst>
        </p:spPr>
      </p:sp>
      <p:sp>
        <p:nvSpPr>
          <p:cNvPr id="14" name="Shape 12"/>
          <p:cNvSpPr/>
          <p:nvPr/>
        </p:nvSpPr>
        <p:spPr>
          <a:xfrm>
            <a:off x="5476738" y="4295775"/>
            <a:ext cx="342891" cy="342900"/>
          </a:xfrm>
          <a:prstGeom prst="ellipse">
            <a:avLst/>
          </a:prstGeom>
          <a:solidFill>
            <a:srgbClr val="0E96AC"/>
          </a:solidFill>
          <a:ln w="12700">
            <a:solidFill>
              <a:srgbClr val="FFFFFF">
                <a:alpha val="0"/>
              </a:srgbClr>
            </a:solidFill>
            <a:prstDash val="solid"/>
          </a:ln>
          <a:effectLst>
            <a:outerShdw blurRad="1786" dist="695" dir="5400000" algn="bl" rotWithShape="0">
              <a:srgbClr val="0E96AC">
                <a:alpha val="30000"/>
              </a:srgbClr>
            </a:outerShdw>
          </a:effectLst>
        </p:spPr>
      </p:sp>
      <p:sp>
        <p:nvSpPr>
          <p:cNvPr id="15" name="Shape 13"/>
          <p:cNvSpPr/>
          <p:nvPr/>
        </p:nvSpPr>
        <p:spPr>
          <a:xfrm>
            <a:off x="7286443" y="2390775"/>
            <a:ext cx="342891" cy="342900"/>
          </a:xfrm>
          <a:prstGeom prst="ellipse">
            <a:avLst/>
          </a:prstGeom>
          <a:solidFill>
            <a:srgbClr val="0E96AC"/>
          </a:solidFill>
          <a:ln w="12700">
            <a:solidFill>
              <a:srgbClr val="FFFFFF">
                <a:alpha val="0"/>
              </a:srgbClr>
            </a:solidFill>
            <a:prstDash val="solid"/>
          </a:ln>
          <a:effectLst>
            <a:outerShdw blurRad="1786" dist="695" dir="5400000" algn="bl" rotWithShape="0">
              <a:srgbClr val="0E96AC">
                <a:alpha val="30000"/>
              </a:srgbClr>
            </a:outerShdw>
          </a:effectLst>
        </p:spPr>
      </p:sp>
      <p:sp>
        <p:nvSpPr>
          <p:cNvPr id="16" name="Shape 14"/>
          <p:cNvSpPr/>
          <p:nvPr/>
        </p:nvSpPr>
        <p:spPr>
          <a:xfrm>
            <a:off x="9000900" y="4343400"/>
            <a:ext cx="342891" cy="342900"/>
          </a:xfrm>
          <a:prstGeom prst="ellipse">
            <a:avLst/>
          </a:prstGeom>
          <a:solidFill>
            <a:srgbClr val="0E96AC"/>
          </a:solidFill>
          <a:ln w="12700">
            <a:solidFill>
              <a:srgbClr val="FFFFFF">
                <a:alpha val="0"/>
              </a:srgbClr>
            </a:solidFill>
            <a:prstDash val="solid"/>
          </a:ln>
          <a:effectLst>
            <a:outerShdw blurRad="1786" dist="695" dir="5400000" algn="bl" rotWithShape="0">
              <a:srgbClr val="0E96AC">
                <a:alpha val="30000"/>
              </a:srgbClr>
            </a:outerShdw>
          </a:effectLst>
        </p:spPr>
      </p:sp>
      <p:sp>
        <p:nvSpPr>
          <p:cNvPr id="17" name="Shape 15"/>
          <p:cNvSpPr/>
          <p:nvPr/>
        </p:nvSpPr>
        <p:spPr>
          <a:xfrm>
            <a:off x="10524862" y="2438400"/>
            <a:ext cx="342891" cy="342900"/>
          </a:xfrm>
          <a:prstGeom prst="ellipse">
            <a:avLst/>
          </a:prstGeom>
          <a:solidFill>
            <a:srgbClr val="0E96AC"/>
          </a:solidFill>
          <a:ln w="12700">
            <a:solidFill>
              <a:srgbClr val="FFFFFF">
                <a:alpha val="0"/>
              </a:srgbClr>
            </a:solidFill>
            <a:prstDash val="solid"/>
          </a:ln>
          <a:effectLst>
            <a:outerShdw blurRad="1786" dist="695" dir="5400000" algn="bl" rotWithShape="0">
              <a:srgbClr val="0E96AC">
                <a:alpha val="30000"/>
              </a:srgbClr>
            </a:outerShdw>
          </a:effectLst>
        </p:spPr>
      </p:sp>
      <p:sp>
        <p:nvSpPr>
          <p:cNvPr id="18" name="Text 16"/>
          <p:cNvSpPr/>
          <p:nvPr/>
        </p:nvSpPr>
        <p:spPr>
          <a:xfrm>
            <a:off x="704832" y="6334125"/>
            <a:ext cx="2768804" cy="166688"/>
          </a:xfrm>
          <a:prstGeom prst="rect">
            <a:avLst/>
          </a:prstGeom>
          <a:noFill/>
          <a:ln/>
        </p:spPr>
        <p:txBody>
          <a:bodyPr wrap="square" lIns="0" tIns="0" rIns="0" bIns="0" rtlCol="0" anchor="t"/>
          <a:lstStyle/>
          <a:p>
            <a:pPr marL="0" indent="0" algn="l">
              <a:buNone/>
            </a:pPr>
            <a:r>
              <a:rPr lang="en-US" sz="1050" dirty="0">
                <a:solidFill>
                  <a:srgbClr val="627083"/>
                </a:solidFill>
                <a:latin typeface="Calibri" pitchFamily="34" charset="0"/>
                <a:ea typeface="Calibri" pitchFamily="34" charset="-122"/>
                <a:cs typeface="Calibri" pitchFamily="34" charset="-120"/>
              </a:rPr>
              <a:t>Joint numbers indicate order, not measured timing.</a:t>
            </a:r>
            <a:endParaRPr lang="en-US" sz="1050" dirty="0"/>
          </a:p>
        </p:txBody>
      </p:sp>
    </p:spTree>
    <p:extLst>
      <p:ext uri="{BB962C8B-B14F-4D97-AF65-F5344CB8AC3E}">
        <p14:creationId xmlns:p14="http://schemas.microsoft.com/office/powerpoint/2010/main" val="3880195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4832" y="400050"/>
            <a:ext cx="1680451"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MECHANICS + CONTACT</a:t>
            </a:r>
            <a:endParaRPr lang="en-US" sz="1050" dirty="0"/>
          </a:p>
        </p:txBody>
      </p:sp>
      <p:sp>
        <p:nvSpPr>
          <p:cNvPr id="3" name="Text 1"/>
          <p:cNvSpPr/>
          <p:nvPr/>
        </p:nvSpPr>
        <p:spPr>
          <a:xfrm>
            <a:off x="704832" y="66675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Ground contact is part of the mechanism</a:t>
            </a:r>
            <a:endParaRPr lang="en-US" sz="3000" dirty="0"/>
          </a:p>
        </p:txBody>
      </p:sp>
      <p:sp>
        <p:nvSpPr>
          <p:cNvPr id="4" name="Shape 2"/>
          <p:cNvSpPr/>
          <p:nvPr/>
        </p:nvSpPr>
        <p:spPr>
          <a:xfrm>
            <a:off x="704832" y="1428750"/>
            <a:ext cx="5276718" cy="409575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3000"/>
              </a:srgbClr>
            </a:outerShdw>
          </a:effectLst>
        </p:spPr>
      </p:sp>
      <p:sp>
        <p:nvSpPr>
          <p:cNvPr id="5" name="Text 3"/>
          <p:cNvSpPr/>
          <p:nvPr/>
        </p:nvSpPr>
        <p:spPr>
          <a:xfrm>
            <a:off x="962001" y="1666875"/>
            <a:ext cx="1839842" cy="319088"/>
          </a:xfrm>
          <a:prstGeom prst="rect">
            <a:avLst/>
          </a:prstGeom>
          <a:noFill/>
          <a:ln/>
        </p:spPr>
        <p:txBody>
          <a:bodyPr wrap="square" lIns="0" tIns="0" rIns="0" bIns="0" rtlCol="0" anchor="t"/>
          <a:lstStyle/>
          <a:p>
            <a:pPr marL="0" indent="0" algn="l">
              <a:buNone/>
            </a:pPr>
            <a:r>
              <a:rPr lang="en-US" sz="1050" b="1" dirty="0">
                <a:solidFill>
                  <a:srgbClr val="FFFFFF"/>
                </a:solidFill>
                <a:latin typeface="Calibri" pitchFamily="34" charset="0"/>
                <a:ea typeface="Calibri" pitchFamily="34" charset="-122"/>
                <a:cs typeface="Calibri" pitchFamily="34" charset="-120"/>
              </a:rPr>
              <a:t>PHYSICAL EVIDENCE NEEDED</a:t>
            </a:r>
            <a:endParaRPr lang="en-US" sz="1050" dirty="0"/>
          </a:p>
        </p:txBody>
      </p:sp>
      <p:sp>
        <p:nvSpPr>
          <p:cNvPr id="6" name="Text 4"/>
          <p:cNvSpPr/>
          <p:nvPr/>
        </p:nvSpPr>
        <p:spPr>
          <a:xfrm>
            <a:off x="1238219" y="2914650"/>
            <a:ext cx="4209945" cy="280987"/>
          </a:xfrm>
          <a:prstGeom prst="rect">
            <a:avLst/>
          </a:prstGeom>
          <a:noFill/>
          <a:ln/>
        </p:spPr>
        <p:txBody>
          <a:bodyPr wrap="square" lIns="0" tIns="0" rIns="0" bIns="0" rtlCol="0" anchor="t"/>
          <a:lstStyle/>
          <a:p>
            <a:pPr marL="0" indent="0" algn="ctr">
              <a:buNone/>
            </a:pPr>
            <a:r>
              <a:rPr lang="en-US" sz="1800" b="1" dirty="0">
                <a:solidFill>
                  <a:srgbClr val="16223A"/>
                </a:solidFill>
                <a:latin typeface="Calibri" pitchFamily="34" charset="0"/>
                <a:ea typeface="Calibri" pitchFamily="34" charset="-122"/>
                <a:cs typeface="Calibri" pitchFamily="34" charset="-120"/>
              </a:rPr>
              <a:t>Joint / belly close-up</a:t>
            </a:r>
            <a:endParaRPr lang="en-US" sz="1800" dirty="0"/>
          </a:p>
        </p:txBody>
      </p:sp>
      <p:sp>
        <p:nvSpPr>
          <p:cNvPr id="7" name="Text 5"/>
          <p:cNvSpPr/>
          <p:nvPr/>
        </p:nvSpPr>
        <p:spPr>
          <a:xfrm>
            <a:off x="1238219" y="3195638"/>
            <a:ext cx="4209945" cy="396180"/>
          </a:xfrm>
          <a:prstGeom prst="rect">
            <a:avLst/>
          </a:prstGeom>
          <a:noFill/>
          <a:ln/>
        </p:spPr>
        <p:txBody>
          <a:bodyPr wrap="square" lIns="0" tIns="0" rIns="0" bIns="0" rtlCol="0" anchor="t"/>
          <a:lstStyle/>
          <a:p>
            <a:pPr marL="0" indent="0" algn="ctr">
              <a:buNone/>
            </a:pPr>
            <a:r>
              <a:rPr lang="en-US" sz="1200" dirty="0">
                <a:solidFill>
                  <a:srgbClr val="536176"/>
                </a:solidFill>
                <a:latin typeface="Calibri" pitchFamily="34" charset="0"/>
                <a:ea typeface="Calibri" pitchFamily="34" charset="-122"/>
                <a:cs typeface="Calibri" pitchFamily="34" charset="-120"/>
              </a:rPr>
              <a:t>Add a physical photo showing the yoke, motor retention and contact surface.</a:t>
            </a:r>
            <a:endParaRPr lang="en-US" sz="1200" dirty="0"/>
          </a:p>
        </p:txBody>
      </p:sp>
      <p:sp>
        <p:nvSpPr>
          <p:cNvPr id="8" name="Shape 6"/>
          <p:cNvSpPr/>
          <p:nvPr/>
        </p:nvSpPr>
        <p:spPr>
          <a:xfrm>
            <a:off x="6210145" y="1428750"/>
            <a:ext cx="5276718" cy="409575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3000"/>
              </a:srgbClr>
            </a:outerShdw>
          </a:effectLst>
        </p:spPr>
      </p:sp>
      <p:sp>
        <p:nvSpPr>
          <p:cNvPr id="9" name="Text 7"/>
          <p:cNvSpPr/>
          <p:nvPr/>
        </p:nvSpPr>
        <p:spPr>
          <a:xfrm>
            <a:off x="6467313" y="1666875"/>
            <a:ext cx="843462" cy="319088"/>
          </a:xfrm>
          <a:prstGeom prst="rect">
            <a:avLst/>
          </a:prstGeom>
          <a:noFill/>
          <a:ln/>
        </p:spPr>
        <p:txBody>
          <a:bodyPr wrap="square" lIns="0" tIns="0" rIns="0" bIns="0" rtlCol="0" anchor="t"/>
          <a:lstStyle/>
          <a:p>
            <a:pPr marL="0" indent="0" algn="l">
              <a:buNone/>
            </a:pPr>
            <a:r>
              <a:rPr lang="en-US" sz="1050" b="1" dirty="0">
                <a:solidFill>
                  <a:srgbClr val="FFFFFF"/>
                </a:solidFill>
                <a:latin typeface="Calibri" pitchFamily="34" charset="0"/>
                <a:ea typeface="Calibri" pitchFamily="34" charset="-122"/>
                <a:cs typeface="Calibri" pitchFamily="34" charset="-120"/>
              </a:rPr>
              <a:t>V6 DESIGN</a:t>
            </a:r>
            <a:endParaRPr lang="en-US" sz="1050" dirty="0"/>
          </a:p>
        </p:txBody>
      </p:sp>
      <p:sp>
        <p:nvSpPr>
          <p:cNvPr id="10" name="Text 8"/>
          <p:cNvSpPr/>
          <p:nvPr/>
        </p:nvSpPr>
        <p:spPr>
          <a:xfrm>
            <a:off x="6743531" y="2914650"/>
            <a:ext cx="4209945" cy="280987"/>
          </a:xfrm>
          <a:prstGeom prst="rect">
            <a:avLst/>
          </a:prstGeom>
          <a:noFill/>
          <a:ln/>
        </p:spPr>
        <p:txBody>
          <a:bodyPr wrap="square" lIns="0" tIns="0" rIns="0" bIns="0" rtlCol="0" anchor="t"/>
          <a:lstStyle/>
          <a:p>
            <a:pPr marL="0" indent="0" algn="ctr">
              <a:buNone/>
            </a:pPr>
            <a:r>
              <a:rPr lang="en-US" sz="1800" b="1" dirty="0">
                <a:solidFill>
                  <a:srgbClr val="16223A"/>
                </a:solidFill>
                <a:latin typeface="Calibri" pitchFamily="34" charset="0"/>
                <a:ea typeface="Calibri" pitchFamily="34" charset="-122"/>
                <a:cs typeface="Calibri" pitchFamily="34" charset="-120"/>
              </a:rPr>
              <a:t>Matching CAD view</a:t>
            </a:r>
            <a:endParaRPr lang="en-US" sz="1800" dirty="0"/>
          </a:p>
        </p:txBody>
      </p:sp>
      <p:sp>
        <p:nvSpPr>
          <p:cNvPr id="11" name="Text 9"/>
          <p:cNvSpPr/>
          <p:nvPr/>
        </p:nvSpPr>
        <p:spPr>
          <a:xfrm>
            <a:off x="6743531" y="3195638"/>
            <a:ext cx="4209945" cy="396180"/>
          </a:xfrm>
          <a:prstGeom prst="rect">
            <a:avLst/>
          </a:prstGeom>
          <a:noFill/>
          <a:ln/>
        </p:spPr>
        <p:txBody>
          <a:bodyPr wrap="square" lIns="0" tIns="0" rIns="0" bIns="0" rtlCol="0" anchor="t"/>
          <a:lstStyle/>
          <a:p>
            <a:pPr marL="0" indent="0" algn="ctr">
              <a:buNone/>
            </a:pPr>
            <a:r>
              <a:rPr lang="en-US" sz="1200" dirty="0">
                <a:solidFill>
                  <a:srgbClr val="536176"/>
                </a:solidFill>
                <a:latin typeface="Calibri" pitchFamily="34" charset="0"/>
                <a:ea typeface="Calibri" pitchFamily="34" charset="-122"/>
                <a:cs typeface="Calibri" pitchFamily="34" charset="-120"/>
              </a:rPr>
              <a:t>Add the v6 geometry without implying the current build uses that revision.</a:t>
            </a:r>
            <a:endParaRPr lang="en-US" sz="1200" dirty="0"/>
          </a:p>
        </p:txBody>
      </p:sp>
      <p:sp>
        <p:nvSpPr>
          <p:cNvPr id="12" name="Shape 10"/>
          <p:cNvSpPr/>
          <p:nvPr/>
        </p:nvSpPr>
        <p:spPr>
          <a:xfrm>
            <a:off x="933427" y="5676900"/>
            <a:ext cx="10324842" cy="514350"/>
          </a:xfrm>
          <a:prstGeom prst="roundRect">
            <a:avLst/>
          </a:prstGeom>
          <a:solidFill>
            <a:srgbClr val="FFFFFF">
              <a:alpha val="88000"/>
            </a:srgbClr>
          </a:solidFill>
          <a:ln w="12700">
            <a:solidFill>
              <a:srgbClr val="FFFFFF">
                <a:alpha val="0"/>
              </a:srgbClr>
            </a:solidFill>
            <a:prstDash val="solid"/>
          </a:ln>
          <a:effectLst>
            <a:outerShdw blurRad="2381" dist="992" dir="5400000" algn="bl" rotWithShape="0">
              <a:srgbClr val="16223A">
                <a:alpha val="10000"/>
              </a:srgbClr>
            </a:outerShdw>
          </a:effectLst>
        </p:spPr>
      </p:sp>
      <p:sp>
        <p:nvSpPr>
          <p:cNvPr id="13" name="Text 11"/>
          <p:cNvSpPr/>
          <p:nvPr/>
        </p:nvSpPr>
        <p:spPr>
          <a:xfrm>
            <a:off x="1462349" y="5834063"/>
            <a:ext cx="1104724" cy="200025"/>
          </a:xfrm>
          <a:prstGeom prst="rect">
            <a:avLst/>
          </a:prstGeom>
          <a:noFill/>
          <a:ln/>
        </p:spPr>
        <p:txBody>
          <a:bodyPr wrap="square" lIns="0" tIns="0" rIns="0" bIns="0" rtlCol="0" anchor="t"/>
          <a:lstStyle/>
          <a:p>
            <a:pPr marL="0" indent="0" algn="l">
              <a:buNone/>
            </a:pPr>
            <a:r>
              <a:rPr lang="en-US" sz="1300" b="1" dirty="0">
                <a:solidFill>
                  <a:srgbClr val="16223A"/>
                </a:solidFill>
                <a:latin typeface="Calibri" pitchFamily="34" charset="0"/>
                <a:ea typeface="Calibri" pitchFamily="34" charset="-122"/>
                <a:cs typeface="Calibri" pitchFamily="34" charset="-120"/>
              </a:rPr>
              <a:t>Yokes carry load</a:t>
            </a:r>
            <a:endParaRPr lang="en-US" sz="1300" dirty="0"/>
          </a:p>
        </p:txBody>
      </p:sp>
      <p:sp>
        <p:nvSpPr>
          <p:cNvPr id="14" name="Text 12"/>
          <p:cNvSpPr/>
          <p:nvPr/>
        </p:nvSpPr>
        <p:spPr>
          <a:xfrm>
            <a:off x="3624916" y="5834063"/>
            <a:ext cx="149494" cy="200025"/>
          </a:xfrm>
          <a:prstGeom prst="rect">
            <a:avLst/>
          </a:prstGeom>
          <a:noFill/>
          <a:ln/>
        </p:spPr>
        <p:txBody>
          <a:bodyPr wrap="square" lIns="0" tIns="0" rIns="0" bIns="0" rtlCol="0" anchor="t"/>
          <a:lstStyle/>
          <a:p>
            <a:pPr marL="0" indent="0" algn="l">
              <a:buNone/>
            </a:pPr>
            <a:r>
              <a:rPr lang="en-US" sz="1300" b="1" dirty="0">
                <a:solidFill>
                  <a:srgbClr val="0E96AC"/>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4832254" y="5834063"/>
            <a:ext cx="1544797" cy="200025"/>
          </a:xfrm>
          <a:prstGeom prst="rect">
            <a:avLst/>
          </a:prstGeom>
          <a:noFill/>
          <a:ln/>
        </p:spPr>
        <p:txBody>
          <a:bodyPr wrap="square" lIns="0" tIns="0" rIns="0" bIns="0" rtlCol="0" anchor="t"/>
          <a:lstStyle/>
          <a:p>
            <a:pPr marL="0" indent="0" algn="l">
              <a:buNone/>
            </a:pPr>
            <a:r>
              <a:rPr lang="en-US" sz="1300" b="1" dirty="0">
                <a:solidFill>
                  <a:srgbClr val="16223A"/>
                </a:solidFill>
                <a:latin typeface="Calibri" pitchFamily="34" charset="0"/>
                <a:ea typeface="Calibri" pitchFamily="34" charset="-122"/>
                <a:cs typeface="Calibri" pitchFamily="34" charset="-120"/>
              </a:rPr>
              <a:t>Retention holds motor</a:t>
            </a:r>
            <a:endParaRPr lang="en-US" sz="1300" dirty="0"/>
          </a:p>
        </p:txBody>
      </p:sp>
      <p:sp>
        <p:nvSpPr>
          <p:cNvPr id="16" name="Text 14"/>
          <p:cNvSpPr/>
          <p:nvPr/>
        </p:nvSpPr>
        <p:spPr>
          <a:xfrm>
            <a:off x="7434970" y="5834063"/>
            <a:ext cx="149494" cy="200025"/>
          </a:xfrm>
          <a:prstGeom prst="rect">
            <a:avLst/>
          </a:prstGeom>
          <a:noFill/>
          <a:ln/>
        </p:spPr>
        <p:txBody>
          <a:bodyPr wrap="square" lIns="0" tIns="0" rIns="0" bIns="0" rtlCol="0" anchor="t"/>
          <a:lstStyle/>
          <a:p>
            <a:pPr marL="0" indent="0" algn="l">
              <a:buNone/>
            </a:pPr>
            <a:r>
              <a:rPr lang="en-US" sz="1300" b="1" dirty="0">
                <a:solidFill>
                  <a:srgbClr val="0E96AC"/>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8642308" y="5834063"/>
            <a:ext cx="2087039" cy="200025"/>
          </a:xfrm>
          <a:prstGeom prst="rect">
            <a:avLst/>
          </a:prstGeom>
          <a:noFill/>
          <a:ln/>
        </p:spPr>
        <p:txBody>
          <a:bodyPr wrap="square" lIns="0" tIns="0" rIns="0" bIns="0" rtlCol="0" anchor="t"/>
          <a:lstStyle/>
          <a:p>
            <a:pPr marL="0" indent="0" algn="l">
              <a:buNone/>
            </a:pPr>
            <a:r>
              <a:rPr lang="en-US" sz="1300" b="1" dirty="0">
                <a:solidFill>
                  <a:srgbClr val="16223A"/>
                </a:solidFill>
                <a:latin typeface="Calibri" pitchFamily="34" charset="0"/>
                <a:ea typeface="Calibri" pitchFamily="34" charset="-122"/>
                <a:cs typeface="Calibri" pitchFamily="34" charset="-120"/>
              </a:rPr>
              <a:t>Belly features resist lateral slip</a:t>
            </a:r>
            <a:endParaRPr lang="en-US" sz="1300" dirty="0"/>
          </a:p>
        </p:txBody>
      </p:sp>
      <p:sp>
        <p:nvSpPr>
          <p:cNvPr id="18" name="Text 16"/>
          <p:cNvSpPr/>
          <p:nvPr/>
        </p:nvSpPr>
        <p:spPr>
          <a:xfrm>
            <a:off x="704832" y="6381750"/>
            <a:ext cx="4681793"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Design principle only; traction, clearance and directional friction still require measurement.</a:t>
            </a:r>
            <a:endParaRPr lang="en-US" sz="1000" dirty="0"/>
          </a:p>
        </p:txBody>
      </p:sp>
    </p:spTree>
    <p:extLst>
      <p:ext uri="{BB962C8B-B14F-4D97-AF65-F5344CB8AC3E}">
        <p14:creationId xmlns:p14="http://schemas.microsoft.com/office/powerpoint/2010/main" val="3049869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8FA"/>
          </a:solidFill>
          <a:ln w="12700">
            <a:solidFill>
              <a:srgbClr val="FFFFFF">
                <a:alpha val="0"/>
              </a:srgbClr>
            </a:solidFill>
            <a:prstDash val="solid"/>
          </a:ln>
        </p:spPr>
        <p:txBody>
          <a:bodyPr/>
          <a:lstStyle/>
          <a:p>
            <a:endParaRPr lang="en-IN"/>
          </a:p>
        </p:txBody>
      </p:sp>
      <p:sp>
        <p:nvSpPr>
          <p:cNvPr id="3" name="Text 1"/>
          <p:cNvSpPr/>
          <p:nvPr/>
        </p:nvSpPr>
        <p:spPr>
          <a:xfrm>
            <a:off x="704832" y="400050"/>
            <a:ext cx="1332202"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POWER DESIGN V3</a:t>
            </a:r>
            <a:endParaRPr lang="en-US" sz="1050" dirty="0"/>
          </a:p>
        </p:txBody>
      </p:sp>
      <p:sp>
        <p:nvSpPr>
          <p:cNvPr id="4" name="Text 2"/>
          <p:cNvSpPr/>
          <p:nvPr/>
        </p:nvSpPr>
        <p:spPr>
          <a:xfrm>
            <a:off x="704832" y="66675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Power reaches the servos in five pairs</a:t>
            </a:r>
            <a:endParaRPr lang="en-US" sz="3000" dirty="0"/>
          </a:p>
        </p:txBody>
      </p:sp>
      <p:sp>
        <p:nvSpPr>
          <p:cNvPr id="5" name="Shape 3"/>
          <p:cNvSpPr/>
          <p:nvPr/>
        </p:nvSpPr>
        <p:spPr>
          <a:xfrm>
            <a:off x="704832" y="1428750"/>
            <a:ext cx="8715157" cy="457200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txBody>
          <a:bodyPr/>
          <a:lstStyle/>
          <a:p>
            <a:endParaRPr lang="en-IN"/>
          </a:p>
        </p:txBody>
      </p:sp>
      <p:sp>
        <p:nvSpPr>
          <p:cNvPr id="6" name="Shape 4"/>
          <p:cNvSpPr/>
          <p:nvPr/>
        </p:nvSpPr>
        <p:spPr>
          <a:xfrm>
            <a:off x="1047724" y="3248025"/>
            <a:ext cx="1190595" cy="476250"/>
          </a:xfrm>
          <a:prstGeom prst="roundRect">
            <a:avLst/>
          </a:prstGeom>
          <a:solidFill>
            <a:srgbClr val="FFFFFF"/>
          </a:solidFill>
          <a:ln w="19050">
            <a:solidFill>
              <a:srgbClr val="0E96AC"/>
            </a:solidFill>
            <a:prstDash val="solid"/>
          </a:ln>
        </p:spPr>
        <p:txBody>
          <a:bodyPr/>
          <a:lstStyle/>
          <a:p>
            <a:endParaRPr lang="en-IN"/>
          </a:p>
        </p:txBody>
      </p:sp>
      <p:sp>
        <p:nvSpPr>
          <p:cNvPr id="7" name="Text 5"/>
          <p:cNvSpPr/>
          <p:nvPr/>
        </p:nvSpPr>
        <p:spPr>
          <a:xfrm>
            <a:off x="1181070" y="3381375"/>
            <a:ext cx="923902" cy="209550"/>
          </a:xfrm>
          <a:prstGeom prst="rect">
            <a:avLst/>
          </a:prstGeom>
          <a:noFill/>
          <a:ln/>
        </p:spPr>
        <p:txBody>
          <a:bodyPr wrap="square" lIns="0" tIns="0" rIns="0" bIns="0" rtlCol="0" anchor="t"/>
          <a:lstStyle/>
          <a:p>
            <a:pPr marL="0" indent="0" algn="ctr">
              <a:buNone/>
            </a:pPr>
            <a:r>
              <a:rPr lang="en-US" sz="1350" b="1" dirty="0">
                <a:solidFill>
                  <a:srgbClr val="16223A"/>
                </a:solidFill>
                <a:latin typeface="Calibri" pitchFamily="34" charset="0"/>
                <a:ea typeface="Calibri" pitchFamily="34" charset="-122"/>
                <a:cs typeface="Calibri" pitchFamily="34" charset="-120"/>
              </a:rPr>
              <a:t>3S LiPo</a:t>
            </a:r>
            <a:endParaRPr lang="en-US" sz="1350" dirty="0"/>
          </a:p>
        </p:txBody>
      </p:sp>
      <p:sp>
        <p:nvSpPr>
          <p:cNvPr id="8" name="Shape 6"/>
          <p:cNvSpPr/>
          <p:nvPr/>
        </p:nvSpPr>
        <p:spPr>
          <a:xfrm>
            <a:off x="2238319" y="3533775"/>
            <a:ext cx="428614" cy="47625"/>
          </a:xfrm>
          <a:prstGeom prst="roundRect">
            <a:avLst/>
          </a:prstGeom>
          <a:solidFill>
            <a:srgbClr val="E28A24"/>
          </a:solidFill>
          <a:ln w="12700">
            <a:solidFill>
              <a:srgbClr val="FFFFFF">
                <a:alpha val="0"/>
              </a:srgbClr>
            </a:solidFill>
            <a:prstDash val="solid"/>
          </a:ln>
        </p:spPr>
        <p:txBody>
          <a:bodyPr/>
          <a:lstStyle/>
          <a:p>
            <a:endParaRPr lang="en-IN"/>
          </a:p>
        </p:txBody>
      </p:sp>
      <p:sp>
        <p:nvSpPr>
          <p:cNvPr id="9" name="Shape 7"/>
          <p:cNvSpPr/>
          <p:nvPr/>
        </p:nvSpPr>
        <p:spPr>
          <a:xfrm>
            <a:off x="2666933" y="3152775"/>
            <a:ext cx="1428714" cy="642938"/>
          </a:xfrm>
          <a:prstGeom prst="roundRect">
            <a:avLst/>
          </a:prstGeom>
          <a:solidFill>
            <a:srgbClr val="FFFFFF"/>
          </a:solidFill>
          <a:ln w="19050">
            <a:solidFill>
              <a:srgbClr val="0E96AC"/>
            </a:solidFill>
            <a:prstDash val="solid"/>
          </a:ln>
        </p:spPr>
        <p:txBody>
          <a:bodyPr/>
          <a:lstStyle/>
          <a:p>
            <a:endParaRPr lang="en-IN"/>
          </a:p>
        </p:txBody>
      </p:sp>
      <p:sp>
        <p:nvSpPr>
          <p:cNvPr id="10" name="Text 8"/>
          <p:cNvSpPr/>
          <p:nvPr/>
        </p:nvSpPr>
        <p:spPr>
          <a:xfrm>
            <a:off x="2800280" y="3286125"/>
            <a:ext cx="1162021" cy="209550"/>
          </a:xfrm>
          <a:prstGeom prst="rect">
            <a:avLst/>
          </a:prstGeom>
          <a:noFill/>
          <a:ln/>
        </p:spPr>
        <p:txBody>
          <a:bodyPr wrap="square" lIns="0" tIns="0" rIns="0" bIns="0" rtlCol="0" anchor="t"/>
          <a:lstStyle/>
          <a:p>
            <a:pPr marL="0" indent="0" algn="ctr">
              <a:buNone/>
            </a:pPr>
            <a:r>
              <a:rPr lang="en-US" sz="1350" b="1" dirty="0">
                <a:solidFill>
                  <a:srgbClr val="16223A"/>
                </a:solidFill>
                <a:latin typeface="Calibri" pitchFamily="34" charset="0"/>
                <a:ea typeface="Calibri" pitchFamily="34" charset="-122"/>
                <a:cs typeface="Calibri" pitchFamily="34" charset="-120"/>
              </a:rPr>
              <a:t>Main fuse</a:t>
            </a:r>
            <a:endParaRPr lang="en-US" sz="1350" dirty="0"/>
          </a:p>
        </p:txBody>
      </p:sp>
      <p:sp>
        <p:nvSpPr>
          <p:cNvPr id="11" name="Text 9"/>
          <p:cNvSpPr/>
          <p:nvPr/>
        </p:nvSpPr>
        <p:spPr>
          <a:xfrm>
            <a:off x="2800280" y="3495675"/>
            <a:ext cx="1162021" cy="166688"/>
          </a:xfrm>
          <a:prstGeom prst="rect">
            <a:avLst/>
          </a:prstGeom>
          <a:noFill/>
          <a:ln/>
        </p:spPr>
        <p:txBody>
          <a:bodyPr wrap="square" lIns="0" tIns="0" rIns="0" bIns="0" rtlCol="0" anchor="t"/>
          <a:lstStyle/>
          <a:p>
            <a:pPr marL="0" indent="0" algn="ctr">
              <a:buNone/>
            </a:pPr>
            <a:r>
              <a:rPr lang="en-US" sz="1050" dirty="0">
                <a:solidFill>
                  <a:srgbClr val="16223A"/>
                </a:solidFill>
                <a:latin typeface="Calibri" pitchFamily="34" charset="0"/>
                <a:ea typeface="Calibri" pitchFamily="34" charset="-122"/>
                <a:cs typeface="Calibri" pitchFamily="34" charset="-120"/>
              </a:rPr>
              <a:t>+ disconnect</a:t>
            </a:r>
            <a:endParaRPr lang="en-US" sz="1050" dirty="0"/>
          </a:p>
        </p:txBody>
      </p:sp>
      <p:sp>
        <p:nvSpPr>
          <p:cNvPr id="12" name="Shape 10"/>
          <p:cNvSpPr/>
          <p:nvPr/>
        </p:nvSpPr>
        <p:spPr>
          <a:xfrm>
            <a:off x="4095648" y="3533775"/>
            <a:ext cx="1142971" cy="47625"/>
          </a:xfrm>
          <a:prstGeom prst="roundRect">
            <a:avLst/>
          </a:prstGeom>
          <a:solidFill>
            <a:srgbClr val="E28A24"/>
          </a:solidFill>
          <a:ln w="12700">
            <a:solidFill>
              <a:srgbClr val="FFFFFF">
                <a:alpha val="0"/>
              </a:srgbClr>
            </a:solidFill>
            <a:prstDash val="solid"/>
          </a:ln>
        </p:spPr>
        <p:txBody>
          <a:bodyPr/>
          <a:lstStyle/>
          <a:p>
            <a:endParaRPr lang="en-IN"/>
          </a:p>
        </p:txBody>
      </p:sp>
      <p:sp>
        <p:nvSpPr>
          <p:cNvPr id="13" name="Shape 11"/>
          <p:cNvSpPr/>
          <p:nvPr/>
        </p:nvSpPr>
        <p:spPr>
          <a:xfrm>
            <a:off x="5238619" y="1800225"/>
            <a:ext cx="1762081" cy="3476625"/>
          </a:xfrm>
          <a:prstGeom prst="roundRect">
            <a:avLst/>
          </a:prstGeom>
          <a:solidFill>
            <a:srgbClr val="FFFFFF"/>
          </a:solidFill>
          <a:ln w="19050">
            <a:solidFill>
              <a:srgbClr val="0E96AC"/>
            </a:solidFill>
            <a:prstDash val="solid"/>
          </a:ln>
        </p:spPr>
        <p:txBody>
          <a:bodyPr/>
          <a:lstStyle/>
          <a:p>
            <a:endParaRPr lang="en-IN"/>
          </a:p>
        </p:txBody>
      </p:sp>
      <p:sp>
        <p:nvSpPr>
          <p:cNvPr id="14" name="Text 12"/>
          <p:cNvSpPr/>
          <p:nvPr/>
        </p:nvSpPr>
        <p:spPr>
          <a:xfrm>
            <a:off x="5410065" y="1971675"/>
            <a:ext cx="1419190" cy="209550"/>
          </a:xfrm>
          <a:prstGeom prst="rect">
            <a:avLst/>
          </a:prstGeom>
          <a:noFill/>
          <a:ln/>
        </p:spPr>
        <p:txBody>
          <a:bodyPr wrap="square" lIns="0" tIns="0" rIns="0" bIns="0" rtlCol="0" anchor="t"/>
          <a:lstStyle/>
          <a:p>
            <a:pPr marL="0" indent="0" algn="ctr">
              <a:buNone/>
            </a:pPr>
            <a:r>
              <a:rPr lang="en-US" sz="1350" b="1" dirty="0">
                <a:solidFill>
                  <a:srgbClr val="16223A"/>
                </a:solidFill>
                <a:latin typeface="Calibri" pitchFamily="34" charset="0"/>
                <a:ea typeface="Calibri" pitchFamily="34" charset="-122"/>
                <a:cs typeface="Calibri" pitchFamily="34" charset="-120"/>
              </a:rPr>
              <a:t>Five fused pairs</a:t>
            </a:r>
            <a:endParaRPr lang="en-US" sz="1350" dirty="0"/>
          </a:p>
        </p:txBody>
      </p:sp>
      <p:sp>
        <p:nvSpPr>
          <p:cNvPr id="15" name="Text 13"/>
          <p:cNvSpPr/>
          <p:nvPr/>
        </p:nvSpPr>
        <p:spPr>
          <a:xfrm>
            <a:off x="5410065" y="2181225"/>
            <a:ext cx="1419190" cy="366712"/>
          </a:xfrm>
          <a:prstGeom prst="rect">
            <a:avLst/>
          </a:prstGeom>
          <a:noFill/>
          <a:ln/>
        </p:spPr>
        <p:txBody>
          <a:bodyPr wrap="square" lIns="0" tIns="0" rIns="0" bIns="0" rtlCol="0" anchor="t"/>
          <a:lstStyle/>
          <a:p>
            <a:pPr marL="0" indent="0" algn="ctr">
              <a:buNone/>
            </a:pPr>
            <a:r>
              <a:rPr lang="en-US" sz="1050" dirty="0">
                <a:solidFill>
                  <a:srgbClr val="16223A"/>
                </a:solidFill>
                <a:latin typeface="Calibri" pitchFamily="34" charset="0"/>
                <a:ea typeface="Calibri" pitchFamily="34" charset="-122"/>
                <a:cs typeface="Calibri" pitchFamily="34" charset="-120"/>
              </a:rPr>
              <a:t>Servos 1–2</a:t>
            </a:r>
            <a:endParaRPr lang="en-US" sz="1050" dirty="0"/>
          </a:p>
        </p:txBody>
      </p:sp>
      <p:sp>
        <p:nvSpPr>
          <p:cNvPr id="16" name="Text 14"/>
          <p:cNvSpPr/>
          <p:nvPr/>
        </p:nvSpPr>
        <p:spPr>
          <a:xfrm>
            <a:off x="5410065" y="2547937"/>
            <a:ext cx="1419190" cy="366712"/>
          </a:xfrm>
          <a:prstGeom prst="rect">
            <a:avLst/>
          </a:prstGeom>
          <a:noFill/>
          <a:ln/>
        </p:spPr>
        <p:txBody>
          <a:bodyPr wrap="square" lIns="0" tIns="0" rIns="0" bIns="0" rtlCol="0" anchor="t"/>
          <a:lstStyle/>
          <a:p>
            <a:pPr marL="0" indent="0" algn="ctr">
              <a:buNone/>
            </a:pPr>
            <a:r>
              <a:rPr lang="en-US" sz="1050" dirty="0">
                <a:solidFill>
                  <a:srgbClr val="16223A"/>
                </a:solidFill>
                <a:latin typeface="Calibri" pitchFamily="34" charset="0"/>
                <a:ea typeface="Calibri" pitchFamily="34" charset="-122"/>
                <a:cs typeface="Calibri" pitchFamily="34" charset="-120"/>
              </a:rPr>
              <a:t>Servos 3–4</a:t>
            </a:r>
            <a:endParaRPr lang="en-US" sz="1050" dirty="0"/>
          </a:p>
        </p:txBody>
      </p:sp>
      <p:sp>
        <p:nvSpPr>
          <p:cNvPr id="17" name="Text 15"/>
          <p:cNvSpPr/>
          <p:nvPr/>
        </p:nvSpPr>
        <p:spPr>
          <a:xfrm>
            <a:off x="5410065" y="2914650"/>
            <a:ext cx="1419190" cy="366712"/>
          </a:xfrm>
          <a:prstGeom prst="rect">
            <a:avLst/>
          </a:prstGeom>
          <a:noFill/>
          <a:ln/>
        </p:spPr>
        <p:txBody>
          <a:bodyPr wrap="square" lIns="0" tIns="0" rIns="0" bIns="0" rtlCol="0" anchor="t"/>
          <a:lstStyle/>
          <a:p>
            <a:pPr marL="0" indent="0" algn="ctr">
              <a:buNone/>
            </a:pPr>
            <a:r>
              <a:rPr lang="en-US" sz="1050" dirty="0">
                <a:solidFill>
                  <a:srgbClr val="16223A"/>
                </a:solidFill>
                <a:latin typeface="Calibri" pitchFamily="34" charset="0"/>
                <a:ea typeface="Calibri" pitchFamily="34" charset="-122"/>
                <a:cs typeface="Calibri" pitchFamily="34" charset="-120"/>
              </a:rPr>
              <a:t>Servos 5–6</a:t>
            </a:r>
            <a:endParaRPr lang="en-US" sz="1050" dirty="0"/>
          </a:p>
        </p:txBody>
      </p:sp>
      <p:sp>
        <p:nvSpPr>
          <p:cNvPr id="18" name="Text 16"/>
          <p:cNvSpPr/>
          <p:nvPr/>
        </p:nvSpPr>
        <p:spPr>
          <a:xfrm>
            <a:off x="5410065" y="3281363"/>
            <a:ext cx="1419190" cy="366712"/>
          </a:xfrm>
          <a:prstGeom prst="rect">
            <a:avLst/>
          </a:prstGeom>
          <a:noFill/>
          <a:ln/>
        </p:spPr>
        <p:txBody>
          <a:bodyPr wrap="square" lIns="0" tIns="0" rIns="0" bIns="0" rtlCol="0" anchor="t"/>
          <a:lstStyle/>
          <a:p>
            <a:pPr marL="0" indent="0" algn="ctr">
              <a:buNone/>
            </a:pPr>
            <a:r>
              <a:rPr lang="en-US" sz="1050" dirty="0">
                <a:solidFill>
                  <a:srgbClr val="16223A"/>
                </a:solidFill>
                <a:latin typeface="Calibri" pitchFamily="34" charset="0"/>
                <a:ea typeface="Calibri" pitchFamily="34" charset="-122"/>
                <a:cs typeface="Calibri" pitchFamily="34" charset="-120"/>
              </a:rPr>
              <a:t>Servos 7–8</a:t>
            </a:r>
            <a:endParaRPr lang="en-US" sz="1050" dirty="0"/>
          </a:p>
        </p:txBody>
      </p:sp>
      <p:sp>
        <p:nvSpPr>
          <p:cNvPr id="19" name="Text 17"/>
          <p:cNvSpPr/>
          <p:nvPr/>
        </p:nvSpPr>
        <p:spPr>
          <a:xfrm>
            <a:off x="5410065" y="3648075"/>
            <a:ext cx="1419190" cy="366712"/>
          </a:xfrm>
          <a:prstGeom prst="rect">
            <a:avLst/>
          </a:prstGeom>
          <a:noFill/>
          <a:ln/>
        </p:spPr>
        <p:txBody>
          <a:bodyPr wrap="square" lIns="0" tIns="0" rIns="0" bIns="0" rtlCol="0" anchor="t"/>
          <a:lstStyle/>
          <a:p>
            <a:pPr marL="0" indent="0" algn="ctr">
              <a:buNone/>
            </a:pPr>
            <a:r>
              <a:rPr lang="en-US" sz="1050" dirty="0">
                <a:solidFill>
                  <a:srgbClr val="16223A"/>
                </a:solidFill>
                <a:latin typeface="Calibri" pitchFamily="34" charset="0"/>
                <a:ea typeface="Calibri" pitchFamily="34" charset="-122"/>
                <a:cs typeface="Calibri" pitchFamily="34" charset="-120"/>
              </a:rPr>
              <a:t>Servos 9–10</a:t>
            </a:r>
            <a:endParaRPr lang="en-US" sz="1050" dirty="0"/>
          </a:p>
        </p:txBody>
      </p:sp>
      <p:sp>
        <p:nvSpPr>
          <p:cNvPr id="20" name="Shape 18"/>
          <p:cNvSpPr/>
          <p:nvPr/>
        </p:nvSpPr>
        <p:spPr>
          <a:xfrm>
            <a:off x="4095648" y="5638800"/>
            <a:ext cx="714357" cy="47625"/>
          </a:xfrm>
          <a:prstGeom prst="roundRect">
            <a:avLst/>
          </a:prstGeom>
          <a:solidFill>
            <a:srgbClr val="E28A24"/>
          </a:solidFill>
          <a:ln w="12700">
            <a:solidFill>
              <a:srgbClr val="FFFFFF">
                <a:alpha val="0"/>
              </a:srgbClr>
            </a:solidFill>
            <a:prstDash val="solid"/>
          </a:ln>
        </p:spPr>
        <p:txBody>
          <a:bodyPr/>
          <a:lstStyle/>
          <a:p>
            <a:endParaRPr lang="en-IN"/>
          </a:p>
        </p:txBody>
      </p:sp>
      <p:sp>
        <p:nvSpPr>
          <p:cNvPr id="21" name="Shape 19"/>
          <p:cNvSpPr/>
          <p:nvPr/>
        </p:nvSpPr>
        <p:spPr>
          <a:xfrm>
            <a:off x="4810005" y="5343525"/>
            <a:ext cx="1238219" cy="476250"/>
          </a:xfrm>
          <a:prstGeom prst="roundRect">
            <a:avLst/>
          </a:prstGeom>
          <a:solidFill>
            <a:srgbClr val="FFFFFF"/>
          </a:solidFill>
          <a:ln w="19050">
            <a:solidFill>
              <a:srgbClr val="0E96AC"/>
            </a:solidFill>
            <a:prstDash val="solid"/>
          </a:ln>
        </p:spPr>
        <p:txBody>
          <a:bodyPr/>
          <a:lstStyle/>
          <a:p>
            <a:endParaRPr lang="en-IN"/>
          </a:p>
        </p:txBody>
      </p:sp>
      <p:sp>
        <p:nvSpPr>
          <p:cNvPr id="22" name="Text 20"/>
          <p:cNvSpPr/>
          <p:nvPr/>
        </p:nvSpPr>
        <p:spPr>
          <a:xfrm>
            <a:off x="4943351" y="5476875"/>
            <a:ext cx="971526" cy="209550"/>
          </a:xfrm>
          <a:prstGeom prst="rect">
            <a:avLst/>
          </a:prstGeom>
          <a:noFill/>
          <a:ln/>
        </p:spPr>
        <p:txBody>
          <a:bodyPr wrap="square" lIns="0" tIns="0" rIns="0" bIns="0" rtlCol="0" anchor="t"/>
          <a:lstStyle/>
          <a:p>
            <a:pPr marL="0" indent="0" algn="ctr">
              <a:buNone/>
            </a:pPr>
            <a:r>
              <a:rPr lang="en-US" sz="1350" b="1" dirty="0">
                <a:solidFill>
                  <a:srgbClr val="16223A"/>
                </a:solidFill>
                <a:latin typeface="Calibri" pitchFamily="34" charset="0"/>
                <a:ea typeface="Calibri" pitchFamily="34" charset="-122"/>
                <a:cs typeface="Calibri" pitchFamily="34" charset="-120"/>
              </a:rPr>
              <a:t>Buck supply</a:t>
            </a:r>
            <a:endParaRPr lang="en-US" sz="1350" dirty="0"/>
          </a:p>
        </p:txBody>
      </p:sp>
      <p:sp>
        <p:nvSpPr>
          <p:cNvPr id="23" name="Shape 21"/>
          <p:cNvSpPr/>
          <p:nvPr/>
        </p:nvSpPr>
        <p:spPr>
          <a:xfrm>
            <a:off x="7000700" y="3857625"/>
            <a:ext cx="476238" cy="38100"/>
          </a:xfrm>
          <a:prstGeom prst="rect">
            <a:avLst/>
          </a:prstGeom>
          <a:solidFill>
            <a:srgbClr val="0E96AC"/>
          </a:solidFill>
          <a:ln w="12700">
            <a:solidFill>
              <a:srgbClr val="FFFFFF">
                <a:alpha val="0"/>
              </a:srgbClr>
            </a:solidFill>
            <a:prstDash val="solid"/>
          </a:ln>
        </p:spPr>
        <p:txBody>
          <a:bodyPr/>
          <a:lstStyle/>
          <a:p>
            <a:endParaRPr lang="en-IN"/>
          </a:p>
        </p:txBody>
      </p:sp>
      <p:sp>
        <p:nvSpPr>
          <p:cNvPr id="24" name="Shape 22"/>
          <p:cNvSpPr/>
          <p:nvPr/>
        </p:nvSpPr>
        <p:spPr>
          <a:xfrm>
            <a:off x="7476938" y="3486150"/>
            <a:ext cx="1476338" cy="642938"/>
          </a:xfrm>
          <a:prstGeom prst="roundRect">
            <a:avLst/>
          </a:prstGeom>
          <a:solidFill>
            <a:srgbClr val="FFFFFF"/>
          </a:solidFill>
          <a:ln w="19050">
            <a:solidFill>
              <a:srgbClr val="0E96AC"/>
            </a:solidFill>
            <a:prstDash val="solid"/>
          </a:ln>
        </p:spPr>
        <p:txBody>
          <a:bodyPr/>
          <a:lstStyle/>
          <a:p>
            <a:endParaRPr lang="en-IN"/>
          </a:p>
        </p:txBody>
      </p:sp>
      <p:sp>
        <p:nvSpPr>
          <p:cNvPr id="25" name="Text 23"/>
          <p:cNvSpPr/>
          <p:nvPr/>
        </p:nvSpPr>
        <p:spPr>
          <a:xfrm>
            <a:off x="7610285" y="3619500"/>
            <a:ext cx="1209645" cy="209550"/>
          </a:xfrm>
          <a:prstGeom prst="rect">
            <a:avLst/>
          </a:prstGeom>
          <a:noFill/>
          <a:ln/>
        </p:spPr>
        <p:txBody>
          <a:bodyPr wrap="square" lIns="0" tIns="0" rIns="0" bIns="0" rtlCol="0" anchor="t"/>
          <a:lstStyle/>
          <a:p>
            <a:pPr marL="0" indent="0" algn="ctr">
              <a:buNone/>
            </a:pPr>
            <a:r>
              <a:rPr lang="en-US" sz="1350" b="1" dirty="0">
                <a:solidFill>
                  <a:srgbClr val="16223A"/>
                </a:solidFill>
                <a:latin typeface="Calibri" pitchFamily="34" charset="0"/>
                <a:ea typeface="Calibri" pitchFamily="34" charset="-122"/>
                <a:cs typeface="Calibri" pitchFamily="34" charset="-120"/>
              </a:rPr>
              <a:t>Controller</a:t>
            </a:r>
            <a:endParaRPr lang="en-US" sz="1350" dirty="0"/>
          </a:p>
        </p:txBody>
      </p:sp>
      <p:sp>
        <p:nvSpPr>
          <p:cNvPr id="26" name="Text 24"/>
          <p:cNvSpPr/>
          <p:nvPr/>
        </p:nvSpPr>
        <p:spPr>
          <a:xfrm>
            <a:off x="7610285" y="3829050"/>
            <a:ext cx="1209645" cy="166688"/>
          </a:xfrm>
          <a:prstGeom prst="rect">
            <a:avLst/>
          </a:prstGeom>
          <a:noFill/>
          <a:ln/>
        </p:spPr>
        <p:txBody>
          <a:bodyPr wrap="square" lIns="0" tIns="0" rIns="0" bIns="0" rtlCol="0" anchor="t"/>
          <a:lstStyle/>
          <a:p>
            <a:pPr marL="0" indent="0" algn="ctr">
              <a:buNone/>
            </a:pPr>
            <a:r>
              <a:rPr lang="en-US" sz="1050" dirty="0">
                <a:solidFill>
                  <a:srgbClr val="16223A"/>
                </a:solidFill>
                <a:latin typeface="Calibri" pitchFamily="34" charset="0"/>
                <a:ea typeface="Calibri" pitchFamily="34" charset="-122"/>
                <a:cs typeface="Calibri" pitchFamily="34" charset="-120"/>
              </a:rPr>
              <a:t>DATA / GND</a:t>
            </a:r>
            <a:endParaRPr lang="en-US" sz="1050" dirty="0"/>
          </a:p>
        </p:txBody>
      </p:sp>
      <p:sp>
        <p:nvSpPr>
          <p:cNvPr id="27" name="Text 25"/>
          <p:cNvSpPr/>
          <p:nvPr/>
        </p:nvSpPr>
        <p:spPr>
          <a:xfrm>
            <a:off x="1047724" y="5586413"/>
            <a:ext cx="853136" cy="166688"/>
          </a:xfrm>
          <a:prstGeom prst="rect">
            <a:avLst/>
          </a:prstGeom>
          <a:noFill/>
          <a:ln/>
        </p:spPr>
        <p:txBody>
          <a:bodyPr wrap="square" lIns="0" tIns="0" rIns="0" bIns="0" rtlCol="0" anchor="t"/>
          <a:lstStyle/>
          <a:p>
            <a:pPr marL="0" indent="0" algn="l">
              <a:buNone/>
            </a:pPr>
            <a:r>
              <a:rPr lang="en-US" sz="1050" dirty="0">
                <a:solidFill>
                  <a:srgbClr val="16223A"/>
                </a:solidFill>
                <a:latin typeface="Calibri" pitchFamily="34" charset="0"/>
                <a:ea typeface="Calibri" pitchFamily="34" charset="-122"/>
                <a:cs typeface="Calibri" pitchFamily="34" charset="-120"/>
              </a:rPr>
              <a:t>Servo power</a:t>
            </a:r>
            <a:endParaRPr lang="en-US" sz="1050" dirty="0"/>
          </a:p>
        </p:txBody>
      </p:sp>
      <p:sp>
        <p:nvSpPr>
          <p:cNvPr id="28" name="Text 26"/>
          <p:cNvSpPr/>
          <p:nvPr/>
        </p:nvSpPr>
        <p:spPr>
          <a:xfrm>
            <a:off x="2091355" y="5586413"/>
            <a:ext cx="814069" cy="166688"/>
          </a:xfrm>
          <a:prstGeom prst="rect">
            <a:avLst/>
          </a:prstGeom>
          <a:noFill/>
          <a:ln/>
        </p:spPr>
        <p:txBody>
          <a:bodyPr wrap="square" lIns="0" tIns="0" rIns="0" bIns="0" rtlCol="0" anchor="t"/>
          <a:lstStyle/>
          <a:p>
            <a:pPr marL="0" indent="0" algn="l">
              <a:buNone/>
            </a:pPr>
            <a:r>
              <a:rPr lang="en-US" sz="1050" dirty="0">
                <a:solidFill>
                  <a:srgbClr val="16223A"/>
                </a:solidFill>
                <a:latin typeface="Calibri" pitchFamily="34" charset="0"/>
                <a:ea typeface="Calibri" pitchFamily="34" charset="-122"/>
                <a:cs typeface="Calibri" pitchFamily="34" charset="-120"/>
              </a:rPr>
              <a:t>DATA / GND</a:t>
            </a:r>
            <a:endParaRPr lang="en-US" sz="1050" dirty="0"/>
          </a:p>
        </p:txBody>
      </p:sp>
      <p:sp>
        <p:nvSpPr>
          <p:cNvPr id="29" name="Shape 27"/>
          <p:cNvSpPr/>
          <p:nvPr/>
        </p:nvSpPr>
        <p:spPr>
          <a:xfrm>
            <a:off x="9667633" y="1428750"/>
            <a:ext cx="1819230" cy="4572000"/>
          </a:xfrm>
          <a:prstGeom prst="roundRect">
            <a:avLst/>
          </a:prstGeom>
          <a:solidFill>
            <a:srgbClr val="FFFFFF">
              <a:alpha val="72000"/>
            </a:srgbClr>
          </a:solidFill>
          <a:ln w="9525">
            <a:solidFill>
              <a:srgbClr val="FFFFFF"/>
            </a:solidFill>
            <a:prstDash val="solid"/>
          </a:ln>
          <a:effectLst>
            <a:outerShdw blurRad="3770" dist="1588" dir="5400000" algn="bl" rotWithShape="0">
              <a:srgbClr val="16223A">
                <a:alpha val="12000"/>
              </a:srgbClr>
            </a:outerShdw>
          </a:effectLst>
        </p:spPr>
        <p:txBody>
          <a:bodyPr/>
          <a:lstStyle/>
          <a:p>
            <a:endParaRPr lang="en-IN"/>
          </a:p>
        </p:txBody>
      </p:sp>
      <p:sp>
        <p:nvSpPr>
          <p:cNvPr id="30" name="Text 28"/>
          <p:cNvSpPr/>
          <p:nvPr/>
        </p:nvSpPr>
        <p:spPr>
          <a:xfrm>
            <a:off x="9886703" y="3390900"/>
            <a:ext cx="1381090" cy="792361"/>
          </a:xfrm>
          <a:prstGeom prst="rect">
            <a:avLst/>
          </a:prstGeom>
          <a:noFill/>
          <a:ln/>
        </p:spPr>
        <p:txBody>
          <a:bodyPr wrap="square" lIns="0" tIns="0" rIns="0" bIns="0" rtlCol="0" anchor="t"/>
          <a:lstStyle/>
          <a:p>
            <a:pPr marL="0" indent="0" algn="ctr">
              <a:buNone/>
            </a:pPr>
            <a:r>
              <a:rPr lang="en-US" sz="1200" dirty="0">
                <a:solidFill>
                  <a:srgbClr val="16223A"/>
                </a:solidFill>
                <a:latin typeface="Calibri" pitchFamily="34" charset="0"/>
                <a:ea typeface="Calibri" pitchFamily="34" charset="-122"/>
                <a:cs typeface="Calibri" pitchFamily="34" charset="-120"/>
              </a:rPr>
              <a:t>Installed wiring photo</a:t>
            </a:r>
            <a:endParaRPr lang="en-US" sz="1200" dirty="0"/>
          </a:p>
          <a:p>
            <a:pPr marL="0" indent="0" algn="ctr">
              <a:buNone/>
            </a:pPr>
            <a:endParaRPr lang="en-US" sz="1200" dirty="0"/>
          </a:p>
          <a:p>
            <a:pPr marL="0" indent="0" algn="ctr">
              <a:buNone/>
            </a:pPr>
            <a:r>
              <a:rPr lang="en-US" sz="1200" dirty="0">
                <a:solidFill>
                  <a:srgbClr val="16223A"/>
                </a:solidFill>
                <a:latin typeface="Calibri" pitchFamily="34" charset="0"/>
                <a:ea typeface="Calibri" pitchFamily="34" charset="-122"/>
                <a:cs typeface="Calibri" pitchFamily="34" charset="-120"/>
              </a:rPr>
              <a:t>Optional evidence inset</a:t>
            </a:r>
            <a:endParaRPr lang="en-US" sz="1200" dirty="0"/>
          </a:p>
        </p:txBody>
      </p:sp>
      <p:sp>
        <p:nvSpPr>
          <p:cNvPr id="31" name="Text 29"/>
          <p:cNvSpPr/>
          <p:nvPr/>
        </p:nvSpPr>
        <p:spPr>
          <a:xfrm>
            <a:off x="704832" y="6343650"/>
            <a:ext cx="5128340"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Distribution concept shown; installed fuse ratings and runtime require current hardware inspection.</a:t>
            </a:r>
            <a:endParaRPr lang="en-US" sz="1000" dirty="0"/>
          </a:p>
        </p:txBody>
      </p:sp>
    </p:spTree>
    <p:extLst>
      <p:ext uri="{BB962C8B-B14F-4D97-AF65-F5344CB8AC3E}">
        <p14:creationId xmlns:p14="http://schemas.microsoft.com/office/powerpoint/2010/main" val="1448031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4832" y="400050"/>
            <a:ext cx="2614175"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GEN 2.0 • ONBOARD ARRANGEMENT</a:t>
            </a:r>
            <a:endParaRPr lang="en-US" sz="1050" dirty="0"/>
          </a:p>
        </p:txBody>
      </p:sp>
      <p:sp>
        <p:nvSpPr>
          <p:cNvPr id="3" name="Text 1"/>
          <p:cNvSpPr/>
          <p:nvPr/>
        </p:nvSpPr>
        <p:spPr>
          <a:xfrm>
            <a:off x="704832" y="66675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Gen 2.0 keeps the gait on the robot</a:t>
            </a:r>
            <a:endParaRPr lang="en-US" sz="3000" dirty="0"/>
          </a:p>
        </p:txBody>
      </p:sp>
      <p:sp>
        <p:nvSpPr>
          <p:cNvPr id="4" name="Shape 2"/>
          <p:cNvSpPr/>
          <p:nvPr/>
        </p:nvSpPr>
        <p:spPr>
          <a:xfrm>
            <a:off x="704832" y="1428750"/>
            <a:ext cx="10782030" cy="323850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5" name="Shape 3"/>
          <p:cNvSpPr/>
          <p:nvPr/>
        </p:nvSpPr>
        <p:spPr>
          <a:xfrm>
            <a:off x="1190595" y="2486025"/>
            <a:ext cx="1809705" cy="971550"/>
          </a:xfrm>
          <a:prstGeom prst="roundRect">
            <a:avLst/>
          </a:prstGeom>
          <a:solidFill>
            <a:srgbClr val="FFFFFF"/>
          </a:solidFill>
          <a:ln w="19050">
            <a:solidFill>
              <a:srgbClr val="0E96AC"/>
            </a:solidFill>
            <a:prstDash val="solid"/>
          </a:ln>
        </p:spPr>
      </p:sp>
      <p:sp>
        <p:nvSpPr>
          <p:cNvPr id="6" name="Text 4"/>
          <p:cNvSpPr/>
          <p:nvPr/>
        </p:nvSpPr>
        <p:spPr>
          <a:xfrm>
            <a:off x="1371566" y="2667000"/>
            <a:ext cx="1447764" cy="233362"/>
          </a:xfrm>
          <a:prstGeom prst="rect">
            <a:avLst/>
          </a:prstGeom>
          <a:noFill/>
          <a:ln/>
        </p:spPr>
        <p:txBody>
          <a:bodyPr wrap="square" lIns="0" tIns="0" rIns="0" bIns="0" rtlCol="0" anchor="t"/>
          <a:lstStyle/>
          <a:p>
            <a:pPr marL="0" indent="0" algn="ctr">
              <a:buNone/>
            </a:pPr>
            <a:r>
              <a:rPr lang="en-US" sz="1500" b="1" dirty="0">
                <a:solidFill>
                  <a:srgbClr val="16223A"/>
                </a:solidFill>
                <a:latin typeface="Calibri" pitchFamily="34" charset="0"/>
                <a:ea typeface="Calibri" pitchFamily="34" charset="-122"/>
                <a:cs typeface="Calibri" pitchFamily="34" charset="-120"/>
              </a:rPr>
              <a:t>Robot ESP32</a:t>
            </a:r>
            <a:endParaRPr lang="en-US" sz="1500" dirty="0"/>
          </a:p>
        </p:txBody>
      </p:sp>
      <p:sp>
        <p:nvSpPr>
          <p:cNvPr id="7" name="Text 5"/>
          <p:cNvSpPr/>
          <p:nvPr/>
        </p:nvSpPr>
        <p:spPr>
          <a:xfrm>
            <a:off x="1371566" y="2900363"/>
            <a:ext cx="1447764" cy="352425"/>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robot_esp32_v2 computes gait</a:t>
            </a:r>
            <a:endParaRPr lang="en-US" sz="1150" dirty="0"/>
          </a:p>
        </p:txBody>
      </p:sp>
      <p:sp>
        <p:nvSpPr>
          <p:cNvPr id="8" name="Shape 6"/>
          <p:cNvSpPr/>
          <p:nvPr/>
        </p:nvSpPr>
        <p:spPr>
          <a:xfrm>
            <a:off x="3000300" y="2952750"/>
            <a:ext cx="952476" cy="47625"/>
          </a:xfrm>
          <a:prstGeom prst="roundRect">
            <a:avLst/>
          </a:prstGeom>
          <a:solidFill>
            <a:srgbClr val="0E96AC"/>
          </a:solidFill>
          <a:ln w="12700">
            <a:solidFill>
              <a:srgbClr val="FFFFFF">
                <a:alpha val="0"/>
              </a:srgbClr>
            </a:solidFill>
            <a:prstDash val="solid"/>
          </a:ln>
        </p:spPr>
      </p:sp>
      <p:sp>
        <p:nvSpPr>
          <p:cNvPr id="9" name="Text 7"/>
          <p:cNvSpPr/>
          <p:nvPr/>
        </p:nvSpPr>
        <p:spPr>
          <a:xfrm>
            <a:off x="3295568" y="2714625"/>
            <a:ext cx="365662" cy="152400"/>
          </a:xfrm>
          <a:prstGeom prst="rect">
            <a:avLst/>
          </a:prstGeom>
          <a:noFill/>
          <a:ln/>
        </p:spPr>
        <p:txBody>
          <a:bodyPr wrap="square" lIns="0" tIns="0" rIns="0" bIns="0" rtlCol="0" anchor="t"/>
          <a:lstStyle/>
          <a:p>
            <a:pPr marL="0" indent="0" algn="l">
              <a:buNone/>
            </a:pPr>
            <a:r>
              <a:rPr lang="en-US" sz="1000" b="1" dirty="0">
                <a:solidFill>
                  <a:srgbClr val="0E96AC"/>
                </a:solidFill>
                <a:latin typeface="Calibri" pitchFamily="34" charset="0"/>
                <a:ea typeface="Calibri" pitchFamily="34" charset="-122"/>
                <a:cs typeface="Calibri" pitchFamily="34" charset="-120"/>
              </a:rPr>
              <a:t>targets</a:t>
            </a:r>
            <a:endParaRPr lang="en-US" sz="1000" dirty="0"/>
          </a:p>
        </p:txBody>
      </p:sp>
      <p:sp>
        <p:nvSpPr>
          <p:cNvPr id="10" name="Shape 8"/>
          <p:cNvSpPr/>
          <p:nvPr/>
        </p:nvSpPr>
        <p:spPr>
          <a:xfrm>
            <a:off x="3952776" y="2486025"/>
            <a:ext cx="1809705" cy="971550"/>
          </a:xfrm>
          <a:prstGeom prst="roundRect">
            <a:avLst/>
          </a:prstGeom>
          <a:solidFill>
            <a:srgbClr val="FFFFFF"/>
          </a:solidFill>
          <a:ln w="19050">
            <a:solidFill>
              <a:srgbClr val="0E96AC"/>
            </a:solidFill>
            <a:prstDash val="solid"/>
          </a:ln>
        </p:spPr>
      </p:sp>
      <p:sp>
        <p:nvSpPr>
          <p:cNvPr id="11" name="Text 9"/>
          <p:cNvSpPr/>
          <p:nvPr/>
        </p:nvSpPr>
        <p:spPr>
          <a:xfrm>
            <a:off x="4133747" y="2667000"/>
            <a:ext cx="1447764" cy="233362"/>
          </a:xfrm>
          <a:prstGeom prst="rect">
            <a:avLst/>
          </a:prstGeom>
          <a:noFill/>
          <a:ln/>
        </p:spPr>
        <p:txBody>
          <a:bodyPr wrap="square" lIns="0" tIns="0" rIns="0" bIns="0" rtlCol="0" anchor="t"/>
          <a:lstStyle/>
          <a:p>
            <a:pPr marL="0" indent="0" algn="ctr">
              <a:buNone/>
            </a:pPr>
            <a:r>
              <a:rPr lang="en-US" sz="1500" b="1" dirty="0">
                <a:solidFill>
                  <a:srgbClr val="16223A"/>
                </a:solidFill>
                <a:latin typeface="Calibri" pitchFamily="34" charset="0"/>
                <a:ea typeface="Calibri" pitchFamily="34" charset="-122"/>
                <a:cs typeface="Calibri" pitchFamily="34" charset="-120"/>
              </a:rPr>
              <a:t>Servo chain</a:t>
            </a:r>
            <a:endParaRPr lang="en-US" sz="1500" dirty="0"/>
          </a:p>
        </p:txBody>
      </p:sp>
      <p:sp>
        <p:nvSpPr>
          <p:cNvPr id="12" name="Text 10"/>
          <p:cNvSpPr/>
          <p:nvPr/>
        </p:nvSpPr>
        <p:spPr>
          <a:xfrm>
            <a:off x="4133747" y="2900363"/>
            <a:ext cx="1447764" cy="352425"/>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current feedback returns locally</a:t>
            </a:r>
            <a:endParaRPr lang="en-US" sz="1150" dirty="0"/>
          </a:p>
        </p:txBody>
      </p:sp>
      <p:sp>
        <p:nvSpPr>
          <p:cNvPr id="13" name="Shape 11"/>
          <p:cNvSpPr/>
          <p:nvPr/>
        </p:nvSpPr>
        <p:spPr>
          <a:xfrm>
            <a:off x="5762481" y="2238375"/>
            <a:ext cx="1095348" cy="47625"/>
          </a:xfrm>
          <a:prstGeom prst="roundRect">
            <a:avLst/>
          </a:prstGeom>
          <a:solidFill>
            <a:srgbClr val="0E96AC"/>
          </a:solidFill>
          <a:ln w="12700">
            <a:solidFill>
              <a:srgbClr val="FFFFFF">
                <a:alpha val="0"/>
              </a:srgbClr>
            </a:solidFill>
            <a:prstDash val="solid"/>
          </a:ln>
        </p:spPr>
      </p:sp>
      <p:sp>
        <p:nvSpPr>
          <p:cNvPr id="14" name="Text 12"/>
          <p:cNvSpPr/>
          <p:nvPr/>
        </p:nvSpPr>
        <p:spPr>
          <a:xfrm>
            <a:off x="6048224" y="1990725"/>
            <a:ext cx="517686" cy="152400"/>
          </a:xfrm>
          <a:prstGeom prst="rect">
            <a:avLst/>
          </a:prstGeom>
          <a:noFill/>
          <a:ln/>
        </p:spPr>
        <p:txBody>
          <a:bodyPr wrap="square" lIns="0" tIns="0" rIns="0" bIns="0" rtlCol="0" anchor="t"/>
          <a:lstStyle/>
          <a:p>
            <a:pPr marL="0" indent="0" algn="l">
              <a:buNone/>
            </a:pPr>
            <a:r>
              <a:rPr lang="en-US" sz="1000" b="1" dirty="0">
                <a:solidFill>
                  <a:srgbClr val="0E96AC"/>
                </a:solidFill>
                <a:latin typeface="Calibri" pitchFamily="34" charset="0"/>
                <a:ea typeface="Calibri" pitchFamily="34" charset="-122"/>
                <a:cs typeface="Calibri" pitchFamily="34" charset="-120"/>
              </a:rPr>
              <a:t>telemetry</a:t>
            </a:r>
            <a:endParaRPr lang="en-US" sz="1000" dirty="0"/>
          </a:p>
        </p:txBody>
      </p:sp>
      <p:sp>
        <p:nvSpPr>
          <p:cNvPr id="15" name="Shape 13"/>
          <p:cNvSpPr/>
          <p:nvPr/>
        </p:nvSpPr>
        <p:spPr>
          <a:xfrm>
            <a:off x="6857829" y="1771650"/>
            <a:ext cx="1809705" cy="971550"/>
          </a:xfrm>
          <a:prstGeom prst="roundRect">
            <a:avLst/>
          </a:prstGeom>
          <a:solidFill>
            <a:srgbClr val="FFFFFF"/>
          </a:solidFill>
          <a:ln w="19050">
            <a:solidFill>
              <a:srgbClr val="0E96AC"/>
            </a:solidFill>
            <a:prstDash val="solid"/>
          </a:ln>
        </p:spPr>
      </p:sp>
      <p:sp>
        <p:nvSpPr>
          <p:cNvPr id="16" name="Text 14"/>
          <p:cNvSpPr/>
          <p:nvPr/>
        </p:nvSpPr>
        <p:spPr>
          <a:xfrm>
            <a:off x="7038799" y="1952625"/>
            <a:ext cx="1447764" cy="233362"/>
          </a:xfrm>
          <a:prstGeom prst="rect">
            <a:avLst/>
          </a:prstGeom>
          <a:noFill/>
          <a:ln/>
        </p:spPr>
        <p:txBody>
          <a:bodyPr wrap="square" lIns="0" tIns="0" rIns="0" bIns="0" rtlCol="0" anchor="t"/>
          <a:lstStyle/>
          <a:p>
            <a:pPr marL="0" indent="0" algn="ctr">
              <a:buNone/>
            </a:pPr>
            <a:r>
              <a:rPr lang="en-US" sz="1500" b="1" dirty="0">
                <a:solidFill>
                  <a:srgbClr val="16223A"/>
                </a:solidFill>
                <a:latin typeface="Calibri" pitchFamily="34" charset="0"/>
                <a:ea typeface="Calibri" pitchFamily="34" charset="-122"/>
                <a:cs typeface="Calibri" pitchFamily="34" charset="-120"/>
              </a:rPr>
              <a:t>Base ESP32</a:t>
            </a:r>
            <a:endParaRPr lang="en-US" sz="1500" dirty="0"/>
          </a:p>
        </p:txBody>
      </p:sp>
      <p:sp>
        <p:nvSpPr>
          <p:cNvPr id="17" name="Text 15"/>
          <p:cNvSpPr/>
          <p:nvPr/>
        </p:nvSpPr>
        <p:spPr>
          <a:xfrm>
            <a:off x="7038799" y="2185988"/>
            <a:ext cx="1447764" cy="176212"/>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ESP-NOW link</a:t>
            </a:r>
            <a:endParaRPr lang="en-US" sz="1150" dirty="0"/>
          </a:p>
        </p:txBody>
      </p:sp>
      <p:sp>
        <p:nvSpPr>
          <p:cNvPr id="18" name="Shape 16"/>
          <p:cNvSpPr/>
          <p:nvPr/>
        </p:nvSpPr>
        <p:spPr>
          <a:xfrm>
            <a:off x="5762481" y="3810000"/>
            <a:ext cx="1095348" cy="47625"/>
          </a:xfrm>
          <a:prstGeom prst="roundRect">
            <a:avLst/>
          </a:prstGeom>
          <a:solidFill>
            <a:srgbClr val="0E96AC"/>
          </a:solidFill>
          <a:ln w="12700">
            <a:solidFill>
              <a:srgbClr val="FFFFFF">
                <a:alpha val="0"/>
              </a:srgbClr>
            </a:solidFill>
            <a:prstDash val="solid"/>
          </a:ln>
        </p:spPr>
      </p:sp>
      <p:sp>
        <p:nvSpPr>
          <p:cNvPr id="19" name="Shape 17"/>
          <p:cNvSpPr/>
          <p:nvPr/>
        </p:nvSpPr>
        <p:spPr>
          <a:xfrm>
            <a:off x="6857829" y="3343275"/>
            <a:ext cx="1809705" cy="971550"/>
          </a:xfrm>
          <a:prstGeom prst="roundRect">
            <a:avLst/>
          </a:prstGeom>
          <a:solidFill>
            <a:srgbClr val="FFFFFF"/>
          </a:solidFill>
          <a:ln w="19050">
            <a:solidFill>
              <a:srgbClr val="0E96AC"/>
            </a:solidFill>
            <a:prstDash val="solid"/>
          </a:ln>
        </p:spPr>
      </p:sp>
      <p:sp>
        <p:nvSpPr>
          <p:cNvPr id="20" name="Text 18"/>
          <p:cNvSpPr/>
          <p:nvPr/>
        </p:nvSpPr>
        <p:spPr>
          <a:xfrm>
            <a:off x="7038799" y="3524250"/>
            <a:ext cx="1447764" cy="233362"/>
          </a:xfrm>
          <a:prstGeom prst="rect">
            <a:avLst/>
          </a:prstGeom>
          <a:noFill/>
          <a:ln/>
        </p:spPr>
        <p:txBody>
          <a:bodyPr wrap="square" lIns="0" tIns="0" rIns="0" bIns="0" rtlCol="0" anchor="t"/>
          <a:lstStyle/>
          <a:p>
            <a:pPr marL="0" indent="0" algn="ctr">
              <a:buNone/>
            </a:pPr>
            <a:r>
              <a:rPr lang="en-US" sz="1500" b="1" dirty="0">
                <a:solidFill>
                  <a:srgbClr val="16223A"/>
                </a:solidFill>
                <a:latin typeface="Calibri" pitchFamily="34" charset="0"/>
                <a:ea typeface="Calibri" pitchFamily="34" charset="-122"/>
                <a:cs typeface="Calibri" pitchFamily="34" charset="-120"/>
              </a:rPr>
              <a:t>Base ESP32</a:t>
            </a:r>
            <a:endParaRPr lang="en-US" sz="1500" dirty="0"/>
          </a:p>
        </p:txBody>
      </p:sp>
      <p:sp>
        <p:nvSpPr>
          <p:cNvPr id="21" name="Text 19"/>
          <p:cNvSpPr/>
          <p:nvPr/>
        </p:nvSpPr>
        <p:spPr>
          <a:xfrm>
            <a:off x="7038799" y="3757613"/>
            <a:ext cx="1447764" cy="176212"/>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telemetry receiver</a:t>
            </a:r>
            <a:endParaRPr lang="en-US" sz="1150" dirty="0"/>
          </a:p>
        </p:txBody>
      </p:sp>
      <p:sp>
        <p:nvSpPr>
          <p:cNvPr id="22" name="Shape 20"/>
          <p:cNvSpPr/>
          <p:nvPr/>
        </p:nvSpPr>
        <p:spPr>
          <a:xfrm>
            <a:off x="8667533" y="3810000"/>
            <a:ext cx="714357" cy="47625"/>
          </a:xfrm>
          <a:prstGeom prst="roundRect">
            <a:avLst/>
          </a:prstGeom>
          <a:solidFill>
            <a:srgbClr val="0E96AC"/>
          </a:solidFill>
          <a:ln w="12700">
            <a:solidFill>
              <a:srgbClr val="FFFFFF">
                <a:alpha val="0"/>
              </a:srgbClr>
            </a:solidFill>
            <a:prstDash val="solid"/>
          </a:ln>
        </p:spPr>
      </p:sp>
      <p:sp>
        <p:nvSpPr>
          <p:cNvPr id="23" name="Shape 21"/>
          <p:cNvSpPr/>
          <p:nvPr/>
        </p:nvSpPr>
        <p:spPr>
          <a:xfrm>
            <a:off x="9381890" y="3343275"/>
            <a:ext cx="1476338" cy="971550"/>
          </a:xfrm>
          <a:prstGeom prst="roundRect">
            <a:avLst/>
          </a:prstGeom>
          <a:solidFill>
            <a:srgbClr val="FFFFFF"/>
          </a:solidFill>
          <a:ln w="19050">
            <a:solidFill>
              <a:srgbClr val="0E96AC"/>
            </a:solidFill>
            <a:prstDash val="solid"/>
          </a:ln>
        </p:spPr>
      </p:sp>
      <p:sp>
        <p:nvSpPr>
          <p:cNvPr id="24" name="Text 22"/>
          <p:cNvSpPr/>
          <p:nvPr/>
        </p:nvSpPr>
        <p:spPr>
          <a:xfrm>
            <a:off x="9562861" y="3524250"/>
            <a:ext cx="1114397" cy="233362"/>
          </a:xfrm>
          <a:prstGeom prst="rect">
            <a:avLst/>
          </a:prstGeom>
          <a:noFill/>
          <a:ln/>
        </p:spPr>
        <p:txBody>
          <a:bodyPr wrap="square" lIns="0" tIns="0" rIns="0" bIns="0" rtlCol="0" anchor="t"/>
          <a:lstStyle/>
          <a:p>
            <a:pPr marL="0" indent="0" algn="ctr">
              <a:buNone/>
            </a:pPr>
            <a:r>
              <a:rPr lang="en-US" sz="1500" b="1" dirty="0">
                <a:solidFill>
                  <a:srgbClr val="16223A"/>
                </a:solidFill>
                <a:latin typeface="Calibri" pitchFamily="34" charset="0"/>
                <a:ea typeface="Calibri" pitchFamily="34" charset="-122"/>
                <a:cs typeface="Calibri" pitchFamily="34" charset="-120"/>
              </a:rPr>
              <a:t>Raspberry Pi</a:t>
            </a:r>
            <a:endParaRPr lang="en-US" sz="1500" dirty="0"/>
          </a:p>
        </p:txBody>
      </p:sp>
      <p:sp>
        <p:nvSpPr>
          <p:cNvPr id="25" name="Text 23"/>
          <p:cNvSpPr/>
          <p:nvPr/>
        </p:nvSpPr>
        <p:spPr>
          <a:xfrm>
            <a:off x="9562861" y="3757613"/>
            <a:ext cx="1114397" cy="176212"/>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display / logging</a:t>
            </a:r>
            <a:endParaRPr lang="en-US" sz="1150" dirty="0"/>
          </a:p>
        </p:txBody>
      </p:sp>
      <p:sp>
        <p:nvSpPr>
          <p:cNvPr id="26" name="Shape 24"/>
          <p:cNvSpPr/>
          <p:nvPr/>
        </p:nvSpPr>
        <p:spPr>
          <a:xfrm>
            <a:off x="704832" y="4905375"/>
            <a:ext cx="10782030" cy="104775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27" name="Text 25"/>
          <p:cNvSpPr/>
          <p:nvPr/>
        </p:nvSpPr>
        <p:spPr>
          <a:xfrm>
            <a:off x="4505956" y="5312569"/>
            <a:ext cx="620970" cy="233362"/>
          </a:xfrm>
          <a:prstGeom prst="rect">
            <a:avLst/>
          </a:prstGeom>
          <a:noFill/>
          <a:ln/>
        </p:spPr>
        <p:txBody>
          <a:bodyPr wrap="square" lIns="0" tIns="0" rIns="0" bIns="0" rtlCol="0" anchor="t"/>
          <a:lstStyle/>
          <a:p>
            <a:pPr marL="0" indent="0" algn="l">
              <a:buNone/>
            </a:pPr>
            <a:r>
              <a:rPr lang="en-US" sz="1500" b="1" dirty="0">
                <a:solidFill>
                  <a:srgbClr val="16223A"/>
                </a:solidFill>
                <a:latin typeface="Calibri" pitchFamily="34" charset="0"/>
                <a:ea typeface="Calibri" pitchFamily="34" charset="-122"/>
                <a:cs typeface="Calibri" pitchFamily="34" charset="-120"/>
              </a:rPr>
              <a:t>Reverse</a:t>
            </a:r>
            <a:endParaRPr lang="en-US" sz="1500" dirty="0"/>
          </a:p>
        </p:txBody>
      </p:sp>
      <p:sp>
        <p:nvSpPr>
          <p:cNvPr id="28" name="Text 26"/>
          <p:cNvSpPr/>
          <p:nvPr/>
        </p:nvSpPr>
        <p:spPr>
          <a:xfrm>
            <a:off x="5393620" y="5257800"/>
            <a:ext cx="252927" cy="342900"/>
          </a:xfrm>
          <a:prstGeom prst="rect">
            <a:avLst/>
          </a:prstGeom>
          <a:noFill/>
          <a:ln/>
        </p:spPr>
        <p:txBody>
          <a:bodyPr wrap="square" lIns="0" tIns="0" rIns="0" bIns="0" rtlCol="0" anchor="t"/>
          <a:lstStyle/>
          <a:p>
            <a:pPr marL="0" indent="0" algn="l">
              <a:buNone/>
            </a:pPr>
            <a:r>
              <a:rPr lang="en-US" sz="2200" dirty="0">
                <a:solidFill>
                  <a:srgbClr val="0E96AC"/>
                </a:solidFill>
                <a:latin typeface="Calibri" pitchFamily="34" charset="0"/>
                <a:ea typeface="Calibri" pitchFamily="34" charset="-122"/>
                <a:cs typeface="Calibri" pitchFamily="34" charset="-120"/>
              </a:rPr>
              <a:t>→</a:t>
            </a:r>
            <a:endParaRPr lang="en-US" sz="2200" dirty="0"/>
          </a:p>
        </p:txBody>
      </p:sp>
      <p:sp>
        <p:nvSpPr>
          <p:cNvPr id="29" name="Text 27"/>
          <p:cNvSpPr/>
          <p:nvPr/>
        </p:nvSpPr>
        <p:spPr>
          <a:xfrm>
            <a:off x="5913240" y="5312569"/>
            <a:ext cx="356732" cy="233362"/>
          </a:xfrm>
          <a:prstGeom prst="rect">
            <a:avLst/>
          </a:prstGeom>
          <a:noFill/>
          <a:ln/>
        </p:spPr>
        <p:txBody>
          <a:bodyPr wrap="square" lIns="0" tIns="0" rIns="0" bIns="0" rtlCol="0" anchor="t"/>
          <a:lstStyle/>
          <a:p>
            <a:pPr marL="0" indent="0" algn="l">
              <a:buNone/>
            </a:pPr>
            <a:r>
              <a:rPr lang="en-US" sz="1500" b="1" dirty="0">
                <a:solidFill>
                  <a:srgbClr val="16223A"/>
                </a:solidFill>
                <a:latin typeface="Calibri" pitchFamily="34" charset="0"/>
                <a:ea typeface="Calibri" pitchFamily="34" charset="-122"/>
                <a:cs typeface="Calibri" pitchFamily="34" charset="-120"/>
              </a:rPr>
              <a:t>Turn</a:t>
            </a:r>
            <a:endParaRPr lang="en-US" sz="1500" dirty="0"/>
          </a:p>
        </p:txBody>
      </p:sp>
      <p:sp>
        <p:nvSpPr>
          <p:cNvPr id="30" name="Text 28"/>
          <p:cNvSpPr/>
          <p:nvPr/>
        </p:nvSpPr>
        <p:spPr>
          <a:xfrm>
            <a:off x="6536665" y="5257800"/>
            <a:ext cx="252927" cy="342900"/>
          </a:xfrm>
          <a:prstGeom prst="rect">
            <a:avLst/>
          </a:prstGeom>
          <a:noFill/>
          <a:ln/>
        </p:spPr>
        <p:txBody>
          <a:bodyPr wrap="square" lIns="0" tIns="0" rIns="0" bIns="0" rtlCol="0" anchor="t"/>
          <a:lstStyle/>
          <a:p>
            <a:pPr marL="0" indent="0" algn="l">
              <a:buNone/>
            </a:pPr>
            <a:r>
              <a:rPr lang="en-US" sz="2200" dirty="0">
                <a:solidFill>
                  <a:srgbClr val="0E96AC"/>
                </a:solidFill>
                <a:latin typeface="Calibri" pitchFamily="34" charset="0"/>
                <a:ea typeface="Calibri" pitchFamily="34" charset="-122"/>
                <a:cs typeface="Calibri" pitchFamily="34" charset="-120"/>
              </a:rPr>
              <a:t>→</a:t>
            </a:r>
            <a:endParaRPr lang="en-US" sz="2200" dirty="0"/>
          </a:p>
        </p:txBody>
      </p:sp>
      <p:sp>
        <p:nvSpPr>
          <p:cNvPr id="31" name="Text 29"/>
          <p:cNvSpPr/>
          <p:nvPr/>
        </p:nvSpPr>
        <p:spPr>
          <a:xfrm>
            <a:off x="7056286" y="5312569"/>
            <a:ext cx="629453" cy="233362"/>
          </a:xfrm>
          <a:prstGeom prst="rect">
            <a:avLst/>
          </a:prstGeom>
          <a:noFill/>
          <a:ln/>
        </p:spPr>
        <p:txBody>
          <a:bodyPr wrap="square" lIns="0" tIns="0" rIns="0" bIns="0" rtlCol="0" anchor="t"/>
          <a:lstStyle/>
          <a:p>
            <a:pPr marL="0" indent="0" algn="l">
              <a:buNone/>
            </a:pPr>
            <a:r>
              <a:rPr lang="en-US" sz="1500" b="1" dirty="0">
                <a:solidFill>
                  <a:srgbClr val="16223A"/>
                </a:solidFill>
                <a:latin typeface="Calibri" pitchFamily="34" charset="0"/>
                <a:ea typeface="Calibri" pitchFamily="34" charset="-122"/>
                <a:cs typeface="Calibri" pitchFamily="34" charset="-120"/>
              </a:rPr>
              <a:t>Resume</a:t>
            </a:r>
            <a:endParaRPr lang="en-US" sz="1500" dirty="0"/>
          </a:p>
        </p:txBody>
      </p:sp>
      <p:sp>
        <p:nvSpPr>
          <p:cNvPr id="32" name="Text 30"/>
          <p:cNvSpPr/>
          <p:nvPr/>
        </p:nvSpPr>
        <p:spPr>
          <a:xfrm>
            <a:off x="704832" y="6334125"/>
            <a:ext cx="4528206"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Thresholds and evasion reliability remain calibration topics; obstacle side is not inferred.</a:t>
            </a:r>
            <a:endParaRPr lang="en-US" sz="1000" dirty="0"/>
          </a:p>
        </p:txBody>
      </p:sp>
    </p:spTree>
    <p:extLst>
      <p:ext uri="{BB962C8B-B14F-4D97-AF65-F5344CB8AC3E}">
        <p14:creationId xmlns:p14="http://schemas.microsoft.com/office/powerpoint/2010/main" val="271806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8FA"/>
          </a:solidFill>
          <a:ln w="12700">
            <a:solidFill>
              <a:srgbClr val="FFFFFF">
                <a:alpha val="0"/>
              </a:srgbClr>
            </a:solidFill>
            <a:prstDash val="solid"/>
          </a:ln>
        </p:spPr>
      </p:sp>
      <p:sp>
        <p:nvSpPr>
          <p:cNvPr id="3" name="Text 1"/>
          <p:cNvSpPr/>
          <p:nvPr/>
        </p:nvSpPr>
        <p:spPr>
          <a:xfrm>
            <a:off x="704832" y="400050"/>
            <a:ext cx="2278055"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GEN 2.1 • HOST ARRANGEMENT</a:t>
            </a:r>
            <a:endParaRPr lang="en-US" sz="1050" dirty="0"/>
          </a:p>
        </p:txBody>
      </p:sp>
      <p:sp>
        <p:nvSpPr>
          <p:cNvPr id="4" name="Text 2"/>
          <p:cNvSpPr/>
          <p:nvPr/>
        </p:nvSpPr>
        <p:spPr>
          <a:xfrm>
            <a:off x="704832" y="666750"/>
            <a:ext cx="10572486"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Gen 2.1 moves target generation to the host</a:t>
            </a:r>
            <a:endParaRPr lang="en-US" sz="3000" dirty="0"/>
          </a:p>
        </p:txBody>
      </p:sp>
      <p:sp>
        <p:nvSpPr>
          <p:cNvPr id="5" name="Shape 3"/>
          <p:cNvSpPr/>
          <p:nvPr/>
        </p:nvSpPr>
        <p:spPr>
          <a:xfrm>
            <a:off x="704832" y="1428750"/>
            <a:ext cx="10782030" cy="2619375"/>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6" name="Shape 4"/>
          <p:cNvSpPr/>
          <p:nvPr/>
        </p:nvSpPr>
        <p:spPr>
          <a:xfrm>
            <a:off x="1038199" y="1866900"/>
            <a:ext cx="1952576" cy="1143000"/>
          </a:xfrm>
          <a:prstGeom prst="roundRect">
            <a:avLst/>
          </a:prstGeom>
          <a:solidFill>
            <a:srgbClr val="FFFFFF"/>
          </a:solidFill>
          <a:ln w="19050">
            <a:solidFill>
              <a:srgbClr val="0E96AC"/>
            </a:solidFill>
            <a:prstDash val="solid"/>
          </a:ln>
        </p:spPr>
      </p:sp>
      <p:sp>
        <p:nvSpPr>
          <p:cNvPr id="7" name="Text 5"/>
          <p:cNvSpPr/>
          <p:nvPr/>
        </p:nvSpPr>
        <p:spPr>
          <a:xfrm>
            <a:off x="1228694" y="2057400"/>
            <a:ext cx="1571586" cy="223838"/>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PC / Pi app</a:t>
            </a:r>
            <a:endParaRPr lang="en-US" sz="1450" dirty="0"/>
          </a:p>
        </p:txBody>
      </p:sp>
      <p:sp>
        <p:nvSpPr>
          <p:cNvPr id="8" name="Text 6"/>
          <p:cNvSpPr/>
          <p:nvPr/>
        </p:nvSpPr>
        <p:spPr>
          <a:xfrm>
            <a:off x="1228694" y="2281238"/>
            <a:ext cx="1571586" cy="175245"/>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Shared gait controller</a:t>
            </a:r>
            <a:endParaRPr lang="en-US" sz="1150" dirty="0"/>
          </a:p>
        </p:txBody>
      </p:sp>
      <p:sp>
        <p:nvSpPr>
          <p:cNvPr id="9" name="Text 7"/>
          <p:cNvSpPr/>
          <p:nvPr/>
        </p:nvSpPr>
        <p:spPr>
          <a:xfrm>
            <a:off x="3237005" y="2252663"/>
            <a:ext cx="275920" cy="371475"/>
          </a:xfrm>
          <a:prstGeom prst="rect">
            <a:avLst/>
          </a:prstGeom>
          <a:noFill/>
          <a:ln/>
        </p:spPr>
        <p:txBody>
          <a:bodyPr wrap="square" lIns="0" tIns="0" rIns="0" bIns="0" rtlCol="0" anchor="t"/>
          <a:lstStyle/>
          <a:p>
            <a:pPr marL="0" indent="0" algn="l">
              <a:buNone/>
            </a:pPr>
            <a:r>
              <a:rPr lang="en-US" sz="2400" b="1" dirty="0">
                <a:solidFill>
                  <a:srgbClr val="0E96AC"/>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759081" y="1866900"/>
            <a:ext cx="1952576" cy="1143000"/>
          </a:xfrm>
          <a:prstGeom prst="roundRect">
            <a:avLst/>
          </a:prstGeom>
          <a:solidFill>
            <a:srgbClr val="FFFFFF"/>
          </a:solidFill>
          <a:ln w="19050">
            <a:solidFill>
              <a:srgbClr val="0E96AC"/>
            </a:solidFill>
            <a:prstDash val="solid"/>
          </a:ln>
        </p:spPr>
      </p:sp>
      <p:sp>
        <p:nvSpPr>
          <p:cNvPr id="11" name="Text 9"/>
          <p:cNvSpPr/>
          <p:nvPr/>
        </p:nvSpPr>
        <p:spPr>
          <a:xfrm>
            <a:off x="3949576" y="2057400"/>
            <a:ext cx="1571586" cy="223838"/>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USB or transmitter</a:t>
            </a:r>
            <a:endParaRPr lang="en-US" sz="1450" dirty="0"/>
          </a:p>
        </p:txBody>
      </p:sp>
      <p:sp>
        <p:nvSpPr>
          <p:cNvPr id="12" name="Text 10"/>
          <p:cNvSpPr/>
          <p:nvPr/>
        </p:nvSpPr>
        <p:spPr>
          <a:xfrm>
            <a:off x="3949576" y="2281238"/>
            <a:ext cx="1571586" cy="175245"/>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Command relay</a:t>
            </a:r>
            <a:endParaRPr lang="en-US" sz="1150" dirty="0"/>
          </a:p>
        </p:txBody>
      </p:sp>
      <p:sp>
        <p:nvSpPr>
          <p:cNvPr id="13" name="Text 11"/>
          <p:cNvSpPr/>
          <p:nvPr/>
        </p:nvSpPr>
        <p:spPr>
          <a:xfrm>
            <a:off x="5957887" y="2252663"/>
            <a:ext cx="275920" cy="371475"/>
          </a:xfrm>
          <a:prstGeom prst="rect">
            <a:avLst/>
          </a:prstGeom>
          <a:noFill/>
          <a:ln/>
        </p:spPr>
        <p:txBody>
          <a:bodyPr wrap="square" lIns="0" tIns="0" rIns="0" bIns="0" rtlCol="0" anchor="t"/>
          <a:lstStyle/>
          <a:p>
            <a:pPr marL="0" indent="0" algn="l">
              <a:buNone/>
            </a:pPr>
            <a:r>
              <a:rPr lang="en-US" sz="2400" b="1" dirty="0">
                <a:solidFill>
                  <a:srgbClr val="0E96AC"/>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480038" y="1866900"/>
            <a:ext cx="1952576" cy="1143000"/>
          </a:xfrm>
          <a:prstGeom prst="roundRect">
            <a:avLst/>
          </a:prstGeom>
          <a:solidFill>
            <a:srgbClr val="FFFFFF"/>
          </a:solidFill>
          <a:ln w="19050">
            <a:solidFill>
              <a:srgbClr val="0E96AC"/>
            </a:solidFill>
            <a:prstDash val="solid"/>
          </a:ln>
        </p:spPr>
      </p:sp>
      <p:sp>
        <p:nvSpPr>
          <p:cNvPr id="15" name="Text 13"/>
          <p:cNvSpPr/>
          <p:nvPr/>
        </p:nvSpPr>
        <p:spPr>
          <a:xfrm>
            <a:off x="6670533" y="2057400"/>
            <a:ext cx="1571586" cy="223838"/>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Receiver</a:t>
            </a:r>
            <a:endParaRPr lang="en-US" sz="1450" dirty="0"/>
          </a:p>
        </p:txBody>
      </p:sp>
      <p:sp>
        <p:nvSpPr>
          <p:cNvPr id="16" name="Text 14"/>
          <p:cNvSpPr/>
          <p:nvPr/>
        </p:nvSpPr>
        <p:spPr>
          <a:xfrm>
            <a:off x="6670533" y="2281238"/>
            <a:ext cx="1571586" cy="175245"/>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Applies targets</a:t>
            </a:r>
            <a:endParaRPr lang="en-US" sz="1150" dirty="0"/>
          </a:p>
        </p:txBody>
      </p:sp>
      <p:sp>
        <p:nvSpPr>
          <p:cNvPr id="17" name="Text 15"/>
          <p:cNvSpPr/>
          <p:nvPr/>
        </p:nvSpPr>
        <p:spPr>
          <a:xfrm>
            <a:off x="8678770" y="2252663"/>
            <a:ext cx="275920" cy="371475"/>
          </a:xfrm>
          <a:prstGeom prst="rect">
            <a:avLst/>
          </a:prstGeom>
          <a:noFill/>
          <a:ln/>
        </p:spPr>
        <p:txBody>
          <a:bodyPr wrap="square" lIns="0" tIns="0" rIns="0" bIns="0" rtlCol="0" anchor="t"/>
          <a:lstStyle/>
          <a:p>
            <a:pPr marL="0" indent="0" algn="l">
              <a:buNone/>
            </a:pPr>
            <a:r>
              <a:rPr lang="en-US" sz="2400" b="1" dirty="0">
                <a:solidFill>
                  <a:srgbClr val="0E96AC"/>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9200920" y="1866900"/>
            <a:ext cx="1952576" cy="1143000"/>
          </a:xfrm>
          <a:prstGeom prst="roundRect">
            <a:avLst/>
          </a:prstGeom>
          <a:solidFill>
            <a:srgbClr val="FFFFFF"/>
          </a:solidFill>
          <a:ln w="19050">
            <a:solidFill>
              <a:srgbClr val="0E96AC"/>
            </a:solidFill>
            <a:prstDash val="solid"/>
          </a:ln>
        </p:spPr>
      </p:sp>
      <p:sp>
        <p:nvSpPr>
          <p:cNvPr id="19" name="Text 17"/>
          <p:cNvSpPr/>
          <p:nvPr/>
        </p:nvSpPr>
        <p:spPr>
          <a:xfrm>
            <a:off x="9391415" y="2057400"/>
            <a:ext cx="1571586" cy="223838"/>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Servo bus</a:t>
            </a:r>
            <a:endParaRPr lang="en-US" sz="1450" dirty="0"/>
          </a:p>
        </p:txBody>
      </p:sp>
      <p:sp>
        <p:nvSpPr>
          <p:cNvPr id="20" name="Text 18"/>
          <p:cNvSpPr/>
          <p:nvPr/>
        </p:nvSpPr>
        <p:spPr>
          <a:xfrm>
            <a:off x="9391415" y="2281238"/>
            <a:ext cx="1571586" cy="175245"/>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Targets + feedback</a:t>
            </a:r>
            <a:endParaRPr lang="en-US" sz="1150" dirty="0"/>
          </a:p>
        </p:txBody>
      </p:sp>
      <p:sp>
        <p:nvSpPr>
          <p:cNvPr id="21" name="Text 19"/>
          <p:cNvSpPr/>
          <p:nvPr/>
        </p:nvSpPr>
        <p:spPr>
          <a:xfrm>
            <a:off x="1038199" y="3662362"/>
            <a:ext cx="1435188"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COMMAND DIRECTION →</a:t>
            </a:r>
            <a:endParaRPr lang="en-US" sz="1050" dirty="0"/>
          </a:p>
        </p:txBody>
      </p:sp>
      <p:sp>
        <p:nvSpPr>
          <p:cNvPr id="22" name="Shape 20"/>
          <p:cNvSpPr/>
          <p:nvPr/>
        </p:nvSpPr>
        <p:spPr>
          <a:xfrm>
            <a:off x="704832" y="4286250"/>
            <a:ext cx="10782030" cy="1666875"/>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23" name="Shape 21"/>
          <p:cNvSpPr/>
          <p:nvPr/>
        </p:nvSpPr>
        <p:spPr>
          <a:xfrm>
            <a:off x="1019150" y="4619625"/>
            <a:ext cx="2238319" cy="1000125"/>
          </a:xfrm>
          <a:prstGeom prst="roundRect">
            <a:avLst/>
          </a:prstGeom>
          <a:solidFill>
            <a:srgbClr val="FFFFFF"/>
          </a:solidFill>
          <a:ln w="19050">
            <a:solidFill>
              <a:srgbClr val="D57B12"/>
            </a:solidFill>
            <a:prstDash val="solid"/>
          </a:ln>
        </p:spPr>
      </p:sp>
      <p:sp>
        <p:nvSpPr>
          <p:cNvPr id="24" name="Text 22"/>
          <p:cNvSpPr/>
          <p:nvPr/>
        </p:nvSpPr>
        <p:spPr>
          <a:xfrm>
            <a:off x="1209645" y="4810125"/>
            <a:ext cx="1857329" cy="223838"/>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Sensor node</a:t>
            </a:r>
            <a:endParaRPr lang="en-US" sz="1450" dirty="0"/>
          </a:p>
        </p:txBody>
      </p:sp>
      <p:sp>
        <p:nvSpPr>
          <p:cNvPr id="25" name="Text 23"/>
          <p:cNvSpPr/>
          <p:nvPr/>
        </p:nvSpPr>
        <p:spPr>
          <a:xfrm>
            <a:off x="1209645" y="5033963"/>
            <a:ext cx="1857329" cy="176212"/>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Separate input path</a:t>
            </a:r>
            <a:endParaRPr lang="en-US" sz="1150" dirty="0"/>
          </a:p>
        </p:txBody>
      </p:sp>
      <p:sp>
        <p:nvSpPr>
          <p:cNvPr id="26" name="Text 24"/>
          <p:cNvSpPr/>
          <p:nvPr/>
        </p:nvSpPr>
        <p:spPr>
          <a:xfrm>
            <a:off x="3505112" y="4824412"/>
            <a:ext cx="3524162" cy="209550"/>
          </a:xfrm>
          <a:prstGeom prst="rect">
            <a:avLst/>
          </a:prstGeom>
          <a:noFill/>
          <a:ln/>
        </p:spPr>
        <p:txBody>
          <a:bodyPr wrap="square" lIns="0" tIns="0" rIns="0" bIns="0" rtlCol="0" anchor="t"/>
          <a:lstStyle/>
          <a:p>
            <a:pPr marL="0" indent="0" algn="l">
              <a:buNone/>
            </a:pPr>
            <a:r>
              <a:rPr lang="en-US" sz="1350" b="1" dirty="0">
                <a:solidFill>
                  <a:srgbClr val="0E96AC"/>
                </a:solidFill>
                <a:latin typeface="Calibri" pitchFamily="34" charset="0"/>
                <a:ea typeface="Calibri" pitchFamily="34" charset="-122"/>
                <a:cs typeface="Calibri" pitchFamily="34" charset="-120"/>
              </a:rPr>
              <a:t>← FEEDBACK DIRECTION</a:t>
            </a:r>
            <a:endParaRPr lang="en-US" sz="1350" dirty="0"/>
          </a:p>
        </p:txBody>
      </p:sp>
      <p:sp>
        <p:nvSpPr>
          <p:cNvPr id="27" name="Text 25"/>
          <p:cNvSpPr/>
          <p:nvPr/>
        </p:nvSpPr>
        <p:spPr>
          <a:xfrm>
            <a:off x="3505112" y="5033963"/>
            <a:ext cx="3524162" cy="381000"/>
          </a:xfrm>
          <a:prstGeom prst="rect">
            <a:avLst/>
          </a:prstGeom>
          <a:noFill/>
          <a:ln/>
        </p:spPr>
        <p:txBody>
          <a:bodyPr wrap="square" lIns="0" tIns="0" rIns="0" bIns="0" rtlCol="0" anchor="t"/>
          <a:lstStyle/>
          <a:p>
            <a:pPr marL="0" indent="0" algn="l">
              <a:buNone/>
            </a:pPr>
            <a:r>
              <a:rPr lang="en-US" sz="1200" dirty="0">
                <a:solidFill>
                  <a:srgbClr val="16223A"/>
                </a:solidFill>
                <a:latin typeface="Calibri" pitchFamily="34" charset="0"/>
                <a:ea typeface="Calibri" pitchFamily="34" charset="-122"/>
                <a:cs typeface="Calibri" pitchFamily="34" charset="-120"/>
              </a:rPr>
              <a:t>The receiver returns servo feedback to the host-side application.</a:t>
            </a:r>
            <a:endParaRPr lang="en-US" sz="1200" dirty="0"/>
          </a:p>
        </p:txBody>
      </p:sp>
      <p:sp>
        <p:nvSpPr>
          <p:cNvPr id="28" name="Shape 26"/>
          <p:cNvSpPr/>
          <p:nvPr/>
        </p:nvSpPr>
        <p:spPr>
          <a:xfrm>
            <a:off x="7281680" y="4824412"/>
            <a:ext cx="0" cy="590550"/>
          </a:xfrm>
          <a:prstGeom prst="line">
            <a:avLst/>
          </a:prstGeom>
          <a:solidFill>
            <a:srgbClr val="FFFFFF">
              <a:alpha val="0"/>
            </a:srgbClr>
          </a:solidFill>
          <a:ln w="9525">
            <a:solidFill>
              <a:srgbClr val="16223A"/>
            </a:solidFill>
            <a:prstDash val="solid"/>
          </a:ln>
        </p:spPr>
      </p:sp>
      <p:sp>
        <p:nvSpPr>
          <p:cNvPr id="29" name="Text 27"/>
          <p:cNvSpPr/>
          <p:nvPr/>
        </p:nvSpPr>
        <p:spPr>
          <a:xfrm>
            <a:off x="7553136" y="4824412"/>
            <a:ext cx="3438439" cy="209550"/>
          </a:xfrm>
          <a:prstGeom prst="rect">
            <a:avLst/>
          </a:prstGeom>
          <a:noFill/>
          <a:ln/>
        </p:spPr>
        <p:txBody>
          <a:bodyPr wrap="square" lIns="0" tIns="0" rIns="0" bIns="0" rtlCol="0" anchor="t"/>
          <a:lstStyle/>
          <a:p>
            <a:pPr marL="0" indent="0" algn="l">
              <a:buNone/>
            </a:pPr>
            <a:r>
              <a:rPr lang="en-US" sz="1350" b="1" dirty="0">
                <a:solidFill>
                  <a:srgbClr val="0E96AC"/>
                </a:solidFill>
                <a:latin typeface="Calibri" pitchFamily="34" charset="0"/>
                <a:ea typeface="Calibri" pitchFamily="34" charset="-122"/>
                <a:cs typeface="Calibri" pitchFamily="34" charset="-120"/>
              </a:rPr>
              <a:t>MOTION-STATE GUARD</a:t>
            </a:r>
            <a:endParaRPr lang="en-US" sz="1350" dirty="0"/>
          </a:p>
        </p:txBody>
      </p:sp>
      <p:sp>
        <p:nvSpPr>
          <p:cNvPr id="30" name="Text 28"/>
          <p:cNvSpPr/>
          <p:nvPr/>
        </p:nvSpPr>
        <p:spPr>
          <a:xfrm>
            <a:off x="7553136" y="5033963"/>
            <a:ext cx="3438439" cy="381000"/>
          </a:xfrm>
          <a:prstGeom prst="rect">
            <a:avLst/>
          </a:prstGeom>
          <a:noFill/>
          <a:ln/>
        </p:spPr>
        <p:txBody>
          <a:bodyPr wrap="square" lIns="0" tIns="0" rIns="0" bIns="0" rtlCol="0" anchor="t"/>
          <a:lstStyle/>
          <a:p>
            <a:pPr marL="0" indent="0" algn="l">
              <a:buNone/>
            </a:pPr>
            <a:r>
              <a:rPr lang="en-US" sz="1200" dirty="0">
                <a:solidFill>
                  <a:srgbClr val="16223A"/>
                </a:solidFill>
                <a:latin typeface="Calibri" pitchFamily="34" charset="0"/>
                <a:ea typeface="Calibri" pitchFamily="34" charset="-122"/>
                <a:cs typeface="Calibri" pitchFamily="34" charset="-120"/>
              </a:rPr>
              <a:t>Start, stop and a 750 ms target timeout manage command state.</a:t>
            </a:r>
            <a:endParaRPr lang="en-US" sz="1200" dirty="0"/>
          </a:p>
        </p:txBody>
      </p:sp>
      <p:sp>
        <p:nvSpPr>
          <p:cNvPr id="31" name="Text 29"/>
          <p:cNvSpPr/>
          <p:nvPr/>
        </p:nvSpPr>
        <p:spPr>
          <a:xfrm>
            <a:off x="704832" y="6334125"/>
            <a:ext cx="4703521"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Gen 2.1 does not inherit the Gen 2.0 battery/temperature cutoffs or evasion state machine.</a:t>
            </a:r>
            <a:endParaRPr lang="en-US" sz="1000" dirty="0"/>
          </a:p>
        </p:txBody>
      </p:sp>
    </p:spTree>
    <p:extLst>
      <p:ext uri="{BB962C8B-B14F-4D97-AF65-F5344CB8AC3E}">
        <p14:creationId xmlns:p14="http://schemas.microsoft.com/office/powerpoint/2010/main" val="632237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4832" y="361950"/>
            <a:ext cx="1313747"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GAIT CONTROLLER</a:t>
            </a:r>
            <a:endParaRPr lang="en-US" sz="1050" dirty="0"/>
          </a:p>
        </p:txBody>
      </p:sp>
      <p:sp>
        <p:nvSpPr>
          <p:cNvPr id="3" name="Text 1"/>
          <p:cNvSpPr/>
          <p:nvPr/>
        </p:nvSpPr>
        <p:spPr>
          <a:xfrm>
            <a:off x="704832" y="60960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A travelling wave coordinates the joints</a:t>
            </a:r>
            <a:endParaRPr lang="en-US" sz="3000" dirty="0"/>
          </a:p>
        </p:txBody>
      </p:sp>
      <p:sp>
        <p:nvSpPr>
          <p:cNvPr id="4" name="Shape 2"/>
          <p:cNvSpPr/>
          <p:nvPr/>
        </p:nvSpPr>
        <p:spPr>
          <a:xfrm>
            <a:off x="704832" y="1219200"/>
            <a:ext cx="7238819" cy="723900"/>
          </a:xfrm>
          <a:prstGeom prst="roundRect">
            <a:avLst/>
          </a:prstGeom>
          <a:solidFill>
            <a:srgbClr val="FFFFFF">
              <a:alpha val="82000"/>
            </a:srgbClr>
          </a:solidFill>
          <a:ln w="9525">
            <a:solidFill>
              <a:srgbClr val="FFFFFF"/>
            </a:solidFill>
            <a:prstDash val="solid"/>
          </a:ln>
          <a:effectLst>
            <a:outerShdw blurRad="2977" dist="1191" dir="5400000" algn="bl" rotWithShape="0">
              <a:srgbClr val="16223A">
                <a:alpha val="10000"/>
              </a:srgbClr>
            </a:outerShdw>
          </a:effectLst>
        </p:spPr>
      </p:sp>
      <p:sp>
        <p:nvSpPr>
          <p:cNvPr id="5" name="Text 3"/>
          <p:cNvSpPr/>
          <p:nvPr/>
        </p:nvSpPr>
        <p:spPr>
          <a:xfrm>
            <a:off x="981050" y="1416844"/>
            <a:ext cx="3196897" cy="328613"/>
          </a:xfrm>
          <a:prstGeom prst="rect">
            <a:avLst/>
          </a:prstGeom>
          <a:noFill/>
          <a:ln/>
        </p:spPr>
        <p:txBody>
          <a:bodyPr wrap="square" lIns="0" tIns="0" rIns="0" bIns="0" rtlCol="0" anchor="t"/>
          <a:lstStyle/>
          <a:p>
            <a:pPr marL="0" indent="0" algn="l">
              <a:buNone/>
            </a:pPr>
            <a:r>
              <a:rPr lang="en-US" sz="2200" b="1" dirty="0">
                <a:solidFill>
                  <a:srgbClr val="16223A"/>
                </a:solidFill>
                <a:latin typeface="Cambria Math" pitchFamily="34" charset="0"/>
                <a:ea typeface="Cambria Math" pitchFamily="34" charset="-122"/>
                <a:cs typeface="Cambria Math" pitchFamily="34" charset="-120"/>
              </a:rPr>
              <a:t>θᵢ(t) = A sin(ωt − iφ) + b</a:t>
            </a:r>
            <a:endParaRPr lang="en-US" sz="2200" dirty="0"/>
          </a:p>
        </p:txBody>
      </p:sp>
      <p:sp>
        <p:nvSpPr>
          <p:cNvPr id="6" name="Text 4"/>
          <p:cNvSpPr/>
          <p:nvPr/>
        </p:nvSpPr>
        <p:spPr>
          <a:xfrm>
            <a:off x="8153196" y="1257300"/>
            <a:ext cx="3333667" cy="647700"/>
          </a:xfrm>
          <a:prstGeom prst="rect">
            <a:avLst/>
          </a:prstGeom>
          <a:noFill/>
          <a:ln/>
        </p:spPr>
        <p:txBody>
          <a:bodyPr wrap="square" lIns="0" tIns="0" rIns="0" bIns="0" rtlCol="0" anchor="t"/>
          <a:lstStyle/>
          <a:p>
            <a:pPr marL="0" indent="0" algn="l">
              <a:buNone/>
            </a:pPr>
            <a:r>
              <a:rPr lang="en-US" sz="1150" dirty="0">
                <a:solidFill>
                  <a:srgbClr val="16223A"/>
                </a:solidFill>
                <a:latin typeface="Calibri" pitchFamily="34" charset="0"/>
                <a:ea typeface="Calibri" pitchFamily="34" charset="-122"/>
                <a:cs typeface="Calibri" pitchFamily="34" charset="-120"/>
              </a:rPr>
              <a:t>A = amplitude • ω = temporal frequency</a:t>
            </a:r>
            <a:endParaRPr lang="en-US" sz="1150" dirty="0"/>
          </a:p>
          <a:p>
            <a:pPr marL="0" indent="0" algn="l">
              <a:buNone/>
            </a:pPr>
            <a:r>
              <a:rPr lang="en-US" sz="1150" dirty="0">
                <a:solidFill>
                  <a:srgbClr val="16223A"/>
                </a:solidFill>
                <a:latin typeface="Calibri" pitchFamily="34" charset="0"/>
                <a:ea typeface="Calibri" pitchFamily="34" charset="-122"/>
                <a:cs typeface="Calibri" pitchFamily="34" charset="-120"/>
              </a:rPr>
              <a:t>φ = phase lag • b = steering bias</a:t>
            </a:r>
            <a:endParaRPr lang="en-US" sz="1150" dirty="0"/>
          </a:p>
        </p:txBody>
      </p:sp>
      <p:sp>
        <p:nvSpPr>
          <p:cNvPr id="7" name="Shape 5"/>
          <p:cNvSpPr/>
          <p:nvPr/>
        </p:nvSpPr>
        <p:spPr>
          <a:xfrm>
            <a:off x="704832" y="2143125"/>
            <a:ext cx="8096048" cy="3667125"/>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8" name="Shape 6"/>
          <p:cNvSpPr/>
          <p:nvPr/>
        </p:nvSpPr>
        <p:spPr>
          <a:xfrm>
            <a:off x="962001" y="3424238"/>
            <a:ext cx="7581710" cy="0"/>
          </a:xfrm>
          <a:prstGeom prst="line">
            <a:avLst/>
          </a:prstGeom>
          <a:solidFill>
            <a:srgbClr val="FFFFFF">
              <a:alpha val="0"/>
            </a:srgbClr>
          </a:solidFill>
          <a:ln w="9525">
            <a:solidFill>
              <a:srgbClr val="16223A"/>
            </a:solidFill>
            <a:prstDash val="solid"/>
          </a:ln>
        </p:spPr>
      </p:sp>
      <p:sp>
        <p:nvSpPr>
          <p:cNvPr id="9" name="Text 7"/>
          <p:cNvSpPr/>
          <p:nvPr/>
        </p:nvSpPr>
        <p:spPr>
          <a:xfrm>
            <a:off x="962001" y="2781300"/>
            <a:ext cx="461728"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PHASE 1</a:t>
            </a:r>
            <a:endParaRPr lang="en-US" sz="1050" dirty="0"/>
          </a:p>
        </p:txBody>
      </p:sp>
      <p:sp>
        <p:nvSpPr>
          <p:cNvPr id="10" name="Shape 8"/>
          <p:cNvSpPr/>
          <p:nvPr/>
        </p:nvSpPr>
        <p:spPr>
          <a:xfrm>
            <a:off x="1819230" y="2752725"/>
            <a:ext cx="285743" cy="285750"/>
          </a:xfrm>
          <a:prstGeom prst="ellipse">
            <a:avLst/>
          </a:prstGeom>
          <a:solidFill>
            <a:srgbClr val="0E96AC"/>
          </a:solidFill>
          <a:ln w="28575">
            <a:solidFill>
              <a:srgbClr val="0E96AC"/>
            </a:solidFill>
            <a:prstDash val="solid"/>
          </a:ln>
        </p:spPr>
      </p:sp>
      <p:sp>
        <p:nvSpPr>
          <p:cNvPr id="11" name="Shape 9"/>
          <p:cNvSpPr/>
          <p:nvPr/>
        </p:nvSpPr>
        <p:spPr>
          <a:xfrm>
            <a:off x="2507096" y="2752725"/>
            <a:ext cx="285743" cy="285750"/>
          </a:xfrm>
          <a:prstGeom prst="ellipse">
            <a:avLst/>
          </a:prstGeom>
          <a:solidFill>
            <a:srgbClr val="0E96AC"/>
          </a:solidFill>
          <a:ln w="28575">
            <a:solidFill>
              <a:srgbClr val="0E96AC"/>
            </a:solidFill>
            <a:prstDash val="solid"/>
          </a:ln>
        </p:spPr>
      </p:sp>
      <p:sp>
        <p:nvSpPr>
          <p:cNvPr id="12" name="Shape 10"/>
          <p:cNvSpPr/>
          <p:nvPr/>
        </p:nvSpPr>
        <p:spPr>
          <a:xfrm>
            <a:off x="3195037" y="2752725"/>
            <a:ext cx="285743" cy="285750"/>
          </a:xfrm>
          <a:prstGeom prst="ellipse">
            <a:avLst/>
          </a:prstGeom>
          <a:solidFill>
            <a:srgbClr val="D8E5E9"/>
          </a:solidFill>
          <a:ln w="28575">
            <a:solidFill>
              <a:srgbClr val="0E96AC"/>
            </a:solidFill>
            <a:prstDash val="solid"/>
          </a:ln>
        </p:spPr>
      </p:sp>
      <p:sp>
        <p:nvSpPr>
          <p:cNvPr id="13" name="Shape 11"/>
          <p:cNvSpPr/>
          <p:nvPr/>
        </p:nvSpPr>
        <p:spPr>
          <a:xfrm>
            <a:off x="3882903" y="2752725"/>
            <a:ext cx="285743" cy="285750"/>
          </a:xfrm>
          <a:prstGeom prst="ellipse">
            <a:avLst/>
          </a:prstGeom>
          <a:solidFill>
            <a:srgbClr val="D8E5E9"/>
          </a:solidFill>
          <a:ln w="28575">
            <a:solidFill>
              <a:srgbClr val="0E96AC"/>
            </a:solidFill>
            <a:prstDash val="solid"/>
          </a:ln>
        </p:spPr>
      </p:sp>
      <p:sp>
        <p:nvSpPr>
          <p:cNvPr id="14" name="Shape 12"/>
          <p:cNvSpPr/>
          <p:nvPr/>
        </p:nvSpPr>
        <p:spPr>
          <a:xfrm>
            <a:off x="4570844" y="2752725"/>
            <a:ext cx="285743" cy="285750"/>
          </a:xfrm>
          <a:prstGeom prst="ellipse">
            <a:avLst/>
          </a:prstGeom>
          <a:solidFill>
            <a:srgbClr val="D8E5E9"/>
          </a:solidFill>
          <a:ln w="28575">
            <a:solidFill>
              <a:srgbClr val="0E96AC"/>
            </a:solidFill>
            <a:prstDash val="solid"/>
          </a:ln>
        </p:spPr>
      </p:sp>
      <p:sp>
        <p:nvSpPr>
          <p:cNvPr id="15" name="Shape 13"/>
          <p:cNvSpPr/>
          <p:nvPr/>
        </p:nvSpPr>
        <p:spPr>
          <a:xfrm>
            <a:off x="5258710" y="2752725"/>
            <a:ext cx="285743" cy="285750"/>
          </a:xfrm>
          <a:prstGeom prst="ellipse">
            <a:avLst/>
          </a:prstGeom>
          <a:solidFill>
            <a:srgbClr val="D8E5E9"/>
          </a:solidFill>
          <a:ln w="28575">
            <a:solidFill>
              <a:srgbClr val="0E96AC"/>
            </a:solidFill>
            <a:prstDash val="solid"/>
          </a:ln>
        </p:spPr>
      </p:sp>
      <p:sp>
        <p:nvSpPr>
          <p:cNvPr id="16" name="Shape 14"/>
          <p:cNvSpPr/>
          <p:nvPr/>
        </p:nvSpPr>
        <p:spPr>
          <a:xfrm>
            <a:off x="5946651" y="2752725"/>
            <a:ext cx="285743" cy="285750"/>
          </a:xfrm>
          <a:prstGeom prst="ellipse">
            <a:avLst/>
          </a:prstGeom>
          <a:solidFill>
            <a:srgbClr val="D8E5E9"/>
          </a:solidFill>
          <a:ln w="28575">
            <a:solidFill>
              <a:srgbClr val="0E96AC"/>
            </a:solidFill>
            <a:prstDash val="solid"/>
          </a:ln>
        </p:spPr>
      </p:sp>
      <p:sp>
        <p:nvSpPr>
          <p:cNvPr id="17" name="Shape 15"/>
          <p:cNvSpPr/>
          <p:nvPr/>
        </p:nvSpPr>
        <p:spPr>
          <a:xfrm>
            <a:off x="6634518" y="2752725"/>
            <a:ext cx="285743" cy="285750"/>
          </a:xfrm>
          <a:prstGeom prst="ellipse">
            <a:avLst/>
          </a:prstGeom>
          <a:solidFill>
            <a:srgbClr val="D8E5E9"/>
          </a:solidFill>
          <a:ln w="28575">
            <a:solidFill>
              <a:srgbClr val="0E96AC"/>
            </a:solidFill>
            <a:prstDash val="solid"/>
          </a:ln>
        </p:spPr>
      </p:sp>
      <p:sp>
        <p:nvSpPr>
          <p:cNvPr id="18" name="Shape 16"/>
          <p:cNvSpPr/>
          <p:nvPr/>
        </p:nvSpPr>
        <p:spPr>
          <a:xfrm>
            <a:off x="7322458" y="2752725"/>
            <a:ext cx="285743" cy="285750"/>
          </a:xfrm>
          <a:prstGeom prst="ellipse">
            <a:avLst/>
          </a:prstGeom>
          <a:solidFill>
            <a:srgbClr val="D8E5E9"/>
          </a:solidFill>
          <a:ln w="28575">
            <a:solidFill>
              <a:srgbClr val="0E96AC"/>
            </a:solidFill>
            <a:prstDash val="solid"/>
          </a:ln>
        </p:spPr>
      </p:sp>
      <p:sp>
        <p:nvSpPr>
          <p:cNvPr id="19" name="Shape 17"/>
          <p:cNvSpPr/>
          <p:nvPr/>
        </p:nvSpPr>
        <p:spPr>
          <a:xfrm>
            <a:off x="8010325" y="2752725"/>
            <a:ext cx="285743" cy="285750"/>
          </a:xfrm>
          <a:prstGeom prst="ellipse">
            <a:avLst/>
          </a:prstGeom>
          <a:solidFill>
            <a:srgbClr val="D8E5E9"/>
          </a:solidFill>
          <a:ln w="28575">
            <a:solidFill>
              <a:srgbClr val="0E96AC"/>
            </a:solidFill>
            <a:prstDash val="solid"/>
          </a:ln>
        </p:spPr>
      </p:sp>
      <p:sp>
        <p:nvSpPr>
          <p:cNvPr id="20" name="Shape 18"/>
          <p:cNvSpPr/>
          <p:nvPr/>
        </p:nvSpPr>
        <p:spPr>
          <a:xfrm>
            <a:off x="962001" y="4452937"/>
            <a:ext cx="7581710" cy="0"/>
          </a:xfrm>
          <a:prstGeom prst="line">
            <a:avLst/>
          </a:prstGeom>
          <a:solidFill>
            <a:srgbClr val="FFFFFF">
              <a:alpha val="0"/>
            </a:srgbClr>
          </a:solidFill>
          <a:ln w="9525">
            <a:solidFill>
              <a:srgbClr val="16223A"/>
            </a:solidFill>
            <a:prstDash val="solid"/>
          </a:ln>
        </p:spPr>
      </p:sp>
      <p:sp>
        <p:nvSpPr>
          <p:cNvPr id="21" name="Text 19"/>
          <p:cNvSpPr/>
          <p:nvPr/>
        </p:nvSpPr>
        <p:spPr>
          <a:xfrm>
            <a:off x="962001" y="3810000"/>
            <a:ext cx="461728"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PHASE 2</a:t>
            </a:r>
            <a:endParaRPr lang="en-US" sz="1050" dirty="0"/>
          </a:p>
        </p:txBody>
      </p:sp>
      <p:sp>
        <p:nvSpPr>
          <p:cNvPr id="22" name="Shape 20"/>
          <p:cNvSpPr/>
          <p:nvPr/>
        </p:nvSpPr>
        <p:spPr>
          <a:xfrm>
            <a:off x="1819230" y="3781425"/>
            <a:ext cx="285743" cy="285750"/>
          </a:xfrm>
          <a:prstGeom prst="ellipse">
            <a:avLst/>
          </a:prstGeom>
          <a:solidFill>
            <a:srgbClr val="D8E5E9"/>
          </a:solidFill>
          <a:ln w="28575">
            <a:solidFill>
              <a:srgbClr val="0E96AC"/>
            </a:solidFill>
            <a:prstDash val="solid"/>
          </a:ln>
        </p:spPr>
      </p:sp>
      <p:sp>
        <p:nvSpPr>
          <p:cNvPr id="23" name="Shape 21"/>
          <p:cNvSpPr/>
          <p:nvPr/>
        </p:nvSpPr>
        <p:spPr>
          <a:xfrm>
            <a:off x="2507096" y="3781425"/>
            <a:ext cx="285743" cy="285750"/>
          </a:xfrm>
          <a:prstGeom prst="ellipse">
            <a:avLst/>
          </a:prstGeom>
          <a:solidFill>
            <a:srgbClr val="D8E5E9"/>
          </a:solidFill>
          <a:ln w="28575">
            <a:solidFill>
              <a:srgbClr val="0E96AC"/>
            </a:solidFill>
            <a:prstDash val="solid"/>
          </a:ln>
        </p:spPr>
      </p:sp>
      <p:sp>
        <p:nvSpPr>
          <p:cNvPr id="24" name="Shape 22"/>
          <p:cNvSpPr/>
          <p:nvPr/>
        </p:nvSpPr>
        <p:spPr>
          <a:xfrm>
            <a:off x="3195037" y="3781425"/>
            <a:ext cx="285743" cy="285750"/>
          </a:xfrm>
          <a:prstGeom prst="ellipse">
            <a:avLst/>
          </a:prstGeom>
          <a:solidFill>
            <a:srgbClr val="D8E5E9"/>
          </a:solidFill>
          <a:ln w="28575">
            <a:solidFill>
              <a:srgbClr val="0E96AC"/>
            </a:solidFill>
            <a:prstDash val="solid"/>
          </a:ln>
        </p:spPr>
      </p:sp>
      <p:sp>
        <p:nvSpPr>
          <p:cNvPr id="25" name="Shape 23"/>
          <p:cNvSpPr/>
          <p:nvPr/>
        </p:nvSpPr>
        <p:spPr>
          <a:xfrm>
            <a:off x="3882903" y="3781425"/>
            <a:ext cx="285743" cy="285750"/>
          </a:xfrm>
          <a:prstGeom prst="ellipse">
            <a:avLst/>
          </a:prstGeom>
          <a:solidFill>
            <a:srgbClr val="0E96AC"/>
          </a:solidFill>
          <a:ln w="28575">
            <a:solidFill>
              <a:srgbClr val="0E96AC"/>
            </a:solidFill>
            <a:prstDash val="solid"/>
          </a:ln>
        </p:spPr>
      </p:sp>
      <p:sp>
        <p:nvSpPr>
          <p:cNvPr id="26" name="Shape 24"/>
          <p:cNvSpPr/>
          <p:nvPr/>
        </p:nvSpPr>
        <p:spPr>
          <a:xfrm>
            <a:off x="4570844" y="3781425"/>
            <a:ext cx="285743" cy="285750"/>
          </a:xfrm>
          <a:prstGeom prst="ellipse">
            <a:avLst/>
          </a:prstGeom>
          <a:solidFill>
            <a:srgbClr val="0E96AC"/>
          </a:solidFill>
          <a:ln w="28575">
            <a:solidFill>
              <a:srgbClr val="0E96AC"/>
            </a:solidFill>
            <a:prstDash val="solid"/>
          </a:ln>
        </p:spPr>
      </p:sp>
      <p:sp>
        <p:nvSpPr>
          <p:cNvPr id="27" name="Shape 25"/>
          <p:cNvSpPr/>
          <p:nvPr/>
        </p:nvSpPr>
        <p:spPr>
          <a:xfrm>
            <a:off x="5258710" y="3781425"/>
            <a:ext cx="285743" cy="285750"/>
          </a:xfrm>
          <a:prstGeom prst="ellipse">
            <a:avLst/>
          </a:prstGeom>
          <a:solidFill>
            <a:srgbClr val="D8E5E9"/>
          </a:solidFill>
          <a:ln w="28575">
            <a:solidFill>
              <a:srgbClr val="0E96AC"/>
            </a:solidFill>
            <a:prstDash val="solid"/>
          </a:ln>
        </p:spPr>
      </p:sp>
      <p:sp>
        <p:nvSpPr>
          <p:cNvPr id="28" name="Shape 26"/>
          <p:cNvSpPr/>
          <p:nvPr/>
        </p:nvSpPr>
        <p:spPr>
          <a:xfrm>
            <a:off x="5946651" y="3781425"/>
            <a:ext cx="285743" cy="285750"/>
          </a:xfrm>
          <a:prstGeom prst="ellipse">
            <a:avLst/>
          </a:prstGeom>
          <a:solidFill>
            <a:srgbClr val="D8E5E9"/>
          </a:solidFill>
          <a:ln w="28575">
            <a:solidFill>
              <a:srgbClr val="0E96AC"/>
            </a:solidFill>
            <a:prstDash val="solid"/>
          </a:ln>
        </p:spPr>
      </p:sp>
      <p:sp>
        <p:nvSpPr>
          <p:cNvPr id="29" name="Shape 27"/>
          <p:cNvSpPr/>
          <p:nvPr/>
        </p:nvSpPr>
        <p:spPr>
          <a:xfrm>
            <a:off x="6634518" y="3781425"/>
            <a:ext cx="285743" cy="285750"/>
          </a:xfrm>
          <a:prstGeom prst="ellipse">
            <a:avLst/>
          </a:prstGeom>
          <a:solidFill>
            <a:srgbClr val="D8E5E9"/>
          </a:solidFill>
          <a:ln w="28575">
            <a:solidFill>
              <a:srgbClr val="0E96AC"/>
            </a:solidFill>
            <a:prstDash val="solid"/>
          </a:ln>
        </p:spPr>
      </p:sp>
      <p:sp>
        <p:nvSpPr>
          <p:cNvPr id="30" name="Shape 28"/>
          <p:cNvSpPr/>
          <p:nvPr/>
        </p:nvSpPr>
        <p:spPr>
          <a:xfrm>
            <a:off x="7322458" y="3781425"/>
            <a:ext cx="285743" cy="285750"/>
          </a:xfrm>
          <a:prstGeom prst="ellipse">
            <a:avLst/>
          </a:prstGeom>
          <a:solidFill>
            <a:srgbClr val="D8E5E9"/>
          </a:solidFill>
          <a:ln w="28575">
            <a:solidFill>
              <a:srgbClr val="0E96AC"/>
            </a:solidFill>
            <a:prstDash val="solid"/>
          </a:ln>
        </p:spPr>
      </p:sp>
      <p:sp>
        <p:nvSpPr>
          <p:cNvPr id="31" name="Shape 29"/>
          <p:cNvSpPr/>
          <p:nvPr/>
        </p:nvSpPr>
        <p:spPr>
          <a:xfrm>
            <a:off x="8010325" y="3781425"/>
            <a:ext cx="285743" cy="285750"/>
          </a:xfrm>
          <a:prstGeom prst="ellipse">
            <a:avLst/>
          </a:prstGeom>
          <a:solidFill>
            <a:srgbClr val="D8E5E9"/>
          </a:solidFill>
          <a:ln w="28575">
            <a:solidFill>
              <a:srgbClr val="0E96AC"/>
            </a:solidFill>
            <a:prstDash val="solid"/>
          </a:ln>
        </p:spPr>
      </p:sp>
      <p:sp>
        <p:nvSpPr>
          <p:cNvPr id="32" name="Shape 30"/>
          <p:cNvSpPr/>
          <p:nvPr/>
        </p:nvSpPr>
        <p:spPr>
          <a:xfrm>
            <a:off x="962001" y="5481637"/>
            <a:ext cx="7581710" cy="0"/>
          </a:xfrm>
          <a:prstGeom prst="line">
            <a:avLst/>
          </a:prstGeom>
          <a:solidFill>
            <a:srgbClr val="FFFFFF">
              <a:alpha val="0"/>
            </a:srgbClr>
          </a:solidFill>
          <a:ln w="9525">
            <a:solidFill>
              <a:srgbClr val="16223A"/>
            </a:solidFill>
            <a:prstDash val="solid"/>
          </a:ln>
        </p:spPr>
      </p:sp>
      <p:sp>
        <p:nvSpPr>
          <p:cNvPr id="33" name="Text 31"/>
          <p:cNvSpPr/>
          <p:nvPr/>
        </p:nvSpPr>
        <p:spPr>
          <a:xfrm>
            <a:off x="962001" y="4838700"/>
            <a:ext cx="461728"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PHASE 3</a:t>
            </a:r>
            <a:endParaRPr lang="en-US" sz="1050" dirty="0"/>
          </a:p>
        </p:txBody>
      </p:sp>
      <p:sp>
        <p:nvSpPr>
          <p:cNvPr id="34" name="Shape 32"/>
          <p:cNvSpPr/>
          <p:nvPr/>
        </p:nvSpPr>
        <p:spPr>
          <a:xfrm>
            <a:off x="1819230" y="4810125"/>
            <a:ext cx="285743" cy="285750"/>
          </a:xfrm>
          <a:prstGeom prst="ellipse">
            <a:avLst/>
          </a:prstGeom>
          <a:solidFill>
            <a:srgbClr val="D8E5E9"/>
          </a:solidFill>
          <a:ln w="28575">
            <a:solidFill>
              <a:srgbClr val="0E96AC"/>
            </a:solidFill>
            <a:prstDash val="solid"/>
          </a:ln>
        </p:spPr>
      </p:sp>
      <p:sp>
        <p:nvSpPr>
          <p:cNvPr id="35" name="Shape 33"/>
          <p:cNvSpPr/>
          <p:nvPr/>
        </p:nvSpPr>
        <p:spPr>
          <a:xfrm>
            <a:off x="2507096" y="4810125"/>
            <a:ext cx="285743" cy="285750"/>
          </a:xfrm>
          <a:prstGeom prst="ellipse">
            <a:avLst/>
          </a:prstGeom>
          <a:solidFill>
            <a:srgbClr val="D8E5E9"/>
          </a:solidFill>
          <a:ln w="28575">
            <a:solidFill>
              <a:srgbClr val="0E96AC"/>
            </a:solidFill>
            <a:prstDash val="solid"/>
          </a:ln>
        </p:spPr>
      </p:sp>
      <p:sp>
        <p:nvSpPr>
          <p:cNvPr id="36" name="Shape 34"/>
          <p:cNvSpPr/>
          <p:nvPr/>
        </p:nvSpPr>
        <p:spPr>
          <a:xfrm>
            <a:off x="3195037" y="4810125"/>
            <a:ext cx="285743" cy="285750"/>
          </a:xfrm>
          <a:prstGeom prst="ellipse">
            <a:avLst/>
          </a:prstGeom>
          <a:solidFill>
            <a:srgbClr val="D8E5E9"/>
          </a:solidFill>
          <a:ln w="28575">
            <a:solidFill>
              <a:srgbClr val="0E96AC"/>
            </a:solidFill>
            <a:prstDash val="solid"/>
          </a:ln>
        </p:spPr>
      </p:sp>
      <p:sp>
        <p:nvSpPr>
          <p:cNvPr id="37" name="Shape 35"/>
          <p:cNvSpPr/>
          <p:nvPr/>
        </p:nvSpPr>
        <p:spPr>
          <a:xfrm>
            <a:off x="3882903" y="4810125"/>
            <a:ext cx="285743" cy="285750"/>
          </a:xfrm>
          <a:prstGeom prst="ellipse">
            <a:avLst/>
          </a:prstGeom>
          <a:solidFill>
            <a:srgbClr val="D8E5E9"/>
          </a:solidFill>
          <a:ln w="28575">
            <a:solidFill>
              <a:srgbClr val="0E96AC"/>
            </a:solidFill>
            <a:prstDash val="solid"/>
          </a:ln>
        </p:spPr>
      </p:sp>
      <p:sp>
        <p:nvSpPr>
          <p:cNvPr id="38" name="Shape 36"/>
          <p:cNvSpPr/>
          <p:nvPr/>
        </p:nvSpPr>
        <p:spPr>
          <a:xfrm>
            <a:off x="4570844" y="4810125"/>
            <a:ext cx="285743" cy="285750"/>
          </a:xfrm>
          <a:prstGeom prst="ellipse">
            <a:avLst/>
          </a:prstGeom>
          <a:solidFill>
            <a:srgbClr val="D8E5E9"/>
          </a:solidFill>
          <a:ln w="28575">
            <a:solidFill>
              <a:srgbClr val="0E96AC"/>
            </a:solidFill>
            <a:prstDash val="solid"/>
          </a:ln>
        </p:spPr>
      </p:sp>
      <p:sp>
        <p:nvSpPr>
          <p:cNvPr id="39" name="Shape 37"/>
          <p:cNvSpPr/>
          <p:nvPr/>
        </p:nvSpPr>
        <p:spPr>
          <a:xfrm>
            <a:off x="5258710" y="4810125"/>
            <a:ext cx="285743" cy="285750"/>
          </a:xfrm>
          <a:prstGeom prst="ellipse">
            <a:avLst/>
          </a:prstGeom>
          <a:solidFill>
            <a:srgbClr val="D8E5E9"/>
          </a:solidFill>
          <a:ln w="28575">
            <a:solidFill>
              <a:srgbClr val="0E96AC"/>
            </a:solidFill>
            <a:prstDash val="solid"/>
          </a:ln>
        </p:spPr>
      </p:sp>
      <p:sp>
        <p:nvSpPr>
          <p:cNvPr id="40" name="Shape 38"/>
          <p:cNvSpPr/>
          <p:nvPr/>
        </p:nvSpPr>
        <p:spPr>
          <a:xfrm>
            <a:off x="5946651" y="4810125"/>
            <a:ext cx="285743" cy="285750"/>
          </a:xfrm>
          <a:prstGeom prst="ellipse">
            <a:avLst/>
          </a:prstGeom>
          <a:solidFill>
            <a:srgbClr val="0E96AC"/>
          </a:solidFill>
          <a:ln w="28575">
            <a:solidFill>
              <a:srgbClr val="0E96AC"/>
            </a:solidFill>
            <a:prstDash val="solid"/>
          </a:ln>
        </p:spPr>
      </p:sp>
      <p:sp>
        <p:nvSpPr>
          <p:cNvPr id="41" name="Shape 39"/>
          <p:cNvSpPr/>
          <p:nvPr/>
        </p:nvSpPr>
        <p:spPr>
          <a:xfrm>
            <a:off x="6634518" y="4810125"/>
            <a:ext cx="285743" cy="285750"/>
          </a:xfrm>
          <a:prstGeom prst="ellipse">
            <a:avLst/>
          </a:prstGeom>
          <a:solidFill>
            <a:srgbClr val="0E96AC"/>
          </a:solidFill>
          <a:ln w="28575">
            <a:solidFill>
              <a:srgbClr val="0E96AC"/>
            </a:solidFill>
            <a:prstDash val="solid"/>
          </a:ln>
        </p:spPr>
      </p:sp>
      <p:sp>
        <p:nvSpPr>
          <p:cNvPr id="42" name="Shape 40"/>
          <p:cNvSpPr/>
          <p:nvPr/>
        </p:nvSpPr>
        <p:spPr>
          <a:xfrm>
            <a:off x="7322458" y="4810125"/>
            <a:ext cx="285743" cy="285750"/>
          </a:xfrm>
          <a:prstGeom prst="ellipse">
            <a:avLst/>
          </a:prstGeom>
          <a:solidFill>
            <a:srgbClr val="D8E5E9"/>
          </a:solidFill>
          <a:ln w="28575">
            <a:solidFill>
              <a:srgbClr val="0E96AC"/>
            </a:solidFill>
            <a:prstDash val="solid"/>
          </a:ln>
        </p:spPr>
      </p:sp>
      <p:sp>
        <p:nvSpPr>
          <p:cNvPr id="43" name="Shape 41"/>
          <p:cNvSpPr/>
          <p:nvPr/>
        </p:nvSpPr>
        <p:spPr>
          <a:xfrm>
            <a:off x="8010325" y="4810125"/>
            <a:ext cx="285743" cy="285750"/>
          </a:xfrm>
          <a:prstGeom prst="ellipse">
            <a:avLst/>
          </a:prstGeom>
          <a:solidFill>
            <a:srgbClr val="D8E5E9"/>
          </a:solidFill>
          <a:ln w="28575">
            <a:solidFill>
              <a:srgbClr val="0E96AC"/>
            </a:solidFill>
            <a:prstDash val="solid"/>
          </a:ln>
        </p:spPr>
      </p:sp>
      <p:sp>
        <p:nvSpPr>
          <p:cNvPr id="44" name="Shape 42"/>
          <p:cNvSpPr/>
          <p:nvPr/>
        </p:nvSpPr>
        <p:spPr>
          <a:xfrm>
            <a:off x="9048524" y="2143125"/>
            <a:ext cx="2438339" cy="3667125"/>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45" name="Text 43"/>
          <p:cNvSpPr/>
          <p:nvPr/>
        </p:nvSpPr>
        <p:spPr>
          <a:xfrm>
            <a:off x="9296168" y="3486150"/>
            <a:ext cx="1943051" cy="247650"/>
          </a:xfrm>
          <a:prstGeom prst="rect">
            <a:avLst/>
          </a:prstGeom>
          <a:noFill/>
          <a:ln/>
        </p:spPr>
        <p:txBody>
          <a:bodyPr wrap="square" lIns="0" tIns="0" rIns="0" bIns="0" rtlCol="0" anchor="t"/>
          <a:lstStyle/>
          <a:p>
            <a:pPr marL="0" indent="0" algn="ctr">
              <a:buNone/>
            </a:pPr>
            <a:r>
              <a:rPr lang="en-US" sz="1600" b="1" dirty="0">
                <a:solidFill>
                  <a:srgbClr val="16223A"/>
                </a:solidFill>
                <a:latin typeface="Calibri" pitchFamily="34" charset="0"/>
                <a:ea typeface="Calibri" pitchFamily="34" charset="-122"/>
                <a:cs typeface="Calibri" pitchFamily="34" charset="-120"/>
              </a:rPr>
              <a:t>Physical counterpart</a:t>
            </a:r>
            <a:endParaRPr lang="en-US" sz="1600" dirty="0"/>
          </a:p>
        </p:txBody>
      </p:sp>
      <p:sp>
        <p:nvSpPr>
          <p:cNvPr id="46" name="Text 44"/>
          <p:cNvSpPr/>
          <p:nvPr/>
        </p:nvSpPr>
        <p:spPr>
          <a:xfrm>
            <a:off x="9296168" y="3848100"/>
            <a:ext cx="1943051" cy="189830"/>
          </a:xfrm>
          <a:prstGeom prst="rect">
            <a:avLst/>
          </a:prstGeom>
          <a:noFill/>
          <a:ln/>
        </p:spPr>
        <p:txBody>
          <a:bodyPr wrap="square" lIns="0" tIns="0" rIns="0" bIns="0" rtlCol="0" anchor="t"/>
          <a:lstStyle/>
          <a:p>
            <a:pPr marL="0" indent="0" algn="ctr">
              <a:buNone/>
            </a:pPr>
            <a:r>
              <a:rPr lang="en-US" sz="1150" dirty="0">
                <a:solidFill>
                  <a:srgbClr val="16223A"/>
                </a:solidFill>
                <a:latin typeface="Calibri" pitchFamily="34" charset="0"/>
                <a:ea typeface="Calibri" pitchFamily="34" charset="-122"/>
                <a:cs typeface="Calibri" pitchFamily="34" charset="-120"/>
              </a:rPr>
              <a:t>Place: 20260925_164828.jpg</a:t>
            </a:r>
            <a:endParaRPr lang="en-US" sz="1150" dirty="0"/>
          </a:p>
        </p:txBody>
      </p:sp>
      <p:sp>
        <p:nvSpPr>
          <p:cNvPr id="47" name="Text 45"/>
          <p:cNvSpPr/>
          <p:nvPr/>
        </p:nvSpPr>
        <p:spPr>
          <a:xfrm>
            <a:off x="704832" y="6286500"/>
            <a:ext cx="2523467"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Controller illustration; not a measured trajectory.</a:t>
            </a:r>
            <a:endParaRPr lang="en-US" sz="1000" dirty="0"/>
          </a:p>
        </p:txBody>
      </p:sp>
      <p:sp>
        <p:nvSpPr>
          <p:cNvPr id="48" name="Text 46"/>
          <p:cNvSpPr/>
          <p:nvPr/>
        </p:nvSpPr>
        <p:spPr>
          <a:xfrm>
            <a:off x="10032179" y="6286500"/>
            <a:ext cx="1454684" cy="152400"/>
          </a:xfrm>
          <a:prstGeom prst="rect">
            <a:avLst/>
          </a:prstGeom>
          <a:noFill/>
          <a:ln/>
        </p:spPr>
        <p:txBody>
          <a:bodyPr wrap="square" lIns="0" tIns="0" rIns="0" bIns="0" rtlCol="0" anchor="t"/>
          <a:lstStyle/>
          <a:p>
            <a:pPr marL="0" indent="0" algn="l">
              <a:buNone/>
            </a:pPr>
            <a:r>
              <a:rPr lang="en-US" sz="1000" b="1" dirty="0">
                <a:solidFill>
                  <a:srgbClr val="D57B12"/>
                </a:solidFill>
                <a:latin typeface="Calibri" pitchFamily="34" charset="0"/>
                <a:ea typeface="Calibri" pitchFamily="34" charset="-122"/>
                <a:cs typeface="Calibri" pitchFamily="34" charset="-120"/>
              </a:rPr>
              <a:t>TEN JOINTS • THREE STATES</a:t>
            </a:r>
            <a:endParaRPr lang="en-US" sz="1000" dirty="0"/>
          </a:p>
        </p:txBody>
      </p:sp>
    </p:spTree>
    <p:extLst>
      <p:ext uri="{BB962C8B-B14F-4D97-AF65-F5344CB8AC3E}">
        <p14:creationId xmlns:p14="http://schemas.microsoft.com/office/powerpoint/2010/main" val="3665941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8FA"/>
          </a:solidFill>
          <a:ln w="12700">
            <a:solidFill>
              <a:srgbClr val="FFFFFF">
                <a:alpha val="0"/>
              </a:srgbClr>
            </a:solidFill>
            <a:prstDash val="solid"/>
          </a:ln>
        </p:spPr>
      </p:sp>
      <p:sp>
        <p:nvSpPr>
          <p:cNvPr id="3" name="Text 1"/>
          <p:cNvSpPr/>
          <p:nvPr/>
        </p:nvSpPr>
        <p:spPr>
          <a:xfrm>
            <a:off x="704832" y="400050"/>
            <a:ext cx="1383993"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SHARED SOFTWARE</a:t>
            </a:r>
            <a:endParaRPr lang="en-US" sz="1050" dirty="0"/>
          </a:p>
        </p:txBody>
      </p:sp>
      <p:sp>
        <p:nvSpPr>
          <p:cNvPr id="4" name="Text 2"/>
          <p:cNvSpPr/>
          <p:nvPr/>
        </p:nvSpPr>
        <p:spPr>
          <a:xfrm>
            <a:off x="704832" y="66675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One controller, several ways to work with it</a:t>
            </a:r>
            <a:endParaRPr lang="en-US" sz="3000" dirty="0"/>
          </a:p>
        </p:txBody>
      </p:sp>
      <p:sp>
        <p:nvSpPr>
          <p:cNvPr id="5" name="Shape 3"/>
          <p:cNvSpPr/>
          <p:nvPr/>
        </p:nvSpPr>
        <p:spPr>
          <a:xfrm>
            <a:off x="704832" y="1428750"/>
            <a:ext cx="7810305" cy="457200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6" name="Text 4"/>
          <p:cNvSpPr/>
          <p:nvPr/>
        </p:nvSpPr>
        <p:spPr>
          <a:xfrm>
            <a:off x="1666833" y="3200400"/>
            <a:ext cx="5886303" cy="295275"/>
          </a:xfrm>
          <a:prstGeom prst="rect">
            <a:avLst/>
          </a:prstGeom>
          <a:noFill/>
          <a:ln/>
        </p:spPr>
        <p:txBody>
          <a:bodyPr wrap="square" lIns="0" tIns="0" rIns="0" bIns="0" rtlCol="0" anchor="t"/>
          <a:lstStyle/>
          <a:p>
            <a:pPr marL="0" indent="0" algn="ctr">
              <a:buNone/>
            </a:pPr>
            <a:r>
              <a:rPr lang="en-US" sz="1900" b="1" dirty="0">
                <a:solidFill>
                  <a:srgbClr val="16223A"/>
                </a:solidFill>
                <a:latin typeface="Calibri" pitchFamily="34" charset="0"/>
                <a:ea typeface="Calibri" pitchFamily="34" charset="-122"/>
                <a:cs typeface="Calibri" pitchFamily="34" charset="-120"/>
              </a:rPr>
              <a:t>Gen 2.1 dashboard screenshot</a:t>
            </a:r>
            <a:endParaRPr lang="en-US" sz="1900" dirty="0"/>
          </a:p>
        </p:txBody>
      </p:sp>
      <p:sp>
        <p:nvSpPr>
          <p:cNvPr id="7" name="Text 5"/>
          <p:cNvSpPr/>
          <p:nvPr/>
        </p:nvSpPr>
        <p:spPr>
          <a:xfrm>
            <a:off x="1666833" y="3495675"/>
            <a:ext cx="5886303" cy="198090"/>
          </a:xfrm>
          <a:prstGeom prst="rect">
            <a:avLst/>
          </a:prstGeom>
          <a:noFill/>
          <a:ln/>
        </p:spPr>
        <p:txBody>
          <a:bodyPr wrap="square" lIns="0" tIns="0" rIns="0" bIns="0" rtlCol="0" anchor="t"/>
          <a:lstStyle/>
          <a:p>
            <a:pPr marL="0" indent="0" algn="ctr">
              <a:buNone/>
            </a:pPr>
            <a:r>
              <a:rPr lang="en-US" sz="1200" dirty="0">
                <a:solidFill>
                  <a:srgbClr val="16223A"/>
                </a:solidFill>
                <a:latin typeface="Calibri" pitchFamily="34" charset="0"/>
                <a:ea typeface="Calibri" pitchFamily="34" charset="-122"/>
                <a:cs typeface="Calibri" pitchFamily="34" charset="-120"/>
              </a:rPr>
              <a:t>Reserve a current, clearly identified SIM or hardware-state view.</a:t>
            </a:r>
            <a:endParaRPr lang="en-US" sz="1200" dirty="0"/>
          </a:p>
        </p:txBody>
      </p:sp>
      <p:sp>
        <p:nvSpPr>
          <p:cNvPr id="8" name="Shape 6"/>
          <p:cNvSpPr/>
          <p:nvPr/>
        </p:nvSpPr>
        <p:spPr>
          <a:xfrm>
            <a:off x="8762781" y="1428750"/>
            <a:ext cx="2724082" cy="2333625"/>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9" name="Text 7"/>
          <p:cNvSpPr/>
          <p:nvPr/>
        </p:nvSpPr>
        <p:spPr>
          <a:xfrm>
            <a:off x="9010425" y="2276475"/>
            <a:ext cx="2228794" cy="295275"/>
          </a:xfrm>
          <a:prstGeom prst="rect">
            <a:avLst/>
          </a:prstGeom>
          <a:noFill/>
          <a:ln/>
        </p:spPr>
        <p:txBody>
          <a:bodyPr wrap="square" lIns="0" tIns="0" rIns="0" bIns="0" rtlCol="0" anchor="t"/>
          <a:lstStyle/>
          <a:p>
            <a:pPr marL="0" indent="0" algn="ctr">
              <a:buNone/>
            </a:pPr>
            <a:r>
              <a:rPr lang="en-US" sz="1900" b="1" dirty="0">
                <a:solidFill>
                  <a:srgbClr val="16223A"/>
                </a:solidFill>
                <a:latin typeface="Calibri" pitchFamily="34" charset="0"/>
                <a:ea typeface="Calibri" pitchFamily="34" charset="-122"/>
                <a:cs typeface="Calibri" pitchFamily="34" charset="-120"/>
              </a:rPr>
              <a:t>11-link PyBullet view</a:t>
            </a:r>
            <a:endParaRPr lang="en-US" sz="1900" dirty="0"/>
          </a:p>
        </p:txBody>
      </p:sp>
      <p:sp>
        <p:nvSpPr>
          <p:cNvPr id="10" name="Text 8"/>
          <p:cNvSpPr/>
          <p:nvPr/>
        </p:nvSpPr>
        <p:spPr>
          <a:xfrm>
            <a:off x="9010425" y="2571750"/>
            <a:ext cx="2228794" cy="198090"/>
          </a:xfrm>
          <a:prstGeom prst="rect">
            <a:avLst/>
          </a:prstGeom>
          <a:noFill/>
          <a:ln/>
        </p:spPr>
        <p:txBody>
          <a:bodyPr wrap="square" lIns="0" tIns="0" rIns="0" bIns="0" rtlCol="0" anchor="t"/>
          <a:lstStyle/>
          <a:p>
            <a:pPr marL="0" indent="0" algn="ctr">
              <a:buNone/>
            </a:pPr>
            <a:r>
              <a:rPr lang="en-US" sz="1200" dirty="0">
                <a:solidFill>
                  <a:srgbClr val="16223A"/>
                </a:solidFill>
                <a:latin typeface="Calibri" pitchFamily="34" charset="0"/>
                <a:ea typeface="Calibri" pitchFamily="34" charset="-122"/>
                <a:cs typeface="Calibri" pitchFamily="34" charset="-120"/>
              </a:rPr>
              <a:t>Optional secondary image</a:t>
            </a:r>
            <a:endParaRPr lang="en-US" sz="1200" dirty="0"/>
          </a:p>
        </p:txBody>
      </p:sp>
      <p:sp>
        <p:nvSpPr>
          <p:cNvPr id="11" name="Shape 9"/>
          <p:cNvSpPr/>
          <p:nvPr/>
        </p:nvSpPr>
        <p:spPr>
          <a:xfrm>
            <a:off x="8762781" y="4000500"/>
            <a:ext cx="2724082" cy="200025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12" name="Text 10"/>
          <p:cNvSpPr/>
          <p:nvPr/>
        </p:nvSpPr>
        <p:spPr>
          <a:xfrm>
            <a:off x="8981850" y="4219575"/>
            <a:ext cx="2285943" cy="574625"/>
          </a:xfrm>
          <a:prstGeom prst="rect">
            <a:avLst/>
          </a:prstGeom>
          <a:noFill/>
          <a:ln/>
        </p:spPr>
        <p:txBody>
          <a:bodyPr wrap="square" lIns="0" tIns="0" rIns="0" bIns="0" rtlCol="0" anchor="t"/>
          <a:lstStyle/>
          <a:p>
            <a:pPr marL="0" indent="0" algn="l">
              <a:buNone/>
            </a:pPr>
            <a:r>
              <a:rPr lang="en-US" sz="1300" dirty="0">
                <a:solidFill>
                  <a:srgbClr val="16223A"/>
                </a:solidFill>
                <a:latin typeface="Calibri" pitchFamily="34" charset="0"/>
                <a:ea typeface="Calibri" pitchFamily="34" charset="-122"/>
                <a:cs typeface="Calibri" pitchFamily="34" charset="-120"/>
              </a:rPr>
              <a:t>Dashboard for tuning and feedback</a:t>
            </a:r>
            <a:endParaRPr lang="en-US" sz="1300" dirty="0"/>
          </a:p>
        </p:txBody>
      </p:sp>
      <p:sp>
        <p:nvSpPr>
          <p:cNvPr id="13" name="Text 11"/>
          <p:cNvSpPr/>
          <p:nvPr/>
        </p:nvSpPr>
        <p:spPr>
          <a:xfrm>
            <a:off x="8981850" y="4794200"/>
            <a:ext cx="2285943" cy="368275"/>
          </a:xfrm>
          <a:prstGeom prst="rect">
            <a:avLst/>
          </a:prstGeom>
          <a:noFill/>
          <a:ln/>
        </p:spPr>
        <p:txBody>
          <a:bodyPr wrap="square" lIns="0" tIns="0" rIns="0" bIns="0" rtlCol="0" anchor="t"/>
          <a:lstStyle/>
          <a:p>
            <a:pPr marL="0" indent="0" algn="l">
              <a:buNone/>
            </a:pPr>
            <a:r>
              <a:rPr lang="en-US" sz="1300" dirty="0">
                <a:solidFill>
                  <a:srgbClr val="16223A"/>
                </a:solidFill>
                <a:latin typeface="Calibri" pitchFamily="34" charset="0"/>
                <a:ea typeface="Calibri" pitchFamily="34" charset="-122"/>
                <a:cs typeface="Calibri" pitchFamily="34" charset="-120"/>
              </a:rPr>
              <a:t>Desktop / headless for simulation</a:t>
            </a:r>
            <a:endParaRPr lang="en-US" sz="1300" dirty="0"/>
          </a:p>
        </p:txBody>
      </p:sp>
      <p:sp>
        <p:nvSpPr>
          <p:cNvPr id="14" name="Text 12"/>
          <p:cNvSpPr/>
          <p:nvPr/>
        </p:nvSpPr>
        <p:spPr>
          <a:xfrm>
            <a:off x="8981850" y="5162476"/>
            <a:ext cx="2285943" cy="368275"/>
          </a:xfrm>
          <a:prstGeom prst="rect">
            <a:avLst/>
          </a:prstGeom>
          <a:noFill/>
          <a:ln/>
        </p:spPr>
        <p:txBody>
          <a:bodyPr wrap="square" lIns="0" tIns="0" rIns="0" bIns="0" rtlCol="0" anchor="t"/>
          <a:lstStyle/>
          <a:p>
            <a:pPr marL="0" indent="0" algn="l">
              <a:buNone/>
            </a:pPr>
            <a:r>
              <a:rPr lang="en-US" sz="1300" dirty="0">
                <a:solidFill>
                  <a:srgbClr val="16223A"/>
                </a:solidFill>
                <a:latin typeface="Calibri" pitchFamily="34" charset="0"/>
                <a:ea typeface="Calibri" pitchFamily="34" charset="-122"/>
                <a:cs typeface="Calibri" pitchFamily="34" charset="-120"/>
              </a:rPr>
              <a:t>Gamepad for manual steering</a:t>
            </a:r>
            <a:endParaRPr lang="en-US" sz="1300" dirty="0"/>
          </a:p>
        </p:txBody>
      </p:sp>
      <p:sp>
        <p:nvSpPr>
          <p:cNvPr id="15" name="Text 13"/>
          <p:cNvSpPr/>
          <p:nvPr/>
        </p:nvSpPr>
        <p:spPr>
          <a:xfrm>
            <a:off x="704832" y="6343650"/>
            <a:ext cx="4629258"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Path and accuracy reports are simulation-only; physical path tracking requires localization.</a:t>
            </a:r>
            <a:endParaRPr lang="en-US" sz="1000" dirty="0"/>
          </a:p>
        </p:txBody>
      </p:sp>
    </p:spTree>
    <p:extLst>
      <p:ext uri="{BB962C8B-B14F-4D97-AF65-F5344CB8AC3E}">
        <p14:creationId xmlns:p14="http://schemas.microsoft.com/office/powerpoint/2010/main" val="3137781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4832" y="361950"/>
            <a:ext cx="1413683"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CURRENT EVIDENCE</a:t>
            </a:r>
            <a:endParaRPr lang="en-US" sz="1050" dirty="0"/>
          </a:p>
        </p:txBody>
      </p:sp>
      <p:sp>
        <p:nvSpPr>
          <p:cNvPr id="3" name="Text 1"/>
          <p:cNvSpPr/>
          <p:nvPr/>
        </p:nvSpPr>
        <p:spPr>
          <a:xfrm>
            <a:off x="704832" y="60960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What we can demonstrate now</a:t>
            </a:r>
            <a:endParaRPr lang="en-US" sz="3000" dirty="0"/>
          </a:p>
        </p:txBody>
      </p:sp>
      <p:sp>
        <p:nvSpPr>
          <p:cNvPr id="4" name="Shape 2"/>
          <p:cNvSpPr/>
          <p:nvPr/>
        </p:nvSpPr>
        <p:spPr>
          <a:xfrm>
            <a:off x="704832" y="1314450"/>
            <a:ext cx="7524562" cy="4476750"/>
          </a:xfrm>
          <a:prstGeom prst="roundRect">
            <a:avLst/>
          </a:prstGeom>
          <a:solidFill>
            <a:srgbClr val="FFFFFF">
              <a:alpha val="0"/>
            </a:srgbClr>
          </a:solidFill>
          <a:ln w="9525">
            <a:solidFill>
              <a:srgbClr val="FFFFFF"/>
            </a:solidFill>
            <a:prstDash val="solid"/>
          </a:ln>
          <a:effectLst>
            <a:outerShdw blurRad="3770" dist="1588" dir="5400000" algn="bl" rotWithShape="0">
              <a:srgbClr val="16223A">
                <a:alpha val="12000"/>
              </a:srgbClr>
            </a:outerShdw>
          </a:effectLst>
        </p:spPr>
        <p:txBody>
          <a:bodyPr/>
          <a:lstStyle/>
          <a:p>
            <a:endParaRPr lang="en-IN"/>
          </a:p>
        </p:txBody>
      </p:sp>
      <p:sp>
        <p:nvSpPr>
          <p:cNvPr id="5" name="Text 3"/>
          <p:cNvSpPr/>
          <p:nvPr/>
        </p:nvSpPr>
        <p:spPr>
          <a:xfrm>
            <a:off x="981050" y="1571625"/>
            <a:ext cx="1379974" cy="319088"/>
          </a:xfrm>
          <a:prstGeom prst="rect">
            <a:avLst/>
          </a:prstGeom>
          <a:noFill/>
          <a:ln/>
        </p:spPr>
        <p:txBody>
          <a:bodyPr wrap="square" lIns="0" tIns="0" rIns="0" bIns="0" rtlCol="0" anchor="t"/>
          <a:lstStyle/>
          <a:p>
            <a:pPr marL="0" indent="0" algn="l">
              <a:buNone/>
            </a:pPr>
            <a:r>
              <a:rPr lang="en-US" sz="1050" b="1" dirty="0">
                <a:solidFill>
                  <a:srgbClr val="FFFFFF"/>
                </a:solidFill>
                <a:latin typeface="Calibri" pitchFamily="34" charset="0"/>
                <a:ea typeface="Calibri" pitchFamily="34" charset="-122"/>
                <a:cs typeface="Calibri" pitchFamily="34" charset="-120"/>
              </a:rPr>
              <a:t>VIDEO TO BE ADDED</a:t>
            </a:r>
            <a:endParaRPr lang="en-US" sz="1050" dirty="0"/>
          </a:p>
        </p:txBody>
      </p:sp>
      <p:sp>
        <p:nvSpPr>
          <p:cNvPr id="6" name="Text 4"/>
          <p:cNvSpPr/>
          <p:nvPr/>
        </p:nvSpPr>
        <p:spPr>
          <a:xfrm>
            <a:off x="1285843" y="3276600"/>
            <a:ext cx="6381590" cy="400050"/>
          </a:xfrm>
          <a:prstGeom prst="rect">
            <a:avLst/>
          </a:prstGeom>
          <a:noFill/>
          <a:ln/>
        </p:spPr>
        <p:txBody>
          <a:bodyPr wrap="square" lIns="0" tIns="0" rIns="0" bIns="0" rtlCol="0" anchor="t"/>
          <a:lstStyle/>
          <a:p>
            <a:pPr marL="0" indent="0" algn="ctr">
              <a:buNone/>
            </a:pPr>
            <a:r>
              <a:rPr lang="en-US" sz="2100" b="1" dirty="0">
                <a:solidFill>
                  <a:srgbClr val="16223A"/>
                </a:solidFill>
                <a:latin typeface="Calibri" pitchFamily="34" charset="0"/>
                <a:ea typeface="Calibri" pitchFamily="34" charset="-122"/>
                <a:cs typeface="Calibri" pitchFamily="34" charset="-120"/>
              </a:rPr>
              <a:t>8–12 second locomotion demonstration</a:t>
            </a:r>
            <a:endParaRPr lang="en-US" sz="2100" dirty="0"/>
          </a:p>
        </p:txBody>
      </p:sp>
      <p:sp>
        <p:nvSpPr>
          <p:cNvPr id="7" name="Text 5"/>
          <p:cNvSpPr/>
          <p:nvPr/>
        </p:nvSpPr>
        <p:spPr>
          <a:xfrm>
            <a:off x="704832" y="5924550"/>
            <a:ext cx="7524562" cy="152400"/>
          </a:xfrm>
          <a:prstGeom prst="rect">
            <a:avLst/>
          </a:prstGeom>
          <a:noFill/>
          <a:ln/>
        </p:spPr>
        <p:txBody>
          <a:bodyPr wrap="square" lIns="0" tIns="0" rIns="0" bIns="0" rtlCol="0" anchor="t"/>
          <a:lstStyle/>
          <a:p>
            <a:pPr marL="0" indent="0" algn="ctr">
              <a:buNone/>
            </a:pPr>
            <a:r>
              <a:rPr lang="en-US" sz="1000" dirty="0">
                <a:solidFill>
                  <a:srgbClr val="627083"/>
                </a:solidFill>
                <a:latin typeface="Calibri" pitchFamily="34" charset="0"/>
                <a:ea typeface="Calibri" pitchFamily="34" charset="-122"/>
                <a:cs typeface="Calibri" pitchFamily="34" charset="-120"/>
              </a:rPr>
              <a:t>Temporary still: Screenshot_20261016_012632_WhatsApp.jpg</a:t>
            </a:r>
            <a:endParaRPr lang="en-US" sz="1000" dirty="0"/>
          </a:p>
        </p:txBody>
      </p:sp>
      <p:sp>
        <p:nvSpPr>
          <p:cNvPr id="8" name="Shape 6"/>
          <p:cNvSpPr/>
          <p:nvPr/>
        </p:nvSpPr>
        <p:spPr>
          <a:xfrm>
            <a:off x="8477038" y="1314450"/>
            <a:ext cx="3009825" cy="447675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txBody>
          <a:bodyPr/>
          <a:lstStyle/>
          <a:p>
            <a:endParaRPr lang="en-IN"/>
          </a:p>
        </p:txBody>
      </p:sp>
      <p:sp>
        <p:nvSpPr>
          <p:cNvPr id="9" name="Text 7"/>
          <p:cNvSpPr/>
          <p:nvPr/>
        </p:nvSpPr>
        <p:spPr>
          <a:xfrm>
            <a:off x="8705632" y="1543050"/>
            <a:ext cx="2552636"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EVIDENCE BOUNDARY</a:t>
            </a:r>
            <a:endParaRPr lang="en-US" sz="1050" dirty="0"/>
          </a:p>
        </p:txBody>
      </p:sp>
      <p:sp>
        <p:nvSpPr>
          <p:cNvPr id="10" name="Shape 8"/>
          <p:cNvSpPr/>
          <p:nvPr/>
        </p:nvSpPr>
        <p:spPr>
          <a:xfrm>
            <a:off x="8705632" y="1714500"/>
            <a:ext cx="2552636" cy="0"/>
          </a:xfrm>
          <a:prstGeom prst="line">
            <a:avLst/>
          </a:prstGeom>
          <a:solidFill>
            <a:srgbClr val="FFFFFF">
              <a:alpha val="0"/>
            </a:srgbClr>
          </a:solidFill>
          <a:ln w="9525">
            <a:solidFill>
              <a:srgbClr val="16223A"/>
            </a:solidFill>
            <a:prstDash val="solid"/>
          </a:ln>
        </p:spPr>
      </p:sp>
      <p:sp>
        <p:nvSpPr>
          <p:cNvPr id="11" name="Text 9"/>
          <p:cNvSpPr/>
          <p:nvPr/>
        </p:nvSpPr>
        <p:spPr>
          <a:xfrm>
            <a:off x="8705632" y="1881187"/>
            <a:ext cx="2552636" cy="223838"/>
          </a:xfrm>
          <a:prstGeom prst="rect">
            <a:avLst/>
          </a:prstGeom>
          <a:noFill/>
          <a:ln/>
        </p:spPr>
        <p:txBody>
          <a:bodyPr wrap="square" lIns="0" tIns="0" rIns="0" bIns="0" rtlCol="0" anchor="t"/>
          <a:lstStyle/>
          <a:p>
            <a:pPr marL="0" indent="0" algn="l">
              <a:buNone/>
            </a:pPr>
            <a:r>
              <a:rPr lang="en-US" sz="1450" b="1" dirty="0">
                <a:solidFill>
                  <a:srgbClr val="16223A"/>
                </a:solidFill>
                <a:latin typeface="Calibri" pitchFamily="34" charset="0"/>
                <a:ea typeface="Calibri" pitchFamily="34" charset="-122"/>
                <a:cs typeface="Calibri" pitchFamily="34" charset="-120"/>
              </a:rPr>
              <a:t>Physical operation</a:t>
            </a:r>
            <a:endParaRPr lang="en-US" sz="1450" dirty="0"/>
          </a:p>
        </p:txBody>
      </p:sp>
      <p:sp>
        <p:nvSpPr>
          <p:cNvPr id="12" name="Text 10"/>
          <p:cNvSpPr/>
          <p:nvPr/>
        </p:nvSpPr>
        <p:spPr>
          <a:xfrm>
            <a:off x="8705632" y="2105025"/>
            <a:ext cx="2552636" cy="190500"/>
          </a:xfrm>
          <a:prstGeom prst="rect">
            <a:avLst/>
          </a:prstGeom>
          <a:noFill/>
          <a:ln/>
        </p:spPr>
        <p:txBody>
          <a:bodyPr wrap="square" lIns="0" tIns="0" rIns="0" bIns="0" rtlCol="0" anchor="t"/>
          <a:lstStyle/>
          <a:p>
            <a:pPr marL="0" indent="0" algn="l">
              <a:buNone/>
            </a:pPr>
            <a:r>
              <a:rPr lang="en-US" sz="1200" dirty="0">
                <a:solidFill>
                  <a:srgbClr val="16223A"/>
                </a:solidFill>
                <a:latin typeface="Calibri" pitchFamily="34" charset="0"/>
                <a:ea typeface="Calibri" pitchFamily="34" charset="-122"/>
                <a:cs typeface="Calibri" pitchFamily="34" charset="-120"/>
              </a:rPr>
              <a:t>Working Gen 2 movement</a:t>
            </a:r>
            <a:endParaRPr lang="en-US" sz="1200" dirty="0"/>
          </a:p>
        </p:txBody>
      </p:sp>
      <p:sp>
        <p:nvSpPr>
          <p:cNvPr id="13" name="Shape 11"/>
          <p:cNvSpPr/>
          <p:nvPr/>
        </p:nvSpPr>
        <p:spPr>
          <a:xfrm>
            <a:off x="8705632" y="2462212"/>
            <a:ext cx="2552636" cy="0"/>
          </a:xfrm>
          <a:prstGeom prst="line">
            <a:avLst/>
          </a:prstGeom>
          <a:solidFill>
            <a:srgbClr val="FFFFFF">
              <a:alpha val="0"/>
            </a:srgbClr>
          </a:solidFill>
          <a:ln w="9525">
            <a:solidFill>
              <a:srgbClr val="16223A"/>
            </a:solidFill>
            <a:prstDash val="solid"/>
          </a:ln>
        </p:spPr>
      </p:sp>
      <p:sp>
        <p:nvSpPr>
          <p:cNvPr id="14" name="Text 12"/>
          <p:cNvSpPr/>
          <p:nvPr/>
        </p:nvSpPr>
        <p:spPr>
          <a:xfrm>
            <a:off x="8705632" y="2628900"/>
            <a:ext cx="2552636" cy="223838"/>
          </a:xfrm>
          <a:prstGeom prst="rect">
            <a:avLst/>
          </a:prstGeom>
          <a:noFill/>
          <a:ln/>
        </p:spPr>
        <p:txBody>
          <a:bodyPr wrap="square" lIns="0" tIns="0" rIns="0" bIns="0" rtlCol="0" anchor="t"/>
          <a:lstStyle/>
          <a:p>
            <a:pPr marL="0" indent="0" algn="l">
              <a:buNone/>
            </a:pPr>
            <a:r>
              <a:rPr lang="en-US" sz="1450" b="1" dirty="0">
                <a:solidFill>
                  <a:srgbClr val="16223A"/>
                </a:solidFill>
                <a:latin typeface="Calibri" pitchFamily="34" charset="0"/>
                <a:ea typeface="Calibri" pitchFamily="34" charset="-122"/>
                <a:cs typeface="Calibri" pitchFamily="34" charset="-120"/>
              </a:rPr>
              <a:t>Software checks</a:t>
            </a:r>
            <a:endParaRPr lang="en-US" sz="1450" dirty="0"/>
          </a:p>
        </p:txBody>
      </p:sp>
      <p:sp>
        <p:nvSpPr>
          <p:cNvPr id="15" name="Text 13"/>
          <p:cNvSpPr/>
          <p:nvPr/>
        </p:nvSpPr>
        <p:spPr>
          <a:xfrm>
            <a:off x="8705632" y="2852738"/>
            <a:ext cx="2552636" cy="190500"/>
          </a:xfrm>
          <a:prstGeom prst="rect">
            <a:avLst/>
          </a:prstGeom>
          <a:noFill/>
          <a:ln/>
        </p:spPr>
        <p:txBody>
          <a:bodyPr wrap="square" lIns="0" tIns="0" rIns="0" bIns="0" rtlCol="0" anchor="t"/>
          <a:lstStyle/>
          <a:p>
            <a:pPr marL="0" indent="0" algn="l">
              <a:buNone/>
            </a:pPr>
            <a:r>
              <a:rPr lang="en-US" sz="1200" dirty="0">
                <a:solidFill>
                  <a:srgbClr val="16223A"/>
                </a:solidFill>
                <a:latin typeface="Calibri" pitchFamily="34" charset="0"/>
                <a:ea typeface="Calibri" pitchFamily="34" charset="-122"/>
                <a:cs typeface="Calibri" pitchFamily="34" charset="-120"/>
              </a:rPr>
              <a:t>Commands, feedback and simulation</a:t>
            </a:r>
            <a:endParaRPr lang="en-US" sz="1200" dirty="0"/>
          </a:p>
        </p:txBody>
      </p:sp>
      <p:sp>
        <p:nvSpPr>
          <p:cNvPr id="16" name="Shape 14"/>
          <p:cNvSpPr/>
          <p:nvPr/>
        </p:nvSpPr>
        <p:spPr>
          <a:xfrm>
            <a:off x="8705632" y="3209925"/>
            <a:ext cx="2552636" cy="0"/>
          </a:xfrm>
          <a:prstGeom prst="line">
            <a:avLst/>
          </a:prstGeom>
          <a:solidFill>
            <a:srgbClr val="FFFFFF">
              <a:alpha val="0"/>
            </a:srgbClr>
          </a:solidFill>
          <a:ln w="9525">
            <a:solidFill>
              <a:srgbClr val="16223A"/>
            </a:solidFill>
            <a:prstDash val="solid"/>
          </a:ln>
        </p:spPr>
      </p:sp>
      <p:sp>
        <p:nvSpPr>
          <p:cNvPr id="17" name="Text 15"/>
          <p:cNvSpPr/>
          <p:nvPr/>
        </p:nvSpPr>
        <p:spPr>
          <a:xfrm>
            <a:off x="8705632" y="3376612"/>
            <a:ext cx="2552636" cy="223838"/>
          </a:xfrm>
          <a:prstGeom prst="rect">
            <a:avLst/>
          </a:prstGeom>
          <a:noFill/>
          <a:ln/>
        </p:spPr>
        <p:txBody>
          <a:bodyPr wrap="square" lIns="0" tIns="0" rIns="0" bIns="0" rtlCol="0" anchor="t"/>
          <a:lstStyle/>
          <a:p>
            <a:pPr marL="0" indent="0" algn="l">
              <a:buNone/>
            </a:pPr>
            <a:r>
              <a:rPr lang="en-US" sz="1450" b="1" dirty="0">
                <a:solidFill>
                  <a:srgbClr val="D57B12"/>
                </a:solidFill>
                <a:latin typeface="Calibri" pitchFamily="34" charset="0"/>
                <a:ea typeface="Calibri" pitchFamily="34" charset="-122"/>
                <a:cs typeface="Calibri" pitchFamily="34" charset="-120"/>
              </a:rPr>
              <a:t>Measurements to record</a:t>
            </a:r>
            <a:endParaRPr lang="en-US" sz="1450" dirty="0"/>
          </a:p>
        </p:txBody>
      </p:sp>
      <p:sp>
        <p:nvSpPr>
          <p:cNvPr id="18" name="Text 16"/>
          <p:cNvSpPr/>
          <p:nvPr/>
        </p:nvSpPr>
        <p:spPr>
          <a:xfrm>
            <a:off x="8705632" y="3600450"/>
            <a:ext cx="2552636" cy="190500"/>
          </a:xfrm>
          <a:prstGeom prst="rect">
            <a:avLst/>
          </a:prstGeom>
          <a:noFill/>
          <a:ln/>
        </p:spPr>
        <p:txBody>
          <a:bodyPr wrap="square" lIns="0" tIns="0" rIns="0" bIns="0" rtlCol="0" anchor="t"/>
          <a:lstStyle/>
          <a:p>
            <a:pPr marL="0" indent="0" algn="l">
              <a:buNone/>
            </a:pPr>
            <a:r>
              <a:rPr lang="en-US" sz="1200" dirty="0">
                <a:solidFill>
                  <a:srgbClr val="16223A"/>
                </a:solidFill>
                <a:latin typeface="Calibri" pitchFamily="34" charset="0"/>
                <a:ea typeface="Calibri" pitchFamily="34" charset="-122"/>
                <a:cs typeface="Calibri" pitchFamily="34" charset="-120"/>
              </a:rPr>
              <a:t>Speed, slip, power and stop latency</a:t>
            </a:r>
            <a:endParaRPr lang="en-US" sz="1200" dirty="0"/>
          </a:p>
        </p:txBody>
      </p:sp>
      <p:sp>
        <p:nvSpPr>
          <p:cNvPr id="19" name="Text 17"/>
          <p:cNvSpPr/>
          <p:nvPr/>
        </p:nvSpPr>
        <p:spPr>
          <a:xfrm>
            <a:off x="704832" y="6381750"/>
            <a:ext cx="4963517" cy="138113"/>
          </a:xfrm>
          <a:prstGeom prst="rect">
            <a:avLst/>
          </a:prstGeom>
          <a:noFill/>
          <a:ln/>
        </p:spPr>
        <p:txBody>
          <a:bodyPr wrap="square" lIns="0" tIns="0" rIns="0" bIns="0" rtlCol="0" anchor="t"/>
          <a:lstStyle/>
          <a:p>
            <a:pPr marL="0" indent="0" algn="l">
              <a:buNone/>
            </a:pPr>
            <a:r>
              <a:rPr lang="en-US" sz="900" dirty="0">
                <a:solidFill>
                  <a:srgbClr val="627083"/>
                </a:solidFill>
                <a:latin typeface="Calibri" pitchFamily="34" charset="0"/>
                <a:ea typeface="Calibri" pitchFamily="34" charset="-122"/>
                <a:cs typeface="Calibri" pitchFamily="34" charset="-120"/>
              </a:rPr>
              <a:t>Document the surface and controller used; sensor streaming alone does not prove autonomous navigation.</a:t>
            </a:r>
            <a:endParaRPr lang="en-US" sz="900" dirty="0"/>
          </a:p>
        </p:txBody>
      </p:sp>
    </p:spTree>
    <p:extLst>
      <p:ext uri="{BB962C8B-B14F-4D97-AF65-F5344CB8AC3E}">
        <p14:creationId xmlns:p14="http://schemas.microsoft.com/office/powerpoint/2010/main" val="2794882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8FA"/>
          </a:solidFill>
          <a:ln w="12700">
            <a:solidFill>
              <a:srgbClr val="FFFFFF">
                <a:alpha val="0"/>
              </a:srgbClr>
            </a:solidFill>
            <a:prstDash val="solid"/>
          </a:ln>
        </p:spPr>
      </p:sp>
      <p:sp>
        <p:nvSpPr>
          <p:cNvPr id="3" name="Text 1"/>
          <p:cNvSpPr/>
          <p:nvPr/>
        </p:nvSpPr>
        <p:spPr>
          <a:xfrm>
            <a:off x="704832" y="400050"/>
            <a:ext cx="2234003"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GEN 3 • DESIGN / EXPERIMENT</a:t>
            </a:r>
            <a:endParaRPr lang="en-US" sz="1050" dirty="0"/>
          </a:p>
        </p:txBody>
      </p:sp>
      <p:sp>
        <p:nvSpPr>
          <p:cNvPr id="4" name="Text 2"/>
          <p:cNvSpPr/>
          <p:nvPr/>
        </p:nvSpPr>
        <p:spPr>
          <a:xfrm>
            <a:off x="704832" y="66675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Gen 3 introduces alternating yaw and pitch</a:t>
            </a:r>
            <a:endParaRPr lang="en-US" sz="3000" dirty="0"/>
          </a:p>
        </p:txBody>
      </p:sp>
      <p:sp>
        <p:nvSpPr>
          <p:cNvPr id="5" name="Shape 3"/>
          <p:cNvSpPr/>
          <p:nvPr/>
        </p:nvSpPr>
        <p:spPr>
          <a:xfrm>
            <a:off x="704832" y="1428750"/>
            <a:ext cx="7524562" cy="4572000"/>
          </a:xfrm>
          <a:prstGeom prst="roundRect">
            <a:avLst/>
          </a:prstGeom>
          <a:solidFill>
            <a:srgbClr val="FFFFFF">
              <a:alpha val="0"/>
            </a:srgbClr>
          </a:solidFill>
          <a:ln w="9525">
            <a:solidFill>
              <a:srgbClr val="FFFFFF"/>
            </a:solidFill>
            <a:prstDash val="solid"/>
          </a:ln>
          <a:effectLst>
            <a:outerShdw blurRad="3770" dist="1588" dir="5400000" algn="bl" rotWithShape="0">
              <a:srgbClr val="16223A">
                <a:alpha val="12000"/>
              </a:srgbClr>
            </a:outerShdw>
          </a:effectLst>
        </p:spPr>
      </p:sp>
      <p:sp>
        <p:nvSpPr>
          <p:cNvPr id="6" name="Shape 4"/>
          <p:cNvSpPr/>
          <p:nvPr/>
        </p:nvSpPr>
        <p:spPr>
          <a:xfrm>
            <a:off x="1762081" y="2105025"/>
            <a:ext cx="742931" cy="742950"/>
          </a:xfrm>
          <a:prstGeom prst="ellipse">
            <a:avLst/>
          </a:prstGeom>
          <a:solidFill>
            <a:srgbClr val="0E96AC"/>
          </a:solidFill>
          <a:ln w="12700">
            <a:solidFill>
              <a:srgbClr val="FFFFFF">
                <a:alpha val="0"/>
              </a:srgbClr>
            </a:solidFill>
            <a:prstDash val="solid"/>
          </a:ln>
          <a:effectLst>
            <a:outerShdw blurRad="2580" dist="1191" dir="5400000" algn="bl" rotWithShape="0">
              <a:srgbClr val="16223A">
                <a:alpha val="18000"/>
              </a:srgbClr>
            </a:outerShdw>
          </a:effectLst>
        </p:spPr>
      </p:sp>
      <p:sp>
        <p:nvSpPr>
          <p:cNvPr id="7" name="Shape 5"/>
          <p:cNvSpPr/>
          <p:nvPr/>
        </p:nvSpPr>
        <p:spPr>
          <a:xfrm>
            <a:off x="6429214" y="4581525"/>
            <a:ext cx="742931" cy="742950"/>
          </a:xfrm>
          <a:prstGeom prst="ellipse">
            <a:avLst/>
          </a:prstGeom>
          <a:solidFill>
            <a:srgbClr val="D57B12"/>
          </a:solidFill>
          <a:ln w="12700">
            <a:solidFill>
              <a:srgbClr val="FFFFFF">
                <a:alpha val="0"/>
              </a:srgbClr>
            </a:solidFill>
            <a:prstDash val="solid"/>
          </a:ln>
          <a:effectLst>
            <a:outerShdw blurRad="2580" dist="1191" dir="5400000" algn="bl" rotWithShape="0">
              <a:srgbClr val="16223A">
                <a:alpha val="18000"/>
              </a:srgbClr>
            </a:outerShdw>
          </a:effectLst>
        </p:spPr>
      </p:sp>
      <p:sp>
        <p:nvSpPr>
          <p:cNvPr id="8" name="Text 6"/>
          <p:cNvSpPr/>
          <p:nvPr/>
        </p:nvSpPr>
        <p:spPr>
          <a:xfrm>
            <a:off x="1190595" y="3248025"/>
            <a:ext cx="6572086" cy="342900"/>
          </a:xfrm>
          <a:prstGeom prst="rect">
            <a:avLst/>
          </a:prstGeom>
          <a:noFill/>
          <a:ln/>
        </p:spPr>
        <p:txBody>
          <a:bodyPr wrap="square" lIns="0" tIns="0" rIns="0" bIns="0" rtlCol="0" anchor="t"/>
          <a:lstStyle/>
          <a:p>
            <a:pPr marL="0" indent="0" algn="ctr">
              <a:buNone/>
            </a:pPr>
            <a:r>
              <a:rPr lang="en-US" sz="1950" b="1" dirty="0">
                <a:solidFill>
                  <a:srgbClr val="16223A"/>
                </a:solidFill>
                <a:latin typeface="Calibri" pitchFamily="34" charset="0"/>
                <a:ea typeface="Calibri" pitchFamily="34" charset="-122"/>
                <a:cs typeface="Calibri" pitchFamily="34" charset="-120"/>
              </a:rPr>
              <a:t>Gen 3 CAD — connector and joint-axis view</a:t>
            </a:r>
            <a:endParaRPr lang="en-US" sz="1950" dirty="0"/>
          </a:p>
        </p:txBody>
      </p:sp>
      <p:sp>
        <p:nvSpPr>
          <p:cNvPr id="9" name="Text 7"/>
          <p:cNvSpPr/>
          <p:nvPr/>
        </p:nvSpPr>
        <p:spPr>
          <a:xfrm>
            <a:off x="1381090" y="3819525"/>
            <a:ext cx="6191095" cy="396180"/>
          </a:xfrm>
          <a:prstGeom prst="rect">
            <a:avLst/>
          </a:prstGeom>
          <a:noFill/>
          <a:ln/>
        </p:spPr>
        <p:txBody>
          <a:bodyPr wrap="square" lIns="0" tIns="0" rIns="0" bIns="0" rtlCol="0" anchor="t"/>
          <a:lstStyle/>
          <a:p>
            <a:pPr marL="0" indent="0" algn="ctr">
              <a:buNone/>
            </a:pPr>
            <a:r>
              <a:rPr lang="en-US" sz="1200" dirty="0">
                <a:solidFill>
                  <a:srgbClr val="16223A"/>
                </a:solidFill>
                <a:latin typeface="Calibri" pitchFamily="34" charset="0"/>
                <a:ea typeface="Calibri" pitchFamily="34" charset="-122"/>
                <a:cs typeface="Calibri" pitchFamily="34" charset="-120"/>
              </a:rPr>
              <a:t>Reserve the actual revision from gen3-experimental-3d/cad/ and label alternating axes directly on the model.</a:t>
            </a:r>
            <a:endParaRPr lang="en-US" sz="1200" dirty="0"/>
          </a:p>
        </p:txBody>
      </p:sp>
      <p:sp>
        <p:nvSpPr>
          <p:cNvPr id="10" name="Shape 8"/>
          <p:cNvSpPr/>
          <p:nvPr/>
        </p:nvSpPr>
        <p:spPr>
          <a:xfrm>
            <a:off x="8477038" y="1428750"/>
            <a:ext cx="3009825" cy="457200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sp>
        <p:nvSpPr>
          <p:cNvPr id="11" name="Text 9"/>
          <p:cNvSpPr/>
          <p:nvPr/>
        </p:nvSpPr>
        <p:spPr>
          <a:xfrm>
            <a:off x="8753256" y="1704975"/>
            <a:ext cx="2457389" cy="523056"/>
          </a:xfrm>
          <a:prstGeom prst="rect">
            <a:avLst/>
          </a:prstGeom>
          <a:noFill/>
          <a:ln/>
        </p:spPr>
        <p:txBody>
          <a:bodyPr wrap="square" lIns="0" tIns="0" rIns="0" bIns="0" rtlCol="0" anchor="t"/>
          <a:lstStyle/>
          <a:p>
            <a:pPr marL="0" indent="0" algn="l">
              <a:buNone/>
            </a:pPr>
            <a:r>
              <a:rPr lang="en-US" sz="1050" b="1" dirty="0">
                <a:solidFill>
                  <a:srgbClr val="D57B12"/>
                </a:solidFill>
                <a:latin typeface="Calibri" pitchFamily="34" charset="0"/>
                <a:ea typeface="Calibri" pitchFamily="34" charset="-122"/>
                <a:cs typeface="Calibri" pitchFamily="34" charset="-120"/>
              </a:rPr>
              <a:t>CURRENT RESEARCH DIRECTION</a:t>
            </a:r>
            <a:endParaRPr lang="en-US" sz="1050" dirty="0"/>
          </a:p>
        </p:txBody>
      </p:sp>
      <p:sp>
        <p:nvSpPr>
          <p:cNvPr id="12" name="Text 10"/>
          <p:cNvSpPr/>
          <p:nvPr/>
        </p:nvSpPr>
        <p:spPr>
          <a:xfrm>
            <a:off x="8753256" y="2228031"/>
            <a:ext cx="2457389" cy="596205"/>
          </a:xfrm>
          <a:prstGeom prst="rect">
            <a:avLst/>
          </a:prstGeom>
          <a:noFill/>
          <a:ln/>
        </p:spPr>
        <p:txBody>
          <a:bodyPr wrap="square" lIns="0" tIns="0" rIns="0" bIns="0" rtlCol="0" anchor="t"/>
          <a:lstStyle/>
          <a:p>
            <a:pPr marL="0" indent="0" algn="l">
              <a:buNone/>
            </a:pPr>
            <a:r>
              <a:rPr lang="en-US" sz="1500" dirty="0">
                <a:solidFill>
                  <a:srgbClr val="16223A"/>
                </a:solidFill>
                <a:latin typeface="Calibri" pitchFamily="34" charset="0"/>
                <a:ea typeface="Calibri" pitchFamily="34" charset="-122"/>
                <a:cs typeface="Calibri" pitchFamily="34" charset="-120"/>
              </a:rPr>
              <a:t>Alternating joint axes</a:t>
            </a:r>
            <a:endParaRPr lang="en-US" sz="1500" dirty="0"/>
          </a:p>
        </p:txBody>
      </p:sp>
      <p:sp>
        <p:nvSpPr>
          <p:cNvPr id="13" name="Text 11"/>
          <p:cNvSpPr/>
          <p:nvPr/>
        </p:nvSpPr>
        <p:spPr>
          <a:xfrm>
            <a:off x="8753256" y="2824237"/>
            <a:ext cx="2457389" cy="839986"/>
          </a:xfrm>
          <a:prstGeom prst="rect">
            <a:avLst/>
          </a:prstGeom>
          <a:noFill/>
          <a:ln/>
        </p:spPr>
        <p:txBody>
          <a:bodyPr wrap="square" lIns="0" tIns="0" rIns="0" bIns="0" rtlCol="0" anchor="t"/>
          <a:lstStyle/>
          <a:p>
            <a:pPr marL="0" indent="0" algn="l">
              <a:buNone/>
            </a:pPr>
            <a:r>
              <a:rPr lang="en-US" sz="1500" dirty="0">
                <a:solidFill>
                  <a:srgbClr val="16223A"/>
                </a:solidFill>
                <a:latin typeface="Calibri" pitchFamily="34" charset="0"/>
                <a:ea typeface="Calibri" pitchFamily="34" charset="-122"/>
                <a:cs typeface="Calibri" pitchFamily="34" charset="-120"/>
              </a:rPr>
              <a:t>Revised connectors and plate-chain layout</a:t>
            </a:r>
            <a:endParaRPr lang="en-US" sz="1500" dirty="0"/>
          </a:p>
        </p:txBody>
      </p:sp>
      <p:sp>
        <p:nvSpPr>
          <p:cNvPr id="14" name="Text 12"/>
          <p:cNvSpPr/>
          <p:nvPr/>
        </p:nvSpPr>
        <p:spPr>
          <a:xfrm>
            <a:off x="8753256" y="3664223"/>
            <a:ext cx="2457389" cy="596205"/>
          </a:xfrm>
          <a:prstGeom prst="rect">
            <a:avLst/>
          </a:prstGeom>
          <a:noFill/>
          <a:ln/>
        </p:spPr>
        <p:txBody>
          <a:bodyPr wrap="square" lIns="0" tIns="0" rIns="0" bIns="0" rtlCol="0" anchor="t"/>
          <a:lstStyle/>
          <a:p>
            <a:pPr marL="0" indent="0" algn="l">
              <a:buNone/>
            </a:pPr>
            <a:r>
              <a:rPr lang="en-US" sz="1500" dirty="0">
                <a:solidFill>
                  <a:srgbClr val="16223A"/>
                </a:solidFill>
                <a:latin typeface="Calibri" pitchFamily="34" charset="0"/>
                <a:ea typeface="Calibri" pitchFamily="34" charset="-122"/>
                <a:cs typeface="Calibri" pitchFamily="34" charset="-120"/>
              </a:rPr>
              <a:t>Experimental 3D waveform</a:t>
            </a:r>
            <a:endParaRPr lang="en-US" sz="1500" dirty="0"/>
          </a:p>
        </p:txBody>
      </p:sp>
      <p:sp>
        <p:nvSpPr>
          <p:cNvPr id="15" name="Text 13"/>
          <p:cNvSpPr/>
          <p:nvPr/>
        </p:nvSpPr>
        <p:spPr>
          <a:xfrm>
            <a:off x="704832" y="6343650"/>
            <a:ext cx="5304176"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Dry-run scripts, CAD candidates and waveform experiments are not proof of completed 3D locomotion.</a:t>
            </a:r>
            <a:endParaRPr lang="en-US" sz="1000" dirty="0"/>
          </a:p>
        </p:txBody>
      </p:sp>
    </p:spTree>
    <p:extLst>
      <p:ext uri="{BB962C8B-B14F-4D97-AF65-F5344CB8AC3E}">
        <p14:creationId xmlns:p14="http://schemas.microsoft.com/office/powerpoint/2010/main" val="3026485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4832" y="400050"/>
            <a:ext cx="1410260"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NEXT EXPERIMENTS</a:t>
            </a:r>
            <a:endParaRPr lang="en-US" sz="1050" dirty="0"/>
          </a:p>
        </p:txBody>
      </p:sp>
      <p:sp>
        <p:nvSpPr>
          <p:cNvPr id="3" name="Text 1"/>
          <p:cNvSpPr/>
          <p:nvPr/>
        </p:nvSpPr>
        <p:spPr>
          <a:xfrm>
            <a:off x="704832" y="66675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The next experiments answer specific questions</a:t>
            </a:r>
            <a:endParaRPr lang="en-US" sz="3000" dirty="0"/>
          </a:p>
        </p:txBody>
      </p:sp>
      <p:sp>
        <p:nvSpPr>
          <p:cNvPr id="4" name="Shape 2"/>
          <p:cNvSpPr/>
          <p:nvPr/>
        </p:nvSpPr>
        <p:spPr>
          <a:xfrm>
            <a:off x="704832" y="1428750"/>
            <a:ext cx="10782030" cy="457200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sp>
      <p:graphicFrame>
        <p:nvGraphicFramePr>
          <p:cNvPr id="5" name="Table 0"/>
          <p:cNvGraphicFramePr>
            <a:graphicFrameLocks noGrp="1"/>
          </p:cNvGraphicFramePr>
          <p:nvPr/>
        </p:nvGraphicFramePr>
        <p:xfrm>
          <a:off x="714357" y="1438275"/>
          <a:ext cx="10762980" cy="4552950"/>
        </p:xfrm>
        <a:graphic>
          <a:graphicData uri="http://schemas.openxmlformats.org/drawingml/2006/table">
            <a:tbl>
              <a:tblPr/>
              <a:tblGrid>
                <a:gridCol w="5381490">
                  <a:extLst>
                    <a:ext uri="{9D8B030D-6E8A-4147-A177-3AD203B41FA5}">
                      <a16:colId xmlns:a16="http://schemas.microsoft.com/office/drawing/2014/main" val="20000"/>
                    </a:ext>
                  </a:extLst>
                </a:gridCol>
                <a:gridCol w="5381490">
                  <a:extLst>
                    <a:ext uri="{9D8B030D-6E8A-4147-A177-3AD203B41FA5}">
                      <a16:colId xmlns:a16="http://schemas.microsoft.com/office/drawing/2014/main" val="20001"/>
                    </a:ext>
                  </a:extLst>
                </a:gridCol>
              </a:tblGrid>
              <a:tr h="552450">
                <a:tc>
                  <a:txBody>
                    <a:bodyPr/>
                    <a:lstStyle/>
                    <a:p>
                      <a:pPr marL="0" indent="0" algn="l">
                        <a:buNone/>
                      </a:pPr>
                      <a:r>
                        <a:rPr lang="en-US" sz="1000" b="1" dirty="0">
                          <a:solidFill>
                            <a:srgbClr val="0E96AC"/>
                          </a:solidFill>
                          <a:latin typeface="Calibri" pitchFamily="34" charset="0"/>
                          <a:ea typeface="Calibri" pitchFamily="34" charset="-122"/>
                          <a:cs typeface="Calibri" pitchFamily="34" charset="-120"/>
                        </a:rPr>
                        <a:t>QUESTION</a:t>
                      </a:r>
                      <a:endParaRPr lang="en-US" sz="10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E96AC"/>
                    </a:solidFill>
                  </a:tcPr>
                </a:tc>
                <a:tc>
                  <a:txBody>
                    <a:bodyPr/>
                    <a:lstStyle/>
                    <a:p>
                      <a:pPr marL="0" indent="0" algn="l">
                        <a:buNone/>
                      </a:pPr>
                      <a:r>
                        <a:rPr lang="en-US" sz="1000" b="1" dirty="0">
                          <a:solidFill>
                            <a:srgbClr val="0E96AC"/>
                          </a:solidFill>
                          <a:latin typeface="Calibri" pitchFamily="34" charset="0"/>
                          <a:ea typeface="Calibri" pitchFamily="34" charset="-122"/>
                          <a:cs typeface="Calibri" pitchFamily="34" charset="-120"/>
                        </a:rPr>
                        <a:t>OBSERVATION TO RECORD</a:t>
                      </a:r>
                      <a:endParaRPr lang="en-US" sz="10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E96AC"/>
                    </a:solidFill>
                  </a:tcPr>
                </a:tc>
                <a:extLst>
                  <a:ext uri="{0D108BD9-81ED-4DB2-BD59-A6C34878D82A}">
                    <a16:rowId xmlns:a16="http://schemas.microsoft.com/office/drawing/2014/main" val="10000"/>
                  </a:ext>
                </a:extLst>
              </a:tr>
              <a:tr h="1333500">
                <a:tc>
                  <a:txBody>
                    <a:bodyPr/>
                    <a:lstStyle/>
                    <a:p>
                      <a:pPr marL="0" indent="0" algn="l">
                        <a:buNone/>
                      </a:pPr>
                      <a:r>
                        <a:rPr lang="en-US" sz="1450" b="1" dirty="0">
                          <a:solidFill>
                            <a:srgbClr val="16223A"/>
                          </a:solidFill>
                          <a:latin typeface="Calibri" pitchFamily="34" charset="0"/>
                          <a:ea typeface="Calibri" pitchFamily="34" charset="-122"/>
                          <a:cs typeface="Calibri" pitchFamily="34" charset="-120"/>
                        </a:rPr>
                        <a:t>01 How does surface contact affect forward travel and slip?</a:t>
                      </a:r>
                      <a:endParaRPr lang="en-US" sz="1450" dirty="0">
                        <a:latin typeface="Calibri" charset="0"/>
                        <a:ea typeface="Calibri" charset="0"/>
                        <a:cs typeface="Calibri" charset="0"/>
                      </a:endParaRPr>
                    </a:p>
                  </a:txBody>
                  <a:tcPr marL="36576" marR="36576" marT="36576" marB="36576"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4D5D72"/>
                          </a:solidFill>
                          <a:latin typeface="Calibri" pitchFamily="34" charset="0"/>
                          <a:ea typeface="Calibri" pitchFamily="34" charset="-122"/>
                          <a:cs typeface="Calibri" pitchFamily="34" charset="-120"/>
                        </a:rPr>
                        <a:t>Distance and time • lateral drift • body contact</a:t>
                      </a:r>
                      <a:endParaRPr lang="en-US" sz="1200" dirty="0">
                        <a:latin typeface="Calibri" charset="0"/>
                        <a:ea typeface="Calibri" charset="0"/>
                        <a:cs typeface="Calibri" charset="0"/>
                      </a:endParaRPr>
                    </a:p>
                  </a:txBody>
                  <a:tcPr marL="36576" marR="36576" marT="36576" marB="36576"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1333500">
                <a:tc>
                  <a:txBody>
                    <a:bodyPr/>
                    <a:lstStyle/>
                    <a:p>
                      <a:pPr marL="0" indent="0" algn="l">
                        <a:buNone/>
                      </a:pPr>
                      <a:r>
                        <a:rPr lang="en-US" sz="1450" b="1" dirty="0">
                          <a:solidFill>
                            <a:srgbClr val="16223A"/>
                          </a:solidFill>
                          <a:latin typeface="Calibri" pitchFamily="34" charset="0"/>
                          <a:ea typeface="Calibri" pitchFamily="34" charset="-122"/>
                          <a:cs typeface="Calibri" pitchFamily="34" charset="-120"/>
                        </a:rPr>
                        <a:t>02 How repeatable are steering and stop response?</a:t>
                      </a:r>
                      <a:endParaRPr lang="en-US" sz="1450" dirty="0">
                        <a:latin typeface="Calibri" charset="0"/>
                        <a:ea typeface="Calibri" charset="0"/>
                        <a:cs typeface="Calibri" charset="0"/>
                      </a:endParaRPr>
                    </a:p>
                  </a:txBody>
                  <a:tcPr marL="36576" marR="36576" marT="36576" marB="36576"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4D5D72"/>
                          </a:solidFill>
                          <a:latin typeface="Calibri" pitchFamily="34" charset="0"/>
                          <a:ea typeface="Calibri" pitchFamily="34" charset="-122"/>
                          <a:cs typeface="Calibri" pitchFamily="34" charset="-120"/>
                        </a:rPr>
                        <a:t>Turn response • stop delay • selected controller and surface</a:t>
                      </a:r>
                      <a:endParaRPr lang="en-US" sz="1200" dirty="0">
                        <a:latin typeface="Calibri" charset="0"/>
                        <a:ea typeface="Calibri" charset="0"/>
                        <a:cs typeface="Calibri" charset="0"/>
                      </a:endParaRPr>
                    </a:p>
                  </a:txBody>
                  <a:tcPr marL="36576" marR="36576" marT="36576" marB="36576"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1333500">
                <a:tc>
                  <a:txBody>
                    <a:bodyPr/>
                    <a:lstStyle/>
                    <a:p>
                      <a:pPr marL="0" indent="0" algn="l">
                        <a:buNone/>
                      </a:pPr>
                      <a:r>
                        <a:rPr lang="en-US" sz="1450" b="1" dirty="0">
                          <a:solidFill>
                            <a:srgbClr val="16223A"/>
                          </a:solidFill>
                          <a:latin typeface="Calibri" pitchFamily="34" charset="0"/>
                          <a:ea typeface="Calibri" pitchFamily="34" charset="-122"/>
                          <a:cs typeface="Calibri" pitchFamily="34" charset="-120"/>
                        </a:rPr>
                        <a:t>03 What changes when pitch joints carry the body out of the plane?</a:t>
                      </a:r>
                      <a:endParaRPr lang="en-US" sz="1450" dirty="0">
                        <a:latin typeface="Calibri" charset="0"/>
                        <a:ea typeface="Calibri" charset="0"/>
                        <a:cs typeface="Calibri" charset="0"/>
                      </a:endParaRPr>
                    </a:p>
                  </a:txBody>
                  <a:tcPr marL="36576" marR="36576" marT="36576" marB="36576"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4D5D72"/>
                          </a:solidFill>
                          <a:latin typeface="Calibri" pitchFamily="34" charset="0"/>
                          <a:ea typeface="Calibri" pitchFamily="34" charset="-122"/>
                          <a:cs typeface="Calibri" pitchFamily="34" charset="-120"/>
                        </a:rPr>
                        <a:t>Joint clearance • contact points • voltage and current</a:t>
                      </a:r>
                      <a:endParaRPr lang="en-US" sz="1200" dirty="0">
                        <a:latin typeface="Calibri" charset="0"/>
                        <a:ea typeface="Calibri" charset="0"/>
                        <a:cs typeface="Calibri" charset="0"/>
                      </a:endParaRPr>
                    </a:p>
                  </a:txBody>
                  <a:tcPr marL="36576" marR="36576" marT="36576" marB="36576"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6" name="Text 3"/>
          <p:cNvSpPr/>
          <p:nvPr/>
        </p:nvSpPr>
        <p:spPr>
          <a:xfrm>
            <a:off x="704832" y="6334125"/>
            <a:ext cx="5439830"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Quantities remain blank until measured. Use the same controller and test surface for comparable records.</a:t>
            </a:r>
            <a:endParaRPr lang="en-US" sz="1000" dirty="0"/>
          </a:p>
        </p:txBody>
      </p:sp>
    </p:spTree>
    <p:extLst>
      <p:ext uri="{BB962C8B-B14F-4D97-AF65-F5344CB8AC3E}">
        <p14:creationId xmlns:p14="http://schemas.microsoft.com/office/powerpoint/2010/main" val="1248940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4832" y="400050"/>
            <a:ext cx="728719" cy="166688"/>
          </a:xfrm>
          <a:prstGeom prst="rect">
            <a:avLst/>
          </a:prstGeom>
          <a:noFill/>
          <a:ln/>
        </p:spPr>
        <p:txBody>
          <a:bodyPr wrap="square" lIns="0" tIns="0" rIns="0" bIns="0" rtlCol="0" anchor="t"/>
          <a:lstStyle/>
          <a:p>
            <a:pPr marL="0" indent="0" algn="l">
              <a:buNone/>
            </a:pPr>
            <a:r>
              <a:rPr lang="en-US" sz="1050" b="1" dirty="0">
                <a:solidFill>
                  <a:srgbClr val="0E96AC"/>
                </a:solidFill>
                <a:latin typeface="Calibri" pitchFamily="34" charset="0"/>
                <a:ea typeface="Calibri" pitchFamily="34" charset="-122"/>
                <a:cs typeface="Calibri" pitchFamily="34" charset="-120"/>
              </a:rPr>
              <a:t>ROADMAP</a:t>
            </a:r>
            <a:endParaRPr lang="en-US" sz="1050" dirty="0"/>
          </a:p>
        </p:txBody>
      </p:sp>
      <p:sp>
        <p:nvSpPr>
          <p:cNvPr id="3" name="Text 1"/>
          <p:cNvSpPr/>
          <p:nvPr/>
        </p:nvSpPr>
        <p:spPr>
          <a:xfrm>
            <a:off x="704832" y="666750"/>
            <a:ext cx="10477238" cy="495300"/>
          </a:xfrm>
          <a:prstGeom prst="rect">
            <a:avLst/>
          </a:prstGeom>
          <a:noFill/>
          <a:ln/>
        </p:spPr>
        <p:txBody>
          <a:bodyPr wrap="square" lIns="0" tIns="0" rIns="0" bIns="0" rtlCol="0" anchor="t"/>
          <a:lstStyle/>
          <a:p>
            <a:pPr marL="0" indent="0" algn="l">
              <a:buNone/>
            </a:pPr>
            <a:r>
              <a:rPr lang="en-US" sz="3000" b="1" dirty="0">
                <a:solidFill>
                  <a:srgbClr val="16223A"/>
                </a:solidFill>
                <a:latin typeface="Calibri" pitchFamily="34" charset="0"/>
                <a:ea typeface="Calibri" pitchFamily="34" charset="-122"/>
                <a:cs typeface="Calibri" pitchFamily="34" charset="-120"/>
              </a:rPr>
              <a:t>From the working planar robot to Gen 3 trials</a:t>
            </a:r>
            <a:endParaRPr lang="en-US" sz="3000" dirty="0"/>
          </a:p>
        </p:txBody>
      </p:sp>
      <p:sp>
        <p:nvSpPr>
          <p:cNvPr id="4" name="Shape 2"/>
          <p:cNvSpPr/>
          <p:nvPr/>
        </p:nvSpPr>
        <p:spPr>
          <a:xfrm>
            <a:off x="704832" y="1428750"/>
            <a:ext cx="10782030" cy="3238500"/>
          </a:xfrm>
          <a:prstGeom prst="roundRect">
            <a:avLst/>
          </a:prstGeom>
          <a:solidFill>
            <a:srgbClr val="FFFFFF">
              <a:alpha val="82000"/>
            </a:srgbClr>
          </a:solidFill>
          <a:ln w="9525">
            <a:solidFill>
              <a:srgbClr val="FFFFFF"/>
            </a:solidFill>
            <a:prstDash val="solid"/>
          </a:ln>
          <a:effectLst>
            <a:outerShdw blurRad="3770" dist="1588" dir="5400000" algn="bl" rotWithShape="0">
              <a:srgbClr val="16223A">
                <a:alpha val="12000"/>
              </a:srgbClr>
            </a:outerShdw>
          </a:effectLst>
        </p:spPr>
        <p:txBody>
          <a:bodyPr/>
          <a:lstStyle/>
          <a:p>
            <a:endParaRPr lang="en-IN"/>
          </a:p>
        </p:txBody>
      </p:sp>
      <p:sp>
        <p:nvSpPr>
          <p:cNvPr id="5" name="Shape 3"/>
          <p:cNvSpPr/>
          <p:nvPr/>
        </p:nvSpPr>
        <p:spPr>
          <a:xfrm>
            <a:off x="1800180" y="1914525"/>
            <a:ext cx="495288" cy="495300"/>
          </a:xfrm>
          <a:prstGeom prst="ellipse">
            <a:avLst/>
          </a:prstGeom>
          <a:solidFill>
            <a:srgbClr val="0E96AC"/>
          </a:solidFill>
          <a:ln w="12700">
            <a:solidFill>
              <a:srgbClr val="FFFFFF">
                <a:alpha val="0"/>
              </a:srgbClr>
            </a:solidFill>
            <a:prstDash val="solid"/>
          </a:ln>
        </p:spPr>
        <p:txBody>
          <a:bodyPr/>
          <a:lstStyle/>
          <a:p>
            <a:endParaRPr lang="en-IN"/>
          </a:p>
        </p:txBody>
      </p:sp>
      <p:sp>
        <p:nvSpPr>
          <p:cNvPr id="6" name="Text 4"/>
          <p:cNvSpPr/>
          <p:nvPr/>
        </p:nvSpPr>
        <p:spPr>
          <a:xfrm>
            <a:off x="1000100" y="2552700"/>
            <a:ext cx="2095448" cy="221010"/>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Working Gen 2 reference</a:t>
            </a:r>
            <a:endParaRPr lang="en-US" sz="1450" dirty="0"/>
          </a:p>
        </p:txBody>
      </p:sp>
      <p:sp>
        <p:nvSpPr>
          <p:cNvPr id="7" name="Text 5"/>
          <p:cNvSpPr/>
          <p:nvPr/>
        </p:nvSpPr>
        <p:spPr>
          <a:xfrm>
            <a:off x="1000100" y="2773710"/>
            <a:ext cx="2095448" cy="182538"/>
          </a:xfrm>
          <a:prstGeom prst="rect">
            <a:avLst/>
          </a:prstGeom>
          <a:noFill/>
          <a:ln/>
        </p:spPr>
        <p:txBody>
          <a:bodyPr wrap="square" lIns="0" tIns="0" rIns="0" bIns="0" rtlCol="0" anchor="t"/>
          <a:lstStyle/>
          <a:p>
            <a:pPr marL="0" indent="0" algn="ctr">
              <a:buNone/>
            </a:pPr>
            <a:r>
              <a:rPr lang="en-US" sz="1150" dirty="0">
                <a:solidFill>
                  <a:srgbClr val="526177"/>
                </a:solidFill>
                <a:latin typeface="Calibri" pitchFamily="34" charset="0"/>
                <a:ea typeface="Calibri" pitchFamily="34" charset="-122"/>
                <a:cs typeface="Calibri" pitchFamily="34" charset="-120"/>
              </a:rPr>
              <a:t>Current planar platform</a:t>
            </a:r>
            <a:endParaRPr lang="en-US" sz="1150" dirty="0"/>
          </a:p>
        </p:txBody>
      </p:sp>
      <p:sp>
        <p:nvSpPr>
          <p:cNvPr id="8" name="Text 6"/>
          <p:cNvSpPr/>
          <p:nvPr/>
        </p:nvSpPr>
        <p:spPr>
          <a:xfrm>
            <a:off x="3267812" y="1914525"/>
            <a:ext cx="258731" cy="347663"/>
          </a:xfrm>
          <a:prstGeom prst="rect">
            <a:avLst/>
          </a:prstGeom>
          <a:noFill/>
          <a:ln/>
        </p:spPr>
        <p:txBody>
          <a:bodyPr wrap="square" lIns="0" tIns="0" rIns="0" bIns="0" rtlCol="0" anchor="t"/>
          <a:lstStyle/>
          <a:p>
            <a:pPr marL="0" indent="0" algn="l">
              <a:buNone/>
            </a:pPr>
            <a:r>
              <a:rPr lang="en-US" sz="2250" dirty="0">
                <a:solidFill>
                  <a:srgbClr val="0E96AC"/>
                </a:solidFill>
                <a:latin typeface="Calibri" pitchFamily="34" charset="0"/>
                <a:ea typeface="Calibri" pitchFamily="34" charset="-122"/>
                <a:cs typeface="Calibri" pitchFamily="34" charset="-120"/>
              </a:rPr>
              <a:t>→</a:t>
            </a:r>
            <a:endParaRPr lang="en-US" sz="2250" dirty="0"/>
          </a:p>
        </p:txBody>
      </p:sp>
      <p:sp>
        <p:nvSpPr>
          <p:cNvPr id="9" name="Shape 7"/>
          <p:cNvSpPr/>
          <p:nvPr/>
        </p:nvSpPr>
        <p:spPr>
          <a:xfrm>
            <a:off x="4498887" y="1914525"/>
            <a:ext cx="495288" cy="495300"/>
          </a:xfrm>
          <a:prstGeom prst="ellipse">
            <a:avLst/>
          </a:prstGeom>
          <a:solidFill>
            <a:srgbClr val="16223A"/>
          </a:solidFill>
          <a:ln w="12700">
            <a:solidFill>
              <a:srgbClr val="FFFFFF">
                <a:alpha val="0"/>
              </a:srgbClr>
            </a:solidFill>
            <a:prstDash val="solid"/>
          </a:ln>
        </p:spPr>
        <p:txBody>
          <a:bodyPr/>
          <a:lstStyle/>
          <a:p>
            <a:endParaRPr lang="en-IN"/>
          </a:p>
        </p:txBody>
      </p:sp>
      <p:sp>
        <p:nvSpPr>
          <p:cNvPr id="10" name="Text 8"/>
          <p:cNvSpPr/>
          <p:nvPr/>
        </p:nvSpPr>
        <p:spPr>
          <a:xfrm>
            <a:off x="3698807" y="2552700"/>
            <a:ext cx="2095448" cy="221010"/>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Repeatable measurements</a:t>
            </a:r>
            <a:endParaRPr lang="en-US" sz="1450" dirty="0"/>
          </a:p>
        </p:txBody>
      </p:sp>
      <p:sp>
        <p:nvSpPr>
          <p:cNvPr id="11" name="Text 9"/>
          <p:cNvSpPr/>
          <p:nvPr/>
        </p:nvSpPr>
        <p:spPr>
          <a:xfrm>
            <a:off x="3698807" y="2773710"/>
            <a:ext cx="2095448" cy="365075"/>
          </a:xfrm>
          <a:prstGeom prst="rect">
            <a:avLst/>
          </a:prstGeom>
          <a:noFill/>
          <a:ln/>
        </p:spPr>
        <p:txBody>
          <a:bodyPr wrap="square" lIns="0" tIns="0" rIns="0" bIns="0" rtlCol="0" anchor="t"/>
          <a:lstStyle/>
          <a:p>
            <a:pPr marL="0" indent="0" algn="ctr">
              <a:buNone/>
            </a:pPr>
            <a:r>
              <a:rPr lang="en-US" sz="1150" dirty="0">
                <a:solidFill>
                  <a:srgbClr val="526177"/>
                </a:solidFill>
                <a:latin typeface="Calibri" pitchFamily="34" charset="0"/>
                <a:ea typeface="Calibri" pitchFamily="34" charset="-122"/>
                <a:cs typeface="Calibri" pitchFamily="34" charset="-120"/>
              </a:rPr>
              <a:t>Contact, motion, power and stopping</a:t>
            </a:r>
            <a:endParaRPr lang="en-US" sz="1150" dirty="0"/>
          </a:p>
        </p:txBody>
      </p:sp>
      <p:sp>
        <p:nvSpPr>
          <p:cNvPr id="12" name="Text 10"/>
          <p:cNvSpPr/>
          <p:nvPr/>
        </p:nvSpPr>
        <p:spPr>
          <a:xfrm>
            <a:off x="5966519" y="1914525"/>
            <a:ext cx="258731" cy="347663"/>
          </a:xfrm>
          <a:prstGeom prst="rect">
            <a:avLst/>
          </a:prstGeom>
          <a:noFill/>
          <a:ln/>
        </p:spPr>
        <p:txBody>
          <a:bodyPr wrap="square" lIns="0" tIns="0" rIns="0" bIns="0" rtlCol="0" anchor="t"/>
          <a:lstStyle/>
          <a:p>
            <a:pPr marL="0" indent="0" algn="l">
              <a:buNone/>
            </a:pPr>
            <a:r>
              <a:rPr lang="en-US" sz="2250" dirty="0">
                <a:solidFill>
                  <a:srgbClr val="0E96AC"/>
                </a:solidFill>
                <a:latin typeface="Calibri" pitchFamily="34" charset="0"/>
                <a:ea typeface="Calibri" pitchFamily="34" charset="-122"/>
                <a:cs typeface="Calibri" pitchFamily="34" charset="-120"/>
              </a:rPr>
              <a:t>→</a:t>
            </a:r>
            <a:endParaRPr lang="en-US" sz="2250" dirty="0"/>
          </a:p>
        </p:txBody>
      </p:sp>
      <p:sp>
        <p:nvSpPr>
          <p:cNvPr id="13" name="Shape 11"/>
          <p:cNvSpPr/>
          <p:nvPr/>
        </p:nvSpPr>
        <p:spPr>
          <a:xfrm>
            <a:off x="7197520" y="1914525"/>
            <a:ext cx="495288" cy="495300"/>
          </a:xfrm>
          <a:prstGeom prst="ellipse">
            <a:avLst/>
          </a:prstGeom>
          <a:solidFill>
            <a:srgbClr val="16223A"/>
          </a:solidFill>
          <a:ln w="12700">
            <a:solidFill>
              <a:srgbClr val="FFFFFF">
                <a:alpha val="0"/>
              </a:srgbClr>
            </a:solidFill>
            <a:prstDash val="solid"/>
          </a:ln>
        </p:spPr>
        <p:txBody>
          <a:bodyPr/>
          <a:lstStyle/>
          <a:p>
            <a:endParaRPr lang="en-IN"/>
          </a:p>
        </p:txBody>
      </p:sp>
      <p:sp>
        <p:nvSpPr>
          <p:cNvPr id="14" name="Text 12"/>
          <p:cNvSpPr/>
          <p:nvPr/>
        </p:nvSpPr>
        <p:spPr>
          <a:xfrm>
            <a:off x="6397440" y="2552700"/>
            <a:ext cx="2095448" cy="221010"/>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Gen 3 assembly checks</a:t>
            </a:r>
            <a:endParaRPr lang="en-US" sz="1450" dirty="0"/>
          </a:p>
        </p:txBody>
      </p:sp>
      <p:sp>
        <p:nvSpPr>
          <p:cNvPr id="15" name="Text 13"/>
          <p:cNvSpPr/>
          <p:nvPr/>
        </p:nvSpPr>
        <p:spPr>
          <a:xfrm>
            <a:off x="6397440" y="2773710"/>
            <a:ext cx="2095448" cy="182538"/>
          </a:xfrm>
          <a:prstGeom prst="rect">
            <a:avLst/>
          </a:prstGeom>
          <a:noFill/>
          <a:ln/>
        </p:spPr>
        <p:txBody>
          <a:bodyPr wrap="square" lIns="0" tIns="0" rIns="0" bIns="0" rtlCol="0" anchor="t"/>
          <a:lstStyle/>
          <a:p>
            <a:pPr marL="0" indent="0" algn="ctr">
              <a:buNone/>
            </a:pPr>
            <a:r>
              <a:rPr lang="en-US" sz="1150" dirty="0">
                <a:solidFill>
                  <a:srgbClr val="526177"/>
                </a:solidFill>
                <a:latin typeface="Calibri" pitchFamily="34" charset="0"/>
                <a:ea typeface="Calibri" pitchFamily="34" charset="-122"/>
                <a:cs typeface="Calibri" pitchFamily="34" charset="-120"/>
              </a:rPr>
              <a:t>Connectors, axes and clearance</a:t>
            </a:r>
            <a:endParaRPr lang="en-US" sz="1150" dirty="0"/>
          </a:p>
        </p:txBody>
      </p:sp>
      <p:sp>
        <p:nvSpPr>
          <p:cNvPr id="16" name="Text 14"/>
          <p:cNvSpPr/>
          <p:nvPr/>
        </p:nvSpPr>
        <p:spPr>
          <a:xfrm>
            <a:off x="8665152" y="1914525"/>
            <a:ext cx="258731" cy="347663"/>
          </a:xfrm>
          <a:prstGeom prst="rect">
            <a:avLst/>
          </a:prstGeom>
          <a:noFill/>
          <a:ln/>
        </p:spPr>
        <p:txBody>
          <a:bodyPr wrap="square" lIns="0" tIns="0" rIns="0" bIns="0" rtlCol="0" anchor="t"/>
          <a:lstStyle/>
          <a:p>
            <a:pPr marL="0" indent="0" algn="l">
              <a:buNone/>
            </a:pPr>
            <a:r>
              <a:rPr lang="en-US" sz="2250" dirty="0">
                <a:solidFill>
                  <a:srgbClr val="0E96AC"/>
                </a:solidFill>
                <a:latin typeface="Calibri" pitchFamily="34" charset="0"/>
                <a:ea typeface="Calibri" pitchFamily="34" charset="-122"/>
                <a:cs typeface="Calibri" pitchFamily="34" charset="-120"/>
              </a:rPr>
              <a:t>→</a:t>
            </a:r>
            <a:endParaRPr lang="en-US" sz="2250" dirty="0"/>
          </a:p>
        </p:txBody>
      </p:sp>
      <p:sp>
        <p:nvSpPr>
          <p:cNvPr id="17" name="Shape 15"/>
          <p:cNvSpPr/>
          <p:nvPr/>
        </p:nvSpPr>
        <p:spPr>
          <a:xfrm>
            <a:off x="9896228" y="1914525"/>
            <a:ext cx="495288" cy="495300"/>
          </a:xfrm>
          <a:prstGeom prst="ellipse">
            <a:avLst/>
          </a:prstGeom>
          <a:solidFill>
            <a:srgbClr val="16223A"/>
          </a:solidFill>
          <a:ln w="12700">
            <a:solidFill>
              <a:srgbClr val="FFFFFF">
                <a:alpha val="0"/>
              </a:srgbClr>
            </a:solidFill>
            <a:prstDash val="solid"/>
          </a:ln>
        </p:spPr>
        <p:txBody>
          <a:bodyPr/>
          <a:lstStyle/>
          <a:p>
            <a:endParaRPr lang="en-IN"/>
          </a:p>
        </p:txBody>
      </p:sp>
      <p:sp>
        <p:nvSpPr>
          <p:cNvPr id="18" name="Text 16"/>
          <p:cNvSpPr/>
          <p:nvPr/>
        </p:nvSpPr>
        <p:spPr>
          <a:xfrm>
            <a:off x="9096148" y="2552700"/>
            <a:ext cx="2095448" cy="221010"/>
          </a:xfrm>
          <a:prstGeom prst="rect">
            <a:avLst/>
          </a:prstGeom>
          <a:noFill/>
          <a:ln/>
        </p:spPr>
        <p:txBody>
          <a:bodyPr wrap="square" lIns="0" tIns="0" rIns="0" bIns="0" rtlCol="0" anchor="t"/>
          <a:lstStyle/>
          <a:p>
            <a:pPr marL="0" indent="0" algn="ctr">
              <a:buNone/>
            </a:pPr>
            <a:r>
              <a:rPr lang="en-US" sz="1450" b="1" dirty="0">
                <a:solidFill>
                  <a:srgbClr val="16223A"/>
                </a:solidFill>
                <a:latin typeface="Calibri" pitchFamily="34" charset="0"/>
                <a:ea typeface="Calibri" pitchFamily="34" charset="-122"/>
                <a:cs typeface="Calibri" pitchFamily="34" charset="-120"/>
              </a:rPr>
              <a:t>Coordinated 3D trials</a:t>
            </a:r>
            <a:endParaRPr lang="en-US" sz="1450" dirty="0"/>
          </a:p>
        </p:txBody>
      </p:sp>
      <p:sp>
        <p:nvSpPr>
          <p:cNvPr id="19" name="Text 17"/>
          <p:cNvSpPr/>
          <p:nvPr/>
        </p:nvSpPr>
        <p:spPr>
          <a:xfrm>
            <a:off x="9096148" y="2773710"/>
            <a:ext cx="2095448" cy="182538"/>
          </a:xfrm>
          <a:prstGeom prst="rect">
            <a:avLst/>
          </a:prstGeom>
          <a:noFill/>
          <a:ln/>
        </p:spPr>
        <p:txBody>
          <a:bodyPr wrap="square" lIns="0" tIns="0" rIns="0" bIns="0" rtlCol="0" anchor="t"/>
          <a:lstStyle/>
          <a:p>
            <a:pPr marL="0" indent="0" algn="ctr">
              <a:buNone/>
            </a:pPr>
            <a:r>
              <a:rPr lang="en-US" sz="1150" dirty="0">
                <a:solidFill>
                  <a:srgbClr val="526177"/>
                </a:solidFill>
                <a:latin typeface="Calibri" pitchFamily="34" charset="0"/>
                <a:ea typeface="Calibri" pitchFamily="34" charset="-122"/>
                <a:cs typeface="Calibri" pitchFamily="34" charset="-120"/>
              </a:rPr>
              <a:t>Experimental yaw/pitch motion</a:t>
            </a:r>
            <a:endParaRPr lang="en-US" sz="1150" dirty="0"/>
          </a:p>
        </p:txBody>
      </p:sp>
      <p:sp>
        <p:nvSpPr>
          <p:cNvPr id="20" name="Text 18"/>
          <p:cNvSpPr/>
          <p:nvPr/>
        </p:nvSpPr>
        <p:spPr>
          <a:xfrm>
            <a:off x="1047724" y="5048250"/>
            <a:ext cx="10096248" cy="666750"/>
          </a:xfrm>
          <a:prstGeom prst="rect">
            <a:avLst/>
          </a:prstGeom>
          <a:noFill/>
          <a:ln/>
        </p:spPr>
        <p:txBody>
          <a:bodyPr wrap="square" lIns="0" tIns="0" rIns="0" bIns="0" rtlCol="0" anchor="t"/>
          <a:lstStyle/>
          <a:p>
            <a:pPr marL="0" indent="0" algn="ctr">
              <a:buNone/>
            </a:pPr>
            <a:r>
              <a:rPr lang="en-US" sz="1800" b="1" dirty="0">
                <a:solidFill>
                  <a:srgbClr val="16223A"/>
                </a:solidFill>
                <a:latin typeface="Calibri" pitchFamily="34" charset="0"/>
                <a:ea typeface="Calibri" pitchFamily="34" charset="-122"/>
                <a:cs typeface="Calibri" pitchFamily="34" charset="-120"/>
              </a:rPr>
              <a:t>The planar platform gives us a working base for the next set of mechanical and gait experiments.</a:t>
            </a:r>
            <a:endParaRPr lang="en-US" sz="1800" dirty="0"/>
          </a:p>
        </p:txBody>
      </p:sp>
      <p:sp>
        <p:nvSpPr>
          <p:cNvPr id="21" name="Text 19"/>
          <p:cNvSpPr/>
          <p:nvPr/>
        </p:nvSpPr>
        <p:spPr>
          <a:xfrm>
            <a:off x="704832" y="6324600"/>
            <a:ext cx="3018903" cy="152400"/>
          </a:xfrm>
          <a:prstGeom prst="rect">
            <a:avLst/>
          </a:prstGeom>
          <a:noFill/>
          <a:ln/>
        </p:spPr>
        <p:txBody>
          <a:bodyPr wrap="square" lIns="0" tIns="0" rIns="0" bIns="0" rtlCol="0" anchor="t"/>
          <a:lstStyle/>
          <a:p>
            <a:pPr marL="0" indent="0" algn="l">
              <a:buNone/>
            </a:pPr>
            <a:r>
              <a:rPr lang="en-US" sz="1000" dirty="0">
                <a:solidFill>
                  <a:srgbClr val="627083"/>
                </a:solidFill>
                <a:latin typeface="Calibri" pitchFamily="34" charset="0"/>
                <a:ea typeface="Calibri" pitchFamily="34" charset="-122"/>
                <a:cs typeface="Calibri" pitchFamily="34" charset="-120"/>
              </a:rPr>
              <a:t>SURGE-090 • Team update • Repository URL / team names</a:t>
            </a:r>
            <a:endParaRPr lang="en-US" sz="1000" dirty="0"/>
          </a:p>
        </p:txBody>
      </p:sp>
      <p:sp>
        <p:nvSpPr>
          <p:cNvPr id="22" name="Text 20"/>
          <p:cNvSpPr/>
          <p:nvPr/>
        </p:nvSpPr>
        <p:spPr>
          <a:xfrm>
            <a:off x="9451019" y="6324600"/>
            <a:ext cx="2035843" cy="152400"/>
          </a:xfrm>
          <a:prstGeom prst="rect">
            <a:avLst/>
          </a:prstGeom>
          <a:noFill/>
          <a:ln/>
        </p:spPr>
        <p:txBody>
          <a:bodyPr wrap="square" lIns="0" tIns="0" rIns="0" bIns="0" rtlCol="0" anchor="t"/>
          <a:lstStyle/>
          <a:p>
            <a:pPr marL="0" indent="0" algn="l">
              <a:buNone/>
            </a:pPr>
            <a:r>
              <a:rPr lang="en-US" sz="1000" b="1" dirty="0">
                <a:solidFill>
                  <a:srgbClr val="0E96AC"/>
                </a:solidFill>
                <a:latin typeface="Calibri" pitchFamily="34" charset="0"/>
                <a:ea typeface="Calibri" pitchFamily="34" charset="-122"/>
                <a:cs typeface="Calibri" pitchFamily="34" charset="-120"/>
              </a:rPr>
              <a:t>Reference: earlier roadmap on slide 16</a:t>
            </a:r>
            <a:endParaRPr lang="en-US" sz="1000" dirty="0"/>
          </a:p>
        </p:txBody>
      </p:sp>
    </p:spTree>
    <p:extLst>
      <p:ext uri="{BB962C8B-B14F-4D97-AF65-F5344CB8AC3E}">
        <p14:creationId xmlns:p14="http://schemas.microsoft.com/office/powerpoint/2010/main" val="24953542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 dockstate="right" visibility="0" width="700" row="0">
    <wetp:webextensionref xmlns:r="http://schemas.openxmlformats.org/officeDocument/2006/relationships" r:id="rId3"/>
  </wetp:taskpane>
  <wetp:taskpane dockstate="right" visibility="0" width="700" row="0">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7BAC171A-BA13-4D20-B9AF-0C30E18506C1}">
  <we:reference id="wa200010001" version="1.0.0.1" store="en-US" storeType="OMEX"/>
  <we:alternateReferences>
    <we:reference id="wa200010001" version="1.0.0.1" store="en-US" storeType="OMEX"/>
  </we:alternateReferences>
  <we:properties>
    <we:property name="claude.fileId" value="&quot;04626739-5839-4d70-8398-f326990042e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93CA139-346A-433A-B20E-75068D131751}">
  <we:reference id="wa200007130" version="1.0.0.1" store="en-IN"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EF3B140A-9BA4-4381-9C7B-C36695731FE9}">
  <we:reference id="wa200010725" version="1.0.0.1" store="en-US" storeType="OMEX"/>
  <we:alternateReferences>
    <we:reference id="wa200010725" version="1.0.0.1" store="wa200010725"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B869E60E-AAEF-415A-8CC9-215D2F0EA120}">
  <we:reference id="wa200010215" version="2.0.0.1" store="en-IN" storeType="OMEX"/>
  <we:alternateReferences>
    <we:reference id="WA200010215" version="2.0.0.1" store="WA200010215" storeType="OMEX"/>
  </we:alternateReferences>
  <we:properties>
    <we:property name="bps.codex_control.document_id" value="&quot;08dab493-93e1-4de2-8f30-24776d55f73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714</TotalTime>
  <Words>3018</Words>
  <Application>Microsoft Office PowerPoint</Application>
  <PresentationFormat>Widescreen</PresentationFormat>
  <Paragraphs>634</Paragraphs>
  <Slides>29</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Snake Robot with Dynamixel Motors</dc:title>
  <dc:subject>PptxGenJS Presentation</dc:subject>
  <dc:creator>SURGE 090</dc:creator>
  <cp:lastModifiedBy>Shashank Jangir</cp:lastModifiedBy>
  <cp:revision>23</cp:revision>
  <dcterms:created xsi:type="dcterms:W3CDTF">2026-06-10T16:14:03Z</dcterms:created>
  <dcterms:modified xsi:type="dcterms:W3CDTF">2026-10-18T07:56:20Z</dcterms:modified>
</cp:coreProperties>
</file>