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42.svg" ContentType="image/svg+xml"/>
  <Override PartName="/ppt/media/image43.svg" ContentType="image/svg+xml"/>
  <Override PartName="/ppt/media/image44.svg" ContentType="image/svg+xml"/>
  <Override PartName="/ppt/media/image45.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87" r:id="rId2"/>
    <p:sldId id="271" r:id="rId3"/>
    <p:sldId id="273" r:id="rId4"/>
    <p:sldId id="258" r:id="rId5"/>
    <p:sldId id="259" r:id="rId6"/>
    <p:sldId id="305" r:id="rId7"/>
    <p:sldId id="275" r:id="rId8"/>
    <p:sldId id="262" r:id="rId9"/>
    <p:sldId id="298" r:id="rId10"/>
    <p:sldId id="281" r:id="rId11"/>
    <p:sldId id="285" r:id="rId12"/>
    <p:sldId id="268" r:id="rId13"/>
    <p:sldId id="269" r:id="rId14"/>
    <p:sldId id="314" r:id="rId15"/>
    <p:sldId id="323" r:id="rId16"/>
    <p:sldId id="324" r:id="rId22"/>
    <p:sldId id="325" r:id="rId23"/>
    <p:sldId id="326" r:id="rId24"/>
    <p:sldId id="327" r:id="rId25"/>
    <p:sldId id="328" r:id="rId26"/>
    <p:sldId id="329" r:id="rId27"/>
    <p:sldId id="330" r:id="rId28"/>
    <p:sldId id="331" r:id="rId29"/>
    <p:sldId id="332" r:id="rId30"/>
    <p:sldId id="333" r:id="rId31"/>
    <p:sldId id="334" r:id="rId32"/>
    <p:sldId id="335" r:id="rId33"/>
    <p:sldId id="336" r:id="rId34"/>
    <p:sldId id="337"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15" autoAdjust="0"/>
    <p:restoredTop sz="94610"/>
  </p:normalViewPr>
  <p:slideViewPr>
    <p:cSldViewPr snapToGrid="0" snapToObjects="1">
      <p:cViewPr varScale="1">
        <p:scale>
          <a:sx n="68" d="100"/>
          <a:sy n="68" d="100"/>
        </p:scale>
        <p:origin x="24" y="7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2554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for the 25% progress review of the Smart Snake Robot project, Group SURGE 090. Introduce the team and milestone scope.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concrete goals across mechanics, actuation, computing, control, sensing and scalability. These map to the timeline phases.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a quarter done: ten tasks closed across research, mechanical design, fabrication and the compute platform.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Controller at the centre. Solid cyan = implemented/in progress; dashed amber (sensors, camera) = designed-in but scheduled for a later phase.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 modelled to real XL330 dimensions so printed parts mate with the actual servos. Replace the placeholder with CAD screenshots.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segments printed and measured, validating the CAD. Next step is servo integration. Drop prototype photos on the left.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Control computer is live: OS installed, networked, remotely accessible, exercised with intro GPIO and Python. De-risks software before motors arrive.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BOM from the purchasing sheet. Compute hardware in hand; actuation and power chain ordered. Total approx Rs 33,760.</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is the single source of truth — CAD, docs, tracked iterations — with a collaboration workflow already running.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Eight-phase plan: Phase 1 complete, Phase 2 active, Phase 3 next — about 25%. Phases 4-8 cover integration, control, sensing, testing, demo.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headline achievements: design, fabrication, compute, tooling and procurement all moving — a working foundation.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The Gen 1 trade study is not invalidated - its conclusion was smart bus servos, and that is what we still run. Only the vendor changed, and it changed for supply reasons, not engineering ones. The torque column is the favourable consequence: 5.7x more joint torque at the same joint count. The voltage change from 5 V to 12 V is what forced the power architecture rework on slide 24.</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This is the whole interface. Two register facts matter downstream: GOAL_POSITION is little-endian and 0-4095 with centre 2048, which is a 4x scale difference from the SC-series servos the Waveshare board ships configured for; and PRESENT_CURRENT at address 69 is how we detect a stall, at 6.5 mA per count with the sign in bit 15. The 1200 mA threshold in robot_config.py is still a placeholder and needs calibrating against a real stall.</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Three ESP32s in total, two on the robot and one at the base. The important design point is that video and telemetry are separate radio links: ESP-NOW carries telemetry, ordinary WiFi will carry camera video. Do not try to push video through ESP-NOW - the payload cap is 250 bytes. The bring-up rail is honest: we are at ID assignment, not past it.</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The headline is that these defects were found by measurement, not by inspection - the model enumerates every face at minimum z and asserts which ones they are. Print v6, not v4 and definitely not v5. The friction measurement in step 5 is the real unknown: every locomotion claim in this deck assumes anisotropic belly friction that has never been measured on a printed part.</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Be direct about the sunk Gen 1 cost. The favourable point is that Gen 2 needs only consumables and safety parts and the grant covers it comfortably. The critical row is not optional - running a 3S LiPo with no fuse, no BMS and no disconnect is the one genuinely unsafe thing in this project. Verify the ST3215 purchase cost before presenting; the inventory lists them as held but records no price.</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The single most important change is where control lives. In Generation 1 the Raspberry Pi was the controller and sat on the robot, tethered over USB to a U2D2. In Generation 2 the ESP32 on the Waveshare driver is the master, the Pi 5 moved off the robot entirely, and the link between them is ESP-NOW rather than a cable. That is what makes untethered operation possible. Compare this against the Generation 1 block diagram on slide 6 - the shape of the system is genuinely different, not just re-labelled.</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The resolved part is the robot rail: a 3S pack sits inside the ST3215's 6.0 to 12.6 volt window, so it feeds the driver directly with no buck or boost anywhere in the path. That removes the whole conversion problem Generation 1 had at 5 volts. Two things are not resolved and both belong on the record. First, Waveshare rates this board 6 to 12 volts, and a fully charged 3S pack is 12.6 - so we are 0.6 volts over spec at the top of every charge cycle. Second, none of the three protection parts are held yet. The 27 amp figure is worst-case all-joints-stalled, not normal draw, but it is what sizes the fuse.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The load path point is that the motor shaft should not be carrying radial load - the F623ZZ bearing on the opposite face does that, and the horn only transfers torque. The retention fix matters more than it sounds: an interference fit that loosens turns into joint backlash, and backlash in a 10-joint chain compounds into a gait that will not track. This was found by measuring the pocket, not by looking at it.</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Two halves. The torque half is settled - 5.7 times more joint torque than Generation 1, and the head pod barely registers against it, so torque stopped being the limiting factor the moment we switched actuators. The friction half is not settled and I want to be explicit about that. A snake robot moves by having different friction across the body than along it. v4 and v5 got that backwards and also never touched the ground with the feature that was supposed to do it. v6 fixes both in CAD, but nobody has put a printed segment on a surface and measured the ratio. Until that happens, the gait is theory.</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The gait is a central pattern generator - a travelling sine wave with a fixed phase offset per joint, which is the standard lateral undulation formulation. The part worth drawing attention to is obstacle detection: there is no ultrasonic sensor and no rangefinder in the loop. The robot notices an obstacle because a joint draws more current than it should, which is proprioception rather than exteroception. That is elegant and it costs nothing in hardware, but the threshold is a guess until we measure a real stall on a real segment.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This is the slide I would rather not need. Five of the six cards are amber and they are all cheap - roughly 3600 rupees for the whole row. The reason it is on the deck rather than buried in a spreadsheet is that a 3S lithium polymer pack capable of 27 amps, with no fuse, no cell monitoring and no disconnect, is the one genuinely hazardous thing in this project. The sixth card is deliberate: the firmware current limit is real and it works, but software cannot protect against a short circuit. Nothing goes on the LiPo until the first three are fitted.</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The honest framing is that this is verification without hardware, which is worth a lot but is not the same as a working robot. The five green cards are real: the CAD model asserts its own ground-contact geometry, the Python stack runs a full gait in mock mode, the simulation covers the electronics, every firmware target builds, and the broadcast test moved all ten servos on the bench. The amber card is the point of the slide - nothing has been calibrated against a real stall current yet, and that is the next measurement.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Open by naming slide 15 and saying plainly that it is superseded - do not let the audience find two roadmaps on their own and wonder which one is live. The eight phases here are the actual next steps from the hardware inventory, not a re-skin of the old plan. Phase 1 is where we are: the pack cannot go on the robot until the fuse, loop key and BMS are fitted. Close on phase 3, because it contains the one experiment everything else depends on - printing a v6 segment and measuring whether the belly friction is actually anisotropic. If it is not, the gait does not work and we would rather know that before printing ten more segments. Target for the next review is first translating locomotion on hardware, which is a milestone you can watch rather than a percentage you have to trust.</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Notes Placeholder 1"/>
          <p:cNvSpPr>
            <a:spLocks noGrp="1"/>
          </p:cNvSpPr>
          <p:nvPr>
            <p:ph type="body" idx="1"/>
          </p:nvPr>
        </p:nvSpPr>
        <p:spPr/>
        <p:txBody>
          <a:bodyPr/>
          <a:lstStyle/>
          <a:p>
            <a:r>
              <a:t>Open by saying the deck up to this point is unchanged from the 25 percent review and is being left that way deliberately - those slides are a record of what we believed then, not a claim about now. Then walk the register top to bottom. It takes about forty seconds and it pre-empts every 'but slide 10 says' interruption in the second half. Say the honest version of the pivot out loud: this was a procurement failure, not an engineering preference, and a re-architecture under a supply constraint is a legitimate result. The follow-up question a reviewer asks is 'where is your torque budget' - it is slide 23, and it did not exist at the 25 percent review.</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github.com/bhaveshbanshiwal/Snake_SURGE"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0.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8" Type="http://schemas.openxmlformats.org/officeDocument/2006/relationships/image" Target="../media/image6.png"/><Relationship Id="rId9" Type="http://schemas.openxmlformats.org/officeDocument/2006/relationships/image" Target="../media/image25.jpeg"/><Relationship Id="rId10" Type="http://schemas.openxmlformats.org/officeDocument/2006/relationships/image" Target="../media/image2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7.png"/><Relationship Id="rId4" Type="http://schemas.openxmlformats.org/officeDocument/2006/relationships/image" Target="../media/image11.png"/><Relationship Id="rId5" Type="http://schemas.openxmlformats.org/officeDocument/2006/relationships/image" Target="../media/image22.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6.png"/><Relationship Id="rId9" Type="http://schemas.openxmlformats.org/officeDocument/2006/relationships/image" Target="../media/image30.png"/><Relationship Id="rId10" Type="http://schemas.openxmlformats.org/officeDocument/2006/relationships/image" Target="../media/image31.jpg"/><Relationship Id="rId11" Type="http://schemas.openxmlformats.org/officeDocument/2006/relationships/image" Target="../media/image32.jpeg"/><Relationship Id="rId12" Type="http://schemas.openxmlformats.org/officeDocument/2006/relationships/image" Target="../media/image33.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7.png"/><Relationship Id="rId4" Type="http://schemas.openxmlformats.org/officeDocument/2006/relationships/image" Target="../media/image11.png"/><Relationship Id="rId5" Type="http://schemas.openxmlformats.org/officeDocument/2006/relationships/image" Target="../media/image24.png"/><Relationship Id="rId6" Type="http://schemas.openxmlformats.org/officeDocument/2006/relationships/image" Target="../media/image38.png"/><Relationship Id="rId7" Type="http://schemas.openxmlformats.org/officeDocument/2006/relationships/image" Target="../media/image27.png"/><Relationship Id="rId8" Type="http://schemas.openxmlformats.org/officeDocument/2006/relationships/image" Target="../media/image39.png"/><Relationship Id="rId9"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1.png"/><Relationship Id="rId3" Type="http://schemas.openxmlformats.org/officeDocument/2006/relationships/image" Target="../media/image42.svg"/><Relationship Id="rId4" Type="http://schemas.openxmlformats.org/officeDocument/2006/relationships/image" Target="../media/image43.svg"/><Relationship Id="rId5" Type="http://schemas.openxmlformats.org/officeDocument/2006/relationships/image" Target="../media/image44.svg"/><Relationship Id="rId6" Type="http://schemas.openxmlformats.org/officeDocument/2006/relationships/image" Target="../media/image45.sv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6.svg"/><Relationship Id="rId3" Type="http://schemas.openxmlformats.org/officeDocument/2006/relationships/image" Target="../media/image47.svg"/><Relationship Id="rId4" Type="http://schemas.openxmlformats.org/officeDocument/2006/relationships/image" Target="../media/image48.svg"/><Relationship Id="rId5" Type="http://schemas.openxmlformats.org/officeDocument/2006/relationships/image" Target="../media/image49.svg"/><Relationship Id="rId6" Type="http://schemas.openxmlformats.org/officeDocument/2006/relationships/image" Target="../media/image50.svg"/><Relationship Id="rId7" Type="http://schemas.openxmlformats.org/officeDocument/2006/relationships/image" Target="../media/image51.sv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hyperlink" Target="https://github.com/bhaveshbanshiwal/Snake_SURGE"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37.png"/><Relationship Id="rId4" Type="http://schemas.openxmlformats.org/officeDocument/2006/relationships/image" Target="../media/image11.png"/><Relationship Id="rId5" Type="http://schemas.openxmlformats.org/officeDocument/2006/relationships/image" Target="../media/image24.png"/><Relationship Id="rId6" Type="http://schemas.openxmlformats.org/officeDocument/2006/relationships/image" Target="../media/image38.png"/><Relationship Id="rId7" Type="http://schemas.openxmlformats.org/officeDocument/2006/relationships/image" Target="../media/image27.png"/><Relationship Id="rId8" Type="http://schemas.openxmlformats.org/officeDocument/2006/relationships/image" Target="../media/image39.png"/><Relationship Id="rId9" Type="http://schemas.openxmlformats.org/officeDocument/2006/relationships/image" Target="../media/image4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37.png"/><Relationship Id="rId4" Type="http://schemas.openxmlformats.org/officeDocument/2006/relationships/image" Target="../media/image11.png"/><Relationship Id="rId5" Type="http://schemas.openxmlformats.org/officeDocument/2006/relationships/image" Target="../media/image24.png"/><Relationship Id="rId6" Type="http://schemas.openxmlformats.org/officeDocument/2006/relationships/image" Target="../media/image38.png"/><Relationship Id="rId7" Type="http://schemas.openxmlformats.org/officeDocument/2006/relationships/image" Target="../media/image27.png"/><Relationship Id="rId8" Type="http://schemas.openxmlformats.org/officeDocument/2006/relationships/image" Target="../media/image39.png"/><Relationship Id="rId9" Type="http://schemas.openxmlformats.org/officeDocument/2006/relationships/image" Target="../media/image4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A2E"/>
        </a:solidFill>
        <a:effectLst/>
      </p:bgPr>
    </p:bg>
    <p:spTree>
      <p:nvGrpSpPr>
        <p:cNvPr id="1" name=""/>
        <p:cNvGrpSpPr/>
        <p:nvPr/>
      </p:nvGrpSpPr>
      <p:grpSpPr>
        <a:xfrm>
          <a:off x="0" y="0"/>
          <a:ext cx="0" cy="0"/>
          <a:chOff x="0" y="0"/>
          <a:chExt cx="0" cy="0"/>
        </a:xfrm>
      </p:grpSpPr>
      <p:sp>
        <p:nvSpPr>
          <p:cNvPr id="2" name="Shape 0"/>
          <p:cNvSpPr/>
          <p:nvPr/>
        </p:nvSpPr>
        <p:spPr>
          <a:xfrm>
            <a:off x="8666598" y="-1828800"/>
            <a:ext cx="5669280" cy="5669280"/>
          </a:xfrm>
          <a:prstGeom prst="ellipse">
            <a:avLst/>
          </a:prstGeom>
          <a:solidFill>
            <a:srgbClr val="1E2A45"/>
          </a:solidFill>
          <a:ln/>
        </p:spPr>
        <p:txBody>
          <a:bodyPr/>
          <a:lstStyle/>
          <a:p>
            <a:endParaRPr lang="en-IN"/>
          </a:p>
        </p:txBody>
      </p:sp>
      <p:sp>
        <p:nvSpPr>
          <p:cNvPr id="3" name="Shape 1"/>
          <p:cNvSpPr/>
          <p:nvPr/>
        </p:nvSpPr>
        <p:spPr>
          <a:xfrm>
            <a:off x="10058400" y="3474720"/>
            <a:ext cx="4206240" cy="4206240"/>
          </a:xfrm>
          <a:prstGeom prst="ellipse">
            <a:avLst/>
          </a:prstGeom>
          <a:solidFill>
            <a:srgbClr val="2A3958"/>
          </a:solidFill>
          <a:ln/>
        </p:spPr>
        <p:txBody>
          <a:bodyPr/>
          <a:lstStyle/>
          <a:p>
            <a:endParaRPr lang="en-IN"/>
          </a:p>
        </p:txBody>
      </p:sp>
      <p:sp>
        <p:nvSpPr>
          <p:cNvPr id="4" name="Shape 2"/>
          <p:cNvSpPr/>
          <p:nvPr/>
        </p:nvSpPr>
        <p:spPr>
          <a:xfrm>
            <a:off x="777240" y="777240"/>
            <a:ext cx="2514600" cy="457200"/>
          </a:xfrm>
          <a:prstGeom prst="roundRect">
            <a:avLst>
              <a:gd name="adj" fmla="val 50000"/>
            </a:avLst>
          </a:prstGeom>
          <a:solidFill>
            <a:srgbClr val="0E96AC"/>
          </a:solidFill>
          <a:ln/>
        </p:spPr>
        <p:txBody>
          <a:bodyPr/>
          <a:lstStyle/>
          <a:p>
            <a:endParaRPr lang="en-IN"/>
          </a:p>
        </p:txBody>
      </p:sp>
      <p:sp>
        <p:nvSpPr>
          <p:cNvPr id="5" name="Text 3"/>
          <p:cNvSpPr/>
          <p:nvPr/>
        </p:nvSpPr>
        <p:spPr>
          <a:xfrm>
            <a:off x="777240" y="777240"/>
            <a:ext cx="251460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GROUP CODE · SURGE 090</a:t>
            </a:r>
            <a:endParaRPr lang="en-US" sz="1200" dirty="0"/>
          </a:p>
        </p:txBody>
      </p:sp>
      <p:sp>
        <p:nvSpPr>
          <p:cNvPr id="6" name="Text 4"/>
          <p:cNvSpPr/>
          <p:nvPr/>
        </p:nvSpPr>
        <p:spPr>
          <a:xfrm>
            <a:off x="822960" y="1828800"/>
            <a:ext cx="8229600" cy="320040"/>
          </a:xfrm>
          <a:prstGeom prst="rect">
            <a:avLst/>
          </a:prstGeom>
          <a:noFill/>
          <a:ln/>
        </p:spPr>
        <p:txBody>
          <a:bodyPr wrap="square" lIns="0" tIns="0" rIns="0" bIns="0" rtlCol="0" anchor="ctr"/>
          <a:lstStyle/>
          <a:p>
            <a:r>
              <a:rPr lang="en-IN" sz="2000" dirty="0">
                <a:solidFill>
                  <a:schemeClr val="tx2">
                    <a:lumMod val="60000"/>
                    <a:lumOff val="40000"/>
                  </a:schemeClr>
                </a:solidFill>
              </a:rPr>
              <a:t>Progress Review (Design &amp; Development)</a:t>
            </a:r>
            <a:endParaRPr lang="en-US" dirty="0">
              <a:solidFill>
                <a:schemeClr val="tx2">
                  <a:lumMod val="60000"/>
                  <a:lumOff val="40000"/>
                </a:schemeClr>
              </a:solidFill>
            </a:endParaRPr>
          </a:p>
        </p:txBody>
      </p:sp>
      <p:sp>
        <p:nvSpPr>
          <p:cNvPr id="7" name="Text 5"/>
          <p:cNvSpPr/>
          <p:nvPr/>
        </p:nvSpPr>
        <p:spPr>
          <a:xfrm>
            <a:off x="777240" y="2194560"/>
            <a:ext cx="8412480" cy="914400"/>
          </a:xfrm>
          <a:prstGeom prst="rect">
            <a:avLst/>
          </a:prstGeom>
          <a:noFill/>
          <a:ln/>
        </p:spPr>
        <p:txBody>
          <a:bodyPr wrap="square" lIns="0" tIns="0" rIns="0" bIns="0" rtlCol="0" anchor="ctr"/>
          <a:lstStyle/>
          <a:p>
            <a:pPr marL="0" indent="0">
              <a:buNone/>
            </a:pPr>
            <a:r>
              <a:rPr lang="en-US" sz="5200" b="1" dirty="0">
                <a:solidFill>
                  <a:srgbClr val="FFFFFF"/>
                </a:solidFill>
                <a:latin typeface="Calibri" pitchFamily="34" charset="0"/>
                <a:ea typeface="Calibri" pitchFamily="34" charset="-122"/>
                <a:cs typeface="Calibri" pitchFamily="34" charset="-120"/>
              </a:rPr>
              <a:t>Smart Snake Robot</a:t>
            </a:r>
            <a:endParaRPr lang="en-US" sz="5200" dirty="0"/>
          </a:p>
        </p:txBody>
      </p:sp>
      <p:sp>
        <p:nvSpPr>
          <p:cNvPr id="8" name="Text 6"/>
          <p:cNvSpPr/>
          <p:nvPr/>
        </p:nvSpPr>
        <p:spPr>
          <a:xfrm>
            <a:off x="804672" y="3127248"/>
            <a:ext cx="8778240" cy="548640"/>
          </a:xfrm>
          <a:prstGeom prst="rect">
            <a:avLst/>
          </a:prstGeom>
          <a:noFill/>
          <a:ln/>
        </p:spPr>
        <p:txBody>
          <a:bodyPr wrap="square" lIns="0" tIns="0" rIns="0" bIns="0" rtlCol="0" anchor="ctr"/>
          <a:lstStyle/>
          <a:p>
            <a:pPr marL="0" indent="0">
              <a:buNone/>
            </a:pPr>
            <a:r>
              <a:rPr lang="en-US" sz="2400" dirty="0">
                <a:solidFill>
                  <a:srgbClr val="2BD4E8"/>
                </a:solidFill>
                <a:latin typeface="Calibri" pitchFamily="34" charset="0"/>
                <a:ea typeface="Calibri" pitchFamily="34" charset="-122"/>
                <a:cs typeface="Calibri" pitchFamily="34" charset="-120"/>
              </a:rPr>
              <a:t>with Dynamixel Smart Servo Motors</a:t>
            </a:r>
            <a:endParaRPr lang="en-US" sz="2400" dirty="0"/>
          </a:p>
        </p:txBody>
      </p:sp>
      <p:sp>
        <p:nvSpPr>
          <p:cNvPr id="16" name="Shape 14"/>
          <p:cNvSpPr/>
          <p:nvPr/>
        </p:nvSpPr>
        <p:spPr>
          <a:xfrm>
            <a:off x="4791456" y="3977640"/>
            <a:ext cx="457200" cy="457200"/>
          </a:xfrm>
          <a:prstGeom prst="ellipse">
            <a:avLst/>
          </a:prstGeom>
          <a:solidFill>
            <a:srgbClr val="2A3958"/>
          </a:solidFill>
          <a:ln/>
        </p:spPr>
        <p:txBody>
          <a:bodyPr/>
          <a:lstStyle/>
          <a:p>
            <a:endParaRPr lang="en-IN"/>
          </a:p>
        </p:txBody>
      </p:sp>
      <p:pic>
        <p:nvPicPr>
          <p:cNvPr id="17" name="Image 0" descr="preencoded.png"/>
          <p:cNvPicPr>
            <a:picLocks noChangeAspect="1"/>
          </p:cNvPicPr>
          <p:nvPr/>
        </p:nvPicPr>
        <p:blipFill>
          <a:blip r:embed="rId3"/>
          <a:stretch>
            <a:fillRect/>
          </a:stretch>
        </p:blipFill>
        <p:spPr>
          <a:xfrm>
            <a:off x="4892040" y="4078224"/>
            <a:ext cx="256032" cy="256032"/>
          </a:xfrm>
          <a:prstGeom prst="rect">
            <a:avLst/>
          </a:prstGeom>
        </p:spPr>
      </p:pic>
      <p:sp>
        <p:nvSpPr>
          <p:cNvPr id="18" name="Shape 15"/>
          <p:cNvSpPr/>
          <p:nvPr/>
        </p:nvSpPr>
        <p:spPr>
          <a:xfrm>
            <a:off x="777240"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19" name="Shape 16"/>
          <p:cNvSpPr/>
          <p:nvPr/>
        </p:nvSpPr>
        <p:spPr>
          <a:xfrm>
            <a:off x="978408" y="5230368"/>
            <a:ext cx="274320" cy="274320"/>
          </a:xfrm>
          <a:prstGeom prst="ellipse">
            <a:avLst/>
          </a:prstGeom>
          <a:solidFill>
            <a:srgbClr val="0E96AC"/>
          </a:solidFill>
          <a:ln/>
        </p:spPr>
        <p:txBody>
          <a:bodyPr/>
          <a:lstStyle/>
          <a:p>
            <a:endParaRPr lang="en-IN"/>
          </a:p>
        </p:txBody>
      </p:sp>
      <p:sp>
        <p:nvSpPr>
          <p:cNvPr id="20" name="Text 17"/>
          <p:cNvSpPr/>
          <p:nvPr/>
        </p:nvSpPr>
        <p:spPr>
          <a:xfrm>
            <a:off x="1362456"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Shashank Jangir</a:t>
            </a:r>
            <a:endParaRPr lang="en-US" sz="1450" dirty="0"/>
          </a:p>
        </p:txBody>
      </p:sp>
      <p:sp>
        <p:nvSpPr>
          <p:cNvPr id="21" name="Text 18"/>
          <p:cNvSpPr/>
          <p:nvPr/>
        </p:nvSpPr>
        <p:spPr>
          <a:xfrm>
            <a:off x="978408"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22" name="Text 19"/>
          <p:cNvSpPr/>
          <p:nvPr/>
        </p:nvSpPr>
        <p:spPr>
          <a:xfrm>
            <a:off x="978408"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2024EE11048</a:t>
            </a:r>
            <a:endParaRPr lang="en-US" sz="1300" dirty="0"/>
          </a:p>
        </p:txBody>
      </p:sp>
      <p:sp>
        <p:nvSpPr>
          <p:cNvPr id="23" name="Shape 20"/>
          <p:cNvSpPr/>
          <p:nvPr/>
        </p:nvSpPr>
        <p:spPr>
          <a:xfrm>
            <a:off x="3648456"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4" name="Shape 21"/>
          <p:cNvSpPr/>
          <p:nvPr/>
        </p:nvSpPr>
        <p:spPr>
          <a:xfrm>
            <a:off x="3849624" y="5230368"/>
            <a:ext cx="274320" cy="274320"/>
          </a:xfrm>
          <a:prstGeom prst="ellipse">
            <a:avLst/>
          </a:prstGeom>
          <a:solidFill>
            <a:srgbClr val="0E96AC"/>
          </a:solidFill>
          <a:ln/>
        </p:spPr>
        <p:txBody>
          <a:bodyPr/>
          <a:lstStyle/>
          <a:p>
            <a:endParaRPr lang="en-IN"/>
          </a:p>
        </p:txBody>
      </p:sp>
      <p:sp>
        <p:nvSpPr>
          <p:cNvPr id="25" name="Text 22"/>
          <p:cNvSpPr/>
          <p:nvPr/>
        </p:nvSpPr>
        <p:spPr>
          <a:xfrm>
            <a:off x="4233672"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Bhavesh Bansiwal</a:t>
            </a:r>
            <a:endParaRPr lang="en-US" sz="1450" dirty="0"/>
          </a:p>
        </p:txBody>
      </p:sp>
      <p:sp>
        <p:nvSpPr>
          <p:cNvPr id="26" name="Text 23"/>
          <p:cNvSpPr/>
          <p:nvPr/>
        </p:nvSpPr>
        <p:spPr>
          <a:xfrm>
            <a:off x="3849624"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27" name="Text 24"/>
          <p:cNvSpPr/>
          <p:nvPr/>
        </p:nvSpPr>
        <p:spPr>
          <a:xfrm>
            <a:off x="3849624"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2024ME10487</a:t>
            </a:r>
            <a:endParaRPr lang="en-US" sz="1300" dirty="0"/>
          </a:p>
        </p:txBody>
      </p:sp>
      <p:sp>
        <p:nvSpPr>
          <p:cNvPr id="28" name="Shape 25"/>
          <p:cNvSpPr/>
          <p:nvPr/>
        </p:nvSpPr>
        <p:spPr>
          <a:xfrm>
            <a:off x="6519672"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9" name="Shape 26"/>
          <p:cNvSpPr/>
          <p:nvPr/>
        </p:nvSpPr>
        <p:spPr>
          <a:xfrm>
            <a:off x="6720840" y="5230368"/>
            <a:ext cx="274320" cy="274320"/>
          </a:xfrm>
          <a:prstGeom prst="ellipse">
            <a:avLst/>
          </a:prstGeom>
          <a:solidFill>
            <a:srgbClr val="0E96AC"/>
          </a:solidFill>
          <a:ln/>
        </p:spPr>
        <p:txBody>
          <a:bodyPr/>
          <a:lstStyle/>
          <a:p>
            <a:endParaRPr lang="en-IN"/>
          </a:p>
        </p:txBody>
      </p:sp>
      <p:sp>
        <p:nvSpPr>
          <p:cNvPr id="30" name="Text 27"/>
          <p:cNvSpPr/>
          <p:nvPr/>
        </p:nvSpPr>
        <p:spPr>
          <a:xfrm>
            <a:off x="7104888"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Mahima Chotiya</a:t>
            </a:r>
            <a:endParaRPr lang="en-US" sz="1450" dirty="0"/>
          </a:p>
        </p:txBody>
      </p:sp>
      <p:sp>
        <p:nvSpPr>
          <p:cNvPr id="31" name="Text 28"/>
          <p:cNvSpPr/>
          <p:nvPr/>
        </p:nvSpPr>
        <p:spPr>
          <a:xfrm>
            <a:off x="6720840" y="5660136"/>
            <a:ext cx="2304288" cy="228600"/>
          </a:xfrm>
          <a:prstGeom prst="rect">
            <a:avLst/>
          </a:prstGeom>
          <a:noFill/>
          <a:ln/>
        </p:spPr>
        <p:txBody>
          <a:bodyPr wrap="square" lIns="0" tIns="0" rIns="0" bIns="0" rtlCol="0" anchor="ctr"/>
          <a:lstStyle/>
          <a:p>
            <a:pPr marL="0" indent="0">
              <a:buNone/>
            </a:pPr>
            <a:r>
              <a:rPr lang="en-US" sz="900" kern="0" spc="100" dirty="0">
                <a:solidFill>
                  <a:srgbClr val="6B7890"/>
                </a:solidFill>
                <a:latin typeface="Calibri" pitchFamily="34" charset="0"/>
                <a:ea typeface="Calibri" pitchFamily="34" charset="-122"/>
                <a:cs typeface="Calibri" pitchFamily="34" charset="-120"/>
              </a:rPr>
              <a:t>ENTRY NO.</a:t>
            </a:r>
            <a:endParaRPr lang="en-US" sz="900" dirty="0"/>
          </a:p>
        </p:txBody>
      </p:sp>
      <p:sp>
        <p:nvSpPr>
          <p:cNvPr id="32" name="Text 29"/>
          <p:cNvSpPr/>
          <p:nvPr/>
        </p:nvSpPr>
        <p:spPr>
          <a:xfrm>
            <a:off x="6720840" y="5852160"/>
            <a:ext cx="2304288" cy="274320"/>
          </a:xfrm>
          <a:prstGeom prst="rect">
            <a:avLst/>
          </a:prstGeom>
          <a:noFill/>
          <a:ln/>
        </p:spPr>
        <p:txBody>
          <a:bodyPr wrap="square" lIns="0" tIns="0" rIns="0" bIns="0" rtlCol="0" anchor="ctr"/>
          <a:lstStyle/>
          <a:p>
            <a:pPr marL="0" indent="0">
              <a:buNone/>
            </a:pPr>
            <a:r>
              <a:rPr lang="en-US" sz="1300" b="1" dirty="0">
                <a:solidFill>
                  <a:srgbClr val="2BD4E8"/>
                </a:solidFill>
                <a:latin typeface="Calibri" pitchFamily="34" charset="0"/>
                <a:ea typeface="Calibri" pitchFamily="34" charset="-122"/>
                <a:cs typeface="Calibri" pitchFamily="34" charset="-120"/>
              </a:rPr>
              <a:t>2024ME11187</a:t>
            </a:r>
            <a:endParaRPr lang="en-US" sz="1300" dirty="0"/>
          </a:p>
        </p:txBody>
      </p:sp>
      <p:sp>
        <p:nvSpPr>
          <p:cNvPr id="33" name="Text 30"/>
          <p:cNvSpPr/>
          <p:nvPr/>
        </p:nvSpPr>
        <p:spPr>
          <a:xfrm>
            <a:off x="8934751" y="675593"/>
            <a:ext cx="2377440" cy="228600"/>
          </a:xfrm>
          <a:prstGeom prst="rect">
            <a:avLst/>
          </a:prstGeom>
          <a:noFill/>
          <a:ln/>
        </p:spPr>
        <p:txBody>
          <a:bodyPr wrap="square" lIns="0" tIns="0" rIns="0" bIns="0" rtlCol="0" anchor="ctr"/>
          <a:lstStyle/>
          <a:p>
            <a:pPr marL="0" indent="0">
              <a:buNone/>
            </a:pPr>
            <a:r>
              <a:rPr lang="en-US" sz="1000" b="1" kern="0" spc="200" dirty="0">
                <a:solidFill>
                  <a:srgbClr val="2BD4E8"/>
                </a:solidFill>
                <a:latin typeface="Calibri" pitchFamily="34" charset="0"/>
                <a:ea typeface="Calibri" pitchFamily="34" charset="-122"/>
                <a:cs typeface="Calibri" pitchFamily="34" charset="-120"/>
              </a:rPr>
              <a:t>INSTITUTION</a:t>
            </a:r>
            <a:endParaRPr lang="en-US" sz="1000" dirty="0"/>
          </a:p>
        </p:txBody>
      </p:sp>
      <p:sp>
        <p:nvSpPr>
          <p:cNvPr id="34" name="Text 31"/>
          <p:cNvSpPr/>
          <p:nvPr/>
        </p:nvSpPr>
        <p:spPr>
          <a:xfrm>
            <a:off x="9052560" y="928116"/>
            <a:ext cx="23774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Indian Institute of Technology, Delhi</a:t>
            </a:r>
            <a:endParaRPr lang="en-US" sz="1300" dirty="0"/>
          </a:p>
        </p:txBody>
      </p:sp>
      <p:sp>
        <p:nvSpPr>
          <p:cNvPr id="35" name="Text 32"/>
          <p:cNvSpPr/>
          <p:nvPr/>
        </p:nvSpPr>
        <p:spPr>
          <a:xfrm>
            <a:off x="9052560" y="1746504"/>
            <a:ext cx="2377440" cy="228600"/>
          </a:xfrm>
          <a:prstGeom prst="rect">
            <a:avLst/>
          </a:prstGeom>
          <a:noFill/>
          <a:ln/>
        </p:spPr>
        <p:txBody>
          <a:bodyPr wrap="square" lIns="0" tIns="0" rIns="0" bIns="0" rtlCol="0" anchor="ctr"/>
          <a:lstStyle/>
          <a:p>
            <a:pPr marL="0" indent="0">
              <a:buNone/>
            </a:pPr>
            <a:r>
              <a:rPr lang="en-US" sz="1000" b="1" kern="0" spc="200" dirty="0">
                <a:solidFill>
                  <a:srgbClr val="2BD4E8"/>
                </a:solidFill>
                <a:latin typeface="Calibri" pitchFamily="34" charset="0"/>
                <a:ea typeface="Calibri" pitchFamily="34" charset="-122"/>
                <a:cs typeface="Calibri" pitchFamily="34" charset="-120"/>
              </a:rPr>
              <a:t>PROJECT GUIDE</a:t>
            </a:r>
            <a:endParaRPr lang="en-US" sz="1000" dirty="0"/>
          </a:p>
        </p:txBody>
      </p:sp>
      <p:sp>
        <p:nvSpPr>
          <p:cNvPr id="36" name="Text 33"/>
          <p:cNvSpPr/>
          <p:nvPr/>
        </p:nvSpPr>
        <p:spPr>
          <a:xfrm>
            <a:off x="9189720" y="1881378"/>
            <a:ext cx="2377440" cy="32004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Professor </a:t>
            </a:r>
            <a:r>
              <a:rPr lang="en-US" dirty="0" err="1">
                <a:solidFill>
                  <a:srgbClr val="FFFFFF"/>
                </a:solidFill>
                <a:latin typeface="Calibri" pitchFamily="34" charset="0"/>
                <a:ea typeface="Calibri" pitchFamily="34" charset="-122"/>
                <a:cs typeface="Calibri" pitchFamily="34" charset="-120"/>
              </a:rPr>
              <a:t>Amartansh</a:t>
            </a:r>
            <a:r>
              <a:rPr lang="en-US" dirty="0">
                <a:solidFill>
                  <a:srgbClr val="FFFFFF"/>
                </a:solidFill>
                <a:latin typeface="Calibri" pitchFamily="34" charset="0"/>
                <a:ea typeface="Calibri" pitchFamily="34" charset="-122"/>
                <a:cs typeface="Calibri" pitchFamily="34" charset="-120"/>
              </a:rPr>
              <a:t> Dubey</a:t>
            </a:r>
            <a:endParaRPr lang="en-US" sz="1300" dirty="0"/>
          </a:p>
        </p:txBody>
      </p:sp>
      <p:pic>
        <p:nvPicPr>
          <p:cNvPr id="9" name="Picture 8">
            <a:extLst>
              <a:ext uri="{FF2B5EF4-FFF2-40B4-BE49-F238E27FC236}">
                <a16:creationId xmlns:a16="http://schemas.microsoft.com/office/drawing/2014/main" id="{B23F6B63-9642-A851-9339-BBD4C24031B8}"/>
              </a:ext>
            </a:extLst>
          </p:cNvPr>
          <p:cNvPicPr>
            <a:picLocks noChangeAspect="1"/>
          </p:cNvPicPr>
          <p:nvPr/>
        </p:nvPicPr>
        <p:blipFill>
          <a:blip r:embed="rId4"/>
          <a:stretch>
            <a:fillRect/>
          </a:stretch>
        </p:blipFill>
        <p:spPr>
          <a:xfrm>
            <a:off x="10652760" y="159317"/>
            <a:ext cx="762000" cy="762000"/>
          </a:xfrm>
          <a:prstGeom prst="rect">
            <a:avLst/>
          </a:prstGeom>
        </p:spPr>
      </p:pic>
      <p:sp>
        <p:nvSpPr>
          <p:cNvPr id="101" name="RepoLabel"/>
          <p:cNvSpPr>
            <a:spLocks noGrp="1"/>
          </p:cNvSpPr>
          <p:nvPr/>
        </p:nvSpPr>
        <p:spPr>
          <a:xfrm>
            <a:off x="8890000" y="6096000"/>
            <a:ext cx="3111500" cy="177800"/>
          </a:xfrm>
          <a:prstGeom prst="rect">
            <a:avLst/>
          </a:prstGeom>
          <a:noFill/>
          <a:ln>
            <a:noFill/>
          </a:ln>
        </p:spPr>
        <p:txBody>
          <a:bodyPr wrap="square" rtlCol="0" anchor="ctr">
            <a:normAutofit fontScale="70000" lnSpcReduction="20000"/>
          </a:bodyPr>
          <a:lstStyle/>
          <a:p>
            <a:pPr marL="0" indent="0">
              <a:buNone/>
            </a:pPr>
            <a:r>
              <a:rPr lang="en-US" sz="900" b="1" kern="0" spc="200" dirty="0">
                <a:solidFill>
                  <a:srgbClr val="2BD4E8"/>
                </a:solidFill>
                <a:latin typeface="Calibri" pitchFamily="34" charset="0"/>
              </a:rPr>
              <a:t>PROJECT REPOSITORY</a:t>
            </a:r>
          </a:p>
        </p:txBody>
      </p:sp>
      <p:sp>
        <p:nvSpPr>
          <p:cNvPr id="102" name="RepoURL">
            <a:hlinkClick r:id="rId5"/>
          </p:cNvPr>
          <p:cNvSpPr>
            <a:spLocks noGrp="1"/>
          </p:cNvSpPr>
          <p:nvPr/>
        </p:nvSpPr>
        <p:spPr>
          <a:xfrm>
            <a:off x="8890000" y="6324600"/>
            <a:ext cx="3111500" cy="228600"/>
          </a:xfrm>
          <a:prstGeom prst="rect">
            <a:avLst/>
          </a:prstGeom>
          <a:noFill/>
          <a:ln>
            <a:noFill/>
          </a:ln>
        </p:spPr>
        <p:txBody>
          <a:bodyPr wrap="square" rtlCol="0" anchor="ctr">
            <a:normAutofit fontScale="77500" lnSpcReduction="20000"/>
          </a:bodyPr>
          <a:lstStyle/>
          <a:p>
            <a:r>
              <a:rPr lang="en-US" sz="1000" u="sng" dirty="0">
                <a:solidFill>
                  <a:srgbClr val="FFFFFF"/>
                </a:solidFill>
                <a:latin typeface="Calibri" pitchFamily="34" charset="0"/>
              </a:rPr>
              <a:t>https://github.com/shashankjangir/SurGe-090-Smart-snake-robot</a:t>
            </a:r>
          </a:p>
        </p:txBody>
      </p:sp>
    </p:spTree>
    <p:extLst>
      <p:ext uri="{BB962C8B-B14F-4D97-AF65-F5344CB8AC3E}">
        <p14:creationId xmlns:p14="http://schemas.microsoft.com/office/powerpoint/2010/main" val="10298108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A">
            <a:extLst>
              <a:ext uri="{FF2B5EF4-FFF2-40B4-BE49-F238E27FC236}">
                <a16:creationId xmlns:a16="http://schemas.microsoft.com/office/drawing/2014/main" id="{841DE8FB-782B-413F-8F93-A5A5E44CEC4B}"/>
              </a:ext>
            </a:extLst>
          </p:cNvPr>
          <p:cNvSpPr txBox="1"/>
          <p:nvPr/>
        </p:nvSpPr>
        <p:spPr>
          <a:xfrm>
            <a:off x="546100" y="381000"/>
            <a:ext cx="10160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ACTUATOR SELECTION STUDY</a:t>
            </a:r>
          </a:p>
        </p:txBody>
      </p:sp>
      <p:sp>
        <p:nvSpPr>
          <p:cNvPr id="3" name="TitleA">
            <a:extLst>
              <a:ext uri="{FF2B5EF4-FFF2-40B4-BE49-F238E27FC236}">
                <a16:creationId xmlns:a16="http://schemas.microsoft.com/office/drawing/2014/main" id="{7634340B-6F43-41BD-A788-B33B6114B32F}"/>
              </a:ext>
            </a:extLst>
          </p:cNvPr>
          <p:cNvSpPr txBox="1"/>
          <p:nvPr/>
        </p:nvSpPr>
        <p:spPr>
          <a:xfrm>
            <a:off x="533400" y="635000"/>
            <a:ext cx="10922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Why Dynamixel Motors?</a:t>
            </a:r>
          </a:p>
        </p:txBody>
      </p:sp>
      <p:sp>
        <p:nvSpPr>
          <p:cNvPr id="4" name="ProblemCard">
            <a:extLst>
              <a:ext uri="{FF2B5EF4-FFF2-40B4-BE49-F238E27FC236}">
                <a16:creationId xmlns:a16="http://schemas.microsoft.com/office/drawing/2014/main" id="{E876E5F6-0A7F-4BFB-B939-45A2A1D649C5}"/>
              </a:ext>
            </a:extLst>
          </p:cNvPr>
          <p:cNvSpPr/>
          <p:nvPr/>
        </p:nvSpPr>
        <p:spPr>
          <a:xfrm>
            <a:off x="546100" y="1422400"/>
            <a:ext cx="3810000" cy="4927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ProblemEyebrow">
            <a:extLst>
              <a:ext uri="{FF2B5EF4-FFF2-40B4-BE49-F238E27FC236}">
                <a16:creationId xmlns:a16="http://schemas.microsoft.com/office/drawing/2014/main" id="{FC543071-2BD3-4FE0-ADEC-F4199E47340C}"/>
              </a:ext>
            </a:extLst>
          </p:cNvPr>
          <p:cNvSpPr txBox="1"/>
          <p:nvPr/>
        </p:nvSpPr>
        <p:spPr>
          <a:xfrm>
            <a:off x="800100" y="1676400"/>
            <a:ext cx="33020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THE REQUIREMENT</a:t>
            </a:r>
          </a:p>
        </p:txBody>
      </p:sp>
      <p:sp>
        <p:nvSpPr>
          <p:cNvPr id="6" name="ProblemIntro">
            <a:extLst>
              <a:ext uri="{FF2B5EF4-FFF2-40B4-BE49-F238E27FC236}">
                <a16:creationId xmlns:a16="http://schemas.microsoft.com/office/drawing/2014/main" id="{242F95A3-B8E3-4C63-8377-5868B29AD293}"/>
              </a:ext>
            </a:extLst>
          </p:cNvPr>
          <p:cNvSpPr txBox="1"/>
          <p:nvPr/>
        </p:nvSpPr>
        <p:spPr>
          <a:xfrm>
            <a:off x="800100" y="2006600"/>
            <a:ext cx="3302000" cy="812800"/>
          </a:xfrm>
          <a:prstGeom prst="rect">
            <a:avLst/>
          </a:prstGeom>
          <a:noFill/>
        </p:spPr>
        <p:txBody>
          <a:bodyPr vertOverflow="overflow" vert="horz" wrap="square" rtlCol="0" anchor="t" anchorCtr="0">
            <a:noAutofit/>
          </a:bodyPr>
          <a:lstStyle/>
          <a:p>
            <a:pPr marL="0" indent="0">
              <a:lnSpc>
                <a:spcPct val="108000"/>
              </a:lnSpc>
              <a:buNone/>
            </a:pPr>
            <a:r>
              <a:rPr lang="en-US" sz="1400" dirty="0">
                <a:solidFill>
                  <a:srgbClr val="3A4658"/>
                </a:solidFill>
                <a:latin typeface="Calibri" pitchFamily="34" charset="0"/>
              </a:rPr>
              <a:t>A snake robot drives many joints at once. The actuator must deliver:</a:t>
            </a:r>
          </a:p>
        </p:txBody>
      </p:sp>
      <p:sp>
        <p:nvSpPr>
          <p:cNvPr id="7" name="ProblemBullets">
            <a:extLst>
              <a:ext uri="{FF2B5EF4-FFF2-40B4-BE49-F238E27FC236}">
                <a16:creationId xmlns:a16="http://schemas.microsoft.com/office/drawing/2014/main" id="{F7CDE160-466E-4C5D-B701-1F6DEFD06489}"/>
              </a:ext>
            </a:extLst>
          </p:cNvPr>
          <p:cNvSpPr txBox="1"/>
          <p:nvPr/>
        </p:nvSpPr>
        <p:spPr>
          <a:xfrm>
            <a:off x="800100" y="2844800"/>
            <a:ext cx="3302000" cy="3302000"/>
          </a:xfrm>
          <a:prstGeom prst="rect">
            <a:avLst/>
          </a:prstGeom>
          <a:noFill/>
        </p:spPr>
        <p:txBody>
          <a:bodyPr vertOverflow="overflow" vert="horz" wrap="square" rtlCol="0" anchor="t" anchorCtr="0">
            <a:noAutofit/>
          </a:bodyPr>
          <a:lstStyle/>
          <a:p>
            <a:pPr marL="200000" indent="-200000">
              <a:spcBef>
                <a:spcPts val="700"/>
              </a:spcBef>
              <a:buClr>
                <a:srgbClr val="0E96AC"/>
              </a:buClr>
              <a:buFont typeface="Arial"/>
              <a:buChar char="•"/>
            </a:pPr>
            <a:r>
              <a:rPr lang="en-US" sz="1400" dirty="0">
                <a:solidFill>
                  <a:srgbClr val="16223A"/>
                </a:solidFill>
                <a:latin typeface="Calibri" pitchFamily="34" charset="0"/>
              </a:rPr>
              <a:t>Precise position control</a:t>
            </a:r>
          </a:p>
          <a:p>
            <a:pPr marL="200000" indent="-200000">
              <a:spcBef>
                <a:spcPts val="700"/>
              </a:spcBef>
              <a:buClr>
                <a:srgbClr val="0E96AC"/>
              </a:buClr>
              <a:buFont typeface="Arial"/>
              <a:buChar char="•"/>
            </a:pPr>
            <a:r>
              <a:rPr lang="en-US" sz="1400" dirty="0">
                <a:solidFill>
                  <a:srgbClr val="16223A"/>
                </a:solidFill>
                <a:latin typeface="Calibri" pitchFamily="34" charset="0"/>
              </a:rPr>
              <a:t>Simple wiring architecture</a:t>
            </a:r>
          </a:p>
          <a:p>
            <a:pPr marL="200000" indent="-200000">
              <a:spcBef>
                <a:spcPts val="700"/>
              </a:spcBef>
              <a:buClr>
                <a:srgbClr val="0E96AC"/>
              </a:buClr>
              <a:buFont typeface="Arial"/>
              <a:buChar char="•"/>
            </a:pPr>
            <a:r>
              <a:rPr lang="en-US" sz="1400" dirty="0">
                <a:solidFill>
                  <a:srgbClr val="16223A"/>
                </a:solidFill>
                <a:latin typeface="Calibri" pitchFamily="34" charset="0"/>
              </a:rPr>
              <a:t>Scalability for multiple joints</a:t>
            </a:r>
          </a:p>
          <a:p>
            <a:pPr marL="200000" indent="-200000">
              <a:spcBef>
                <a:spcPts val="700"/>
              </a:spcBef>
              <a:buClr>
                <a:srgbClr val="0E96AC"/>
              </a:buClr>
              <a:buFont typeface="Arial"/>
              <a:buChar char="•"/>
            </a:pPr>
            <a:r>
              <a:rPr lang="en-US" sz="1400" dirty="0">
                <a:solidFill>
                  <a:srgbClr val="16223A"/>
                </a:solidFill>
                <a:latin typeface="Calibri" pitchFamily="34" charset="0"/>
              </a:rPr>
              <a:t>Reliable communication</a:t>
            </a:r>
          </a:p>
          <a:p>
            <a:pPr marL="200000" indent="-200000">
              <a:spcBef>
                <a:spcPts val="700"/>
              </a:spcBef>
              <a:buClr>
                <a:srgbClr val="0E96AC"/>
              </a:buClr>
              <a:buFont typeface="Arial"/>
              <a:buChar char="•"/>
            </a:pPr>
            <a:r>
              <a:rPr lang="en-US" sz="1400" dirty="0">
                <a:solidFill>
                  <a:srgbClr val="16223A"/>
                </a:solidFill>
                <a:latin typeface="Calibri" pitchFamily="34" charset="0"/>
              </a:rPr>
              <a:t>Real-time feedback</a:t>
            </a:r>
          </a:p>
          <a:p>
            <a:pPr marL="200000" indent="-200000">
              <a:spcBef>
                <a:spcPts val="700"/>
              </a:spcBef>
              <a:buClr>
                <a:srgbClr val="0E96AC"/>
              </a:buClr>
              <a:buFont typeface="Arial"/>
              <a:buChar char="•"/>
            </a:pPr>
            <a:r>
              <a:rPr lang="en-US" sz="1400" dirty="0">
                <a:solidFill>
                  <a:srgbClr val="16223A"/>
                </a:solidFill>
                <a:latin typeface="Calibri" pitchFamily="34" charset="0"/>
              </a:rPr>
              <a:t>Compact size &amp; sufficient torque</a:t>
            </a:r>
          </a:p>
        </p:txBody>
      </p:sp>
      <p:sp>
        <p:nvSpPr>
          <p:cNvPr id="8" name="TableEyebrow">
            <a:extLst>
              <a:ext uri="{FF2B5EF4-FFF2-40B4-BE49-F238E27FC236}">
                <a16:creationId xmlns:a16="http://schemas.microsoft.com/office/drawing/2014/main" id="{7E5D13E2-1354-4CEB-BDEE-454765C80F19}"/>
              </a:ext>
            </a:extLst>
          </p:cNvPr>
          <p:cNvSpPr txBox="1"/>
          <p:nvPr/>
        </p:nvSpPr>
        <p:spPr>
          <a:xfrm>
            <a:off x="4494628" y="1079500"/>
            <a:ext cx="70739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OPTIONS COMPARED</a:t>
            </a:r>
          </a:p>
        </p:txBody>
      </p:sp>
      <p:graphicFrame>
        <p:nvGraphicFramePr>
          <p:cNvPr id="10" name="CompareTable">
            <a:extLst>
              <a:ext uri="{FF2B5EF4-FFF2-40B4-BE49-F238E27FC236}">
                <a16:creationId xmlns:a16="http://schemas.microsoft.com/office/drawing/2014/main" id="{9440023E-3667-4AD8-9283-284DCB4D212C}"/>
              </a:ext>
            </a:extLst>
          </p:cNvPr>
          <p:cNvGraphicFramePr>
            <a:graphicFrameLocks noGrp="1"/>
          </p:cNvGraphicFramePr>
          <p:nvPr>
            <p:extLst>
              <p:ext uri="{D42A27DB-BD31-4B8C-83A1-F6EECF244321}">
                <p14:modId xmlns:p14="http://schemas.microsoft.com/office/powerpoint/2010/main" val="1572894493"/>
              </p:ext>
            </p:extLst>
          </p:nvPr>
        </p:nvGraphicFramePr>
        <p:xfrm>
          <a:off x="4494628" y="1582615"/>
          <a:ext cx="7151272" cy="4195888"/>
        </p:xfrm>
        <a:graphic>
          <a:graphicData uri="http://schemas.openxmlformats.org/drawingml/2006/table">
            <a:tbl>
              <a:tblPr firstRow="1" bandRow="1">
                <a:tableStyleId>{5C22544A-7EE6-4342-B048-85BDC9FD1C3A}</a:tableStyleId>
              </a:tblPr>
              <a:tblGrid>
                <a:gridCol w="1540669">
                  <a:extLst>
                    <a:ext uri="{9D8B030D-6E8A-4147-A177-3AD203B41FA5}">
                      <a16:colId xmlns:a16="http://schemas.microsoft.com/office/drawing/2014/main" val="3347371507"/>
                    </a:ext>
                  </a:extLst>
                </a:gridCol>
                <a:gridCol w="2567782">
                  <a:extLst>
                    <a:ext uri="{9D8B030D-6E8A-4147-A177-3AD203B41FA5}">
                      <a16:colId xmlns:a16="http://schemas.microsoft.com/office/drawing/2014/main" val="2919370013"/>
                    </a:ext>
                  </a:extLst>
                </a:gridCol>
                <a:gridCol w="3042821">
                  <a:extLst>
                    <a:ext uri="{9D8B030D-6E8A-4147-A177-3AD203B41FA5}">
                      <a16:colId xmlns:a16="http://schemas.microsoft.com/office/drawing/2014/main" val="1569824111"/>
                    </a:ext>
                  </a:extLst>
                </a:gridCol>
              </a:tblGrid>
              <a:tr h="524486">
                <a:tc>
                  <a:txBody>
                    <a:bodyPr/>
                    <a:lstStyle/>
                    <a:p>
                      <a:pPr algn="ctr"/>
                      <a:r>
                        <a:rPr lang="en-IN" sz="1400" b="1" dirty="0">
                          <a:solidFill>
                            <a:srgbClr val="FFFFFF"/>
                          </a:solidFill>
                          <a:latin typeface="Calibri"/>
                          <a:ea typeface="Calibri"/>
                          <a:cs typeface="Calibri"/>
                        </a:rPr>
                        <a:t>Criterion</a:t>
                      </a:r>
                    </a:p>
                  </a:txBody>
                  <a:tcPr anchor="ctr">
                    <a:solidFill>
                      <a:srgbClr val="16223A"/>
                    </a:solidFill>
                  </a:tcPr>
                </a:tc>
                <a:tc>
                  <a:txBody>
                    <a:bodyPr/>
                    <a:lstStyle/>
                    <a:p>
                      <a:pPr algn="ctr"/>
                      <a:r>
                        <a:rPr lang="en-IN" sz="1400" b="1" dirty="0">
                          <a:solidFill>
                            <a:srgbClr val="FFFFFF"/>
                          </a:solidFill>
                          <a:latin typeface="Calibri"/>
                          <a:ea typeface="Calibri"/>
                          <a:cs typeface="Calibri"/>
                        </a:rPr>
                        <a:t>Conventional Servo</a:t>
                      </a:r>
                    </a:p>
                  </a:txBody>
                  <a:tcPr anchor="ctr">
                    <a:solidFill>
                      <a:srgbClr val="16223A"/>
                    </a:solidFill>
                  </a:tcPr>
                </a:tc>
                <a:tc>
                  <a:txBody>
                    <a:bodyPr/>
                    <a:lstStyle/>
                    <a:p>
                      <a:pPr algn="ctr"/>
                      <a:r>
                        <a:rPr lang="en-IN" sz="1400" b="1" dirty="0" err="1">
                          <a:solidFill>
                            <a:srgbClr val="FFFFFF"/>
                          </a:solidFill>
                          <a:latin typeface="Calibri"/>
                          <a:ea typeface="Calibri"/>
                          <a:cs typeface="Calibri"/>
                        </a:rPr>
                        <a:t>Dynamixel</a:t>
                      </a:r>
                      <a:r>
                        <a:rPr lang="en-IN" sz="1400" b="1" dirty="0">
                          <a:solidFill>
                            <a:srgbClr val="FFFFFF"/>
                          </a:solidFill>
                          <a:latin typeface="Calibri"/>
                          <a:ea typeface="Calibri"/>
                          <a:cs typeface="Calibri"/>
                        </a:rPr>
                        <a:t> Smart Servo</a:t>
                      </a:r>
                    </a:p>
                  </a:txBody>
                  <a:tcPr anchor="ctr">
                    <a:solidFill>
                      <a:srgbClr val="0E96AC"/>
                    </a:solidFill>
                  </a:tcPr>
                </a:tc>
                <a:extLst>
                  <a:ext uri="{0D108BD9-81ED-4DB2-BD59-A6C34878D82A}">
                    <a16:rowId xmlns:a16="http://schemas.microsoft.com/office/drawing/2014/main" val="408524524"/>
                  </a:ext>
                </a:extLst>
              </a:tr>
              <a:tr h="524486">
                <a:tc>
                  <a:txBody>
                    <a:bodyPr/>
                    <a:lstStyle/>
                    <a:p>
                      <a:pPr algn="l"/>
                      <a:r>
                        <a:rPr lang="en-IN" sz="1400" b="1">
                          <a:solidFill>
                            <a:srgbClr val="16223A"/>
                          </a:solidFill>
                          <a:latin typeface="Calibri"/>
                          <a:ea typeface="Calibri"/>
                          <a:cs typeface="Calibri"/>
                        </a:rPr>
                        <a:t>Communication</a:t>
                      </a:r>
                    </a:p>
                  </a:txBody>
                  <a:tcPr anchor="ctr">
                    <a:solidFill>
                      <a:srgbClr val="F4F6F9"/>
                    </a:solidFill>
                  </a:tcPr>
                </a:tc>
                <a:tc>
                  <a:txBody>
                    <a:bodyPr/>
                    <a:lstStyle/>
                    <a:p>
                      <a:pPr algn="l"/>
                      <a:r>
                        <a:rPr lang="en-IN" sz="1400" dirty="0">
                          <a:solidFill>
                            <a:srgbClr val="3A4658"/>
                          </a:solidFill>
                          <a:latin typeface="Calibri"/>
                          <a:ea typeface="Calibri"/>
                          <a:cs typeface="Calibri"/>
                        </a:rPr>
                        <a:t>Individual signal wire per motor</a:t>
                      </a:r>
                    </a:p>
                  </a:txBody>
                  <a:tcPr anchor="ctr">
                    <a:solidFill>
                      <a:srgbClr val="FFFFFF"/>
                    </a:solidFill>
                  </a:tcPr>
                </a:tc>
                <a:tc>
                  <a:txBody>
                    <a:bodyPr/>
                    <a:lstStyle/>
                    <a:p>
                      <a:pPr algn="l"/>
                      <a:r>
                        <a:rPr lang="en-IN" sz="1400">
                          <a:solidFill>
                            <a:srgbClr val="16223A"/>
                          </a:solidFill>
                          <a:latin typeface="Calibri"/>
                          <a:ea typeface="Calibri"/>
                          <a:cs typeface="Calibri"/>
                        </a:rPr>
                        <a:t>Daisy-chain communication</a:t>
                      </a:r>
                    </a:p>
                  </a:txBody>
                  <a:tcPr anchor="ctr">
                    <a:solidFill>
                      <a:srgbClr val="E6F4F6"/>
                    </a:solidFill>
                  </a:tcPr>
                </a:tc>
                <a:extLst>
                  <a:ext uri="{0D108BD9-81ED-4DB2-BD59-A6C34878D82A}">
                    <a16:rowId xmlns:a16="http://schemas.microsoft.com/office/drawing/2014/main" val="2149984924"/>
                  </a:ext>
                </a:extLst>
              </a:tr>
              <a:tr h="524486">
                <a:tc>
                  <a:txBody>
                    <a:bodyPr/>
                    <a:lstStyle/>
                    <a:p>
                      <a:pPr algn="l"/>
                      <a:r>
                        <a:rPr lang="en-IN" sz="1400" b="1">
                          <a:solidFill>
                            <a:srgbClr val="16223A"/>
                          </a:solidFill>
                          <a:latin typeface="Calibri"/>
                          <a:ea typeface="Calibri"/>
                          <a:cs typeface="Calibri"/>
                        </a:rPr>
                        <a:t>Wiring Complexity</a:t>
                      </a:r>
                    </a:p>
                  </a:txBody>
                  <a:tcPr anchor="ctr">
                    <a:solidFill>
                      <a:srgbClr val="F4F6F9"/>
                    </a:solidFill>
                  </a:tcPr>
                </a:tc>
                <a:tc>
                  <a:txBody>
                    <a:bodyPr/>
                    <a:lstStyle/>
                    <a:p>
                      <a:pPr algn="l"/>
                      <a:r>
                        <a:rPr lang="en-IN" sz="1400" dirty="0">
                          <a:solidFill>
                            <a:srgbClr val="3A4658"/>
                          </a:solidFill>
                          <a:latin typeface="Calibri"/>
                          <a:ea typeface="Calibri"/>
                          <a:cs typeface="Calibri"/>
                        </a:rPr>
                        <a:t>High</a:t>
                      </a:r>
                    </a:p>
                  </a:txBody>
                  <a:tcPr anchor="ctr">
                    <a:solidFill>
                      <a:srgbClr val="FFFFFF"/>
                    </a:solidFill>
                  </a:tcPr>
                </a:tc>
                <a:tc>
                  <a:txBody>
                    <a:bodyPr/>
                    <a:lstStyle/>
                    <a:p>
                      <a:pPr algn="l"/>
                      <a:r>
                        <a:rPr lang="en-IN" sz="1400" dirty="0">
                          <a:solidFill>
                            <a:srgbClr val="16223A"/>
                          </a:solidFill>
                          <a:latin typeface="Calibri"/>
                          <a:ea typeface="Calibri"/>
                          <a:cs typeface="Calibri"/>
                        </a:rPr>
                        <a:t>Low</a:t>
                      </a:r>
                    </a:p>
                  </a:txBody>
                  <a:tcPr anchor="ctr">
                    <a:solidFill>
                      <a:srgbClr val="E6F4F6"/>
                    </a:solidFill>
                  </a:tcPr>
                </a:tc>
                <a:extLst>
                  <a:ext uri="{0D108BD9-81ED-4DB2-BD59-A6C34878D82A}">
                    <a16:rowId xmlns:a16="http://schemas.microsoft.com/office/drawing/2014/main" val="2686798067"/>
                  </a:ext>
                </a:extLst>
              </a:tr>
              <a:tr h="524486">
                <a:tc>
                  <a:txBody>
                    <a:bodyPr/>
                    <a:lstStyle/>
                    <a:p>
                      <a:pPr algn="l"/>
                      <a:r>
                        <a:rPr lang="en-IN" sz="1400" b="1">
                          <a:solidFill>
                            <a:srgbClr val="16223A"/>
                          </a:solidFill>
                          <a:latin typeface="Calibri"/>
                          <a:ea typeface="Calibri"/>
                          <a:cs typeface="Calibri"/>
                        </a:rPr>
                        <a:t>Feedback</a:t>
                      </a:r>
                    </a:p>
                  </a:txBody>
                  <a:tcPr anchor="ctr">
                    <a:solidFill>
                      <a:srgbClr val="F4F6F9"/>
                    </a:solidFill>
                  </a:tcPr>
                </a:tc>
                <a:tc>
                  <a:txBody>
                    <a:bodyPr/>
                    <a:lstStyle/>
                    <a:p>
                      <a:pPr algn="l"/>
                      <a:r>
                        <a:rPr lang="en-IN" sz="1400" dirty="0">
                          <a:solidFill>
                            <a:srgbClr val="3A4658"/>
                          </a:solidFill>
                          <a:latin typeface="Calibri"/>
                          <a:ea typeface="Calibri"/>
                          <a:cs typeface="Calibri"/>
                        </a:rPr>
                        <a:t>Not available</a:t>
                      </a:r>
                    </a:p>
                  </a:txBody>
                  <a:tcPr anchor="ctr">
                    <a:solidFill>
                      <a:srgbClr val="FFFFFF"/>
                    </a:solidFill>
                  </a:tcPr>
                </a:tc>
                <a:tc>
                  <a:txBody>
                    <a:bodyPr/>
                    <a:lstStyle/>
                    <a:p>
                      <a:pPr algn="l"/>
                      <a:r>
                        <a:rPr lang="en-IN" sz="1400">
                          <a:solidFill>
                            <a:srgbClr val="16223A"/>
                          </a:solidFill>
                          <a:latin typeface="Calibri"/>
                          <a:ea typeface="Calibri"/>
                          <a:cs typeface="Calibri"/>
                        </a:rPr>
                        <a:t>Position, load, temperature, voltage feedback</a:t>
                      </a:r>
                    </a:p>
                  </a:txBody>
                  <a:tcPr anchor="ctr">
                    <a:solidFill>
                      <a:srgbClr val="E6F4F6"/>
                    </a:solidFill>
                  </a:tcPr>
                </a:tc>
                <a:extLst>
                  <a:ext uri="{0D108BD9-81ED-4DB2-BD59-A6C34878D82A}">
                    <a16:rowId xmlns:a16="http://schemas.microsoft.com/office/drawing/2014/main" val="3806473319"/>
                  </a:ext>
                </a:extLst>
              </a:tr>
              <a:tr h="524486">
                <a:tc>
                  <a:txBody>
                    <a:bodyPr/>
                    <a:lstStyle/>
                    <a:p>
                      <a:pPr algn="l"/>
                      <a:r>
                        <a:rPr lang="en-IN" sz="1400" b="1">
                          <a:solidFill>
                            <a:srgbClr val="16223A"/>
                          </a:solidFill>
                          <a:latin typeface="Calibri"/>
                          <a:ea typeface="Calibri"/>
                          <a:cs typeface="Calibri"/>
                        </a:rPr>
                        <a:t>Controller</a:t>
                      </a:r>
                    </a:p>
                  </a:txBody>
                  <a:tcPr anchor="ctr">
                    <a:solidFill>
                      <a:srgbClr val="F4F6F9"/>
                    </a:solidFill>
                  </a:tcPr>
                </a:tc>
                <a:tc>
                  <a:txBody>
                    <a:bodyPr/>
                    <a:lstStyle/>
                    <a:p>
                      <a:pPr algn="l"/>
                      <a:r>
                        <a:rPr lang="en-IN" sz="1400" dirty="0">
                          <a:solidFill>
                            <a:srgbClr val="3A4658"/>
                          </a:solidFill>
                          <a:latin typeface="Calibri"/>
                          <a:ea typeface="Calibri"/>
                          <a:cs typeface="Calibri"/>
                        </a:rPr>
                        <a:t>External controller required</a:t>
                      </a:r>
                    </a:p>
                  </a:txBody>
                  <a:tcPr anchor="ctr">
                    <a:solidFill>
                      <a:srgbClr val="FFFFFF"/>
                    </a:solidFill>
                  </a:tcPr>
                </a:tc>
                <a:tc>
                  <a:txBody>
                    <a:bodyPr/>
                    <a:lstStyle/>
                    <a:p>
                      <a:pPr algn="l"/>
                      <a:r>
                        <a:rPr lang="en-IN" sz="1400" dirty="0">
                          <a:solidFill>
                            <a:srgbClr val="16223A"/>
                          </a:solidFill>
                          <a:latin typeface="Calibri"/>
                          <a:ea typeface="Calibri"/>
                          <a:cs typeface="Calibri"/>
                        </a:rPr>
                        <a:t>Built-in controller</a:t>
                      </a:r>
                    </a:p>
                  </a:txBody>
                  <a:tcPr anchor="ctr">
                    <a:solidFill>
                      <a:srgbClr val="E6F4F6"/>
                    </a:solidFill>
                  </a:tcPr>
                </a:tc>
                <a:extLst>
                  <a:ext uri="{0D108BD9-81ED-4DB2-BD59-A6C34878D82A}">
                    <a16:rowId xmlns:a16="http://schemas.microsoft.com/office/drawing/2014/main" val="4040244787"/>
                  </a:ext>
                </a:extLst>
              </a:tr>
              <a:tr h="524486">
                <a:tc>
                  <a:txBody>
                    <a:bodyPr/>
                    <a:lstStyle/>
                    <a:p>
                      <a:pPr algn="l"/>
                      <a:r>
                        <a:rPr lang="en-IN" sz="1400" b="1">
                          <a:solidFill>
                            <a:srgbClr val="16223A"/>
                          </a:solidFill>
                          <a:latin typeface="Calibri"/>
                          <a:ea typeface="Calibri"/>
                          <a:cs typeface="Calibri"/>
                        </a:rPr>
                        <a:t>Scalability</a:t>
                      </a:r>
                    </a:p>
                  </a:txBody>
                  <a:tcPr anchor="ctr">
                    <a:solidFill>
                      <a:srgbClr val="F4F6F9"/>
                    </a:solidFill>
                  </a:tcPr>
                </a:tc>
                <a:tc>
                  <a:txBody>
                    <a:bodyPr/>
                    <a:lstStyle/>
                    <a:p>
                      <a:pPr algn="l"/>
                      <a:r>
                        <a:rPr lang="en-IN" sz="1400" dirty="0">
                          <a:solidFill>
                            <a:srgbClr val="3A4658"/>
                          </a:solidFill>
                          <a:latin typeface="Calibri"/>
                          <a:ea typeface="Calibri"/>
                          <a:cs typeface="Calibri"/>
                        </a:rPr>
                        <a:t>Difficult for many joints</a:t>
                      </a:r>
                    </a:p>
                  </a:txBody>
                  <a:tcPr anchor="ctr">
                    <a:solidFill>
                      <a:srgbClr val="FFFFFF"/>
                    </a:solidFill>
                  </a:tcPr>
                </a:tc>
                <a:tc>
                  <a:txBody>
                    <a:bodyPr/>
                    <a:lstStyle/>
                    <a:p>
                      <a:pPr algn="l"/>
                      <a:r>
                        <a:rPr lang="en-IN" sz="1400" dirty="0">
                          <a:solidFill>
                            <a:srgbClr val="16223A"/>
                          </a:solidFill>
                          <a:latin typeface="Calibri"/>
                          <a:ea typeface="Calibri"/>
                          <a:cs typeface="Calibri"/>
                        </a:rPr>
                        <a:t>Designed for multi-joint robots</a:t>
                      </a:r>
                    </a:p>
                  </a:txBody>
                  <a:tcPr anchor="ctr">
                    <a:solidFill>
                      <a:srgbClr val="E6F4F6"/>
                    </a:solidFill>
                  </a:tcPr>
                </a:tc>
                <a:extLst>
                  <a:ext uri="{0D108BD9-81ED-4DB2-BD59-A6C34878D82A}">
                    <a16:rowId xmlns:a16="http://schemas.microsoft.com/office/drawing/2014/main" val="2401347979"/>
                  </a:ext>
                </a:extLst>
              </a:tr>
              <a:tr h="524486">
                <a:tc>
                  <a:txBody>
                    <a:bodyPr/>
                    <a:lstStyle/>
                    <a:p>
                      <a:pPr algn="l"/>
                      <a:r>
                        <a:rPr lang="en-IN" sz="1400" b="1">
                          <a:solidFill>
                            <a:srgbClr val="16223A"/>
                          </a:solidFill>
                          <a:latin typeface="Calibri"/>
                          <a:ea typeface="Calibri"/>
                          <a:cs typeface="Calibri"/>
                        </a:rPr>
                        <a:t>Precision</a:t>
                      </a:r>
                    </a:p>
                  </a:txBody>
                  <a:tcPr anchor="ctr">
                    <a:solidFill>
                      <a:srgbClr val="F4F6F9"/>
                    </a:solidFill>
                  </a:tcPr>
                </a:tc>
                <a:tc>
                  <a:txBody>
                    <a:bodyPr/>
                    <a:lstStyle/>
                    <a:p>
                      <a:pPr algn="l"/>
                      <a:r>
                        <a:rPr lang="en-IN" sz="1400" dirty="0">
                          <a:solidFill>
                            <a:srgbClr val="3A4658"/>
                          </a:solidFill>
                          <a:latin typeface="Calibri"/>
                          <a:ea typeface="Calibri"/>
                          <a:cs typeface="Calibri"/>
                        </a:rPr>
                        <a:t>Moderate</a:t>
                      </a:r>
                    </a:p>
                  </a:txBody>
                  <a:tcPr anchor="ctr">
                    <a:solidFill>
                      <a:srgbClr val="FFFFFF"/>
                    </a:solidFill>
                  </a:tcPr>
                </a:tc>
                <a:tc>
                  <a:txBody>
                    <a:bodyPr/>
                    <a:lstStyle/>
                    <a:p>
                      <a:pPr algn="l"/>
                      <a:r>
                        <a:rPr lang="en-IN" sz="1400" dirty="0">
                          <a:solidFill>
                            <a:srgbClr val="16223A"/>
                          </a:solidFill>
                          <a:latin typeface="Calibri"/>
                          <a:ea typeface="Calibri"/>
                          <a:cs typeface="Calibri"/>
                        </a:rPr>
                        <a:t>High</a:t>
                      </a:r>
                    </a:p>
                  </a:txBody>
                  <a:tcPr anchor="ctr">
                    <a:solidFill>
                      <a:srgbClr val="E6F4F6"/>
                    </a:solidFill>
                  </a:tcPr>
                </a:tc>
                <a:extLst>
                  <a:ext uri="{0D108BD9-81ED-4DB2-BD59-A6C34878D82A}">
                    <a16:rowId xmlns:a16="http://schemas.microsoft.com/office/drawing/2014/main" val="2339067859"/>
                  </a:ext>
                </a:extLst>
              </a:tr>
              <a:tr h="524486">
                <a:tc>
                  <a:txBody>
                    <a:bodyPr/>
                    <a:lstStyle/>
                    <a:p>
                      <a:pPr algn="l"/>
                      <a:r>
                        <a:rPr lang="en-IN" sz="1400" b="1" dirty="0">
                          <a:solidFill>
                            <a:srgbClr val="16223A"/>
                          </a:solidFill>
                          <a:latin typeface="Calibri"/>
                          <a:ea typeface="Calibri"/>
                          <a:cs typeface="Calibri"/>
                        </a:rPr>
                        <a:t>Robotics Applications</a:t>
                      </a:r>
                    </a:p>
                  </a:txBody>
                  <a:tcPr anchor="ctr">
                    <a:solidFill>
                      <a:srgbClr val="F4F6F9"/>
                    </a:solidFill>
                  </a:tcPr>
                </a:tc>
                <a:tc>
                  <a:txBody>
                    <a:bodyPr/>
                    <a:lstStyle/>
                    <a:p>
                      <a:pPr algn="l"/>
                      <a:r>
                        <a:rPr lang="en-IN" sz="1400" dirty="0">
                          <a:solidFill>
                            <a:srgbClr val="3A4658"/>
                          </a:solidFill>
                          <a:latin typeface="Calibri"/>
                          <a:ea typeface="Calibri"/>
                          <a:cs typeface="Calibri"/>
                        </a:rPr>
                        <a:t>Hobby projects</a:t>
                      </a:r>
                    </a:p>
                  </a:txBody>
                  <a:tcPr anchor="ctr">
                    <a:solidFill>
                      <a:srgbClr val="FFFFFF"/>
                    </a:solidFill>
                  </a:tcPr>
                </a:tc>
                <a:tc>
                  <a:txBody>
                    <a:bodyPr/>
                    <a:lstStyle/>
                    <a:p>
                      <a:pPr algn="l"/>
                      <a:r>
                        <a:rPr lang="en-IN" sz="1400" dirty="0">
                          <a:solidFill>
                            <a:srgbClr val="16223A"/>
                          </a:solidFill>
                          <a:latin typeface="Calibri"/>
                          <a:ea typeface="Calibri"/>
                          <a:cs typeface="Calibri"/>
                        </a:rPr>
                        <a:t>Research and industrial robotics</a:t>
                      </a:r>
                    </a:p>
                  </a:txBody>
                  <a:tcPr anchor="ctr">
                    <a:solidFill>
                      <a:srgbClr val="E6F4F6"/>
                    </a:solidFill>
                  </a:tcPr>
                </a:tc>
                <a:extLst>
                  <a:ext uri="{0D108BD9-81ED-4DB2-BD59-A6C34878D82A}">
                    <a16:rowId xmlns:a16="http://schemas.microsoft.com/office/drawing/2014/main" val="1084950083"/>
                  </a:ext>
                </a:extLst>
              </a:tr>
            </a:tbl>
          </a:graphicData>
        </a:graphic>
      </p:graphicFrame>
      <p:pic>
        <p:nvPicPr>
          <p:cNvPr id="9" name="Picture 8">
            <a:extLst>
              <a:ext uri="{FF2B5EF4-FFF2-40B4-BE49-F238E27FC236}">
                <a16:creationId xmlns:a16="http://schemas.microsoft.com/office/drawing/2014/main" id="{62BB27E5-1A94-7525-BF59-74EF6B337C81}"/>
              </a:ext>
            </a:extLst>
          </p:cNvPr>
          <p:cNvPicPr>
            <a:picLocks noChangeAspect="1"/>
          </p:cNvPicPr>
          <p:nvPr/>
        </p:nvPicPr>
        <p:blipFill>
          <a:blip r:embed="rId2"/>
          <a:stretch>
            <a:fillRect/>
          </a:stretch>
        </p:blipFill>
        <p:spPr>
          <a:xfrm>
            <a:off x="5968999" y="5866228"/>
            <a:ext cx="1676791" cy="915572"/>
          </a:xfrm>
          <a:prstGeom prst="rect">
            <a:avLst/>
          </a:prstGeom>
        </p:spPr>
      </p:pic>
      <p:pic>
        <p:nvPicPr>
          <p:cNvPr id="11" name="Picture 10">
            <a:extLst>
              <a:ext uri="{FF2B5EF4-FFF2-40B4-BE49-F238E27FC236}">
                <a16:creationId xmlns:a16="http://schemas.microsoft.com/office/drawing/2014/main" id="{C8D52D7D-EF94-EEFF-57BE-DFBE3ED682EB}"/>
              </a:ext>
            </a:extLst>
          </p:cNvPr>
          <p:cNvPicPr>
            <a:picLocks noChangeAspect="1"/>
          </p:cNvPicPr>
          <p:nvPr/>
        </p:nvPicPr>
        <p:blipFill>
          <a:blip r:embed="rId3"/>
          <a:stretch>
            <a:fillRect/>
          </a:stretch>
        </p:blipFill>
        <p:spPr>
          <a:xfrm>
            <a:off x="8932985" y="5765902"/>
            <a:ext cx="1485105" cy="1015898"/>
          </a:xfrm>
          <a:prstGeom prst="rect">
            <a:avLst/>
          </a:prstGeom>
        </p:spPr>
      </p:pic>
    </p:spTree>
    <p:extLst>
      <p:ext uri="{BB962C8B-B14F-4D97-AF65-F5344CB8AC3E}">
        <p14:creationId xmlns:p14="http://schemas.microsoft.com/office/powerpoint/2010/main" val="4284226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LeftCard">
            <a:extLst>
              <a:ext uri="{FF2B5EF4-FFF2-40B4-BE49-F238E27FC236}">
                <a16:creationId xmlns:a16="http://schemas.microsoft.com/office/drawing/2014/main" id="{0056E78F-92D5-4262-AAF1-277172916451}"/>
              </a:ext>
            </a:extLst>
          </p:cNvPr>
          <p:cNvSpPr/>
          <p:nvPr/>
        </p:nvSpPr>
        <p:spPr>
          <a:xfrm>
            <a:off x="5461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RightCard">
            <a:extLst>
              <a:ext uri="{FF2B5EF4-FFF2-40B4-BE49-F238E27FC236}">
                <a16:creationId xmlns:a16="http://schemas.microsoft.com/office/drawing/2014/main" id="{24DBE37A-9E70-4159-95DD-2B494C422BC7}"/>
              </a:ext>
            </a:extLst>
          </p:cNvPr>
          <p:cNvSpPr/>
          <p:nvPr/>
        </p:nvSpPr>
        <p:spPr>
          <a:xfrm>
            <a:off x="63119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LearnCard">
            <a:extLst>
              <a:ext uri="{FF2B5EF4-FFF2-40B4-BE49-F238E27FC236}">
                <a16:creationId xmlns:a16="http://schemas.microsoft.com/office/drawing/2014/main" id="{945938B6-711B-47B7-94C3-12F7938EAA96}"/>
              </a:ext>
            </a:extLst>
          </p:cNvPr>
          <p:cNvSpPr/>
          <p:nvPr/>
        </p:nvSpPr>
        <p:spPr>
          <a:xfrm>
            <a:off x="546100" y="3657600"/>
            <a:ext cx="5334000" cy="27432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DecCard">
            <a:extLst>
              <a:ext uri="{FF2B5EF4-FFF2-40B4-BE49-F238E27FC236}">
                <a16:creationId xmlns:a16="http://schemas.microsoft.com/office/drawing/2014/main" id="{769BC5B9-3C4D-4227-8B3B-8FACD1E290E0}"/>
              </a:ext>
            </a:extLst>
          </p:cNvPr>
          <p:cNvSpPr/>
          <p:nvPr/>
        </p:nvSpPr>
        <p:spPr>
          <a:xfrm>
            <a:off x="6311900" y="3657600"/>
            <a:ext cx="5334000" cy="2743200"/>
          </a:xfrm>
          <a:prstGeom prst="round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EyebrowB">
            <a:extLst>
              <a:ext uri="{FF2B5EF4-FFF2-40B4-BE49-F238E27FC236}">
                <a16:creationId xmlns:a16="http://schemas.microsoft.com/office/drawing/2014/main" id="{0132597A-8662-4681-BE67-71F52E66C72F}"/>
              </a:ext>
            </a:extLst>
          </p:cNvPr>
          <p:cNvSpPr txBox="1"/>
          <p:nvPr/>
        </p:nvSpPr>
        <p:spPr>
          <a:xfrm>
            <a:off x="546100" y="381000"/>
            <a:ext cx="10414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ARCHITECTURE &amp; DECISION</a:t>
            </a:r>
          </a:p>
        </p:txBody>
      </p:sp>
      <p:sp>
        <p:nvSpPr>
          <p:cNvPr id="7" name="TitleB">
            <a:extLst>
              <a:ext uri="{FF2B5EF4-FFF2-40B4-BE49-F238E27FC236}">
                <a16:creationId xmlns:a16="http://schemas.microsoft.com/office/drawing/2014/main" id="{46AB9848-941D-4FEF-BEB1-1414EB9FBE78}"/>
              </a:ext>
            </a:extLst>
          </p:cNvPr>
          <p:cNvSpPr txBox="1"/>
          <p:nvPr/>
        </p:nvSpPr>
        <p:spPr>
          <a:xfrm>
            <a:off x="533400" y="635000"/>
            <a:ext cx="11049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Daisy-Chain Architecture &amp; Final Selection</a:t>
            </a:r>
          </a:p>
        </p:txBody>
      </p:sp>
      <p:sp>
        <p:nvSpPr>
          <p:cNvPr id="8" name="ServoGlyphBody">
            <a:extLst>
              <a:ext uri="{FF2B5EF4-FFF2-40B4-BE49-F238E27FC236}">
                <a16:creationId xmlns:a16="http://schemas.microsoft.com/office/drawing/2014/main" id="{8A03D9A3-2075-450B-B675-A74D30FE9A88}"/>
              </a:ext>
            </a:extLst>
          </p:cNvPr>
          <p:cNvSpPr/>
          <p:nvPr/>
        </p:nvSpPr>
        <p:spPr>
          <a:xfrm>
            <a:off x="762000" y="1498600"/>
            <a:ext cx="304800" cy="228600"/>
          </a:xfrm>
          <a:prstGeom prst="roundRect">
            <a:avLst/>
          </a:prstGeom>
          <a:solidFill>
            <a:srgbClr val="5A647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9" name="ServoGlyphHorn">
            <a:extLst>
              <a:ext uri="{FF2B5EF4-FFF2-40B4-BE49-F238E27FC236}">
                <a16:creationId xmlns:a16="http://schemas.microsoft.com/office/drawing/2014/main" id="{DB2656A8-5200-4995-950C-8E582F0047DC}"/>
              </a:ext>
            </a:extLst>
          </p:cNvPr>
          <p:cNvSpPr/>
          <p:nvPr/>
        </p:nvSpPr>
        <p:spPr>
          <a:xfrm>
            <a:off x="850900" y="1435100"/>
            <a:ext cx="127000" cy="114300"/>
          </a:xfrm>
          <a:prstGeom prst="ellipse">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 name="LeftTitle">
            <a:extLst>
              <a:ext uri="{FF2B5EF4-FFF2-40B4-BE49-F238E27FC236}">
                <a16:creationId xmlns:a16="http://schemas.microsoft.com/office/drawing/2014/main" id="{F5221BA7-BF56-4458-9848-3FCF2A8E96ED}"/>
              </a:ext>
            </a:extLst>
          </p:cNvPr>
          <p:cNvSpPr txBox="1"/>
          <p:nvPr/>
        </p:nvSpPr>
        <p:spPr>
          <a:xfrm>
            <a:off x="1168400" y="1473200"/>
            <a:ext cx="4572000" cy="279400"/>
          </a:xfrm>
          <a:prstGeom prst="rect">
            <a:avLst/>
          </a:prstGeom>
          <a:noFill/>
        </p:spPr>
        <p:txBody>
          <a:bodyPr vertOverflow="overflow" vert="horz" wrap="square" rtlCol="0" anchor="t" anchorCtr="0">
            <a:noAutofit/>
          </a:bodyPr>
          <a:lstStyle/>
          <a:p>
            <a:pPr marL="0" indent="0">
              <a:buNone/>
            </a:pPr>
            <a:r>
              <a:rPr lang="en-US" sz="1350" b="1" dirty="0">
                <a:solidFill>
                  <a:srgbClr val="16223A"/>
                </a:solidFill>
                <a:latin typeface="Calibri" pitchFamily="34" charset="0"/>
              </a:rPr>
              <a:t>Conventional Servo — Separate Wiring</a:t>
            </a:r>
          </a:p>
        </p:txBody>
      </p:sp>
      <p:sp>
        <p:nvSpPr>
          <p:cNvPr id="11" name="CtrlL">
            <a:extLst>
              <a:ext uri="{FF2B5EF4-FFF2-40B4-BE49-F238E27FC236}">
                <a16:creationId xmlns:a16="http://schemas.microsoft.com/office/drawing/2014/main" id="{E0569885-D4FA-4DD4-9A3F-1E29F3533E47}"/>
              </a:ext>
            </a:extLst>
          </p:cNvPr>
          <p:cNvSpPr/>
          <p:nvPr/>
        </p:nvSpPr>
        <p:spPr>
          <a:xfrm>
            <a:off x="800100" y="2184400"/>
            <a:ext cx="1066800" cy="6858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Controller</a:t>
            </a:r>
          </a:p>
        </p:txBody>
      </p:sp>
      <p:sp>
        <p:nvSpPr>
          <p:cNvPr id="12" name="BusV">
            <a:extLst>
              <a:ext uri="{FF2B5EF4-FFF2-40B4-BE49-F238E27FC236}">
                <a16:creationId xmlns:a16="http://schemas.microsoft.com/office/drawing/2014/main" id="{02527D18-7BCF-41AE-AD08-927C1540483A}"/>
              </a:ext>
            </a:extLst>
          </p:cNvPr>
          <p:cNvSpPr/>
          <p:nvPr/>
        </p:nvSpPr>
        <p:spPr>
          <a:xfrm>
            <a:off x="1905000" y="2032000"/>
            <a:ext cx="38100" cy="9906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3" name="CtrlBus">
            <a:extLst>
              <a:ext uri="{FF2B5EF4-FFF2-40B4-BE49-F238E27FC236}">
                <a16:creationId xmlns:a16="http://schemas.microsoft.com/office/drawing/2014/main" id="{1CE24EE8-02CD-44D4-B87F-12FCB67D908F}"/>
              </a:ext>
            </a:extLst>
          </p:cNvPr>
          <p:cNvSpPr/>
          <p:nvPr/>
        </p:nvSpPr>
        <p:spPr>
          <a:xfrm>
            <a:off x="1866900" y="2527300"/>
            <a:ext cx="762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Stub0">
            <a:extLst>
              <a:ext uri="{FF2B5EF4-FFF2-40B4-BE49-F238E27FC236}">
                <a16:creationId xmlns:a16="http://schemas.microsoft.com/office/drawing/2014/main" id="{A9C20F89-A278-4DB5-8A0F-545E206D3B94}"/>
              </a:ext>
            </a:extLst>
          </p:cNvPr>
          <p:cNvSpPr/>
          <p:nvPr/>
        </p:nvSpPr>
        <p:spPr>
          <a:xfrm>
            <a:off x="1943100" y="20193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5" name="Servo0">
            <a:extLst>
              <a:ext uri="{FF2B5EF4-FFF2-40B4-BE49-F238E27FC236}">
                <a16:creationId xmlns:a16="http://schemas.microsoft.com/office/drawing/2014/main" id="{FE0E4700-8C3C-42D9-84F1-E6C73B1DD53A}"/>
              </a:ext>
            </a:extLst>
          </p:cNvPr>
          <p:cNvSpPr/>
          <p:nvPr/>
        </p:nvSpPr>
        <p:spPr>
          <a:xfrm>
            <a:off x="3810000" y="19050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1</a:t>
            </a:r>
          </a:p>
        </p:txBody>
      </p:sp>
      <p:sp>
        <p:nvSpPr>
          <p:cNvPr id="16" name="Stub1">
            <a:extLst>
              <a:ext uri="{FF2B5EF4-FFF2-40B4-BE49-F238E27FC236}">
                <a16:creationId xmlns:a16="http://schemas.microsoft.com/office/drawing/2014/main" id="{814852D2-A9D9-48F2-88CF-C20F3BDEBC7E}"/>
              </a:ext>
            </a:extLst>
          </p:cNvPr>
          <p:cNvSpPr/>
          <p:nvPr/>
        </p:nvSpPr>
        <p:spPr>
          <a:xfrm>
            <a:off x="1943100" y="23495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Servo1">
            <a:extLst>
              <a:ext uri="{FF2B5EF4-FFF2-40B4-BE49-F238E27FC236}">
                <a16:creationId xmlns:a16="http://schemas.microsoft.com/office/drawing/2014/main" id="{CAEAB1FD-0CEA-4D2C-AEF7-0FF176392BDC}"/>
              </a:ext>
            </a:extLst>
          </p:cNvPr>
          <p:cNvSpPr/>
          <p:nvPr/>
        </p:nvSpPr>
        <p:spPr>
          <a:xfrm>
            <a:off x="3810000" y="22352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2</a:t>
            </a:r>
          </a:p>
        </p:txBody>
      </p:sp>
      <p:sp>
        <p:nvSpPr>
          <p:cNvPr id="18" name="Stub2">
            <a:extLst>
              <a:ext uri="{FF2B5EF4-FFF2-40B4-BE49-F238E27FC236}">
                <a16:creationId xmlns:a16="http://schemas.microsoft.com/office/drawing/2014/main" id="{EB319E6F-F90C-43F4-9030-6DB43A605F2E}"/>
              </a:ext>
            </a:extLst>
          </p:cNvPr>
          <p:cNvSpPr/>
          <p:nvPr/>
        </p:nvSpPr>
        <p:spPr>
          <a:xfrm>
            <a:off x="1943100" y="26797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9" name="Servo2">
            <a:extLst>
              <a:ext uri="{FF2B5EF4-FFF2-40B4-BE49-F238E27FC236}">
                <a16:creationId xmlns:a16="http://schemas.microsoft.com/office/drawing/2014/main" id="{76E772AE-A541-49C3-B4C3-B05CCE714E7C}"/>
              </a:ext>
            </a:extLst>
          </p:cNvPr>
          <p:cNvSpPr/>
          <p:nvPr/>
        </p:nvSpPr>
        <p:spPr>
          <a:xfrm>
            <a:off x="3810000" y="25654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3</a:t>
            </a:r>
          </a:p>
        </p:txBody>
      </p:sp>
      <p:sp>
        <p:nvSpPr>
          <p:cNvPr id="20" name="Stub3">
            <a:extLst>
              <a:ext uri="{FF2B5EF4-FFF2-40B4-BE49-F238E27FC236}">
                <a16:creationId xmlns:a16="http://schemas.microsoft.com/office/drawing/2014/main" id="{B02FBDF1-8D37-4D56-8B5D-B0C727AEC152}"/>
              </a:ext>
            </a:extLst>
          </p:cNvPr>
          <p:cNvSpPr/>
          <p:nvPr/>
        </p:nvSpPr>
        <p:spPr>
          <a:xfrm>
            <a:off x="1943100" y="30099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1" name="Servo3">
            <a:extLst>
              <a:ext uri="{FF2B5EF4-FFF2-40B4-BE49-F238E27FC236}">
                <a16:creationId xmlns:a16="http://schemas.microsoft.com/office/drawing/2014/main" id="{77B767ED-463D-48E9-99C3-6473A23AD437}"/>
              </a:ext>
            </a:extLst>
          </p:cNvPr>
          <p:cNvSpPr/>
          <p:nvPr/>
        </p:nvSpPr>
        <p:spPr>
          <a:xfrm>
            <a:off x="3810000" y="28956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Servo 4</a:t>
            </a:r>
          </a:p>
        </p:txBody>
      </p:sp>
      <p:sp>
        <p:nvSpPr>
          <p:cNvPr id="22" name="LeftCap">
            <a:extLst>
              <a:ext uri="{FF2B5EF4-FFF2-40B4-BE49-F238E27FC236}">
                <a16:creationId xmlns:a16="http://schemas.microsoft.com/office/drawing/2014/main" id="{9EC08625-1DD4-4DAA-8C00-FBCBF71DFEB5}"/>
              </a:ext>
            </a:extLst>
          </p:cNvPr>
          <p:cNvSpPr txBox="1"/>
          <p:nvPr/>
        </p:nvSpPr>
        <p:spPr>
          <a:xfrm>
            <a:off x="762000" y="3238500"/>
            <a:ext cx="5080000" cy="228600"/>
          </a:xfrm>
          <a:prstGeom prst="rect">
            <a:avLst/>
          </a:prstGeom>
          <a:noFill/>
        </p:spPr>
        <p:txBody>
          <a:bodyPr vertOverflow="overflow" vert="horz" wrap="square" rtlCol="0" anchor="t" anchorCtr="0">
            <a:noAutofit/>
          </a:bodyPr>
          <a:lstStyle/>
          <a:p>
            <a:pPr marL="0" indent="0">
              <a:buNone/>
            </a:pPr>
            <a:r>
              <a:rPr lang="en-US" sz="1400" dirty="0">
                <a:solidFill>
                  <a:srgbClr val="3A4658"/>
                </a:solidFill>
                <a:latin typeface="Calibri" pitchFamily="34" charset="0"/>
              </a:rPr>
              <a:t>Every motor needs its own signal wire back to the controller.</a:t>
            </a:r>
          </a:p>
        </p:txBody>
      </p:sp>
      <p:sp>
        <p:nvSpPr>
          <p:cNvPr id="23" name="XLGlyphBody">
            <a:extLst>
              <a:ext uri="{FF2B5EF4-FFF2-40B4-BE49-F238E27FC236}">
                <a16:creationId xmlns:a16="http://schemas.microsoft.com/office/drawing/2014/main" id="{C8E18AD2-F4A3-40BC-87F2-BED483297313}"/>
              </a:ext>
            </a:extLst>
          </p:cNvPr>
          <p:cNvSpPr/>
          <p:nvPr/>
        </p:nvSpPr>
        <p:spPr>
          <a:xfrm>
            <a:off x="6527800" y="1473200"/>
            <a:ext cx="254000" cy="254000"/>
          </a:xfrm>
          <a:prstGeom prst="round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4" name="XLGlyphHorn">
            <a:extLst>
              <a:ext uri="{FF2B5EF4-FFF2-40B4-BE49-F238E27FC236}">
                <a16:creationId xmlns:a16="http://schemas.microsoft.com/office/drawing/2014/main" id="{7FC80302-C31A-4BBF-A9FA-3633069FB1AC}"/>
              </a:ext>
            </a:extLst>
          </p:cNvPr>
          <p:cNvSpPr/>
          <p:nvPr/>
        </p:nvSpPr>
        <p:spPr>
          <a:xfrm>
            <a:off x="6604000" y="1549400"/>
            <a:ext cx="101600" cy="101600"/>
          </a:xfrm>
          <a:prstGeom prst="ellipse">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5" name="RightTitle">
            <a:extLst>
              <a:ext uri="{FF2B5EF4-FFF2-40B4-BE49-F238E27FC236}">
                <a16:creationId xmlns:a16="http://schemas.microsoft.com/office/drawing/2014/main" id="{4455D221-E0A3-42F1-BA92-A0B9855B4D16}"/>
              </a:ext>
            </a:extLst>
          </p:cNvPr>
          <p:cNvSpPr txBox="1"/>
          <p:nvPr/>
        </p:nvSpPr>
        <p:spPr>
          <a:xfrm>
            <a:off x="6883400" y="1473200"/>
            <a:ext cx="4699000" cy="279400"/>
          </a:xfrm>
          <a:prstGeom prst="rect">
            <a:avLst/>
          </a:prstGeom>
          <a:noFill/>
        </p:spPr>
        <p:txBody>
          <a:bodyPr vertOverflow="overflow" vert="horz" wrap="square" rtlCol="0" anchor="t" anchorCtr="0">
            <a:noAutofit/>
          </a:bodyPr>
          <a:lstStyle/>
          <a:p>
            <a:pPr marL="0" indent="0">
              <a:buNone/>
            </a:pPr>
            <a:r>
              <a:rPr lang="en-US" sz="1350" b="1" dirty="0">
                <a:solidFill>
                  <a:srgbClr val="0E96AC"/>
                </a:solidFill>
                <a:latin typeface="Calibri" pitchFamily="34" charset="0"/>
              </a:rPr>
              <a:t>Dynamixel — Daisy-Chain</a:t>
            </a:r>
          </a:p>
        </p:txBody>
      </p:sp>
      <p:sp>
        <p:nvSpPr>
          <p:cNvPr id="26" name="CtrlR">
            <a:extLst>
              <a:ext uri="{FF2B5EF4-FFF2-40B4-BE49-F238E27FC236}">
                <a16:creationId xmlns:a16="http://schemas.microsoft.com/office/drawing/2014/main" id="{93A5EAD7-35C9-42DC-A970-DE541959CA8C}"/>
              </a:ext>
            </a:extLst>
          </p:cNvPr>
          <p:cNvSpPr/>
          <p:nvPr/>
        </p:nvSpPr>
        <p:spPr>
          <a:xfrm>
            <a:off x="6502400" y="2438400"/>
            <a:ext cx="736600" cy="5842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Ctrl</a:t>
            </a:r>
          </a:p>
        </p:txBody>
      </p:sp>
      <p:sp>
        <p:nvSpPr>
          <p:cNvPr id="27" name="M0">
            <a:extLst>
              <a:ext uri="{FF2B5EF4-FFF2-40B4-BE49-F238E27FC236}">
                <a16:creationId xmlns:a16="http://schemas.microsoft.com/office/drawing/2014/main" id="{4CB46D67-A245-439A-902D-801546B8D4D1}"/>
              </a:ext>
            </a:extLst>
          </p:cNvPr>
          <p:cNvSpPr/>
          <p:nvPr/>
        </p:nvSpPr>
        <p:spPr>
          <a:xfrm>
            <a:off x="75692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M1</a:t>
            </a:r>
          </a:p>
        </p:txBody>
      </p:sp>
      <p:sp>
        <p:nvSpPr>
          <p:cNvPr id="28" name="M1">
            <a:extLst>
              <a:ext uri="{FF2B5EF4-FFF2-40B4-BE49-F238E27FC236}">
                <a16:creationId xmlns:a16="http://schemas.microsoft.com/office/drawing/2014/main" id="{45FEF653-99C3-4FEF-B454-B3E087841AE7}"/>
              </a:ext>
            </a:extLst>
          </p:cNvPr>
          <p:cNvSpPr/>
          <p:nvPr/>
        </p:nvSpPr>
        <p:spPr>
          <a:xfrm>
            <a:off x="85598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M2</a:t>
            </a:r>
          </a:p>
        </p:txBody>
      </p:sp>
      <p:sp>
        <p:nvSpPr>
          <p:cNvPr id="29" name="M2">
            <a:extLst>
              <a:ext uri="{FF2B5EF4-FFF2-40B4-BE49-F238E27FC236}">
                <a16:creationId xmlns:a16="http://schemas.microsoft.com/office/drawing/2014/main" id="{A74F96EC-B6BB-422E-8C35-E10D91EB265A}"/>
              </a:ext>
            </a:extLst>
          </p:cNvPr>
          <p:cNvSpPr/>
          <p:nvPr/>
        </p:nvSpPr>
        <p:spPr>
          <a:xfrm>
            <a:off x="95504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M3</a:t>
            </a:r>
          </a:p>
        </p:txBody>
      </p:sp>
      <p:sp>
        <p:nvSpPr>
          <p:cNvPr id="30" name="M3">
            <a:extLst>
              <a:ext uri="{FF2B5EF4-FFF2-40B4-BE49-F238E27FC236}">
                <a16:creationId xmlns:a16="http://schemas.microsoft.com/office/drawing/2014/main" id="{A9620D07-EC3B-42BC-9AE1-D164B351DF4C}"/>
              </a:ext>
            </a:extLst>
          </p:cNvPr>
          <p:cNvSpPr/>
          <p:nvPr/>
        </p:nvSpPr>
        <p:spPr>
          <a:xfrm>
            <a:off x="105410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M4</a:t>
            </a:r>
          </a:p>
        </p:txBody>
      </p:sp>
      <p:sp>
        <p:nvSpPr>
          <p:cNvPr id="31" name="Arr0">
            <a:extLst>
              <a:ext uri="{FF2B5EF4-FFF2-40B4-BE49-F238E27FC236}">
                <a16:creationId xmlns:a16="http://schemas.microsoft.com/office/drawing/2014/main" id="{854A53CA-17C5-4CFF-ADCF-E59608ACE438}"/>
              </a:ext>
            </a:extLst>
          </p:cNvPr>
          <p:cNvSpPr/>
          <p:nvPr/>
        </p:nvSpPr>
        <p:spPr>
          <a:xfrm>
            <a:off x="72644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2" name="Arr1">
            <a:extLst>
              <a:ext uri="{FF2B5EF4-FFF2-40B4-BE49-F238E27FC236}">
                <a16:creationId xmlns:a16="http://schemas.microsoft.com/office/drawing/2014/main" id="{011F0A9F-950A-45D7-A79A-BADB16577606}"/>
              </a:ext>
            </a:extLst>
          </p:cNvPr>
          <p:cNvSpPr/>
          <p:nvPr/>
        </p:nvSpPr>
        <p:spPr>
          <a:xfrm>
            <a:off x="82550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3" name="Arr2">
            <a:extLst>
              <a:ext uri="{FF2B5EF4-FFF2-40B4-BE49-F238E27FC236}">
                <a16:creationId xmlns:a16="http://schemas.microsoft.com/office/drawing/2014/main" id="{65FD6BA2-FF5F-400F-8B69-726189B56862}"/>
              </a:ext>
            </a:extLst>
          </p:cNvPr>
          <p:cNvSpPr/>
          <p:nvPr/>
        </p:nvSpPr>
        <p:spPr>
          <a:xfrm>
            <a:off x="92456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4" name="Arr3">
            <a:extLst>
              <a:ext uri="{FF2B5EF4-FFF2-40B4-BE49-F238E27FC236}">
                <a16:creationId xmlns:a16="http://schemas.microsoft.com/office/drawing/2014/main" id="{EF0861AC-0B95-4D77-BA3A-39B94625355C}"/>
              </a:ext>
            </a:extLst>
          </p:cNvPr>
          <p:cNvSpPr/>
          <p:nvPr/>
        </p:nvSpPr>
        <p:spPr>
          <a:xfrm>
            <a:off x="102362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ightCap">
            <a:extLst>
              <a:ext uri="{FF2B5EF4-FFF2-40B4-BE49-F238E27FC236}">
                <a16:creationId xmlns:a16="http://schemas.microsoft.com/office/drawing/2014/main" id="{1D352562-1583-4A2A-8FB0-A5F8D6FC580A}"/>
              </a:ext>
            </a:extLst>
          </p:cNvPr>
          <p:cNvSpPr txBox="1"/>
          <p:nvPr/>
        </p:nvSpPr>
        <p:spPr>
          <a:xfrm>
            <a:off x="6527800" y="3251200"/>
            <a:ext cx="5080000" cy="228600"/>
          </a:xfrm>
          <a:prstGeom prst="rect">
            <a:avLst/>
          </a:prstGeom>
          <a:noFill/>
        </p:spPr>
        <p:txBody>
          <a:bodyPr vertOverflow="overflow" vert="horz" wrap="square" rtlCol="0" anchor="t" anchorCtr="0">
            <a:noAutofit/>
          </a:bodyPr>
          <a:lstStyle/>
          <a:p>
            <a:pPr marL="0" indent="0">
              <a:buNone/>
            </a:pPr>
            <a:r>
              <a:rPr lang="en-US" sz="1400" dirty="0">
                <a:solidFill>
                  <a:srgbClr val="3A4658"/>
                </a:solidFill>
                <a:latin typeface="Calibri" pitchFamily="34" charset="0"/>
              </a:rPr>
              <a:t>One cable carries power and data to every joint in sequence.</a:t>
            </a:r>
          </a:p>
        </p:txBody>
      </p:sp>
      <p:sp>
        <p:nvSpPr>
          <p:cNvPr id="36" name="LearnEye">
            <a:extLst>
              <a:ext uri="{FF2B5EF4-FFF2-40B4-BE49-F238E27FC236}">
                <a16:creationId xmlns:a16="http://schemas.microsoft.com/office/drawing/2014/main" id="{A968E41C-DC93-4198-90D6-3BE8A1F7B0D1}"/>
              </a:ext>
            </a:extLst>
          </p:cNvPr>
          <p:cNvSpPr txBox="1"/>
          <p:nvPr/>
        </p:nvSpPr>
        <p:spPr>
          <a:xfrm>
            <a:off x="762000" y="3810000"/>
            <a:ext cx="49022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KEY LEARNINGS</a:t>
            </a:r>
          </a:p>
        </p:txBody>
      </p:sp>
      <p:sp>
        <p:nvSpPr>
          <p:cNvPr id="37" name="LearnBul">
            <a:extLst>
              <a:ext uri="{FF2B5EF4-FFF2-40B4-BE49-F238E27FC236}">
                <a16:creationId xmlns:a16="http://schemas.microsoft.com/office/drawing/2014/main" id="{D174C345-5C6B-4F4C-B12D-913378F38B4A}"/>
              </a:ext>
            </a:extLst>
          </p:cNvPr>
          <p:cNvSpPr txBox="1"/>
          <p:nvPr/>
        </p:nvSpPr>
        <p:spPr>
          <a:xfrm>
            <a:off x="762000" y="4114800"/>
            <a:ext cx="4902200" cy="2159000"/>
          </a:xfrm>
          <a:prstGeom prst="rect">
            <a:avLst/>
          </a:prstGeom>
          <a:noFill/>
        </p:spPr>
        <p:txBody>
          <a:bodyPr vertOverflow="overflow" vert="horz" wrap="square" rtlCol="0" anchor="t" anchorCtr="0">
            <a:noAutofit/>
          </a:bodyPr>
          <a:lstStyle/>
          <a:p>
            <a:pPr marL="200000" indent="-200000">
              <a:spcBef>
                <a:spcPts val="600"/>
              </a:spcBef>
              <a:buClr>
                <a:srgbClr val="0E96AC"/>
              </a:buClr>
              <a:buFont typeface="Arial"/>
              <a:buChar char="•"/>
            </a:pPr>
            <a:r>
              <a:rPr lang="en-US" sz="1400" dirty="0">
                <a:solidFill>
                  <a:srgbClr val="16223A"/>
                </a:solidFill>
                <a:latin typeface="Calibri" pitchFamily="34" charset="0"/>
              </a:rPr>
              <a:t>Daisy-chain wiring sharply cuts cabling and assembly effort.</a:t>
            </a:r>
          </a:p>
          <a:p>
            <a:pPr marL="200000" indent="-200000">
              <a:spcBef>
                <a:spcPts val="600"/>
              </a:spcBef>
              <a:buClr>
                <a:srgbClr val="0E96AC"/>
              </a:buClr>
              <a:buFont typeface="Arial"/>
              <a:buChar char="•"/>
            </a:pPr>
            <a:r>
              <a:rPr lang="en-US" sz="1400" dirty="0">
                <a:solidFill>
                  <a:srgbClr val="16223A"/>
                </a:solidFill>
                <a:latin typeface="Calibri" pitchFamily="34" charset="0"/>
              </a:rPr>
              <a:t>A controller built into every motor simplifies integration.</a:t>
            </a:r>
          </a:p>
          <a:p>
            <a:pPr marL="200000" indent="-200000">
              <a:spcBef>
                <a:spcPts val="600"/>
              </a:spcBef>
              <a:buClr>
                <a:srgbClr val="0E96AC"/>
              </a:buClr>
              <a:buFont typeface="Arial"/>
              <a:buChar char="•"/>
            </a:pPr>
            <a:r>
              <a:rPr lang="en-US" sz="1400" dirty="0">
                <a:solidFill>
                  <a:srgbClr val="16223A"/>
                </a:solidFill>
                <a:latin typeface="Calibri" pitchFamily="34" charset="0"/>
              </a:rPr>
              <a:t>Real-time feedback enables future closed-loop control.</a:t>
            </a:r>
          </a:p>
          <a:p>
            <a:pPr marL="200000" indent="-200000">
              <a:spcBef>
                <a:spcPts val="600"/>
              </a:spcBef>
              <a:buClr>
                <a:srgbClr val="0E96AC"/>
              </a:buClr>
              <a:buFont typeface="Arial"/>
              <a:buChar char="•"/>
            </a:pPr>
            <a:r>
              <a:rPr lang="en-US" sz="1400" dirty="0">
                <a:solidFill>
                  <a:srgbClr val="16223A"/>
                </a:solidFill>
                <a:latin typeface="Calibri" pitchFamily="34" charset="0"/>
              </a:rPr>
              <a:t>Compact form factor suits modular robot segments.</a:t>
            </a:r>
          </a:p>
          <a:p>
            <a:pPr marL="200000" indent="-200000">
              <a:spcBef>
                <a:spcPts val="600"/>
              </a:spcBef>
              <a:buClr>
                <a:srgbClr val="0E96AC"/>
              </a:buClr>
              <a:buFont typeface="Arial"/>
              <a:buChar char="•"/>
            </a:pPr>
            <a:r>
              <a:rPr lang="en-US" sz="1400" dirty="0">
                <a:solidFill>
                  <a:srgbClr val="16223A"/>
                </a:solidFill>
                <a:latin typeface="Calibri" pitchFamily="34" charset="0"/>
              </a:rPr>
              <a:t>High precision and smart control fit advanced robotics.</a:t>
            </a:r>
          </a:p>
        </p:txBody>
      </p:sp>
      <p:sp>
        <p:nvSpPr>
          <p:cNvPr id="38" name="DecEye">
            <a:extLst>
              <a:ext uri="{FF2B5EF4-FFF2-40B4-BE49-F238E27FC236}">
                <a16:creationId xmlns:a16="http://schemas.microsoft.com/office/drawing/2014/main" id="{760A87DD-1FD4-4129-AFBF-9525367131E6}"/>
              </a:ext>
            </a:extLst>
          </p:cNvPr>
          <p:cNvSpPr txBox="1"/>
          <p:nvPr/>
        </p:nvSpPr>
        <p:spPr>
          <a:xfrm>
            <a:off x="6565900" y="3835400"/>
            <a:ext cx="48260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FINAL SELECTED ACTUATOR</a:t>
            </a:r>
          </a:p>
        </p:txBody>
      </p:sp>
      <p:sp>
        <p:nvSpPr>
          <p:cNvPr id="39" name="DecTitle">
            <a:extLst>
              <a:ext uri="{FF2B5EF4-FFF2-40B4-BE49-F238E27FC236}">
                <a16:creationId xmlns:a16="http://schemas.microsoft.com/office/drawing/2014/main" id="{C7311885-27E4-43E5-B854-ED56274278BD}"/>
              </a:ext>
            </a:extLst>
          </p:cNvPr>
          <p:cNvSpPr txBox="1"/>
          <p:nvPr/>
        </p:nvSpPr>
        <p:spPr>
          <a:xfrm>
            <a:off x="6565900" y="4102100"/>
            <a:ext cx="4826000" cy="431800"/>
          </a:xfrm>
          <a:prstGeom prst="rect">
            <a:avLst/>
          </a:prstGeom>
          <a:noFill/>
        </p:spPr>
        <p:txBody>
          <a:bodyPr vertOverflow="overflow" vert="horz" wrap="square" rtlCol="0" anchor="t" anchorCtr="0">
            <a:noAutofit/>
          </a:bodyPr>
          <a:lstStyle/>
          <a:p>
            <a:pPr marL="0" indent="0">
              <a:buNone/>
            </a:pPr>
            <a:r>
              <a:rPr lang="en-US" sz="2200" b="1" dirty="0">
                <a:solidFill>
                  <a:srgbClr val="FFFFFF"/>
                </a:solidFill>
                <a:latin typeface="Calibri" pitchFamily="34" charset="0"/>
              </a:rPr>
              <a:t>Dynamixel XL330 Series</a:t>
            </a:r>
          </a:p>
        </p:txBody>
      </p:sp>
      <p:sp>
        <p:nvSpPr>
          <p:cNvPr id="40" name="DecReason">
            <a:extLst>
              <a:ext uri="{FF2B5EF4-FFF2-40B4-BE49-F238E27FC236}">
                <a16:creationId xmlns:a16="http://schemas.microsoft.com/office/drawing/2014/main" id="{1D6D8D35-098D-49CE-A5B5-D938206E0D70}"/>
              </a:ext>
            </a:extLst>
          </p:cNvPr>
          <p:cNvSpPr txBox="1"/>
          <p:nvPr/>
        </p:nvSpPr>
        <p:spPr>
          <a:xfrm>
            <a:off x="6565900" y="4597400"/>
            <a:ext cx="4826000" cy="1676400"/>
          </a:xfrm>
          <a:prstGeom prst="rect">
            <a:avLst/>
          </a:prstGeom>
          <a:noFill/>
        </p:spPr>
        <p:txBody>
          <a:bodyPr vertOverflow="overflow" vert="horz" wrap="square" rtlCol="0" anchor="t" anchorCtr="0">
            <a:noAutofit/>
          </a:bodyPr>
          <a:lstStyle/>
          <a:p>
            <a:pPr marL="0" indent="0">
              <a:lnSpc>
                <a:spcPct val="112000"/>
              </a:lnSpc>
              <a:buNone/>
            </a:pPr>
            <a:r>
              <a:rPr lang="en-US" sz="1400" dirty="0">
                <a:solidFill>
                  <a:srgbClr val="D6DEE8"/>
                </a:solidFill>
                <a:latin typeface="Calibri" pitchFamily="34" charset="0"/>
              </a:rPr>
              <a:t>Chosen for its smart serial communication, full-state feedback, compact form factor and effortless multi-joint scaling — the right fit for a multi-segment snake robot.</a:t>
            </a:r>
          </a:p>
        </p:txBody>
      </p:sp>
    </p:spTree>
    <p:extLst>
      <p:ext uri="{BB962C8B-B14F-4D97-AF65-F5344CB8AC3E}">
        <p14:creationId xmlns:p14="http://schemas.microsoft.com/office/powerpoint/2010/main" val="504917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GOALS &amp; EXPECTED OUTCOMES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What This Project Sets Out to Build</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11" name="Shape 9"/>
          <p:cNvSpPr/>
          <p:nvPr/>
        </p:nvSpPr>
        <p:spPr>
          <a:xfrm>
            <a:off x="822960" y="1920240"/>
            <a:ext cx="713232" cy="713232"/>
          </a:xfrm>
          <a:prstGeom prst="ellipse">
            <a:avLst/>
          </a:prstGeom>
          <a:solidFill>
            <a:srgbClr val="0E96AC"/>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1001268" y="2098548"/>
            <a:ext cx="356616" cy="356616"/>
          </a:xfrm>
          <a:prstGeom prst="rect">
            <a:avLst/>
          </a:prstGeom>
        </p:spPr>
      </p:pic>
      <p:sp>
        <p:nvSpPr>
          <p:cNvPr id="13" name="Text 10"/>
          <p:cNvSpPr/>
          <p:nvPr/>
        </p:nvSpPr>
        <p:spPr>
          <a:xfrm>
            <a:off x="3118104"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01</a:t>
            </a:r>
            <a:endParaRPr lang="en-US" sz="3000" dirty="0"/>
          </a:p>
        </p:txBody>
      </p:sp>
      <p:sp>
        <p:nvSpPr>
          <p:cNvPr id="14" name="Text 11"/>
          <p:cNvSpPr/>
          <p:nvPr/>
        </p:nvSpPr>
        <p:spPr>
          <a:xfrm>
            <a:off x="822960"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Modular Architecture</a:t>
            </a:r>
            <a:endParaRPr lang="en-US" sz="1550" dirty="0"/>
          </a:p>
        </p:txBody>
      </p:sp>
      <p:sp>
        <p:nvSpPr>
          <p:cNvPr id="15" name="Text 12"/>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 repeatable segment-based mechanical design.</a:t>
            </a:r>
            <a:endParaRPr lang="en-US" sz="1150" dirty="0"/>
          </a:p>
        </p:txBody>
      </p:sp>
      <p:sp>
        <p:nvSpPr>
          <p:cNvPr id="16" name="Shape 13"/>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17" name="Shape 14"/>
          <p:cNvSpPr/>
          <p:nvPr/>
        </p:nvSpPr>
        <p:spPr>
          <a:xfrm>
            <a:off x="4645152" y="1920240"/>
            <a:ext cx="713232" cy="713232"/>
          </a:xfrm>
          <a:prstGeom prst="ellipse">
            <a:avLst/>
          </a:prstGeom>
          <a:solidFill>
            <a:srgbClr val="E08A1E"/>
          </a:solidFill>
          <a:ln/>
        </p:spPr>
        <p:txBody>
          <a:bodyPr/>
          <a:lstStyle/>
          <a:p>
            <a:endParaRPr lang="en-IN"/>
          </a:p>
        </p:txBody>
      </p:sp>
      <p:pic>
        <p:nvPicPr>
          <p:cNvPr id="18" name="Image 1" descr="preencoded.png"/>
          <p:cNvPicPr>
            <a:picLocks noChangeAspect="1"/>
          </p:cNvPicPr>
          <p:nvPr/>
        </p:nvPicPr>
        <p:blipFill>
          <a:blip r:embed="rId4"/>
          <a:stretch>
            <a:fillRect/>
          </a:stretch>
        </p:blipFill>
        <p:spPr>
          <a:xfrm>
            <a:off x="4823460" y="2098548"/>
            <a:ext cx="356616" cy="356616"/>
          </a:xfrm>
          <a:prstGeom prst="rect">
            <a:avLst/>
          </a:prstGeom>
        </p:spPr>
      </p:pic>
      <p:sp>
        <p:nvSpPr>
          <p:cNvPr id="19" name="Text 15"/>
          <p:cNvSpPr/>
          <p:nvPr/>
        </p:nvSpPr>
        <p:spPr>
          <a:xfrm>
            <a:off x="6940296"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02</a:t>
            </a:r>
            <a:endParaRPr lang="en-US" sz="3000" dirty="0"/>
          </a:p>
        </p:txBody>
      </p:sp>
      <p:sp>
        <p:nvSpPr>
          <p:cNvPr id="20" name="Text 16"/>
          <p:cNvSpPr/>
          <p:nvPr/>
        </p:nvSpPr>
        <p:spPr>
          <a:xfrm>
            <a:off x="4645152"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Dynamixel Actuators</a:t>
            </a:r>
            <a:endParaRPr lang="en-US" sz="1550" dirty="0"/>
          </a:p>
        </p:txBody>
      </p:sp>
      <p:sp>
        <p:nvSpPr>
          <p:cNvPr id="21" name="Text 17"/>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Integrate smart servos with daisy-chained control.</a:t>
            </a:r>
            <a:endParaRPr lang="en-US" sz="1150" dirty="0"/>
          </a:p>
        </p:txBody>
      </p:sp>
      <p:sp>
        <p:nvSpPr>
          <p:cNvPr id="22" name="Shape 18"/>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23" name="Shape 19"/>
          <p:cNvSpPr/>
          <p:nvPr/>
        </p:nvSpPr>
        <p:spPr>
          <a:xfrm>
            <a:off x="8467344" y="1920240"/>
            <a:ext cx="713232" cy="713232"/>
          </a:xfrm>
          <a:prstGeom prst="ellipse">
            <a:avLst/>
          </a:prstGeom>
          <a:solidFill>
            <a:srgbClr val="12A678"/>
          </a:solidFill>
          <a:ln/>
        </p:spPr>
        <p:txBody>
          <a:bodyPr/>
          <a:lstStyle/>
          <a:p>
            <a:endParaRPr lang="en-IN"/>
          </a:p>
        </p:txBody>
      </p:sp>
      <p:pic>
        <p:nvPicPr>
          <p:cNvPr id="24" name="Image 2" descr="preencoded.png"/>
          <p:cNvPicPr>
            <a:picLocks noChangeAspect="1"/>
          </p:cNvPicPr>
          <p:nvPr/>
        </p:nvPicPr>
        <p:blipFill>
          <a:blip r:embed="rId5"/>
          <a:stretch>
            <a:fillRect/>
          </a:stretch>
        </p:blipFill>
        <p:spPr>
          <a:xfrm>
            <a:off x="8645652" y="2098548"/>
            <a:ext cx="356616" cy="356616"/>
          </a:xfrm>
          <a:prstGeom prst="rect">
            <a:avLst/>
          </a:prstGeom>
        </p:spPr>
      </p:pic>
      <p:sp>
        <p:nvSpPr>
          <p:cNvPr id="25" name="Text 20"/>
          <p:cNvSpPr/>
          <p:nvPr/>
        </p:nvSpPr>
        <p:spPr>
          <a:xfrm>
            <a:off x="10762488" y="1847088"/>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03</a:t>
            </a:r>
            <a:endParaRPr lang="en-US" sz="3000" dirty="0"/>
          </a:p>
        </p:txBody>
      </p:sp>
      <p:sp>
        <p:nvSpPr>
          <p:cNvPr id="26" name="Text 21"/>
          <p:cNvSpPr/>
          <p:nvPr/>
        </p:nvSpPr>
        <p:spPr>
          <a:xfrm>
            <a:off x="8467344" y="2743200"/>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Raspberry Pi Control</a:t>
            </a:r>
            <a:endParaRPr lang="en-US" sz="1550" dirty="0"/>
          </a:p>
        </p:txBody>
      </p:sp>
      <p:sp>
        <p:nvSpPr>
          <p:cNvPr id="27" name="Text 22"/>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 single-board-computer control system.</a:t>
            </a:r>
            <a:endParaRPr lang="en-US" sz="1150" dirty="0"/>
          </a:p>
        </p:txBody>
      </p:sp>
      <p:sp>
        <p:nvSpPr>
          <p:cNvPr id="28" name="Shape 23"/>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29" name="Shape 24"/>
          <p:cNvSpPr/>
          <p:nvPr/>
        </p:nvSpPr>
        <p:spPr>
          <a:xfrm>
            <a:off x="822960" y="4169664"/>
            <a:ext cx="713232" cy="713232"/>
          </a:xfrm>
          <a:prstGeom prst="ellipse">
            <a:avLst/>
          </a:prstGeom>
          <a:solidFill>
            <a:srgbClr val="0E96AC"/>
          </a:solidFill>
          <a:ln/>
        </p:spPr>
        <p:txBody>
          <a:bodyPr/>
          <a:lstStyle/>
          <a:p>
            <a:endParaRPr lang="en-IN"/>
          </a:p>
        </p:txBody>
      </p:sp>
      <p:pic>
        <p:nvPicPr>
          <p:cNvPr id="30" name="Image 3" descr="preencoded.png"/>
          <p:cNvPicPr>
            <a:picLocks noChangeAspect="1"/>
          </p:cNvPicPr>
          <p:nvPr/>
        </p:nvPicPr>
        <p:blipFill>
          <a:blip r:embed="rId6"/>
          <a:stretch>
            <a:fillRect/>
          </a:stretch>
        </p:blipFill>
        <p:spPr>
          <a:xfrm>
            <a:off x="1001268" y="4347972"/>
            <a:ext cx="356616" cy="356616"/>
          </a:xfrm>
          <a:prstGeom prst="rect">
            <a:avLst/>
          </a:prstGeom>
        </p:spPr>
      </p:pic>
      <p:sp>
        <p:nvSpPr>
          <p:cNvPr id="31" name="Text 25"/>
          <p:cNvSpPr/>
          <p:nvPr/>
        </p:nvSpPr>
        <p:spPr>
          <a:xfrm>
            <a:off x="3118104"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04</a:t>
            </a:r>
            <a:endParaRPr lang="en-US" sz="3000" dirty="0"/>
          </a:p>
        </p:txBody>
      </p:sp>
      <p:sp>
        <p:nvSpPr>
          <p:cNvPr id="32" name="Text 26"/>
          <p:cNvSpPr/>
          <p:nvPr/>
        </p:nvSpPr>
        <p:spPr>
          <a:xfrm>
            <a:off x="822960"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Locomotion Algorithms</a:t>
            </a:r>
            <a:endParaRPr lang="en-US" sz="1550" dirty="0"/>
          </a:p>
        </p:txBody>
      </p:sp>
      <p:sp>
        <p:nvSpPr>
          <p:cNvPr id="33" name="Text 27"/>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Implement serpentine and gait-based motion.</a:t>
            </a:r>
            <a:endParaRPr lang="en-US" sz="1150" dirty="0"/>
          </a:p>
        </p:txBody>
      </p:sp>
      <p:sp>
        <p:nvSpPr>
          <p:cNvPr id="34" name="Shape 28"/>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35" name="Shape 29"/>
          <p:cNvSpPr/>
          <p:nvPr/>
        </p:nvSpPr>
        <p:spPr>
          <a:xfrm>
            <a:off x="4645152" y="4169664"/>
            <a:ext cx="713232" cy="713232"/>
          </a:xfrm>
          <a:prstGeom prst="ellipse">
            <a:avLst/>
          </a:prstGeom>
          <a:solidFill>
            <a:srgbClr val="E08A1E"/>
          </a:solidFill>
          <a:ln/>
        </p:spPr>
        <p:txBody>
          <a:bodyPr/>
          <a:lstStyle/>
          <a:p>
            <a:endParaRPr lang="en-IN"/>
          </a:p>
        </p:txBody>
      </p:sp>
      <p:pic>
        <p:nvPicPr>
          <p:cNvPr id="36" name="Image 4" descr="preencoded.png"/>
          <p:cNvPicPr>
            <a:picLocks noChangeAspect="1"/>
          </p:cNvPicPr>
          <p:nvPr/>
        </p:nvPicPr>
        <p:blipFill>
          <a:blip r:embed="rId7"/>
          <a:stretch>
            <a:fillRect/>
          </a:stretch>
        </p:blipFill>
        <p:spPr>
          <a:xfrm>
            <a:off x="4823460" y="4347972"/>
            <a:ext cx="356616" cy="356616"/>
          </a:xfrm>
          <a:prstGeom prst="rect">
            <a:avLst/>
          </a:prstGeom>
        </p:spPr>
      </p:pic>
      <p:sp>
        <p:nvSpPr>
          <p:cNvPr id="37" name="Text 30"/>
          <p:cNvSpPr/>
          <p:nvPr/>
        </p:nvSpPr>
        <p:spPr>
          <a:xfrm>
            <a:off x="6940296"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05</a:t>
            </a:r>
            <a:endParaRPr lang="en-US" sz="3000" dirty="0"/>
          </a:p>
        </p:txBody>
      </p:sp>
      <p:sp>
        <p:nvSpPr>
          <p:cNvPr id="38" name="Text 31"/>
          <p:cNvSpPr/>
          <p:nvPr/>
        </p:nvSpPr>
        <p:spPr>
          <a:xfrm>
            <a:off x="4645152"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Sensor Integration</a:t>
            </a:r>
            <a:endParaRPr lang="en-US" sz="1550" dirty="0"/>
          </a:p>
        </p:txBody>
      </p:sp>
      <p:sp>
        <p:nvSpPr>
          <p:cNvPr id="39" name="Text 32"/>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Add sensing for future intelligent navigation.</a:t>
            </a:r>
            <a:endParaRPr lang="en-US" sz="1150" dirty="0"/>
          </a:p>
        </p:txBody>
      </p:sp>
      <p:sp>
        <p:nvSpPr>
          <p:cNvPr id="40" name="Shape 33"/>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txBody>
          <a:bodyPr/>
          <a:lstStyle/>
          <a:p>
            <a:endParaRPr lang="en-IN"/>
          </a:p>
        </p:txBody>
      </p:sp>
      <p:sp>
        <p:nvSpPr>
          <p:cNvPr id="41" name="Shape 34"/>
          <p:cNvSpPr/>
          <p:nvPr/>
        </p:nvSpPr>
        <p:spPr>
          <a:xfrm>
            <a:off x="8467344" y="4169664"/>
            <a:ext cx="713232" cy="713232"/>
          </a:xfrm>
          <a:prstGeom prst="ellipse">
            <a:avLst/>
          </a:prstGeom>
          <a:solidFill>
            <a:srgbClr val="12A678"/>
          </a:solidFill>
          <a:ln/>
        </p:spPr>
        <p:txBody>
          <a:bodyPr/>
          <a:lstStyle/>
          <a:p>
            <a:endParaRPr lang="en-IN"/>
          </a:p>
        </p:txBody>
      </p:sp>
      <p:pic>
        <p:nvPicPr>
          <p:cNvPr id="42" name="Image 5" descr="preencoded.png"/>
          <p:cNvPicPr>
            <a:picLocks noChangeAspect="1"/>
          </p:cNvPicPr>
          <p:nvPr/>
        </p:nvPicPr>
        <p:blipFill>
          <a:blip r:embed="rId8"/>
          <a:stretch>
            <a:fillRect/>
          </a:stretch>
        </p:blipFill>
        <p:spPr>
          <a:xfrm>
            <a:off x="8645652" y="4347972"/>
            <a:ext cx="356616" cy="356616"/>
          </a:xfrm>
          <a:prstGeom prst="rect">
            <a:avLst/>
          </a:prstGeom>
        </p:spPr>
      </p:pic>
      <p:sp>
        <p:nvSpPr>
          <p:cNvPr id="43" name="Text 35"/>
          <p:cNvSpPr/>
          <p:nvPr/>
        </p:nvSpPr>
        <p:spPr>
          <a:xfrm>
            <a:off x="10762488" y="4096512"/>
            <a:ext cx="777240" cy="548640"/>
          </a:xfrm>
          <a:prstGeom prst="rect">
            <a:avLst/>
          </a:prstGeom>
          <a:noFill/>
          <a:ln/>
        </p:spPr>
        <p:txBody>
          <a:bodyPr wrap="square" lIns="0" tIns="0" rIns="0" bIns="0" rtlCol="0" anchor="ctr"/>
          <a:lstStyle/>
          <a:p>
            <a:pPr marL="0" indent="0" algn="r">
              <a:buNone/>
            </a:pPr>
            <a:r>
              <a:rPr lang="en-US" sz="3000" b="1" dirty="0">
                <a:solidFill>
                  <a:srgbClr val="E2E8F0"/>
                </a:solidFill>
                <a:latin typeface="Calibri" pitchFamily="34" charset="0"/>
                <a:ea typeface="Calibri" pitchFamily="34" charset="-122"/>
                <a:cs typeface="Calibri" pitchFamily="34" charset="-120"/>
              </a:rPr>
              <a:t>06</a:t>
            </a:r>
            <a:endParaRPr lang="en-US" sz="3000" dirty="0"/>
          </a:p>
        </p:txBody>
      </p:sp>
      <p:sp>
        <p:nvSpPr>
          <p:cNvPr id="44" name="Text 36"/>
          <p:cNvSpPr/>
          <p:nvPr/>
        </p:nvSpPr>
        <p:spPr>
          <a:xfrm>
            <a:off x="8467344" y="4992624"/>
            <a:ext cx="3026664" cy="365760"/>
          </a:xfrm>
          <a:prstGeom prst="rect">
            <a:avLst/>
          </a:prstGeom>
          <a:noFill/>
          <a:ln/>
        </p:spPr>
        <p:txBody>
          <a:bodyPr wrap="square" lIns="0" tIns="0" rIns="0" bIns="0" rtlCol="0" anchor="ctr"/>
          <a:lstStyle/>
          <a:p>
            <a:pPr marL="0" indent="0">
              <a:buNone/>
            </a:pPr>
            <a:r>
              <a:rPr lang="en-US" sz="1550" b="1" dirty="0">
                <a:solidFill>
                  <a:srgbClr val="16223A"/>
                </a:solidFill>
                <a:latin typeface="Calibri" pitchFamily="34" charset="0"/>
                <a:ea typeface="Calibri" pitchFamily="34" charset="-122"/>
                <a:cs typeface="Calibri" pitchFamily="34" charset="-120"/>
              </a:rPr>
              <a:t>Scalable Platform</a:t>
            </a:r>
            <a:endParaRPr lang="en-US" sz="1550" dirty="0"/>
          </a:p>
        </p:txBody>
      </p:sp>
      <p:sp>
        <p:nvSpPr>
          <p:cNvPr id="45" name="Text 37"/>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Keep it maintainable and easy to extend.</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WORK COMPLETED SO FAR</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Quarter-One Progress Summary</a:t>
            </a:r>
            <a:endParaRPr lang="en-US" sz="3000" dirty="0"/>
          </a:p>
        </p:txBody>
      </p:sp>
      <p:sp>
        <p:nvSpPr>
          <p:cNvPr id="10" name="Shape 8"/>
          <p:cNvSpPr/>
          <p:nvPr/>
        </p:nvSpPr>
        <p:spPr>
          <a:xfrm>
            <a:off x="548640" y="1645920"/>
            <a:ext cx="3657600" cy="4434840"/>
          </a:xfrm>
          <a:prstGeom prst="roundRect">
            <a:avLst>
              <a:gd name="adj" fmla="val 2500"/>
            </a:avLst>
          </a:prstGeom>
          <a:solidFill>
            <a:srgbClr val="16223A"/>
          </a:solidFill>
          <a:ln/>
          <a:effectLst>
            <a:outerShdw blurRad="114300" dist="38100" dir="5400000" algn="bl" rotWithShape="0">
              <a:srgbClr val="1A2440">
                <a:alpha val="16000"/>
              </a:srgbClr>
            </a:outerShdw>
          </a:effectLst>
        </p:spPr>
      </p:sp>
      <p:sp>
        <p:nvSpPr>
          <p:cNvPr id="11" name="Text 9"/>
          <p:cNvSpPr/>
          <p:nvPr/>
        </p:nvSpPr>
        <p:spPr>
          <a:xfrm>
            <a:off x="777240" y="1965960"/>
            <a:ext cx="3200400" cy="274320"/>
          </a:xfrm>
          <a:prstGeom prst="rect">
            <a:avLst/>
          </a:prstGeom>
          <a:noFill/>
          <a:ln/>
        </p:spPr>
        <p:txBody>
          <a:bodyPr wrap="square" lIns="0" tIns="0" rIns="0" bIns="0" rtlCol="0" anchor="ctr"/>
          <a:lstStyle/>
          <a:p>
            <a:pPr marL="0" indent="0">
              <a:buNone/>
            </a:pPr>
            <a:r>
              <a:rPr lang="en-US" sz="1150" b="1" kern="0" spc="200" dirty="0">
                <a:solidFill>
                  <a:srgbClr val="2BD4E8"/>
                </a:solidFill>
                <a:latin typeface="Calibri" pitchFamily="34" charset="0"/>
                <a:ea typeface="Calibri" pitchFamily="34" charset="-122"/>
                <a:cs typeface="Calibri" pitchFamily="34" charset="-120"/>
              </a:rPr>
              <a:t>OVERALL COMPLETION(till now)</a:t>
            </a:r>
            <a:endParaRPr lang="en-US" sz="1150" dirty="0"/>
          </a:p>
        </p:txBody>
      </p:sp>
      <p:sp>
        <p:nvSpPr>
          <p:cNvPr id="12" name="Text 10"/>
          <p:cNvSpPr/>
          <p:nvPr/>
        </p:nvSpPr>
        <p:spPr>
          <a:xfrm>
            <a:off x="777240" y="2240280"/>
            <a:ext cx="3200400" cy="1188720"/>
          </a:xfrm>
          <a:prstGeom prst="rect">
            <a:avLst/>
          </a:prstGeom>
          <a:noFill/>
          <a:ln/>
        </p:spPr>
        <p:txBody>
          <a:bodyPr wrap="square" lIns="0" tIns="0" rIns="0" bIns="0" rtlCol="0" anchor="ctr"/>
          <a:lstStyle/>
          <a:p>
            <a:pPr marL="0" indent="0">
              <a:buNone/>
            </a:pPr>
            <a:r>
              <a:rPr lang="en-US" sz="7800" b="1" dirty="0">
                <a:solidFill>
                  <a:srgbClr val="FFFFFF"/>
                </a:solidFill>
                <a:latin typeface="Calibri" pitchFamily="34" charset="0"/>
                <a:ea typeface="Calibri" pitchFamily="34" charset="-122"/>
                <a:cs typeface="Calibri" pitchFamily="34" charset="-120"/>
              </a:rPr>
              <a:t>25</a:t>
            </a:r>
            <a:r>
              <a:rPr lang="en-US" sz="3400" b="1" dirty="0">
                <a:solidFill>
                  <a:srgbClr val="2BD4E8"/>
                </a:solidFill>
                <a:latin typeface="Calibri" pitchFamily="34" charset="0"/>
                <a:ea typeface="Calibri" pitchFamily="34" charset="-122"/>
                <a:cs typeface="Calibri" pitchFamily="34" charset="-120"/>
              </a:rPr>
              <a:t> %</a:t>
            </a:r>
            <a:endParaRPr lang="en-US" sz="7800" dirty="0"/>
          </a:p>
        </p:txBody>
      </p:sp>
      <p:sp>
        <p:nvSpPr>
          <p:cNvPr id="13" name="Shape 11"/>
          <p:cNvSpPr/>
          <p:nvPr/>
        </p:nvSpPr>
        <p:spPr>
          <a:xfrm>
            <a:off x="777240" y="3611880"/>
            <a:ext cx="352044" cy="310896"/>
          </a:xfrm>
          <a:prstGeom prst="roundRect">
            <a:avLst>
              <a:gd name="adj" fmla="val 14706"/>
            </a:avLst>
          </a:prstGeom>
          <a:solidFill>
            <a:srgbClr val="2BD4E8"/>
          </a:solidFill>
          <a:ln/>
        </p:spPr>
      </p:sp>
      <p:sp>
        <p:nvSpPr>
          <p:cNvPr id="14" name="Shape 12"/>
          <p:cNvSpPr/>
          <p:nvPr/>
        </p:nvSpPr>
        <p:spPr>
          <a:xfrm>
            <a:off x="1184148" y="3611880"/>
            <a:ext cx="352044" cy="310896"/>
          </a:xfrm>
          <a:prstGeom prst="roundRect">
            <a:avLst>
              <a:gd name="adj" fmla="val 14706"/>
            </a:avLst>
          </a:prstGeom>
          <a:solidFill>
            <a:srgbClr val="2BD4E8"/>
          </a:solidFill>
          <a:ln/>
        </p:spPr>
      </p:sp>
      <p:sp>
        <p:nvSpPr>
          <p:cNvPr id="15" name="Shape 13"/>
          <p:cNvSpPr/>
          <p:nvPr/>
        </p:nvSpPr>
        <p:spPr>
          <a:xfrm>
            <a:off x="1591056" y="3611880"/>
            <a:ext cx="352044" cy="310896"/>
          </a:xfrm>
          <a:prstGeom prst="roundRect">
            <a:avLst>
              <a:gd name="adj" fmla="val 14706"/>
            </a:avLst>
          </a:prstGeom>
          <a:solidFill>
            <a:srgbClr val="2A3958"/>
          </a:solidFill>
          <a:ln/>
        </p:spPr>
      </p:sp>
      <p:sp>
        <p:nvSpPr>
          <p:cNvPr id="16" name="Shape 14"/>
          <p:cNvSpPr/>
          <p:nvPr/>
        </p:nvSpPr>
        <p:spPr>
          <a:xfrm>
            <a:off x="1997964" y="3611880"/>
            <a:ext cx="352044" cy="310896"/>
          </a:xfrm>
          <a:prstGeom prst="roundRect">
            <a:avLst>
              <a:gd name="adj" fmla="val 14706"/>
            </a:avLst>
          </a:prstGeom>
          <a:solidFill>
            <a:srgbClr val="2A3958"/>
          </a:solidFill>
          <a:ln/>
        </p:spPr>
      </p:sp>
      <p:sp>
        <p:nvSpPr>
          <p:cNvPr id="17" name="Shape 15"/>
          <p:cNvSpPr/>
          <p:nvPr/>
        </p:nvSpPr>
        <p:spPr>
          <a:xfrm>
            <a:off x="2404872" y="3611880"/>
            <a:ext cx="352044" cy="310896"/>
          </a:xfrm>
          <a:prstGeom prst="roundRect">
            <a:avLst>
              <a:gd name="adj" fmla="val 14706"/>
            </a:avLst>
          </a:prstGeom>
          <a:solidFill>
            <a:srgbClr val="2A3958"/>
          </a:solidFill>
          <a:ln/>
        </p:spPr>
      </p:sp>
      <p:sp>
        <p:nvSpPr>
          <p:cNvPr id="18" name="Shape 16"/>
          <p:cNvSpPr/>
          <p:nvPr/>
        </p:nvSpPr>
        <p:spPr>
          <a:xfrm>
            <a:off x="2811780" y="3611880"/>
            <a:ext cx="352044" cy="310896"/>
          </a:xfrm>
          <a:prstGeom prst="roundRect">
            <a:avLst>
              <a:gd name="adj" fmla="val 14706"/>
            </a:avLst>
          </a:prstGeom>
          <a:solidFill>
            <a:srgbClr val="2A3958"/>
          </a:solidFill>
          <a:ln/>
        </p:spPr>
      </p:sp>
      <p:sp>
        <p:nvSpPr>
          <p:cNvPr id="19" name="Shape 17"/>
          <p:cNvSpPr/>
          <p:nvPr/>
        </p:nvSpPr>
        <p:spPr>
          <a:xfrm>
            <a:off x="3218688" y="3611880"/>
            <a:ext cx="352044" cy="310896"/>
          </a:xfrm>
          <a:prstGeom prst="roundRect">
            <a:avLst>
              <a:gd name="adj" fmla="val 14706"/>
            </a:avLst>
          </a:prstGeom>
          <a:solidFill>
            <a:srgbClr val="2A3958"/>
          </a:solidFill>
          <a:ln/>
        </p:spPr>
      </p:sp>
      <p:sp>
        <p:nvSpPr>
          <p:cNvPr id="20" name="Shape 18"/>
          <p:cNvSpPr/>
          <p:nvPr/>
        </p:nvSpPr>
        <p:spPr>
          <a:xfrm>
            <a:off x="3625596" y="3611880"/>
            <a:ext cx="352044" cy="310896"/>
          </a:xfrm>
          <a:prstGeom prst="roundRect">
            <a:avLst>
              <a:gd name="adj" fmla="val 14706"/>
            </a:avLst>
          </a:prstGeom>
          <a:solidFill>
            <a:srgbClr val="2A3958"/>
          </a:solidFill>
          <a:ln/>
        </p:spPr>
      </p:sp>
      <p:sp>
        <p:nvSpPr>
          <p:cNvPr id="21" name="Text 19"/>
          <p:cNvSpPr/>
          <p:nvPr/>
        </p:nvSpPr>
        <p:spPr>
          <a:xfrm>
            <a:off x="777240" y="4023360"/>
            <a:ext cx="3200400" cy="274320"/>
          </a:xfrm>
          <a:prstGeom prst="rect">
            <a:avLst/>
          </a:prstGeom>
          <a:noFill/>
          <a:ln/>
        </p:spPr>
        <p:txBody>
          <a:bodyPr wrap="square" lIns="0" tIns="0" rIns="0" bIns="0" rtlCol="0" anchor="ctr"/>
          <a:lstStyle/>
          <a:p>
            <a:pPr marL="0" indent="0">
              <a:buNone/>
            </a:pPr>
            <a:r>
              <a:rPr lang="en-US" sz="1150" dirty="0">
                <a:solidFill>
                  <a:srgbClr val="6B7890"/>
                </a:solidFill>
                <a:latin typeface="Calibri" pitchFamily="34" charset="0"/>
                <a:ea typeface="Calibri" pitchFamily="34" charset="-122"/>
                <a:cs typeface="Calibri" pitchFamily="34" charset="-120"/>
              </a:rPr>
              <a:t>Phase 1 complete · Phase 2 underway</a:t>
            </a:r>
            <a:endParaRPr lang="en-US" sz="1150" dirty="0"/>
          </a:p>
        </p:txBody>
      </p:sp>
      <p:sp>
        <p:nvSpPr>
          <p:cNvPr id="22" name="Shape 20"/>
          <p:cNvSpPr/>
          <p:nvPr/>
        </p:nvSpPr>
        <p:spPr>
          <a:xfrm>
            <a:off x="777240" y="4526280"/>
            <a:ext cx="960120" cy="1207008"/>
          </a:xfrm>
          <a:prstGeom prst="roundRect">
            <a:avLst>
              <a:gd name="adj" fmla="val 7619"/>
            </a:avLst>
          </a:prstGeom>
          <a:solidFill>
            <a:srgbClr val="1E2A45"/>
          </a:solidFill>
          <a:ln/>
        </p:spPr>
      </p:sp>
      <p:sp>
        <p:nvSpPr>
          <p:cNvPr id="23" name="Text 21"/>
          <p:cNvSpPr/>
          <p:nvPr/>
        </p:nvSpPr>
        <p:spPr>
          <a:xfrm>
            <a:off x="777240"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10</a:t>
            </a:r>
            <a:endParaRPr lang="en-US" sz="2800" dirty="0"/>
          </a:p>
        </p:txBody>
      </p:sp>
      <p:sp>
        <p:nvSpPr>
          <p:cNvPr id="24" name="Text 22"/>
          <p:cNvSpPr/>
          <p:nvPr/>
        </p:nvSpPr>
        <p:spPr>
          <a:xfrm>
            <a:off x="777240"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Tasks done</a:t>
            </a:r>
            <a:endParaRPr lang="en-US" sz="950" dirty="0"/>
          </a:p>
        </p:txBody>
      </p:sp>
      <p:sp>
        <p:nvSpPr>
          <p:cNvPr id="25" name="Shape 23"/>
          <p:cNvSpPr/>
          <p:nvPr/>
        </p:nvSpPr>
        <p:spPr>
          <a:xfrm>
            <a:off x="1856232" y="4526280"/>
            <a:ext cx="960120" cy="1207008"/>
          </a:xfrm>
          <a:prstGeom prst="roundRect">
            <a:avLst>
              <a:gd name="adj" fmla="val 7619"/>
            </a:avLst>
          </a:prstGeom>
          <a:solidFill>
            <a:srgbClr val="1E2A45"/>
          </a:solidFill>
          <a:ln/>
        </p:spPr>
      </p:sp>
      <p:sp>
        <p:nvSpPr>
          <p:cNvPr id="26" name="Text 24"/>
          <p:cNvSpPr/>
          <p:nvPr/>
        </p:nvSpPr>
        <p:spPr>
          <a:xfrm>
            <a:off x="1856232"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2</a:t>
            </a:r>
            <a:endParaRPr lang="en-US" sz="2800" dirty="0"/>
          </a:p>
        </p:txBody>
      </p:sp>
      <p:sp>
        <p:nvSpPr>
          <p:cNvPr id="27" name="Text 25"/>
          <p:cNvSpPr/>
          <p:nvPr/>
        </p:nvSpPr>
        <p:spPr>
          <a:xfrm>
            <a:off x="1856232"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Segments printed</a:t>
            </a:r>
            <a:endParaRPr lang="en-US" sz="950" dirty="0"/>
          </a:p>
        </p:txBody>
      </p:sp>
      <p:sp>
        <p:nvSpPr>
          <p:cNvPr id="28" name="Shape 26"/>
          <p:cNvSpPr/>
          <p:nvPr/>
        </p:nvSpPr>
        <p:spPr>
          <a:xfrm>
            <a:off x="2935224" y="4526280"/>
            <a:ext cx="960120" cy="1207008"/>
          </a:xfrm>
          <a:prstGeom prst="roundRect">
            <a:avLst>
              <a:gd name="adj" fmla="val 7619"/>
            </a:avLst>
          </a:prstGeom>
          <a:solidFill>
            <a:srgbClr val="1E2A45"/>
          </a:solidFill>
          <a:ln/>
        </p:spPr>
      </p:sp>
      <p:sp>
        <p:nvSpPr>
          <p:cNvPr id="29" name="Text 27"/>
          <p:cNvSpPr/>
          <p:nvPr/>
        </p:nvSpPr>
        <p:spPr>
          <a:xfrm>
            <a:off x="2935224" y="4681728"/>
            <a:ext cx="960120" cy="548640"/>
          </a:xfrm>
          <a:prstGeom prst="rect">
            <a:avLst/>
          </a:prstGeom>
          <a:noFill/>
          <a:ln/>
        </p:spPr>
        <p:txBody>
          <a:bodyPr wrap="square" lIns="0" tIns="0" rIns="0" bIns="0" rtlCol="0" anchor="ctr"/>
          <a:lstStyle/>
          <a:p>
            <a:pPr marL="0" indent="0" algn="ctr">
              <a:buNone/>
            </a:pPr>
            <a:r>
              <a:rPr lang="en-US" sz="2800" b="1" dirty="0">
                <a:solidFill>
                  <a:srgbClr val="2BD4E8"/>
                </a:solidFill>
                <a:latin typeface="Calibri" pitchFamily="34" charset="0"/>
                <a:ea typeface="Calibri" pitchFamily="34" charset="-122"/>
                <a:cs typeface="Calibri" pitchFamily="34" charset="-120"/>
              </a:rPr>
              <a:t>1</a:t>
            </a:r>
            <a:endParaRPr lang="en-US" sz="2800" dirty="0"/>
          </a:p>
        </p:txBody>
      </p:sp>
      <p:sp>
        <p:nvSpPr>
          <p:cNvPr id="30" name="Text 28"/>
          <p:cNvSpPr/>
          <p:nvPr/>
        </p:nvSpPr>
        <p:spPr>
          <a:xfrm>
            <a:off x="2935224" y="5230368"/>
            <a:ext cx="960120" cy="411480"/>
          </a:xfrm>
          <a:prstGeom prst="rect">
            <a:avLst/>
          </a:prstGeom>
          <a:noFill/>
          <a:ln/>
        </p:spPr>
        <p:txBody>
          <a:bodyPr wrap="square" lIns="0" tIns="0" rIns="0" bIns="0" rtlCol="0" anchor="ctr"/>
          <a:lstStyle/>
          <a:p>
            <a:pPr marL="0" indent="0" algn="ctr">
              <a:lnSpc>
                <a:spcPct val="95000"/>
              </a:lnSpc>
              <a:buNone/>
            </a:pPr>
            <a:r>
              <a:rPr lang="en-US" sz="950" dirty="0">
                <a:solidFill>
                  <a:srgbClr val="FFFFFF"/>
                </a:solidFill>
                <a:latin typeface="Calibri" pitchFamily="34" charset="0"/>
                <a:ea typeface="Calibri" pitchFamily="34" charset="-122"/>
                <a:cs typeface="Calibri" pitchFamily="34" charset="-120"/>
              </a:rPr>
              <a:t>Pi configured</a:t>
            </a:r>
            <a:endParaRPr lang="en-US" sz="950" dirty="0"/>
          </a:p>
        </p:txBody>
      </p:sp>
      <p:sp>
        <p:nvSpPr>
          <p:cNvPr id="31" name="Text 29"/>
          <p:cNvSpPr/>
          <p:nvPr/>
        </p:nvSpPr>
        <p:spPr>
          <a:xfrm>
            <a:off x="4526280" y="1645920"/>
            <a:ext cx="73152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COMPLETED TASKS</a:t>
            </a:r>
            <a:endParaRPr lang="en-US" sz="1200" dirty="0"/>
          </a:p>
        </p:txBody>
      </p:sp>
      <p:sp>
        <p:nvSpPr>
          <p:cNvPr id="32" name="Shape 30"/>
          <p:cNvSpPr/>
          <p:nvPr/>
        </p:nvSpPr>
        <p:spPr>
          <a:xfrm>
            <a:off x="4526280" y="2103120"/>
            <a:ext cx="3657600" cy="676656"/>
          </a:xfrm>
          <a:prstGeom prst="roundRect">
            <a:avLst>
              <a:gd name="adj" fmla="val 9459"/>
            </a:avLst>
          </a:prstGeom>
          <a:solidFill>
            <a:srgbClr val="FFFFFF"/>
          </a:solidFill>
          <a:ln w="12700">
            <a:solidFill>
              <a:srgbClr val="E2E8F0"/>
            </a:solidFill>
            <a:prstDash val="solid"/>
          </a:ln>
        </p:spPr>
      </p:sp>
      <p:pic>
        <p:nvPicPr>
          <p:cNvPr id="33" name="Image 0" descr="preencoded.png"/>
          <p:cNvPicPr>
            <a:picLocks noChangeAspect="1"/>
          </p:cNvPicPr>
          <p:nvPr/>
        </p:nvPicPr>
        <p:blipFill>
          <a:blip r:embed="rId3"/>
          <a:stretch>
            <a:fillRect/>
          </a:stretch>
        </p:blipFill>
        <p:spPr>
          <a:xfrm>
            <a:off x="4690872" y="2304288"/>
            <a:ext cx="274320" cy="274320"/>
          </a:xfrm>
          <a:prstGeom prst="rect">
            <a:avLst/>
          </a:prstGeom>
        </p:spPr>
      </p:pic>
      <p:sp>
        <p:nvSpPr>
          <p:cNvPr id="34" name="Text 31"/>
          <p:cNvSpPr/>
          <p:nvPr/>
        </p:nvSpPr>
        <p:spPr>
          <a:xfrm>
            <a:off x="5093208" y="2103120"/>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Literature review &amp; project understanding</a:t>
            </a:r>
            <a:endParaRPr lang="en-US" sz="1200" dirty="0"/>
          </a:p>
        </p:txBody>
      </p:sp>
      <p:sp>
        <p:nvSpPr>
          <p:cNvPr id="35" name="Shape 32"/>
          <p:cNvSpPr/>
          <p:nvPr/>
        </p:nvSpPr>
        <p:spPr>
          <a:xfrm>
            <a:off x="4526280" y="2907792"/>
            <a:ext cx="3657600" cy="676656"/>
          </a:xfrm>
          <a:prstGeom prst="roundRect">
            <a:avLst>
              <a:gd name="adj" fmla="val 9459"/>
            </a:avLst>
          </a:prstGeom>
          <a:solidFill>
            <a:srgbClr val="FFFFFF"/>
          </a:solidFill>
          <a:ln w="12700">
            <a:solidFill>
              <a:srgbClr val="E2E8F0"/>
            </a:solidFill>
            <a:prstDash val="solid"/>
          </a:ln>
        </p:spPr>
      </p:sp>
      <p:pic>
        <p:nvPicPr>
          <p:cNvPr id="36" name="Image 1" descr="preencoded.png"/>
          <p:cNvPicPr>
            <a:picLocks noChangeAspect="1"/>
          </p:cNvPicPr>
          <p:nvPr/>
        </p:nvPicPr>
        <p:blipFill>
          <a:blip r:embed="rId3"/>
          <a:stretch>
            <a:fillRect/>
          </a:stretch>
        </p:blipFill>
        <p:spPr>
          <a:xfrm>
            <a:off x="4690872" y="3108960"/>
            <a:ext cx="274320" cy="274320"/>
          </a:xfrm>
          <a:prstGeom prst="rect">
            <a:avLst/>
          </a:prstGeom>
        </p:spPr>
      </p:pic>
      <p:sp>
        <p:nvSpPr>
          <p:cNvPr id="37" name="Text 33"/>
          <p:cNvSpPr/>
          <p:nvPr/>
        </p:nvSpPr>
        <p:spPr>
          <a:xfrm>
            <a:off x="5093208" y="2907792"/>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Hardware selection &amp; BOM preparation</a:t>
            </a:r>
            <a:endParaRPr lang="en-US" sz="1200" dirty="0"/>
          </a:p>
        </p:txBody>
      </p:sp>
      <p:sp>
        <p:nvSpPr>
          <p:cNvPr id="38" name="Shape 34"/>
          <p:cNvSpPr/>
          <p:nvPr/>
        </p:nvSpPr>
        <p:spPr>
          <a:xfrm>
            <a:off x="4526280" y="3712464"/>
            <a:ext cx="3657600" cy="676656"/>
          </a:xfrm>
          <a:prstGeom prst="roundRect">
            <a:avLst>
              <a:gd name="adj" fmla="val 9459"/>
            </a:avLst>
          </a:prstGeom>
          <a:solidFill>
            <a:srgbClr val="FFFFFF"/>
          </a:solidFill>
          <a:ln w="12700">
            <a:solidFill>
              <a:srgbClr val="E2E8F0"/>
            </a:solidFill>
            <a:prstDash val="solid"/>
          </a:ln>
        </p:spPr>
      </p:sp>
      <p:pic>
        <p:nvPicPr>
          <p:cNvPr id="39" name="Image 2" descr="preencoded.png"/>
          <p:cNvPicPr>
            <a:picLocks noChangeAspect="1"/>
          </p:cNvPicPr>
          <p:nvPr/>
        </p:nvPicPr>
        <p:blipFill>
          <a:blip r:embed="rId3"/>
          <a:stretch>
            <a:fillRect/>
          </a:stretch>
        </p:blipFill>
        <p:spPr>
          <a:xfrm>
            <a:off x="4690872" y="3913632"/>
            <a:ext cx="274320" cy="274320"/>
          </a:xfrm>
          <a:prstGeom prst="rect">
            <a:avLst/>
          </a:prstGeom>
        </p:spPr>
      </p:pic>
      <p:sp>
        <p:nvSpPr>
          <p:cNvPr id="40" name="Text 35"/>
          <p:cNvSpPr/>
          <p:nvPr/>
        </p:nvSpPr>
        <p:spPr>
          <a:xfrm>
            <a:off x="5093208" y="3712464"/>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CAD design of snake-robot segment</a:t>
            </a:r>
            <a:endParaRPr lang="en-US" sz="1200" dirty="0"/>
          </a:p>
        </p:txBody>
      </p:sp>
      <p:sp>
        <p:nvSpPr>
          <p:cNvPr id="41" name="Shape 36"/>
          <p:cNvSpPr/>
          <p:nvPr/>
        </p:nvSpPr>
        <p:spPr>
          <a:xfrm>
            <a:off x="4526280" y="4517136"/>
            <a:ext cx="3657600" cy="676656"/>
          </a:xfrm>
          <a:prstGeom prst="roundRect">
            <a:avLst>
              <a:gd name="adj" fmla="val 9459"/>
            </a:avLst>
          </a:prstGeom>
          <a:solidFill>
            <a:srgbClr val="FFFFFF"/>
          </a:solidFill>
          <a:ln w="12700">
            <a:solidFill>
              <a:srgbClr val="E2E8F0"/>
            </a:solidFill>
            <a:prstDash val="solid"/>
          </a:ln>
        </p:spPr>
      </p:sp>
      <p:pic>
        <p:nvPicPr>
          <p:cNvPr id="42" name="Image 3" descr="preencoded.png"/>
          <p:cNvPicPr>
            <a:picLocks noChangeAspect="1"/>
          </p:cNvPicPr>
          <p:nvPr/>
        </p:nvPicPr>
        <p:blipFill>
          <a:blip r:embed="rId3"/>
          <a:stretch>
            <a:fillRect/>
          </a:stretch>
        </p:blipFill>
        <p:spPr>
          <a:xfrm>
            <a:off x="4690872" y="4718304"/>
            <a:ext cx="274320" cy="274320"/>
          </a:xfrm>
          <a:prstGeom prst="rect">
            <a:avLst/>
          </a:prstGeom>
        </p:spPr>
      </p:pic>
      <p:sp>
        <p:nvSpPr>
          <p:cNvPr id="43" name="Text 37"/>
          <p:cNvSpPr/>
          <p:nvPr/>
        </p:nvSpPr>
        <p:spPr>
          <a:xfrm>
            <a:off x="5093208" y="4517136"/>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Assembly sized to Dynamixel XL330 dims</a:t>
            </a:r>
            <a:endParaRPr lang="en-US" sz="1200" dirty="0"/>
          </a:p>
        </p:txBody>
      </p:sp>
      <p:sp>
        <p:nvSpPr>
          <p:cNvPr id="44" name="Shape 38"/>
          <p:cNvSpPr/>
          <p:nvPr/>
        </p:nvSpPr>
        <p:spPr>
          <a:xfrm>
            <a:off x="4526280" y="5321808"/>
            <a:ext cx="3657600" cy="676656"/>
          </a:xfrm>
          <a:prstGeom prst="roundRect">
            <a:avLst>
              <a:gd name="adj" fmla="val 9459"/>
            </a:avLst>
          </a:prstGeom>
          <a:solidFill>
            <a:srgbClr val="FFFFFF"/>
          </a:solidFill>
          <a:ln w="12700">
            <a:solidFill>
              <a:srgbClr val="E2E8F0"/>
            </a:solidFill>
            <a:prstDash val="solid"/>
          </a:ln>
        </p:spPr>
      </p:sp>
      <p:pic>
        <p:nvPicPr>
          <p:cNvPr id="45" name="Image 4" descr="preencoded.png"/>
          <p:cNvPicPr>
            <a:picLocks noChangeAspect="1"/>
          </p:cNvPicPr>
          <p:nvPr/>
        </p:nvPicPr>
        <p:blipFill>
          <a:blip r:embed="rId3"/>
          <a:stretch>
            <a:fillRect/>
          </a:stretch>
        </p:blipFill>
        <p:spPr>
          <a:xfrm>
            <a:off x="4690872" y="5522976"/>
            <a:ext cx="274320" cy="274320"/>
          </a:xfrm>
          <a:prstGeom prst="rect">
            <a:avLst/>
          </a:prstGeom>
        </p:spPr>
      </p:pic>
      <p:sp>
        <p:nvSpPr>
          <p:cNvPr id="46" name="Text 39"/>
          <p:cNvSpPr/>
          <p:nvPr/>
        </p:nvSpPr>
        <p:spPr>
          <a:xfrm>
            <a:off x="5093208" y="5321808"/>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3D printing of two prototype segments</a:t>
            </a:r>
            <a:endParaRPr lang="en-US" sz="1200" dirty="0"/>
          </a:p>
        </p:txBody>
      </p:sp>
      <p:sp>
        <p:nvSpPr>
          <p:cNvPr id="47" name="Shape 40"/>
          <p:cNvSpPr/>
          <p:nvPr/>
        </p:nvSpPr>
        <p:spPr>
          <a:xfrm>
            <a:off x="8366760" y="2103120"/>
            <a:ext cx="3657600" cy="676656"/>
          </a:xfrm>
          <a:prstGeom prst="roundRect">
            <a:avLst>
              <a:gd name="adj" fmla="val 9459"/>
            </a:avLst>
          </a:prstGeom>
          <a:solidFill>
            <a:srgbClr val="FFFFFF"/>
          </a:solidFill>
          <a:ln w="12700">
            <a:solidFill>
              <a:srgbClr val="E2E8F0"/>
            </a:solidFill>
            <a:prstDash val="solid"/>
          </a:ln>
        </p:spPr>
      </p:sp>
      <p:pic>
        <p:nvPicPr>
          <p:cNvPr id="48" name="Image 5" descr="preencoded.png"/>
          <p:cNvPicPr>
            <a:picLocks noChangeAspect="1"/>
          </p:cNvPicPr>
          <p:nvPr/>
        </p:nvPicPr>
        <p:blipFill>
          <a:blip r:embed="rId3"/>
          <a:stretch>
            <a:fillRect/>
          </a:stretch>
        </p:blipFill>
        <p:spPr>
          <a:xfrm>
            <a:off x="8531352" y="2304288"/>
            <a:ext cx="274320" cy="274320"/>
          </a:xfrm>
          <a:prstGeom prst="rect">
            <a:avLst/>
          </a:prstGeom>
        </p:spPr>
      </p:pic>
      <p:sp>
        <p:nvSpPr>
          <p:cNvPr id="49" name="Text 41"/>
          <p:cNvSpPr/>
          <p:nvPr/>
        </p:nvSpPr>
        <p:spPr>
          <a:xfrm>
            <a:off x="8933688" y="2103120"/>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Raspberry Pi setup &amp; configuration</a:t>
            </a:r>
            <a:endParaRPr lang="en-US" sz="1200" dirty="0"/>
          </a:p>
        </p:txBody>
      </p:sp>
      <p:sp>
        <p:nvSpPr>
          <p:cNvPr id="50" name="Shape 42"/>
          <p:cNvSpPr/>
          <p:nvPr/>
        </p:nvSpPr>
        <p:spPr>
          <a:xfrm>
            <a:off x="8366760" y="2907792"/>
            <a:ext cx="3657600" cy="676656"/>
          </a:xfrm>
          <a:prstGeom prst="roundRect">
            <a:avLst>
              <a:gd name="adj" fmla="val 9459"/>
            </a:avLst>
          </a:prstGeom>
          <a:solidFill>
            <a:srgbClr val="FFFFFF"/>
          </a:solidFill>
          <a:ln w="12700">
            <a:solidFill>
              <a:srgbClr val="E2E8F0"/>
            </a:solidFill>
            <a:prstDash val="solid"/>
          </a:ln>
        </p:spPr>
      </p:sp>
      <p:pic>
        <p:nvPicPr>
          <p:cNvPr id="51" name="Image 6" descr="preencoded.png"/>
          <p:cNvPicPr>
            <a:picLocks noChangeAspect="1"/>
          </p:cNvPicPr>
          <p:nvPr/>
        </p:nvPicPr>
        <p:blipFill>
          <a:blip r:embed="rId3"/>
          <a:stretch>
            <a:fillRect/>
          </a:stretch>
        </p:blipFill>
        <p:spPr>
          <a:xfrm>
            <a:off x="8531352" y="3108960"/>
            <a:ext cx="274320" cy="274320"/>
          </a:xfrm>
          <a:prstGeom prst="rect">
            <a:avLst/>
          </a:prstGeom>
        </p:spPr>
      </p:pic>
      <p:sp>
        <p:nvSpPr>
          <p:cNvPr id="52" name="Text 43"/>
          <p:cNvSpPr/>
          <p:nvPr/>
        </p:nvSpPr>
        <p:spPr>
          <a:xfrm>
            <a:off x="8933688" y="2907792"/>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Wi-Fi connectivity testing on the Pi</a:t>
            </a:r>
            <a:endParaRPr lang="en-US" sz="1200" dirty="0"/>
          </a:p>
        </p:txBody>
      </p:sp>
      <p:sp>
        <p:nvSpPr>
          <p:cNvPr id="53" name="Shape 44"/>
          <p:cNvSpPr/>
          <p:nvPr/>
        </p:nvSpPr>
        <p:spPr>
          <a:xfrm>
            <a:off x="8366760" y="3712464"/>
            <a:ext cx="3657600" cy="676656"/>
          </a:xfrm>
          <a:prstGeom prst="roundRect">
            <a:avLst>
              <a:gd name="adj" fmla="val 9459"/>
            </a:avLst>
          </a:prstGeom>
          <a:solidFill>
            <a:srgbClr val="FFFFFF"/>
          </a:solidFill>
          <a:ln w="12700">
            <a:solidFill>
              <a:srgbClr val="E2E8F0"/>
            </a:solidFill>
            <a:prstDash val="solid"/>
          </a:ln>
        </p:spPr>
      </p:sp>
      <p:pic>
        <p:nvPicPr>
          <p:cNvPr id="54" name="Image 7" descr="preencoded.png"/>
          <p:cNvPicPr>
            <a:picLocks noChangeAspect="1"/>
          </p:cNvPicPr>
          <p:nvPr/>
        </p:nvPicPr>
        <p:blipFill>
          <a:blip r:embed="rId3"/>
          <a:stretch>
            <a:fillRect/>
          </a:stretch>
        </p:blipFill>
        <p:spPr>
          <a:xfrm>
            <a:off x="8531352" y="3913632"/>
            <a:ext cx="274320" cy="274320"/>
          </a:xfrm>
          <a:prstGeom prst="rect">
            <a:avLst/>
          </a:prstGeom>
        </p:spPr>
      </p:pic>
      <p:sp>
        <p:nvSpPr>
          <p:cNvPr id="55" name="Text 45"/>
          <p:cNvSpPr/>
          <p:nvPr/>
        </p:nvSpPr>
        <p:spPr>
          <a:xfrm>
            <a:off x="8933688" y="3712464"/>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Basic Raspberry Pi lab projects executed</a:t>
            </a:r>
            <a:endParaRPr lang="en-US" sz="1200" dirty="0"/>
          </a:p>
        </p:txBody>
      </p:sp>
      <p:sp>
        <p:nvSpPr>
          <p:cNvPr id="56" name="Shape 46"/>
          <p:cNvSpPr/>
          <p:nvPr/>
        </p:nvSpPr>
        <p:spPr>
          <a:xfrm>
            <a:off x="8366760" y="4517136"/>
            <a:ext cx="3657600" cy="676656"/>
          </a:xfrm>
          <a:prstGeom prst="roundRect">
            <a:avLst>
              <a:gd name="adj" fmla="val 9459"/>
            </a:avLst>
          </a:prstGeom>
          <a:solidFill>
            <a:srgbClr val="FFFFFF"/>
          </a:solidFill>
          <a:ln w="12700">
            <a:solidFill>
              <a:srgbClr val="E2E8F0"/>
            </a:solidFill>
            <a:prstDash val="solid"/>
          </a:ln>
        </p:spPr>
      </p:sp>
      <p:pic>
        <p:nvPicPr>
          <p:cNvPr id="57" name="Image 8" descr="preencoded.png"/>
          <p:cNvPicPr>
            <a:picLocks noChangeAspect="1"/>
          </p:cNvPicPr>
          <p:nvPr/>
        </p:nvPicPr>
        <p:blipFill>
          <a:blip r:embed="rId3"/>
          <a:stretch>
            <a:fillRect/>
          </a:stretch>
        </p:blipFill>
        <p:spPr>
          <a:xfrm>
            <a:off x="8531352" y="4718304"/>
            <a:ext cx="274320" cy="274320"/>
          </a:xfrm>
          <a:prstGeom prst="rect">
            <a:avLst/>
          </a:prstGeom>
        </p:spPr>
      </p:pic>
      <p:sp>
        <p:nvSpPr>
          <p:cNvPr id="58" name="Text 47"/>
          <p:cNvSpPr/>
          <p:nvPr/>
        </p:nvSpPr>
        <p:spPr>
          <a:xfrm>
            <a:off x="8933688" y="4517136"/>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GitHub repository created &amp; maintained</a:t>
            </a:r>
            <a:endParaRPr lang="en-US" sz="1200" dirty="0"/>
          </a:p>
        </p:txBody>
      </p:sp>
      <p:sp>
        <p:nvSpPr>
          <p:cNvPr id="59" name="Shape 48"/>
          <p:cNvSpPr/>
          <p:nvPr/>
        </p:nvSpPr>
        <p:spPr>
          <a:xfrm>
            <a:off x="8366760" y="5321808"/>
            <a:ext cx="3657600" cy="676656"/>
          </a:xfrm>
          <a:prstGeom prst="roundRect">
            <a:avLst>
              <a:gd name="adj" fmla="val 9459"/>
            </a:avLst>
          </a:prstGeom>
          <a:solidFill>
            <a:srgbClr val="FFFFFF"/>
          </a:solidFill>
          <a:ln w="12700">
            <a:solidFill>
              <a:srgbClr val="E2E8F0"/>
            </a:solidFill>
            <a:prstDash val="solid"/>
          </a:ln>
        </p:spPr>
      </p:sp>
      <p:pic>
        <p:nvPicPr>
          <p:cNvPr id="60" name="Image 9" descr="preencoded.png"/>
          <p:cNvPicPr>
            <a:picLocks noChangeAspect="1"/>
          </p:cNvPicPr>
          <p:nvPr/>
        </p:nvPicPr>
        <p:blipFill>
          <a:blip r:embed="rId3"/>
          <a:stretch>
            <a:fillRect/>
          </a:stretch>
        </p:blipFill>
        <p:spPr>
          <a:xfrm>
            <a:off x="8531352" y="5522976"/>
            <a:ext cx="274320" cy="274320"/>
          </a:xfrm>
          <a:prstGeom prst="rect">
            <a:avLst/>
          </a:prstGeom>
        </p:spPr>
      </p:pic>
      <p:sp>
        <p:nvSpPr>
          <p:cNvPr id="61" name="Text 49"/>
          <p:cNvSpPr/>
          <p:nvPr/>
        </p:nvSpPr>
        <p:spPr>
          <a:xfrm>
            <a:off x="8933688" y="5321808"/>
            <a:ext cx="2944368" cy="676656"/>
          </a:xfrm>
          <a:prstGeom prst="rect">
            <a:avLst/>
          </a:prstGeom>
          <a:noFill/>
          <a:ln/>
        </p:spPr>
        <p:txBody>
          <a:bodyPr wrap="square" lIns="0" tIns="0" rIns="0" bIns="0" rtlCol="0" anchor="ctr"/>
          <a:lstStyle/>
          <a:p>
            <a:pPr marL="0" indent="0">
              <a:lnSpc>
                <a:spcPct val="98000"/>
              </a:lnSpc>
              <a:buNone/>
            </a:pPr>
            <a:r>
              <a:rPr lang="en-US" sz="1200" dirty="0">
                <a:solidFill>
                  <a:srgbClr val="16223A"/>
                </a:solidFill>
                <a:latin typeface="Calibri" pitchFamily="34" charset="0"/>
                <a:ea typeface="Calibri" pitchFamily="34" charset="-122"/>
                <a:cs typeface="Calibri" pitchFamily="34" charset="-120"/>
              </a:rPr>
              <a:t>Procurement process initiated</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6F8FB"/>
        </a:solidFill>
        <a:effectLst/>
      </p:bgPr>
    </p:bg>
    <p:spTree>
      <p:nvGrpSpPr>
        <p:cNvPr id="1" name=""/>
        <p:cNvGrpSpPr/>
        <p:nvPr/>
      </p:nvGrpSpPr>
      <p:grpSpPr>
        <a:xfrm>
          <a:off x="0" y="0"/>
          <a:ext cx="0" cy="0"/>
          <a:chOff x="0" y="0"/>
          <a:chExt cx="0" cy="0"/>
        </a:xfrm>
      </p:grpSpPr>
      <p:sp>
        <p:nvSpPr>
          <p:cNvPr id="400" name="PwrBlock"/>
          <p:cNvSpPr/>
          <p:nvPr/>
        </p:nvSpPr>
        <p:spPr>
          <a:xfrm>
            <a:off x="635000" y="1143000"/>
            <a:ext cx="3683000" cy="609600"/>
          </a:xfrm>
          <a:prstGeom prst="rect">
            <a:avLst/>
          </a:prstGeom>
          <a:solidFill>
            <a:srgbClr val="E8F5EE"/>
          </a:solidFill>
          <a:ln w="19050">
            <a:solidFill>
              <a:srgbClr val="2E8A5A"/>
            </a:solidFill>
          </a:ln>
        </p:spPr>
        <p:txBody>
          <a:bodyPr/>
          <a:lstStyle/>
          <a:p>
            <a:endParaRPr/>
          </a:p>
        </p:txBody>
      </p:sp>
      <p:sp>
        <p:nvSpPr>
          <p:cNvPr id="401" name="PwrLabel"/>
          <p:cNvSpPr/>
          <p:nvPr/>
        </p:nvSpPr>
        <p:spPr>
          <a:xfrm>
            <a:off x="635000" y="1143000"/>
            <a:ext cx="3683000" cy="609600"/>
          </a:xfrm>
          <a:prstGeom prst="rect">
            <a:avLst/>
          </a:prstGeom>
          <a:noFill/>
          <a:ln>
            <a:noFill/>
          </a:ln>
        </p:spPr>
        <p:txBody>
          <a:bodyPr wrap="square" rtlCol="0" anchor="ctr"/>
          <a:lstStyle/>
          <a:p>
            <a:pPr marL="0" indent="0" algn="ctr">
              <a:buNone/>
            </a:pPr>
            <a:r>
              <a:rPr lang="en-US" sz="1100" b="1" dirty="0">
                <a:solidFill>
                  <a:srgbClr val="1A7A4A"/>
                </a:solidFill>
                <a:latin typeface="Calibri" pitchFamily="34" charset="0"/>
              </a:rPr>
              <a:t>Power Supply</a:t>
            </a:r>
          </a:p>
        </p:txBody>
      </p:sp>
      <p:sp>
        <p:nvSpPr>
          <p:cNvPr id="402" name="Arr1"/>
          <p:cNvSpPr/>
          <p:nvPr/>
        </p:nvSpPr>
        <p:spPr>
          <a:xfrm>
            <a:off x="2463800" y="1752600"/>
            <a:ext cx="25400" cy="203200"/>
          </a:xfrm>
          <a:prstGeom prst="rect">
            <a:avLst/>
          </a:prstGeom>
          <a:solidFill>
            <a:srgbClr val="4A6080"/>
          </a:solidFill>
          <a:ln>
            <a:noFill/>
          </a:ln>
        </p:spPr>
        <p:txBody>
          <a:bodyPr/>
          <a:lstStyle/>
          <a:p>
            <a:endParaRPr/>
          </a:p>
        </p:txBody>
      </p:sp>
      <p:sp>
        <p:nvSpPr>
          <p:cNvPr id="403" name="ArrH1"/>
          <p:cNvSpPr/>
          <p:nvPr/>
        </p:nvSpPr>
        <p:spPr>
          <a:xfrm flipV="1">
            <a:off x="2413000" y="1879600"/>
            <a:ext cx="127000" cy="101600"/>
          </a:xfrm>
          <a:prstGeom prst="triangle">
            <a:avLst/>
          </a:prstGeom>
          <a:solidFill>
            <a:srgbClr val="4A6080"/>
          </a:solidFill>
          <a:ln>
            <a:noFill/>
          </a:ln>
        </p:spPr>
        <p:txBody>
          <a:bodyPr/>
          <a:lstStyle/>
          <a:p>
            <a:endParaRPr/>
          </a:p>
        </p:txBody>
      </p:sp>
      <p:sp>
        <p:nvSpPr>
          <p:cNvPr id="404" name="RPiBlock"/>
          <p:cNvSpPr/>
          <p:nvPr/>
        </p:nvSpPr>
        <p:spPr>
          <a:xfrm>
            <a:off x="635000" y="1981200"/>
            <a:ext cx="3683000" cy="609600"/>
          </a:xfrm>
          <a:prstGeom prst="rect">
            <a:avLst/>
          </a:prstGeom>
          <a:solidFill>
            <a:srgbClr val="E8F5EE"/>
          </a:solidFill>
          <a:ln w="25400">
            <a:solidFill>
              <a:srgbClr val="2E8A5A"/>
            </a:solidFill>
          </a:ln>
        </p:spPr>
        <p:txBody>
          <a:bodyPr/>
          <a:lstStyle/>
          <a:p>
            <a:endParaRPr/>
          </a:p>
        </p:txBody>
      </p:sp>
      <p:sp>
        <p:nvSpPr>
          <p:cNvPr id="405" name="RPiLabel"/>
          <p:cNvSpPr/>
          <p:nvPr/>
        </p:nvSpPr>
        <p:spPr>
          <a:xfrm>
            <a:off x="635000" y="1981200"/>
            <a:ext cx="3683000" cy="609600"/>
          </a:xfrm>
          <a:prstGeom prst="rect">
            <a:avLst/>
          </a:prstGeom>
          <a:noFill/>
          <a:ln>
            <a:noFill/>
          </a:ln>
        </p:spPr>
        <p:txBody>
          <a:bodyPr wrap="square" rtlCol="0" anchor="ctr"/>
          <a:lstStyle/>
          <a:p>
            <a:pPr marL="0" indent="0" algn="ctr">
              <a:buNone/>
            </a:pPr>
            <a:r>
              <a:rPr lang="en-US" sz="1050" b="1" dirty="0">
                <a:solidFill>
                  <a:srgbClr val="1A7A4A"/>
                </a:solidFill>
                <a:latin typeface="Calibri" pitchFamily="34" charset="0"/>
              </a:rPr>
              <a:t>Raspberry Pi 5  [Central Controller]</a:t>
            </a:r>
          </a:p>
        </p:txBody>
      </p:sp>
      <p:sp>
        <p:nvSpPr>
          <p:cNvPr id="406" name="Arr2"/>
          <p:cNvSpPr/>
          <p:nvPr/>
        </p:nvSpPr>
        <p:spPr>
          <a:xfrm>
            <a:off x="2463800" y="2590800"/>
            <a:ext cx="25400" cy="203200"/>
          </a:xfrm>
          <a:prstGeom prst="rect">
            <a:avLst/>
          </a:prstGeom>
          <a:solidFill>
            <a:srgbClr val="4A6080"/>
          </a:solidFill>
          <a:ln>
            <a:noFill/>
          </a:ln>
        </p:spPr>
        <p:txBody>
          <a:bodyPr/>
          <a:lstStyle/>
          <a:p>
            <a:endParaRPr/>
          </a:p>
        </p:txBody>
      </p:sp>
      <p:sp>
        <p:nvSpPr>
          <p:cNvPr id="407" name="ArrH2"/>
          <p:cNvSpPr/>
          <p:nvPr/>
        </p:nvSpPr>
        <p:spPr>
          <a:xfrm flipV="1">
            <a:off x="2413000" y="2717800"/>
            <a:ext cx="127000" cy="101600"/>
          </a:xfrm>
          <a:prstGeom prst="triangle">
            <a:avLst/>
          </a:prstGeom>
          <a:solidFill>
            <a:srgbClr val="4A6080"/>
          </a:solidFill>
          <a:ln>
            <a:noFill/>
          </a:ln>
        </p:spPr>
        <p:txBody>
          <a:bodyPr/>
          <a:lstStyle/>
          <a:p>
            <a:endParaRPr/>
          </a:p>
        </p:txBody>
      </p:sp>
      <p:sp>
        <p:nvSpPr>
          <p:cNvPr id="408" name="CommBlock"/>
          <p:cNvSpPr/>
          <p:nvPr/>
        </p:nvSpPr>
        <p:spPr>
          <a:xfrm>
            <a:off x="635000" y="2819400"/>
            <a:ext cx="3683000" cy="609600"/>
          </a:xfrm>
          <a:prstGeom prst="rect">
            <a:avLst/>
          </a:prstGeom>
          <a:solidFill>
            <a:srgbClr val="E8F0FA"/>
          </a:solidFill>
          <a:ln w="19050">
            <a:solidFill>
              <a:srgbClr val="2563A8"/>
            </a:solidFill>
          </a:ln>
        </p:spPr>
        <p:txBody>
          <a:bodyPr/>
          <a:lstStyle/>
          <a:p>
            <a:endParaRPr/>
          </a:p>
        </p:txBody>
      </p:sp>
      <p:sp>
        <p:nvSpPr>
          <p:cNvPr id="409" name="CommLabel"/>
          <p:cNvSpPr/>
          <p:nvPr/>
        </p:nvSpPr>
        <p:spPr>
          <a:xfrm>
            <a:off x="635000" y="28194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Communication Layer  (U2D2 / UART)</a:t>
            </a:r>
          </a:p>
        </p:txBody>
      </p:sp>
      <p:sp>
        <p:nvSpPr>
          <p:cNvPr id="410" name="Arr3"/>
          <p:cNvSpPr/>
          <p:nvPr/>
        </p:nvSpPr>
        <p:spPr>
          <a:xfrm>
            <a:off x="2463800" y="3429000"/>
            <a:ext cx="25400" cy="203200"/>
          </a:xfrm>
          <a:prstGeom prst="rect">
            <a:avLst/>
          </a:prstGeom>
          <a:solidFill>
            <a:srgbClr val="4A6080"/>
          </a:solidFill>
          <a:ln>
            <a:noFill/>
          </a:ln>
        </p:spPr>
        <p:txBody>
          <a:bodyPr/>
          <a:lstStyle/>
          <a:p>
            <a:endParaRPr/>
          </a:p>
        </p:txBody>
      </p:sp>
      <p:sp>
        <p:nvSpPr>
          <p:cNvPr id="411" name="ArrH3"/>
          <p:cNvSpPr/>
          <p:nvPr/>
        </p:nvSpPr>
        <p:spPr>
          <a:xfrm flipV="1">
            <a:off x="2413000" y="3556000"/>
            <a:ext cx="127000" cy="101600"/>
          </a:xfrm>
          <a:prstGeom prst="triangle">
            <a:avLst/>
          </a:prstGeom>
          <a:solidFill>
            <a:srgbClr val="4A6080"/>
          </a:solidFill>
          <a:ln>
            <a:noFill/>
          </a:ln>
        </p:spPr>
        <p:txBody>
          <a:bodyPr/>
          <a:lstStyle/>
          <a:p>
            <a:endParaRPr/>
          </a:p>
        </p:txBody>
      </p:sp>
      <p:sp>
        <p:nvSpPr>
          <p:cNvPr id="412" name="DynBlock"/>
          <p:cNvSpPr/>
          <p:nvPr/>
        </p:nvSpPr>
        <p:spPr>
          <a:xfrm>
            <a:off x="635000" y="3657600"/>
            <a:ext cx="3683000" cy="609600"/>
          </a:xfrm>
          <a:prstGeom prst="rect">
            <a:avLst/>
          </a:prstGeom>
          <a:solidFill>
            <a:srgbClr val="E8F0FA"/>
          </a:solidFill>
          <a:ln w="19050">
            <a:solidFill>
              <a:srgbClr val="2563A8"/>
            </a:solidFill>
          </a:ln>
        </p:spPr>
        <p:txBody>
          <a:bodyPr/>
          <a:lstStyle/>
          <a:p>
            <a:endParaRPr/>
          </a:p>
        </p:txBody>
      </p:sp>
      <p:sp>
        <p:nvSpPr>
          <p:cNvPr id="413" name="DynLabel"/>
          <p:cNvSpPr/>
          <p:nvPr/>
        </p:nvSpPr>
        <p:spPr>
          <a:xfrm>
            <a:off x="635000" y="3657600"/>
            <a:ext cx="3683000" cy="609600"/>
          </a:xfrm>
          <a:prstGeom prst="rect">
            <a:avLst/>
          </a:prstGeom>
          <a:noFill/>
          <a:ln>
            <a:noFill/>
          </a:ln>
        </p:spPr>
        <p:txBody>
          <a:bodyPr wrap="square" rtlCol="0" anchor="ctr"/>
          <a:lstStyle/>
          <a:p>
            <a:pPr marL="0" indent="0" algn="ctr">
              <a:buNone/>
            </a:pPr>
            <a:r>
              <a:rPr lang="en-US" sz="1050" b="1" dirty="0">
                <a:solidFill>
                  <a:srgbClr val="1A5C8A"/>
                </a:solidFill>
                <a:latin typeface="Calibri" pitchFamily="34" charset="0"/>
              </a:rPr>
              <a:t>Dynamixel Motor Network</a:t>
            </a:r>
          </a:p>
        </p:txBody>
      </p:sp>
      <p:sp>
        <p:nvSpPr>
          <p:cNvPr id="414" name="Arr4"/>
          <p:cNvSpPr/>
          <p:nvPr/>
        </p:nvSpPr>
        <p:spPr>
          <a:xfrm>
            <a:off x="2463800" y="4267200"/>
            <a:ext cx="25400" cy="203200"/>
          </a:xfrm>
          <a:prstGeom prst="rect">
            <a:avLst/>
          </a:prstGeom>
          <a:solidFill>
            <a:srgbClr val="4A6080"/>
          </a:solidFill>
          <a:ln>
            <a:noFill/>
          </a:ln>
        </p:spPr>
        <p:txBody>
          <a:bodyPr/>
          <a:lstStyle/>
          <a:p>
            <a:endParaRPr/>
          </a:p>
        </p:txBody>
      </p:sp>
      <p:sp>
        <p:nvSpPr>
          <p:cNvPr id="415" name="ArrH4"/>
          <p:cNvSpPr/>
          <p:nvPr/>
        </p:nvSpPr>
        <p:spPr>
          <a:xfrm flipV="1">
            <a:off x="2413000" y="4394200"/>
            <a:ext cx="127000" cy="101600"/>
          </a:xfrm>
          <a:prstGeom prst="triangle">
            <a:avLst/>
          </a:prstGeom>
          <a:solidFill>
            <a:srgbClr val="4A6080"/>
          </a:solidFill>
          <a:ln>
            <a:noFill/>
          </a:ln>
        </p:spPr>
        <p:txBody>
          <a:bodyPr/>
          <a:lstStyle/>
          <a:p>
            <a:endParaRPr/>
          </a:p>
        </p:txBody>
      </p:sp>
      <p:sp>
        <p:nvSpPr>
          <p:cNvPr id="416" name="RobBlock"/>
          <p:cNvSpPr/>
          <p:nvPr/>
        </p:nvSpPr>
        <p:spPr>
          <a:xfrm>
            <a:off x="635000" y="4495800"/>
            <a:ext cx="3683000" cy="609600"/>
          </a:xfrm>
          <a:prstGeom prst="rect">
            <a:avLst/>
          </a:prstGeom>
          <a:solidFill>
            <a:srgbClr val="E8F0FA"/>
          </a:solidFill>
          <a:ln w="19050">
            <a:solidFill>
              <a:srgbClr val="2563A8"/>
            </a:solidFill>
          </a:ln>
        </p:spPr>
        <p:txBody>
          <a:bodyPr/>
          <a:lstStyle/>
          <a:p>
            <a:endParaRPr/>
          </a:p>
        </p:txBody>
      </p:sp>
      <p:sp>
        <p:nvSpPr>
          <p:cNvPr id="417" name="RobLabel"/>
          <p:cNvSpPr/>
          <p:nvPr/>
        </p:nvSpPr>
        <p:spPr>
          <a:xfrm>
            <a:off x="635000" y="44958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Robot Segments  (10 × servo joints)</a:t>
            </a:r>
          </a:p>
        </p:txBody>
      </p:sp>
      <p:sp>
        <p:nvSpPr>
          <p:cNvPr id="420" name="CABlock"/>
          <p:cNvSpPr/>
          <p:nvPr/>
        </p:nvSpPr>
        <p:spPr>
          <a:xfrm>
            <a:off x="4826000" y="2019300"/>
            <a:ext cx="2159000" cy="533400"/>
          </a:xfrm>
          <a:prstGeom prst="rect">
            <a:avLst/>
          </a:prstGeom>
          <a:solidFill>
            <a:srgbClr val="E8F5EE"/>
          </a:solidFill>
          <a:ln w="19050">
            <a:solidFill>
              <a:srgbClr val="2E8A5A"/>
            </a:solidFill>
          </a:ln>
        </p:spPr>
        <p:txBody>
          <a:bodyPr/>
          <a:lstStyle/>
          <a:p>
            <a:endParaRPr/>
          </a:p>
        </p:txBody>
      </p:sp>
      <p:sp>
        <p:nvSpPr>
          <p:cNvPr id="421" name="CALabel"/>
          <p:cNvSpPr/>
          <p:nvPr/>
        </p:nvSpPr>
        <p:spPr>
          <a:xfrm>
            <a:off x="4826000" y="2019300"/>
            <a:ext cx="2159000" cy="533400"/>
          </a:xfrm>
          <a:prstGeom prst="rect">
            <a:avLst/>
          </a:prstGeom>
          <a:noFill/>
          <a:ln>
            <a:noFill/>
          </a:ln>
        </p:spPr>
        <p:txBody>
          <a:bodyPr wrap="square" rtlCol="0" anchor="ctr"/>
          <a:lstStyle/>
          <a:p>
            <a:pPr marL="0" indent="0" algn="ctr">
              <a:buNone/>
            </a:pPr>
            <a:r>
              <a:rPr lang="en-US" sz="1000" b="1" dirty="0">
                <a:solidFill>
                  <a:srgbClr val="1A7A4A"/>
                </a:solidFill>
                <a:latin typeface="Calibri" pitchFamily="34" charset="0"/>
              </a:rPr>
              <a:t>Control Algorithms</a:t>
            </a:r>
          </a:p>
        </p:txBody>
      </p:sp>
      <p:sp>
        <p:nvSpPr>
          <p:cNvPr id="422" name="HConn1"/>
          <p:cNvSpPr/>
          <p:nvPr/>
        </p:nvSpPr>
        <p:spPr>
          <a:xfrm>
            <a:off x="4318000" y="2273300"/>
            <a:ext cx="508000" cy="25400"/>
          </a:xfrm>
          <a:prstGeom prst="rect">
            <a:avLst/>
          </a:prstGeom>
          <a:solidFill>
            <a:srgbClr val="4A6080"/>
          </a:solidFill>
          <a:ln>
            <a:noFill/>
          </a:ln>
        </p:spPr>
        <p:txBody>
          <a:bodyPr/>
          <a:lstStyle/>
          <a:p>
            <a:endParaRPr/>
          </a:p>
        </p:txBody>
      </p:sp>
      <p:sp>
        <p:nvSpPr>
          <p:cNvPr id="451" name="SensorBox"/>
          <p:cNvSpPr/>
          <p:nvPr/>
        </p:nvSpPr>
        <p:spPr>
          <a:xfrm>
            <a:off x="7620000" y="1308100"/>
            <a:ext cx="2362200" cy="533400"/>
          </a:xfrm>
          <a:prstGeom prst="rect">
            <a:avLst/>
          </a:prstGeom>
          <a:solidFill>
            <a:srgbClr val="EAEEF4"/>
          </a:solidFill>
          <a:ln w="19050">
            <a:solidFill>
              <a:srgbClr val="8A96A8"/>
            </a:solidFill>
            <a:prstDash val="dash"/>
          </a:ln>
        </p:spPr>
        <p:txBody>
          <a:bodyPr/>
          <a:lstStyle/>
          <a:p>
            <a:endParaRPr/>
          </a:p>
        </p:txBody>
      </p:sp>
      <p:sp>
        <p:nvSpPr>
          <p:cNvPr id="452" name="SensorLabel"/>
          <p:cNvSpPr/>
          <p:nvPr/>
        </p:nvSpPr>
        <p:spPr>
          <a:xfrm>
            <a:off x="7620000" y="13081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IMU / Force Sensors</a:t>
            </a:r>
          </a:p>
        </p:txBody>
      </p:sp>
      <p:sp>
        <p:nvSpPr>
          <p:cNvPr id="453" name="CamBox"/>
          <p:cNvSpPr/>
          <p:nvPr/>
        </p:nvSpPr>
        <p:spPr>
          <a:xfrm>
            <a:off x="7620000" y="1968500"/>
            <a:ext cx="2362200" cy="533400"/>
          </a:xfrm>
          <a:prstGeom prst="rect">
            <a:avLst/>
          </a:prstGeom>
          <a:solidFill>
            <a:srgbClr val="EAEEF4"/>
          </a:solidFill>
          <a:ln w="19050">
            <a:solidFill>
              <a:srgbClr val="8A96A8"/>
            </a:solidFill>
            <a:prstDash val="dash"/>
          </a:ln>
        </p:spPr>
        <p:txBody>
          <a:bodyPr/>
          <a:lstStyle/>
          <a:p>
            <a:endParaRPr/>
          </a:p>
        </p:txBody>
      </p:sp>
      <p:sp>
        <p:nvSpPr>
          <p:cNvPr id="454" name="CamLabel"/>
          <p:cNvSpPr/>
          <p:nvPr/>
        </p:nvSpPr>
        <p:spPr>
          <a:xfrm>
            <a:off x="7620000" y="19685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Camera Module</a:t>
            </a:r>
          </a:p>
        </p:txBody>
      </p:sp>
      <p:sp>
        <p:nvSpPr>
          <p:cNvPr id="455" name="WirelessBox"/>
          <p:cNvSpPr/>
          <p:nvPr/>
        </p:nvSpPr>
        <p:spPr>
          <a:xfrm>
            <a:off x="7620000" y="2628900"/>
            <a:ext cx="2362200" cy="533400"/>
          </a:xfrm>
          <a:prstGeom prst="rect">
            <a:avLst/>
          </a:prstGeom>
          <a:solidFill>
            <a:srgbClr val="EAEEF4"/>
          </a:solidFill>
          <a:ln w="19050">
            <a:solidFill>
              <a:srgbClr val="8A96A8"/>
            </a:solidFill>
            <a:prstDash val="dash"/>
          </a:ln>
        </p:spPr>
        <p:txBody>
          <a:bodyPr/>
          <a:lstStyle/>
          <a:p>
            <a:endParaRPr/>
          </a:p>
        </p:txBody>
      </p:sp>
      <p:sp>
        <p:nvSpPr>
          <p:cNvPr id="456" name="WirelessLabel"/>
          <p:cNvSpPr/>
          <p:nvPr/>
        </p:nvSpPr>
        <p:spPr>
          <a:xfrm>
            <a:off x="7620000" y="26289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Wireless Control Module</a:t>
            </a:r>
          </a:p>
        </p:txBody>
      </p:sp>
      <p:sp>
        <p:nvSpPr>
          <p:cNvPr id="460" name="FutConn1"/>
          <p:cNvSpPr/>
          <p:nvPr/>
        </p:nvSpPr>
        <p:spPr>
          <a:xfrm>
            <a:off x="4318000" y="3111500"/>
            <a:ext cx="3302000" cy="25400"/>
          </a:xfrm>
          <a:prstGeom prst="rect">
            <a:avLst/>
          </a:prstGeom>
          <a:solidFill>
            <a:srgbClr val="9AACBE"/>
          </a:solidFill>
          <a:ln>
            <a:noFill/>
          </a:ln>
        </p:spPr>
        <p:txBody>
          <a:bodyPr/>
          <a:lstStyle/>
          <a:p>
            <a:endParaRPr/>
          </a:p>
        </p:txBody>
      </p:sp>
      <p:sp>
        <p:nvSpPr>
          <p:cNvPr id="470" name="LegHeader"/>
          <p:cNvSpPr/>
          <p:nvPr/>
        </p:nvSpPr>
        <p:spPr>
          <a:xfrm>
            <a:off x="7620000" y="4546600"/>
            <a:ext cx="2286000" cy="203200"/>
          </a:xfrm>
          <a:prstGeom prst="rect">
            <a:avLst/>
          </a:prstGeom>
          <a:noFill/>
          <a:ln>
            <a:noFill/>
          </a:ln>
        </p:spPr>
        <p:txBody>
          <a:bodyPr wrap="square" rtlCol="0" anchor="ctr"/>
          <a:lstStyle/>
          <a:p>
            <a:pPr marL="0" indent="0" algn="l">
              <a:buNone/>
            </a:pPr>
            <a:r>
              <a:rPr lang="en-US" sz="1000" b="1" dirty="0">
                <a:solidFill>
                  <a:srgbClr val="334860"/>
                </a:solidFill>
                <a:latin typeface="Calibri" pitchFamily="34" charset="0"/>
              </a:rPr>
              <a:t>LEGEND</a:t>
            </a:r>
          </a:p>
        </p:txBody>
      </p:sp>
      <p:sp>
        <p:nvSpPr>
          <p:cNvPr id="471" name="LegGreen"/>
          <p:cNvSpPr/>
          <p:nvPr/>
        </p:nvSpPr>
        <p:spPr>
          <a:xfrm>
            <a:off x="7620000" y="4775200"/>
            <a:ext cx="177800" cy="177800"/>
          </a:xfrm>
          <a:prstGeom prst="rect">
            <a:avLst/>
          </a:prstGeom>
          <a:solidFill>
            <a:srgbClr val="E8F5EE"/>
          </a:solidFill>
          <a:ln w="12700">
            <a:solidFill>
              <a:srgbClr val="2E8A5A"/>
            </a:solidFill>
          </a:ln>
        </p:spPr>
        <p:txBody>
          <a:bodyPr/>
          <a:lstStyle/>
          <a:p>
            <a:endParaRPr/>
          </a:p>
        </p:txBody>
      </p:sp>
      <p:sp>
        <p:nvSpPr>
          <p:cNvPr id="472" name="LegGreenTxt"/>
          <p:cNvSpPr/>
          <p:nvPr/>
        </p:nvSpPr>
        <p:spPr>
          <a:xfrm>
            <a:off x="7848600" y="47498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Implemented</a:t>
            </a:r>
          </a:p>
        </p:txBody>
      </p:sp>
      <p:sp>
        <p:nvSpPr>
          <p:cNvPr id="473" name="LegBlue"/>
          <p:cNvSpPr/>
          <p:nvPr/>
        </p:nvSpPr>
        <p:spPr>
          <a:xfrm>
            <a:off x="7620000" y="5003800"/>
            <a:ext cx="177800" cy="177800"/>
          </a:xfrm>
          <a:prstGeom prst="rect">
            <a:avLst/>
          </a:prstGeom>
          <a:solidFill>
            <a:srgbClr val="E8F0FA"/>
          </a:solidFill>
          <a:ln w="12700">
            <a:solidFill>
              <a:srgbClr val="2563A8"/>
            </a:solidFill>
          </a:ln>
        </p:spPr>
        <p:txBody>
          <a:bodyPr/>
          <a:lstStyle/>
          <a:p>
            <a:endParaRPr/>
          </a:p>
        </p:txBody>
      </p:sp>
      <p:sp>
        <p:nvSpPr>
          <p:cNvPr id="474" name="LegBlueTxt"/>
          <p:cNvSpPr/>
          <p:nvPr/>
        </p:nvSpPr>
        <p:spPr>
          <a:xfrm>
            <a:off x="7848600" y="49784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In Progress</a:t>
            </a:r>
          </a:p>
        </p:txBody>
      </p:sp>
      <p:sp>
        <p:nvSpPr>
          <p:cNvPr id="475" name="LegGrey"/>
          <p:cNvSpPr/>
          <p:nvPr/>
        </p:nvSpPr>
        <p:spPr>
          <a:xfrm>
            <a:off x="7620000" y="5232400"/>
            <a:ext cx="177800" cy="177800"/>
          </a:xfrm>
          <a:prstGeom prst="rect">
            <a:avLst/>
          </a:prstGeom>
          <a:noFill/>
          <a:ln w="19050">
            <a:solidFill>
              <a:srgbClr val="8A96A8"/>
            </a:solidFill>
            <a:prstDash val="dash"/>
          </a:ln>
        </p:spPr>
        <p:txBody>
          <a:bodyPr/>
          <a:lstStyle/>
          <a:p>
            <a:endParaRPr/>
          </a:p>
        </p:txBody>
      </p:sp>
      <p:sp>
        <p:nvSpPr>
          <p:cNvPr id="476" name="LegGreyTxt"/>
          <p:cNvSpPr/>
          <p:nvPr/>
        </p:nvSpPr>
        <p:spPr>
          <a:xfrm>
            <a:off x="7848600" y="5207000"/>
            <a:ext cx="2159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Planned Future Work</a:t>
            </a:r>
          </a:p>
        </p:txBody>
      </p:sp>
      <p:sp>
        <p:nvSpPr>
          <p:cNvPr id="480" name="SepLine"/>
          <p:cNvSpPr/>
          <p:nvPr/>
        </p:nvSpPr>
        <p:spPr>
          <a:xfrm>
            <a:off x="558800" y="5511800"/>
            <a:ext cx="11049000" cy="12700"/>
          </a:xfrm>
          <a:prstGeom prst="rect">
            <a:avLst/>
          </a:prstGeom>
          <a:solidFill>
            <a:srgbClr val="DDE5EF"/>
          </a:solidFill>
          <a:ln>
            <a:noFill/>
          </a:ln>
        </p:spPr>
        <p:txBody>
          <a:bodyPr/>
          <a:lstStyle/>
          <a:p>
            <a:endParaRPr/>
          </a:p>
        </p:txBody>
      </p:sp>
      <p:sp>
        <p:nvSpPr>
          <p:cNvPr id="481" name="StatHead"/>
          <p:cNvSpPr/>
          <p:nvPr/>
        </p:nvSpPr>
        <p:spPr>
          <a:xfrm>
            <a:off x="558800" y="5588000"/>
            <a:ext cx="4318000" cy="203200"/>
          </a:xfrm>
          <a:prstGeom prst="rect">
            <a:avLst/>
          </a:prstGeom>
          <a:noFill/>
          <a:ln>
            <a:noFill/>
          </a:ln>
        </p:spPr>
        <p:txBody>
          <a:bodyPr wrap="square" rtlCol="0" anchor="ctr"/>
          <a:lstStyle/>
          <a:p>
            <a:pPr marL="0" indent="0" algn="l">
              <a:buNone/>
            </a:pPr>
            <a:r>
              <a:rPr lang="en-US" sz="1150" b="1" dirty="0">
                <a:solidFill>
                  <a:srgbClr val="16223A"/>
                </a:solidFill>
                <a:latin typeface="Calibri" pitchFamily="34" charset="0"/>
              </a:rPr>
              <a:t>Current Implementation Status</a:t>
            </a:r>
          </a:p>
        </p:txBody>
      </p:sp>
      <p:sp>
        <p:nvSpPr>
          <p:cNvPr id="490" name="Dot0"/>
          <p:cNvSpPr/>
          <p:nvPr/>
        </p:nvSpPr>
        <p:spPr>
          <a:xfrm>
            <a:off x="558800" y="5892800"/>
            <a:ext cx="101600" cy="101600"/>
          </a:xfrm>
          <a:prstGeom prst="rect">
            <a:avLst/>
          </a:prstGeom>
          <a:solidFill>
            <a:srgbClr val="1A7A4A"/>
          </a:solidFill>
          <a:ln>
            <a:noFill/>
          </a:ln>
        </p:spPr>
        <p:txBody>
          <a:bodyPr/>
          <a:lstStyle/>
          <a:p>
            <a:endParaRPr/>
          </a:p>
        </p:txBody>
      </p:sp>
      <p:sp>
        <p:nvSpPr>
          <p:cNvPr id="491" name="StatItem0"/>
          <p:cNvSpPr/>
          <p:nvPr/>
        </p:nvSpPr>
        <p:spPr>
          <a:xfrm>
            <a:off x="698500" y="5842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Raspberry Pi 5 configured and tested</a:t>
            </a:r>
          </a:p>
        </p:txBody>
      </p:sp>
      <p:sp>
        <p:nvSpPr>
          <p:cNvPr id="494" name="Dot1"/>
          <p:cNvSpPr/>
          <p:nvPr/>
        </p:nvSpPr>
        <p:spPr>
          <a:xfrm>
            <a:off x="558800" y="6146800"/>
            <a:ext cx="101600" cy="101600"/>
          </a:xfrm>
          <a:prstGeom prst="rect">
            <a:avLst/>
          </a:prstGeom>
          <a:solidFill>
            <a:srgbClr val="1A7A4A"/>
          </a:solidFill>
          <a:ln>
            <a:noFill/>
          </a:ln>
        </p:spPr>
        <p:txBody>
          <a:bodyPr/>
          <a:lstStyle/>
          <a:p>
            <a:endParaRPr/>
          </a:p>
        </p:txBody>
      </p:sp>
      <p:sp>
        <p:nvSpPr>
          <p:cNvPr id="495" name="StatItem1"/>
          <p:cNvSpPr/>
          <p:nvPr/>
        </p:nvSpPr>
        <p:spPr>
          <a:xfrm>
            <a:off x="698500" y="6096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Communication architecture defined</a:t>
            </a:r>
          </a:p>
        </p:txBody>
      </p:sp>
      <p:sp>
        <p:nvSpPr>
          <p:cNvPr id="498" name="Dot2_0"/>
          <p:cNvSpPr/>
          <p:nvPr/>
        </p:nvSpPr>
        <p:spPr>
          <a:xfrm>
            <a:off x="6223000" y="5892800"/>
            <a:ext cx="101600" cy="101600"/>
          </a:xfrm>
          <a:prstGeom prst="rect">
            <a:avLst/>
          </a:prstGeom>
          <a:solidFill>
            <a:srgbClr val="1A5C8A"/>
          </a:solidFill>
          <a:ln>
            <a:noFill/>
          </a:ln>
        </p:spPr>
        <p:txBody>
          <a:bodyPr/>
          <a:lstStyle/>
          <a:p>
            <a:endParaRPr/>
          </a:p>
        </p:txBody>
      </p:sp>
      <p:sp>
        <p:nvSpPr>
          <p:cNvPr id="499" name="StatItem2_0"/>
          <p:cNvSpPr/>
          <p:nvPr/>
        </p:nvSpPr>
        <p:spPr>
          <a:xfrm>
            <a:off x="6375400" y="5842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Mechanical segments fabricated</a:t>
            </a:r>
          </a:p>
        </p:txBody>
      </p:sp>
      <p:sp>
        <p:nvSpPr>
          <p:cNvPr id="502" name="Dot2_1"/>
          <p:cNvSpPr/>
          <p:nvPr/>
        </p:nvSpPr>
        <p:spPr>
          <a:xfrm>
            <a:off x="6223000" y="6146800"/>
            <a:ext cx="101600" cy="101600"/>
          </a:xfrm>
          <a:prstGeom prst="rect">
            <a:avLst/>
          </a:prstGeom>
          <a:solidFill>
            <a:srgbClr val="1A5C8A"/>
          </a:solidFill>
          <a:ln>
            <a:noFill/>
          </a:ln>
        </p:spPr>
        <p:txBody>
          <a:bodyPr/>
          <a:lstStyle/>
          <a:p>
            <a:endParaRPr/>
          </a:p>
        </p:txBody>
      </p:sp>
      <p:sp>
        <p:nvSpPr>
          <p:cNvPr id="503" name="StatItem2_1"/>
          <p:cNvSpPr/>
          <p:nvPr/>
        </p:nvSpPr>
        <p:spPr>
          <a:xfrm>
            <a:off x="6375400" y="6096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Dynamixel integration pending hardware</a:t>
            </a:r>
          </a:p>
        </p:txBody>
      </p:sp>
      <p:sp>
        <p:nvSpPr>
          <p:cNvPr id="2" name="Text 0"/>
          <p:cNvSpPr/>
          <p:nvPr/>
        </p:nvSpPr>
        <p:spPr>
          <a:xfrm>
            <a:off x="533400" y="127000"/>
            <a:ext cx="6350000" cy="1778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33400" y="330200"/>
            <a:ext cx="6858000" cy="457200"/>
          </a:xfrm>
          <a:prstGeom prst="rect">
            <a:avLst/>
          </a:prstGeom>
          <a:noFill/>
          <a:ln/>
        </p:spPr>
        <p:txBody>
          <a:bodyPr wrap="square" lIns="0" tIns="0" rIns="0" bIns="0" rtlCol="0" anchor="ctr"/>
          <a:lstStyle/>
          <a:p>
            <a:pPr marL="0" indent="0">
              <a:buNone/>
            </a:pPr>
            <a:r>
              <a:rPr lang="en-US" sz="2600" b="1" dirty="0">
                <a:solidFill>
                  <a:srgbClr val="16223A"/>
                </a:solidFill>
                <a:latin typeface="Calibri" pitchFamily="34" charset="0"/>
                <a:ea typeface="Calibri" pitchFamily="34" charset="-122"/>
                <a:cs typeface="Calibri" pitchFamily="34" charset="-120"/>
              </a:rPr>
              <a:t>Conceptual Block Diagram</a:t>
            </a:r>
            <a:endParaRPr lang="en-US" sz="2600" dirty="0"/>
          </a:p>
        </p:txBody>
      </p:sp>
      <p:sp>
        <p:nvSpPr>
          <p:cNvPr id="10" name="Text 8"/>
          <p:cNvSpPr/>
          <p:nvPr/>
        </p:nvSpPr>
        <p:spPr>
          <a:xfrm>
            <a:off x="533400" y="812800"/>
            <a:ext cx="8128000" cy="203200"/>
          </a:xfrm>
          <a:prstGeom prst="rect">
            <a:avLst/>
          </a:prstGeom>
          <a:noFill/>
          <a:ln/>
        </p:spPr>
        <p:txBody>
          <a:bodyPr wrap="square" lIns="0" tIns="0" rIns="0" bIns="0" rtlCol="0" anchor="ctr"/>
          <a:lstStyle/>
          <a:p>
            <a:pPr marL="0" indent="0">
              <a:buNone/>
            </a:pPr>
            <a:r>
              <a:rPr lang="en-US" sz="1150" b="1" dirty="0">
                <a:solidFill>
                  <a:srgbClr val="12A678"/>
                </a:solidFill>
                <a:latin typeface="Calibri" pitchFamily="34" charset="0"/>
                <a:ea typeface="Calibri" pitchFamily="34" charset="-122"/>
                <a:cs typeface="Calibri" pitchFamily="34" charset="-120"/>
              </a:rPr>
              <a:t>Architecture finalized</a:t>
            </a:r>
            <a:r>
              <a:rPr lang="en-US" sz="1150" dirty="0">
                <a:solidFill>
                  <a:srgbClr val="E2E8F0"/>
                </a:solidFill>
                <a:latin typeface="Calibri" pitchFamily="34" charset="0"/>
                <a:ea typeface="Calibri" pitchFamily="34" charset="-122"/>
                <a:cs typeface="Calibri" pitchFamily="34" charset="-120"/>
              </a:rPr>
              <a:t>    ·    </a:t>
            </a:r>
            <a:r>
              <a:rPr lang="en-US" sz="1150" b="1" dirty="0">
                <a:solidFill>
                  <a:srgbClr val="E08A1E"/>
                </a:solidFill>
                <a:latin typeface="Calibri" pitchFamily="34" charset="0"/>
                <a:ea typeface="Calibri" pitchFamily="34" charset="-122"/>
                <a:cs typeface="Calibri" pitchFamily="34" charset="-120"/>
              </a:rPr>
              <a:t>Implementation in progress</a:t>
            </a:r>
            <a:endParaRPr lang="en-US" sz="1150" dirty="0"/>
          </a:p>
        </p:txBody>
      </p:sp>
      <p:sp>
        <p:nvSpPr>
          <p:cNvPr id="450" name="FutHeader"/>
          <p:cNvSpPr/>
          <p:nvPr/>
        </p:nvSpPr>
        <p:spPr>
          <a:xfrm>
            <a:off x="7620000" y="1117600"/>
            <a:ext cx="2362200" cy="177800"/>
          </a:xfrm>
          <a:prstGeom prst="rect">
            <a:avLst/>
          </a:prstGeom>
          <a:noFill/>
          <a:ln>
            <a:noFill/>
          </a:ln>
        </p:spPr>
        <p:txBody>
          <a:bodyPr wrap="square" rtlCol="0" anchor="ctr"/>
          <a:lstStyle/>
          <a:p>
            <a:pPr marL="0" indent="0" algn="l">
              <a:buNone/>
            </a:pPr>
            <a:r>
              <a:rPr lang="en-US" sz="900" b="1" dirty="0">
                <a:solidFill>
                  <a:srgbClr val="9A6520"/>
                </a:solidFill>
                <a:latin typeface="Calibri" pitchFamily="34" charset="0"/>
              </a:rPr>
              <a:t>FUTURE INTEGRATION</a:t>
            </a:r>
          </a:p>
        </p:txBody>
      </p:sp>
      <p:sp>
        <p:nvSpPr>
          <p:cNvPr id="600" name="AccentLine"/>
          <p:cNvSpPr/>
          <p:nvPr/>
        </p:nvSpPr>
        <p:spPr>
          <a:xfrm>
            <a:off x="533400" y="304800"/>
            <a:ext cx="11074400" cy="12700"/>
          </a:xfrm>
          <a:prstGeom prst="rect">
            <a:avLst/>
          </a:prstGeom>
          <a:solidFill>
            <a:srgbClr val="0E96AC"/>
          </a:solidFill>
          <a:ln>
            <a:noFill/>
          </a:ln>
        </p:spPr>
        <p:txBody>
          <a:bodyPr/>
          <a:lstStyle/>
          <a:p>
            <a:endParaRPr/>
          </a:p>
        </p:txBody>
      </p:sp>
    </p:spTree>
    <p:extLst>
      <p:ext uri="{BB962C8B-B14F-4D97-AF65-F5344CB8AC3E}">
        <p14:creationId xmlns:p14="http://schemas.microsoft.com/office/powerpoint/2010/main" val="34145846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CAD DESIGN DEVELOPMENT</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A Segment Designed Around the Motor</a:t>
            </a:r>
            <a:endParaRPr lang="en-US" sz="3000" dirty="0"/>
          </a:p>
        </p:txBody>
      </p:sp>
      <p:sp>
        <p:nvSpPr>
          <p:cNvPr id="10" name="Text 8"/>
          <p:cNvSpPr/>
          <p:nvPr/>
        </p:nvSpPr>
        <p:spPr>
          <a:xfrm>
            <a:off x="548640" y="1600200"/>
            <a:ext cx="4709160" cy="914400"/>
          </a:xfrm>
          <a:prstGeom prst="rect">
            <a:avLst/>
          </a:prstGeom>
          <a:noFill/>
          <a:ln/>
        </p:spPr>
        <p:txBody>
          <a:bodyPr wrap="square" lIns="0" tIns="0" rIns="0" bIns="0" rtlCol="0" anchor="t"/>
          <a:lstStyle/>
          <a:p>
            <a:pPr marL="0" indent="0">
              <a:lnSpc>
                <a:spcPct val="112000"/>
              </a:lnSpc>
              <a:buNone/>
            </a:pPr>
            <a:r>
              <a:rPr lang="en-US" sz="1350" dirty="0">
                <a:solidFill>
                  <a:srgbClr val="3A4658"/>
                </a:solidFill>
                <a:latin typeface="Calibri" pitchFamily="34" charset="0"/>
                <a:ea typeface="Calibri" pitchFamily="34" charset="-122"/>
                <a:cs typeface="Calibri" pitchFamily="34" charset="-120"/>
              </a:rPr>
              <a:t>The CAD model is built to the exact dimensions of the Dynamixel XL330-M288 servo, using a modular, segment-based architecture focused on manufacturability and scalability.</a:t>
            </a:r>
            <a:endParaRPr lang="en-US" sz="1350" dirty="0"/>
          </a:p>
        </p:txBody>
      </p:sp>
      <p:sp>
        <p:nvSpPr>
          <p:cNvPr id="11" name="Text 9"/>
          <p:cNvSpPr/>
          <p:nvPr/>
        </p:nvSpPr>
        <p:spPr>
          <a:xfrm>
            <a:off x="548640" y="2724912"/>
            <a:ext cx="45720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DESIGN CONSIDERATIONS</a:t>
            </a:r>
            <a:endParaRPr lang="en-US" sz="1200" dirty="0"/>
          </a:p>
        </p:txBody>
      </p:sp>
      <p:sp>
        <p:nvSpPr>
          <p:cNvPr id="12" name="Shape 10"/>
          <p:cNvSpPr/>
          <p:nvPr/>
        </p:nvSpPr>
        <p:spPr>
          <a:xfrm>
            <a:off x="548640" y="3127248"/>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13" name="Shape 11"/>
          <p:cNvSpPr/>
          <p:nvPr/>
        </p:nvSpPr>
        <p:spPr>
          <a:xfrm>
            <a:off x="694944" y="3246120"/>
            <a:ext cx="402336" cy="402336"/>
          </a:xfrm>
          <a:prstGeom prst="ellipse">
            <a:avLst/>
          </a:prstGeom>
          <a:solidFill>
            <a:srgbClr val="0E96AC"/>
          </a:solidFill>
          <a:ln/>
        </p:spPr>
        <p:txBody>
          <a:bodyPr/>
          <a:lstStyle/>
          <a:p>
            <a:endParaRPr lang="en-IN"/>
          </a:p>
        </p:txBody>
      </p:sp>
      <p:pic>
        <p:nvPicPr>
          <p:cNvPr id="14" name="Image 0" descr="preencoded.png"/>
          <p:cNvPicPr>
            <a:picLocks noChangeAspect="1"/>
          </p:cNvPicPr>
          <p:nvPr/>
        </p:nvPicPr>
        <p:blipFill>
          <a:blip r:embed="rId3"/>
          <a:stretch>
            <a:fillRect/>
          </a:stretch>
        </p:blipFill>
        <p:spPr>
          <a:xfrm>
            <a:off x="791505" y="3342681"/>
            <a:ext cx="209215" cy="209215"/>
          </a:xfrm>
          <a:prstGeom prst="rect">
            <a:avLst/>
          </a:prstGeom>
        </p:spPr>
      </p:pic>
      <p:sp>
        <p:nvSpPr>
          <p:cNvPr id="15" name="Text 12"/>
          <p:cNvSpPr/>
          <p:nvPr/>
        </p:nvSpPr>
        <p:spPr>
          <a:xfrm>
            <a:off x="1225296" y="3127248"/>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Motor mounting  </a:t>
            </a:r>
            <a:r>
              <a:rPr lang="en-US" sz="1150" dirty="0">
                <a:solidFill>
                  <a:srgbClr val="6B7890"/>
                </a:solidFill>
                <a:latin typeface="Calibri" pitchFamily="34" charset="0"/>
                <a:ea typeface="Calibri" pitchFamily="34" charset="-122"/>
                <a:cs typeface="Calibri" pitchFamily="34" charset="-120"/>
              </a:rPr>
              <a:t>— Precise seats for XL330 servo bodies.</a:t>
            </a:r>
            <a:endParaRPr lang="en-US" sz="1150" dirty="0"/>
          </a:p>
        </p:txBody>
      </p:sp>
      <p:sp>
        <p:nvSpPr>
          <p:cNvPr id="16" name="Shape 13"/>
          <p:cNvSpPr/>
          <p:nvPr/>
        </p:nvSpPr>
        <p:spPr>
          <a:xfrm>
            <a:off x="548640" y="3877056"/>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17" name="Shape 14"/>
          <p:cNvSpPr/>
          <p:nvPr/>
        </p:nvSpPr>
        <p:spPr>
          <a:xfrm>
            <a:off x="694944" y="3995928"/>
            <a:ext cx="402336" cy="402336"/>
          </a:xfrm>
          <a:prstGeom prst="ellipse">
            <a:avLst/>
          </a:prstGeom>
          <a:solidFill>
            <a:srgbClr val="12A678"/>
          </a:solidFill>
          <a:ln/>
        </p:spPr>
        <p:txBody>
          <a:bodyPr/>
          <a:lstStyle/>
          <a:p>
            <a:endParaRPr lang="en-IN"/>
          </a:p>
        </p:txBody>
      </p:sp>
      <p:pic>
        <p:nvPicPr>
          <p:cNvPr id="18" name="Image 1" descr="preencoded.png"/>
          <p:cNvPicPr>
            <a:picLocks noChangeAspect="1"/>
          </p:cNvPicPr>
          <p:nvPr/>
        </p:nvPicPr>
        <p:blipFill>
          <a:blip r:embed="rId4"/>
          <a:stretch>
            <a:fillRect/>
          </a:stretch>
        </p:blipFill>
        <p:spPr>
          <a:xfrm>
            <a:off x="791505" y="4092489"/>
            <a:ext cx="209215" cy="209215"/>
          </a:xfrm>
          <a:prstGeom prst="rect">
            <a:avLst/>
          </a:prstGeom>
        </p:spPr>
      </p:pic>
      <p:sp>
        <p:nvSpPr>
          <p:cNvPr id="19" name="Text 15"/>
          <p:cNvSpPr/>
          <p:nvPr/>
        </p:nvSpPr>
        <p:spPr>
          <a:xfrm>
            <a:off x="1225296" y="3877056"/>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Structural rigidity  </a:t>
            </a:r>
            <a:r>
              <a:rPr lang="en-US" sz="1150" dirty="0">
                <a:solidFill>
                  <a:srgbClr val="6B7890"/>
                </a:solidFill>
                <a:latin typeface="Calibri" pitchFamily="34" charset="0"/>
                <a:ea typeface="Calibri" pitchFamily="34" charset="-122"/>
                <a:cs typeface="Calibri" pitchFamily="34" charset="-120"/>
              </a:rPr>
              <a:t>— Stiff frame to resist motion loads.</a:t>
            </a:r>
            <a:endParaRPr lang="en-US" sz="1150" dirty="0"/>
          </a:p>
        </p:txBody>
      </p:sp>
      <p:sp>
        <p:nvSpPr>
          <p:cNvPr id="20" name="Shape 16"/>
          <p:cNvSpPr/>
          <p:nvPr/>
        </p:nvSpPr>
        <p:spPr>
          <a:xfrm>
            <a:off x="548640" y="4626864"/>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21" name="Shape 17"/>
          <p:cNvSpPr/>
          <p:nvPr/>
        </p:nvSpPr>
        <p:spPr>
          <a:xfrm>
            <a:off x="694944" y="4745736"/>
            <a:ext cx="402336" cy="402336"/>
          </a:xfrm>
          <a:prstGeom prst="ellipse">
            <a:avLst/>
          </a:prstGeom>
          <a:solidFill>
            <a:srgbClr val="E08A1E"/>
          </a:solidFill>
          <a:ln/>
        </p:spPr>
        <p:txBody>
          <a:bodyPr/>
          <a:lstStyle/>
          <a:p>
            <a:endParaRPr lang="en-IN"/>
          </a:p>
        </p:txBody>
      </p:sp>
      <p:pic>
        <p:nvPicPr>
          <p:cNvPr id="22" name="Image 2" descr="preencoded.png"/>
          <p:cNvPicPr>
            <a:picLocks noChangeAspect="1"/>
          </p:cNvPicPr>
          <p:nvPr/>
        </p:nvPicPr>
        <p:blipFill>
          <a:blip r:embed="rId5"/>
          <a:stretch>
            <a:fillRect/>
          </a:stretch>
        </p:blipFill>
        <p:spPr>
          <a:xfrm>
            <a:off x="791505" y="4842297"/>
            <a:ext cx="209215" cy="209215"/>
          </a:xfrm>
          <a:prstGeom prst="rect">
            <a:avLst/>
          </a:prstGeom>
        </p:spPr>
      </p:pic>
      <p:sp>
        <p:nvSpPr>
          <p:cNvPr id="23" name="Text 18"/>
          <p:cNvSpPr/>
          <p:nvPr/>
        </p:nvSpPr>
        <p:spPr>
          <a:xfrm>
            <a:off x="1225296" y="4626864"/>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Cable routing  </a:t>
            </a:r>
            <a:r>
              <a:rPr lang="en-US" sz="1150" dirty="0">
                <a:solidFill>
                  <a:srgbClr val="6B7890"/>
                </a:solidFill>
                <a:latin typeface="Calibri" pitchFamily="34" charset="0"/>
                <a:ea typeface="Calibri" pitchFamily="34" charset="-122"/>
                <a:cs typeface="Calibri" pitchFamily="34" charset="-120"/>
              </a:rPr>
              <a:t>— Clean daisy-chain channels for wiring.</a:t>
            </a:r>
            <a:endParaRPr lang="en-US" sz="1150" dirty="0"/>
          </a:p>
        </p:txBody>
      </p:sp>
      <p:sp>
        <p:nvSpPr>
          <p:cNvPr id="24" name="Shape 19"/>
          <p:cNvSpPr/>
          <p:nvPr/>
        </p:nvSpPr>
        <p:spPr>
          <a:xfrm>
            <a:off x="548640" y="5376672"/>
            <a:ext cx="4709160" cy="640080"/>
          </a:xfrm>
          <a:prstGeom prst="roundRect">
            <a:avLst>
              <a:gd name="adj" fmla="val 10000"/>
            </a:avLst>
          </a:prstGeom>
          <a:solidFill>
            <a:srgbClr val="FFFFFF"/>
          </a:solidFill>
          <a:ln w="12700">
            <a:solidFill>
              <a:srgbClr val="E2E8F0"/>
            </a:solidFill>
            <a:prstDash val="solid"/>
          </a:ln>
        </p:spPr>
        <p:txBody>
          <a:bodyPr/>
          <a:lstStyle/>
          <a:p>
            <a:endParaRPr lang="en-IN"/>
          </a:p>
        </p:txBody>
      </p:sp>
      <p:sp>
        <p:nvSpPr>
          <p:cNvPr id="25" name="Shape 20"/>
          <p:cNvSpPr/>
          <p:nvPr/>
        </p:nvSpPr>
        <p:spPr>
          <a:xfrm>
            <a:off x="694944" y="5495544"/>
            <a:ext cx="402336" cy="402336"/>
          </a:xfrm>
          <a:prstGeom prst="ellipse">
            <a:avLst/>
          </a:prstGeom>
          <a:solidFill>
            <a:srgbClr val="0E96AC"/>
          </a:solidFill>
          <a:ln/>
        </p:spPr>
        <p:txBody>
          <a:bodyPr/>
          <a:lstStyle/>
          <a:p>
            <a:endParaRPr lang="en-IN"/>
          </a:p>
        </p:txBody>
      </p:sp>
      <p:pic>
        <p:nvPicPr>
          <p:cNvPr id="26" name="Image 3" descr="preencoded.png"/>
          <p:cNvPicPr>
            <a:picLocks noChangeAspect="1"/>
          </p:cNvPicPr>
          <p:nvPr/>
        </p:nvPicPr>
        <p:blipFill>
          <a:blip r:embed="rId3"/>
          <a:stretch>
            <a:fillRect/>
          </a:stretch>
        </p:blipFill>
        <p:spPr>
          <a:xfrm>
            <a:off x="791505" y="5592105"/>
            <a:ext cx="209215" cy="209215"/>
          </a:xfrm>
          <a:prstGeom prst="rect">
            <a:avLst/>
          </a:prstGeom>
        </p:spPr>
      </p:pic>
      <p:sp>
        <p:nvSpPr>
          <p:cNvPr id="27" name="Text 21"/>
          <p:cNvSpPr/>
          <p:nvPr/>
        </p:nvSpPr>
        <p:spPr>
          <a:xfrm>
            <a:off x="1225296" y="5376672"/>
            <a:ext cx="3931920" cy="640080"/>
          </a:xfrm>
          <a:prstGeom prst="rect">
            <a:avLst/>
          </a:prstGeom>
          <a:noFill/>
          <a:ln/>
        </p:spPr>
        <p:txBody>
          <a:bodyPr wrap="square" lIns="0" tIns="0" rIns="0" bIns="0" rtlCol="0" anchor="ctr"/>
          <a:lstStyle/>
          <a:p>
            <a:pPr marL="0" indent="0">
              <a:buNone/>
            </a:pPr>
            <a:r>
              <a:rPr lang="en-US" sz="1150" b="1" dirty="0">
                <a:solidFill>
                  <a:srgbClr val="16223A"/>
                </a:solidFill>
                <a:latin typeface="Calibri" pitchFamily="34" charset="0"/>
                <a:ea typeface="Calibri" pitchFamily="34" charset="-122"/>
                <a:cs typeface="Calibri" pitchFamily="34" charset="-120"/>
              </a:rPr>
              <a:t>Electronics ready  </a:t>
            </a:r>
            <a:r>
              <a:rPr lang="en-US" sz="1150" dirty="0">
                <a:solidFill>
                  <a:srgbClr val="6B7890"/>
                </a:solidFill>
                <a:latin typeface="Calibri" pitchFamily="34" charset="0"/>
                <a:ea typeface="Calibri" pitchFamily="34" charset="-122"/>
                <a:cs typeface="Calibri" pitchFamily="34" charset="-120"/>
              </a:rPr>
              <a:t>— Space reserved for future boards.</a:t>
            </a:r>
            <a:endParaRPr lang="en-US" sz="1150" dirty="0"/>
          </a:p>
        </p:txBody>
      </p:sp>
      <p:sp>
        <p:nvSpPr>
          <p:cNvPr id="28" name="Shape 22"/>
          <p:cNvSpPr/>
          <p:nvPr/>
        </p:nvSpPr>
        <p:spPr>
          <a:xfrm>
            <a:off x="5651500" y="1714500"/>
            <a:ext cx="5842000" cy="4432300"/>
          </a:xfrm>
          <a:prstGeom prst="roundRect">
            <a:avLst>
              <a:gd name="adj" fmla="val 2041"/>
            </a:avLst>
          </a:prstGeom>
          <a:solidFill>
            <a:srgbClr val="ECF1F6"/>
          </a:solidFill>
          <a:ln w="19050">
            <a:solidFill>
              <a:srgbClr val="0E96AC"/>
            </a:solidFill>
            <a:prstDash val="dash"/>
          </a:ln>
        </p:spPr>
        <p:txBody>
          <a:bodyPr/>
          <a:lstStyle/>
          <a:p>
            <a:endParaRPr lang="en-IN"/>
          </a:p>
        </p:txBody>
      </p:sp>
      <p:sp>
        <p:nvSpPr>
          <p:cNvPr id="29" name="Shape 23"/>
          <p:cNvSpPr/>
          <p:nvPr/>
        </p:nvSpPr>
        <p:spPr>
          <a:xfrm>
            <a:off x="-1270000" y="-1270000"/>
            <a:ext cx="381000" cy="381000"/>
          </a:xfrm>
          <a:prstGeom prst="ellipse">
            <a:avLst/>
          </a:prstGeom>
          <a:solidFill>
            <a:srgbClr val="FFFFFF"/>
          </a:solidFill>
          <a:ln/>
        </p:spPr>
        <p:txBody>
          <a:bodyPr/>
          <a:lstStyle/>
          <a:p>
            <a:endParaRPr lang="en-IN"/>
          </a:p>
        </p:txBody>
      </p:sp>
      <p:pic>
        <p:nvPicPr>
          <p:cNvPr id="30" name="Image 4" descr="preencoded.png"/>
          <p:cNvPicPr>
            <a:picLocks noChangeAspect="1"/>
          </p:cNvPicPr>
          <p:nvPr/>
        </p:nvPicPr>
        <p:blipFill>
          <a:blip r:embed="rId6"/>
          <a:stretch>
            <a:fillRect/>
          </a:stretch>
        </p:blipFill>
        <p:spPr>
          <a:xfrm>
            <a:off x="-1270000" y="-1270000"/>
            <a:ext cx="434340" cy="434340"/>
          </a:xfrm>
          <a:prstGeom prst="rect">
            <a:avLst/>
          </a:prstGeom>
        </p:spPr>
      </p:pic>
      <p:sp>
        <p:nvSpPr>
          <p:cNvPr id="31" name="Text 24"/>
          <p:cNvSpPr/>
          <p:nvPr/>
        </p:nvSpPr>
        <p:spPr>
          <a:xfrm>
            <a:off x="5575300" y="-762000"/>
            <a:ext cx="6083300" cy="254000"/>
          </a:xfrm>
          <a:prstGeom prst="rect">
            <a:avLst/>
          </a:prstGeom>
          <a:noFill/>
          <a:ln/>
        </p:spPr>
        <p:txBody>
          <a:bodyPr wrap="square" lIns="0" tIns="0" rIns="0" bIns="0" rtlCol="0" anchor="ctr"/>
          <a:lstStyle/>
          <a:p>
            <a:pPr marL="0" indent="0" algn="ctr">
              <a:buNone/>
            </a:pPr>
            <a:r>
              <a:rPr lang="en-US" sz="1300" b="1" kern="0" spc="100" dirty="0">
                <a:solidFill>
                  <a:srgbClr val="0E96AC"/>
                </a:solidFill>
                <a:latin typeface="Calibri" pitchFamily="34" charset="0"/>
              </a:rPr>
              <a:t>ASSEMBLY FLOW</a:t>
            </a:r>
          </a:p>
        </p:txBody>
      </p:sp>
      <p:sp>
        <p:nvSpPr>
          <p:cNvPr id="32" name="Text 25"/>
          <p:cNvSpPr/>
          <p:nvPr/>
        </p:nvSpPr>
        <p:spPr>
          <a:xfrm>
            <a:off x="5651500" y="-635000"/>
            <a:ext cx="5842000" cy="203200"/>
          </a:xfrm>
          <a:prstGeom prst="rect">
            <a:avLst/>
          </a:prstGeom>
          <a:noFill/>
          <a:ln/>
        </p:spPr>
        <p:txBody>
          <a:bodyPr wrap="square" lIns="0" tIns="0" rIns="0" bIns="0" rtlCol="0" anchor="ctr"/>
          <a:lstStyle/>
          <a:p>
            <a:pPr marL="0" indent="0" algn="ctr">
              <a:lnSpc>
                <a:spcPct val="100000"/>
              </a:lnSpc>
              <a:buNone/>
            </a:pPr>
            <a:r>
              <a:rPr lang="en-US" sz="1000" i="1" dirty="0">
                <a:solidFill>
                  <a:srgbClr val="6B7890"/>
                </a:solidFill>
                <a:latin typeface="Calibri" pitchFamily="34" charset="0"/>
              </a:rPr>
              <a:t>Motor → Segment Parts → Full Chain Assembly</a:t>
            </a:r>
          </a:p>
        </p:txBody>
      </p:sp>
      <p:pic>
        <p:nvPicPr>
          <p:cNvPr id="34" name="Picture 33" descr="The image depicts a simple, sturdy, black, rectangular wooden shelving unit with a rectangular shelf in the middle.&#10;&#10;AI-generated content may be incorrect.">
            <a:extLst>
              <a:ext uri="{FF2B5EF4-FFF2-40B4-BE49-F238E27FC236}">
                <a16:creationId xmlns:a16="http://schemas.microsoft.com/office/drawing/2014/main" id="{43A6F9E7-B592-AE80-4ECD-3893A8BAB62C}"/>
              </a:ext>
            </a:extLst>
          </p:cNvPr>
          <p:cNvPicPr>
            <a:picLocks noChangeAspect="1"/>
          </p:cNvPicPr>
          <p:nvPr/>
        </p:nvPicPr>
        <p:blipFill>
          <a:blip r:embed="rId7"/>
          <a:stretch>
            <a:fillRect/>
          </a:stretch>
        </p:blipFill>
        <p:spPr>
          <a:xfrm>
            <a:off x="8128000" y="1714500"/>
            <a:ext cx="1651000" cy="1968500"/>
          </a:xfrm>
          <a:prstGeom prst="rect">
            <a:avLst/>
          </a:prstGeom>
        </p:spPr>
      </p:pic>
      <p:pic>
        <p:nvPicPr>
          <p:cNvPr id="36" name="Picture 35" descr="The image depicts a simple, grey, rectangular, flat-sided, metallic-looking panel or bracket, likely with some sort of mechanical attachment or mounting hardware visible, placed on a plain, light-colored background.&#10;&#10;AI-generated content may be incorrect.">
            <a:extLst>
              <a:ext uri="{FF2B5EF4-FFF2-40B4-BE49-F238E27FC236}">
                <a16:creationId xmlns:a16="http://schemas.microsoft.com/office/drawing/2014/main" id="{4240D5FB-60B3-92E2-D431-2BF9CD9185A9}"/>
              </a:ext>
            </a:extLst>
          </p:cNvPr>
          <p:cNvPicPr>
            <a:picLocks noChangeAspect="1"/>
          </p:cNvPicPr>
          <p:nvPr/>
        </p:nvPicPr>
        <p:blipFill>
          <a:blip r:embed="rId8"/>
          <a:srcRect l="24792" t="11107" r="14359"/>
          <a:stretch>
            <a:fillRect/>
          </a:stretch>
        </p:blipFill>
        <p:spPr>
          <a:xfrm>
            <a:off x="9842500" y="1714500"/>
            <a:ext cx="1689100" cy="1968500"/>
          </a:xfrm>
          <a:prstGeom prst="rect">
            <a:avLst/>
          </a:prstGeom>
        </p:spPr>
      </p:pic>
      <p:pic>
        <p:nvPicPr>
          <p:cNvPr id="42" name="Picture 41" descr="The image depicts a simple, abstract representation of a zigzag pattern or a wave-like structure, rendered in a monochromatic, minimalistic style.&#10;&#10;AI-generated content may be incorrect.">
            <a:extLst>
              <a:ext uri="{FF2B5EF4-FFF2-40B4-BE49-F238E27FC236}">
                <a16:creationId xmlns:a16="http://schemas.microsoft.com/office/drawing/2014/main" id="{F9FF112A-F15F-989B-A8A9-AB7A565FBEC9}"/>
              </a:ext>
            </a:extLst>
          </p:cNvPr>
          <p:cNvPicPr>
            <a:picLocks noChangeAspect="1"/>
          </p:cNvPicPr>
          <p:nvPr/>
        </p:nvPicPr>
        <p:blipFill>
          <a:blip r:embed="rId9"/>
          <a:srcRect t="15390"/>
          <a:stretch>
            <a:fillRect/>
          </a:stretch>
        </p:blipFill>
        <p:spPr>
          <a:xfrm>
            <a:off x="5651500" y="3810000"/>
            <a:ext cx="5842000" cy="2184400"/>
          </a:xfrm>
          <a:prstGeom prst="rect">
            <a:avLst/>
          </a:prstGeom>
        </p:spPr>
      </p:pic>
      <p:pic>
        <p:nvPicPr>
          <p:cNvPr id="44" name="Picture 43" descr="The image depicts a gray, rectangular frame with an open, hinged structure, likely part of a larger assembly.">
            <a:extLst>
              <a:ext uri="{FF2B5EF4-FFF2-40B4-BE49-F238E27FC236}">
                <a16:creationId xmlns:a16="http://schemas.microsoft.com/office/drawing/2014/main" id="{F0FF4D60-EA60-6E41-F77E-D580B8866D10}"/>
              </a:ext>
            </a:extLst>
          </p:cNvPr>
          <p:cNvPicPr>
            <a:picLocks noChangeAspect="1"/>
          </p:cNvPicPr>
          <p:nvPr/>
        </p:nvPicPr>
        <p:blipFill>
          <a:blip r:embed="rId10"/>
          <a:stretch>
            <a:fillRect/>
          </a:stretch>
        </p:blipFill>
        <p:spPr>
          <a:xfrm>
            <a:off x="7239000" y="2838450"/>
            <a:ext cx="889000" cy="800100"/>
          </a:xfrm>
          <a:prstGeom prst="rect">
            <a:avLst/>
          </a:prstGeom>
        </p:spPr>
      </p:pic>
      <p:pic>
        <p:nvPicPr>
          <p:cNvPr id="9" name="Picture 8">
            <a:extLst>
              <a:ext uri="{FF2B5EF4-FFF2-40B4-BE49-F238E27FC236}">
                <a16:creationId xmlns:a16="http://schemas.microsoft.com/office/drawing/2014/main" id="{17BCD354-05DD-7C00-DFCC-9839F5606164}"/>
              </a:ext>
            </a:extLst>
          </p:cNvPr>
          <p:cNvPicPr>
            <a:picLocks noChangeAspect="1"/>
          </p:cNvPicPr>
          <p:nvPr/>
        </p:nvPicPr>
        <p:blipFill>
          <a:blip r:embed="rId11"/>
          <a:stretch>
            <a:fillRect/>
          </a:stretch>
        </p:blipFill>
        <p:spPr>
          <a:xfrm>
            <a:off x="5651500" y="1714500"/>
            <a:ext cx="1569048" cy="1968500"/>
          </a:xfrm>
          <a:prstGeom prst="rect">
            <a:avLst/>
          </a:prstGeom>
        </p:spPr>
      </p:pic>
      <p:sp>
        <p:nvSpPr>
          <p:cNvPr id="33" name="Arrow: Right 32">
            <a:extLst>
              <a:ext uri="{FF2B5EF4-FFF2-40B4-BE49-F238E27FC236}">
                <a16:creationId xmlns:a16="http://schemas.microsoft.com/office/drawing/2014/main" id="{10B56E54-A4EF-4F38-BCCE-38D5841E70A3}"/>
              </a:ext>
            </a:extLst>
          </p:cNvPr>
          <p:cNvSpPr/>
          <p:nvPr/>
        </p:nvSpPr>
        <p:spPr>
          <a:xfrm>
            <a:off x="7899400" y="2489200"/>
            <a:ext cx="228600" cy="1778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ectangle 34">
            <a:extLst>
              <a:ext uri="{FF2B5EF4-FFF2-40B4-BE49-F238E27FC236}">
                <a16:creationId xmlns:a16="http://schemas.microsoft.com/office/drawing/2014/main" id="{B961D7F9-AF0B-4F55-8E54-70F15AF52D36}"/>
              </a:ext>
            </a:extLst>
          </p:cNvPr>
          <p:cNvSpPr/>
          <p:nvPr/>
        </p:nvSpPr>
        <p:spPr>
          <a:xfrm>
            <a:off x="5651499" y="5867400"/>
            <a:ext cx="5845517" cy="2794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7" name="TextBox 36">
            <a:extLst>
              <a:ext uri="{FF2B5EF4-FFF2-40B4-BE49-F238E27FC236}">
                <a16:creationId xmlns:a16="http://schemas.microsoft.com/office/drawing/2014/main" id="{B276ADDA-BC70-4DB9-A06D-4632200C6F1E}"/>
              </a:ext>
            </a:extLst>
          </p:cNvPr>
          <p:cNvSpPr txBox="1"/>
          <p:nvPr/>
        </p:nvSpPr>
        <p:spPr>
          <a:xfrm>
            <a:off x="5575300" y="5880100"/>
            <a:ext cx="2032000" cy="203200"/>
          </a:xfrm>
          <a:prstGeom prst="rect">
            <a:avLst/>
          </a:prstGeom>
          <a:noFill/>
        </p:spPr>
        <p:txBody>
          <a:bodyPr vertOverflow="overflow" vert="horz" wrap="square" rtlCol="0" anchor="t">
            <a:noAutofit/>
          </a:bodyPr>
          <a:lstStyle/>
          <a:p>
            <a:pPr algn="l"/>
            <a:r>
              <a:rPr lang="en-IN" sz="1000" b="1">
                <a:solidFill>
                  <a:srgbClr val="FFFFFF"/>
                </a:solidFill>
              </a:rPr>
              <a:t>① Motor</a:t>
            </a:r>
          </a:p>
        </p:txBody>
      </p:sp>
      <p:sp>
        <p:nvSpPr>
          <p:cNvPr id="38" name="Arrow: Down 37">
            <a:extLst>
              <a:ext uri="{FF2B5EF4-FFF2-40B4-BE49-F238E27FC236}">
                <a16:creationId xmlns:a16="http://schemas.microsoft.com/office/drawing/2014/main" id="{FBF37818-9CB0-4641-AE4D-2E2CE8273CA3}"/>
              </a:ext>
            </a:extLst>
          </p:cNvPr>
          <p:cNvSpPr/>
          <p:nvPr/>
        </p:nvSpPr>
        <p:spPr>
          <a:xfrm>
            <a:off x="9486900" y="3657600"/>
            <a:ext cx="177800" cy="228600"/>
          </a:xfrm>
          <a:prstGeom prst="down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9" name="TextBox 38">
            <a:extLst>
              <a:ext uri="{FF2B5EF4-FFF2-40B4-BE49-F238E27FC236}">
                <a16:creationId xmlns:a16="http://schemas.microsoft.com/office/drawing/2014/main" id="{53BA8EEA-9717-4EAB-A997-7ABD4D028D86}"/>
              </a:ext>
            </a:extLst>
          </p:cNvPr>
          <p:cNvSpPr txBox="1"/>
          <p:nvPr/>
        </p:nvSpPr>
        <p:spPr>
          <a:xfrm>
            <a:off x="7607300" y="5880100"/>
            <a:ext cx="2032000" cy="203200"/>
          </a:xfrm>
          <a:prstGeom prst="rect">
            <a:avLst/>
          </a:prstGeom>
          <a:noFill/>
        </p:spPr>
        <p:txBody>
          <a:bodyPr vertOverflow="overflow" vert="horz" wrap="square" rtlCol="0" anchor="t">
            <a:noAutofit/>
          </a:bodyPr>
          <a:lstStyle/>
          <a:p>
            <a:pPr algn="l"/>
            <a:r>
              <a:rPr lang="en-IN" sz="1000" b="1">
                <a:solidFill>
                  <a:srgbClr val="FFFFFF"/>
                </a:solidFill>
              </a:rPr>
              <a:t>② Segment Parts</a:t>
            </a:r>
          </a:p>
        </p:txBody>
      </p:sp>
      <p:sp>
        <p:nvSpPr>
          <p:cNvPr id="40" name="TextBox 39">
            <a:extLst>
              <a:ext uri="{FF2B5EF4-FFF2-40B4-BE49-F238E27FC236}">
                <a16:creationId xmlns:a16="http://schemas.microsoft.com/office/drawing/2014/main" id="{CF713C95-0380-4CB5-960A-9756BEFA1FCB}"/>
              </a:ext>
            </a:extLst>
          </p:cNvPr>
          <p:cNvSpPr txBox="1"/>
          <p:nvPr/>
        </p:nvSpPr>
        <p:spPr>
          <a:xfrm>
            <a:off x="7874000" y="-762000"/>
            <a:ext cx="2095500" cy="203200"/>
          </a:xfrm>
          <a:prstGeom prst="rect">
            <a:avLst/>
          </a:prstGeom>
          <a:noFill/>
        </p:spPr>
        <p:txBody>
          <a:bodyPr vertOverflow="overflow" vert="horz" wrap="square" rtlCol="0" anchor="t">
            <a:noAutofit/>
          </a:bodyPr>
          <a:lstStyle/>
          <a:p>
            <a:pPr algn="l"/>
            <a:r>
              <a:rPr lang="en-IN" sz="1000">
                <a:solidFill>
                  <a:srgbClr val="6B7890"/>
                </a:solidFill>
              </a:rPr>
              <a:t>③ Full Assembly</a:t>
            </a:r>
          </a:p>
        </p:txBody>
      </p:sp>
      <p:sp>
        <p:nvSpPr>
          <p:cNvPr id="4" name="TextBox 3">
            <a:extLst>
              <a:ext uri="{FF2B5EF4-FFF2-40B4-BE49-F238E27FC236}">
                <a16:creationId xmlns:a16="http://schemas.microsoft.com/office/drawing/2014/main" id="{8B27E486-825F-43C2-9B8F-369DBCC6DF83}"/>
              </a:ext>
            </a:extLst>
          </p:cNvPr>
          <p:cNvSpPr txBox="1"/>
          <p:nvPr/>
        </p:nvSpPr>
        <p:spPr>
          <a:xfrm>
            <a:off x="9639300" y="5880100"/>
            <a:ext cx="1968500" cy="203200"/>
          </a:xfrm>
          <a:prstGeom prst="rect">
            <a:avLst/>
          </a:prstGeom>
          <a:noFill/>
        </p:spPr>
        <p:txBody>
          <a:bodyPr vertOverflow="overflow" vert="horz" wrap="square" rtlCol="0" anchor="t">
            <a:noAutofit/>
          </a:bodyPr>
          <a:lstStyle/>
          <a:p>
            <a:pPr algn="l"/>
            <a:r>
              <a:rPr lang="en-IN" sz="1000" b="1">
                <a:solidFill>
                  <a:srgbClr val="FFFFFF"/>
                </a:solidFill>
              </a:rPr>
              <a:t>③ Full Assembly</a:t>
            </a:r>
          </a:p>
        </p:txBody>
      </p:sp>
    </p:spTree>
    <p:extLst>
      <p:ext uri="{BB962C8B-B14F-4D97-AF65-F5344CB8AC3E}">
        <p14:creationId xmlns:p14="http://schemas.microsoft.com/office/powerpoint/2010/main" val="31174001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PROTOTYPE FABRICATION</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From Model to Printed Hardware</a:t>
            </a:r>
            <a:endParaRPr lang="en-US" sz="3000" dirty="0"/>
          </a:p>
        </p:txBody>
      </p:sp>
      <p:sp>
        <p:nvSpPr>
          <p:cNvPr id="10" name="Shape 8"/>
          <p:cNvSpPr/>
          <p:nvPr/>
        </p:nvSpPr>
        <p:spPr>
          <a:xfrm>
            <a:off x="548640" y="1600200"/>
            <a:ext cx="5074920" cy="2148840"/>
          </a:xfrm>
          <a:prstGeom prst="roundRect">
            <a:avLst>
              <a:gd name="adj" fmla="val 4255"/>
            </a:avLst>
          </a:prstGeom>
          <a:solidFill>
            <a:srgbClr val="ECF1F6"/>
          </a:solidFill>
          <a:ln w="19050">
            <a:solidFill>
              <a:srgbClr val="0E96AC"/>
            </a:solidFill>
            <a:prstDash val="dash"/>
          </a:ln>
        </p:spPr>
      </p:sp>
      <p:sp>
        <p:nvSpPr>
          <p:cNvPr id="11" name="Shape 9"/>
          <p:cNvSpPr/>
          <p:nvPr/>
        </p:nvSpPr>
        <p:spPr>
          <a:xfrm>
            <a:off x="2651760" y="1920240"/>
            <a:ext cx="868680" cy="868680"/>
          </a:xfrm>
          <a:prstGeom prst="ellipse">
            <a:avLst/>
          </a:prstGeom>
          <a:solidFill>
            <a:srgbClr val="FFFFFF"/>
          </a:solidFill>
          <a:ln/>
        </p:spPr>
      </p:sp>
      <p:pic>
        <p:nvPicPr>
          <p:cNvPr id="12" name="Image 0" descr="preencoded.png"/>
          <p:cNvPicPr>
            <a:picLocks noChangeAspect="1"/>
          </p:cNvPicPr>
          <p:nvPr/>
        </p:nvPicPr>
        <p:blipFill>
          <a:blip r:embed="rId3"/>
          <a:stretch>
            <a:fillRect/>
          </a:stretch>
        </p:blipFill>
        <p:spPr>
          <a:xfrm>
            <a:off x="2868930" y="2137410"/>
            <a:ext cx="434340" cy="434340"/>
          </a:xfrm>
          <a:prstGeom prst="rect">
            <a:avLst/>
          </a:prstGeom>
        </p:spPr>
      </p:pic>
      <p:sp>
        <p:nvSpPr>
          <p:cNvPr id="13" name="Text 10"/>
          <p:cNvSpPr/>
          <p:nvPr/>
        </p:nvSpPr>
        <p:spPr>
          <a:xfrm>
            <a:off x="822960" y="2903220"/>
            <a:ext cx="4526280" cy="320040"/>
          </a:xfrm>
          <a:prstGeom prst="rect">
            <a:avLst/>
          </a:prstGeom>
          <a:noFill/>
          <a:ln/>
        </p:spPr>
        <p:txBody>
          <a:bodyPr wrap="square" lIns="0" tIns="0" rIns="0" bIns="0" rtlCol="0" anchor="ctr"/>
          <a:lstStyle/>
          <a:p>
            <a:pPr marL="0" indent="0" algn="ctr">
              <a:buNone/>
            </a:pPr>
            <a:r>
              <a:rPr lang="en-US" sz="1300" b="1" kern="0" spc="100" dirty="0">
                <a:solidFill>
                  <a:srgbClr val="0E96AC"/>
                </a:solidFill>
                <a:latin typeface="Calibri" pitchFamily="34" charset="0"/>
                <a:ea typeface="Calibri" pitchFamily="34" charset="-122"/>
                <a:cs typeface="Calibri" pitchFamily="34" charset="-120"/>
              </a:rPr>
              <a:t>PRINTED SEGMENT — PHOTO 1</a:t>
            </a:r>
            <a:endParaRPr lang="en-US" sz="1300" dirty="0"/>
          </a:p>
        </p:txBody>
      </p:sp>
      <p:sp>
        <p:nvSpPr>
          <p:cNvPr id="14" name="Text 11"/>
          <p:cNvSpPr/>
          <p:nvPr/>
        </p:nvSpPr>
        <p:spPr>
          <a:xfrm>
            <a:off x="914400" y="3223260"/>
            <a:ext cx="4343400" cy="548640"/>
          </a:xfrm>
          <a:prstGeom prst="rect">
            <a:avLst/>
          </a:prstGeom>
          <a:noFill/>
          <a:ln/>
        </p:spPr>
        <p:txBody>
          <a:bodyPr wrap="square" lIns="0" tIns="0" rIns="0" bIns="0" rtlCol="0" anchor="ctr"/>
          <a:lstStyle/>
          <a:p>
            <a:pPr marL="0" indent="0" algn="ctr">
              <a:lnSpc>
                <a:spcPct val="100000"/>
              </a:lnSpc>
              <a:buNone/>
            </a:pPr>
            <a:r>
              <a:rPr lang="en-US" sz="1050" i="1" dirty="0">
                <a:solidFill>
                  <a:srgbClr val="6B7890"/>
                </a:solidFill>
                <a:latin typeface="Calibri" pitchFamily="34" charset="0"/>
                <a:ea typeface="Calibri" pitchFamily="34" charset="-122"/>
                <a:cs typeface="Calibri" pitchFamily="34" charset="-120"/>
              </a:rPr>
              <a:t>Insert photo of the first 3D-printed segment</a:t>
            </a:r>
            <a:endParaRPr lang="en-US" sz="1050" dirty="0"/>
          </a:p>
        </p:txBody>
      </p:sp>
      <p:sp>
        <p:nvSpPr>
          <p:cNvPr id="15" name="Shape 12"/>
          <p:cNvSpPr/>
          <p:nvPr/>
        </p:nvSpPr>
        <p:spPr>
          <a:xfrm>
            <a:off x="548640" y="3913632"/>
            <a:ext cx="5074920" cy="2148840"/>
          </a:xfrm>
          <a:prstGeom prst="roundRect">
            <a:avLst>
              <a:gd name="adj" fmla="val 4255"/>
            </a:avLst>
          </a:prstGeom>
          <a:solidFill>
            <a:srgbClr val="ECF1F6"/>
          </a:solidFill>
          <a:ln w="19050">
            <a:solidFill>
              <a:srgbClr val="E08A1E"/>
            </a:solidFill>
            <a:prstDash val="dash"/>
          </a:ln>
        </p:spPr>
      </p:sp>
      <p:sp>
        <p:nvSpPr>
          <p:cNvPr id="16" name="Shape 13"/>
          <p:cNvSpPr/>
          <p:nvPr/>
        </p:nvSpPr>
        <p:spPr>
          <a:xfrm>
            <a:off x="2651760" y="4233672"/>
            <a:ext cx="868680" cy="868680"/>
          </a:xfrm>
          <a:prstGeom prst="ellipse">
            <a:avLst/>
          </a:prstGeom>
          <a:solidFill>
            <a:srgbClr val="FFFFFF"/>
          </a:solidFill>
          <a:ln/>
        </p:spPr>
      </p:sp>
      <p:pic>
        <p:nvPicPr>
          <p:cNvPr id="17" name="Image 1" descr="preencoded.png"/>
          <p:cNvPicPr>
            <a:picLocks noChangeAspect="1"/>
          </p:cNvPicPr>
          <p:nvPr/>
        </p:nvPicPr>
        <p:blipFill>
          <a:blip r:embed="rId4"/>
          <a:stretch>
            <a:fillRect/>
          </a:stretch>
        </p:blipFill>
        <p:spPr>
          <a:xfrm>
            <a:off x="2868930" y="4450842"/>
            <a:ext cx="434340" cy="434340"/>
          </a:xfrm>
          <a:prstGeom prst="rect">
            <a:avLst/>
          </a:prstGeom>
        </p:spPr>
      </p:pic>
      <p:sp>
        <p:nvSpPr>
          <p:cNvPr id="18" name="Text 14"/>
          <p:cNvSpPr/>
          <p:nvPr/>
        </p:nvSpPr>
        <p:spPr>
          <a:xfrm>
            <a:off x="822960" y="5216652"/>
            <a:ext cx="4526280" cy="320040"/>
          </a:xfrm>
          <a:prstGeom prst="rect">
            <a:avLst/>
          </a:prstGeom>
          <a:noFill/>
          <a:ln/>
        </p:spPr>
        <p:txBody>
          <a:bodyPr wrap="square" lIns="0" tIns="0" rIns="0" bIns="0" rtlCol="0" anchor="ctr"/>
          <a:lstStyle/>
          <a:p>
            <a:pPr marL="0" indent="0" algn="ctr">
              <a:buNone/>
            </a:pPr>
            <a:r>
              <a:rPr lang="en-US" sz="1300" b="1" kern="0" spc="100" dirty="0">
                <a:solidFill>
                  <a:srgbClr val="E08A1E"/>
                </a:solidFill>
                <a:latin typeface="Calibri" pitchFamily="34" charset="0"/>
                <a:ea typeface="Calibri" pitchFamily="34" charset="-122"/>
                <a:cs typeface="Calibri" pitchFamily="34" charset="-120"/>
              </a:rPr>
              <a:t>PRINTED SEGMENT — PHOTO 2</a:t>
            </a:r>
            <a:endParaRPr lang="en-US" sz="1300" dirty="0"/>
          </a:p>
        </p:txBody>
      </p:sp>
      <p:sp>
        <p:nvSpPr>
          <p:cNvPr id="19" name="Text 15"/>
          <p:cNvSpPr/>
          <p:nvPr/>
        </p:nvSpPr>
        <p:spPr>
          <a:xfrm>
            <a:off x="914400" y="5536692"/>
            <a:ext cx="4343400" cy="548640"/>
          </a:xfrm>
          <a:prstGeom prst="rect">
            <a:avLst/>
          </a:prstGeom>
          <a:noFill/>
          <a:ln/>
        </p:spPr>
        <p:txBody>
          <a:bodyPr wrap="square" lIns="0" tIns="0" rIns="0" bIns="0" rtlCol="0" anchor="ctr"/>
          <a:lstStyle/>
          <a:p>
            <a:pPr marL="0" indent="0" algn="ctr">
              <a:lnSpc>
                <a:spcPct val="100000"/>
              </a:lnSpc>
              <a:buNone/>
            </a:pPr>
            <a:r>
              <a:rPr lang="en-US" sz="1050" i="1" dirty="0">
                <a:solidFill>
                  <a:srgbClr val="6B7890"/>
                </a:solidFill>
                <a:latin typeface="Calibri" pitchFamily="34" charset="0"/>
                <a:ea typeface="Calibri" pitchFamily="34" charset="-122"/>
                <a:cs typeface="Calibri" pitchFamily="34" charset="-120"/>
              </a:rPr>
              <a:t>Insert photo of the second segment / assembly</a:t>
            </a:r>
            <a:endParaRPr lang="en-US" sz="1050" dirty="0"/>
          </a:p>
        </p:txBody>
      </p:sp>
      <p:sp>
        <p:nvSpPr>
          <p:cNvPr id="20" name="Text 16"/>
          <p:cNvSpPr/>
          <p:nvPr/>
        </p:nvSpPr>
        <p:spPr>
          <a:xfrm>
            <a:off x="5943600" y="1600200"/>
            <a:ext cx="5486400" cy="274320"/>
          </a:xfrm>
          <a:prstGeom prst="rect">
            <a:avLst/>
          </a:prstGeom>
          <a:noFill/>
          <a:ln/>
        </p:spPr>
        <p:txBody>
          <a:bodyPr wrap="square" lIns="0" tIns="0" rIns="0" bIns="0" rtlCol="0" anchor="ctr"/>
          <a:lstStyle/>
          <a:p>
            <a:pPr marL="0" indent="0">
              <a:buNone/>
            </a:pPr>
            <a:r>
              <a:rPr lang="en-US" sz="1200" b="1" kern="0" spc="200" dirty="0">
                <a:solidFill>
                  <a:srgbClr val="6B7890"/>
                </a:solidFill>
                <a:latin typeface="Calibri" pitchFamily="34" charset="0"/>
                <a:ea typeface="Calibri" pitchFamily="34" charset="-122"/>
                <a:cs typeface="Calibri" pitchFamily="34" charset="-120"/>
              </a:rPr>
              <a:t>FABRICATION STATUS</a:t>
            </a:r>
            <a:endParaRPr lang="en-US" sz="1200" dirty="0"/>
          </a:p>
        </p:txBody>
      </p:sp>
      <p:sp>
        <p:nvSpPr>
          <p:cNvPr id="21" name="Shape 17"/>
          <p:cNvSpPr/>
          <p:nvPr/>
        </p:nvSpPr>
        <p:spPr>
          <a:xfrm>
            <a:off x="5943600" y="208483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22" name="Shape 18"/>
          <p:cNvSpPr/>
          <p:nvPr/>
        </p:nvSpPr>
        <p:spPr>
          <a:xfrm>
            <a:off x="6144768" y="2276856"/>
            <a:ext cx="457200" cy="457200"/>
          </a:xfrm>
          <a:prstGeom prst="ellipse">
            <a:avLst/>
          </a:prstGeom>
          <a:solidFill>
            <a:srgbClr val="12A678"/>
          </a:solidFill>
          <a:ln/>
        </p:spPr>
      </p:sp>
      <p:pic>
        <p:nvPicPr>
          <p:cNvPr id="23" name="Image 2" descr="preencoded.png"/>
          <p:cNvPicPr>
            <a:picLocks noChangeAspect="1"/>
          </p:cNvPicPr>
          <p:nvPr/>
        </p:nvPicPr>
        <p:blipFill>
          <a:blip r:embed="rId5"/>
          <a:stretch>
            <a:fillRect/>
          </a:stretch>
        </p:blipFill>
        <p:spPr>
          <a:xfrm>
            <a:off x="6254496" y="2386584"/>
            <a:ext cx="237744" cy="237744"/>
          </a:xfrm>
          <a:prstGeom prst="rect">
            <a:avLst/>
          </a:prstGeom>
        </p:spPr>
      </p:pic>
      <p:sp>
        <p:nvSpPr>
          <p:cNvPr id="24" name="Text 19"/>
          <p:cNvSpPr/>
          <p:nvPr/>
        </p:nvSpPr>
        <p:spPr>
          <a:xfrm>
            <a:off x="6748272" y="221284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Two prototype segments 3D printed</a:t>
            </a:r>
            <a:endParaRPr lang="en-US" sz="1350" dirty="0"/>
          </a:p>
        </p:txBody>
      </p:sp>
      <p:sp>
        <p:nvSpPr>
          <p:cNvPr id="25" name="Text 20"/>
          <p:cNvSpPr/>
          <p:nvPr/>
        </p:nvSpPr>
        <p:spPr>
          <a:xfrm>
            <a:off x="6748272" y="252374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Both segments produced from the CAD model.</a:t>
            </a:r>
            <a:endParaRPr lang="en-US" sz="1100" dirty="0"/>
          </a:p>
        </p:txBody>
      </p:sp>
      <p:sp>
        <p:nvSpPr>
          <p:cNvPr id="26" name="Text 21"/>
          <p:cNvSpPr/>
          <p:nvPr/>
        </p:nvSpPr>
        <p:spPr>
          <a:xfrm>
            <a:off x="10972800" y="2231136"/>
            <a:ext cx="548640" cy="228600"/>
          </a:xfrm>
          <a:prstGeom prst="rect">
            <a:avLst/>
          </a:prstGeom>
          <a:noFill/>
          <a:ln/>
        </p:spPr>
        <p:txBody>
          <a:bodyPr wrap="square" lIns="0" tIns="0" rIns="0" bIns="0" rtlCol="0" anchor="ctr"/>
          <a:lstStyle/>
          <a:p>
            <a:pPr marL="0" indent="0" algn="r">
              <a:buNone/>
            </a:pPr>
            <a:r>
              <a:rPr lang="en-US" sz="800" b="1" kern="0" spc="100" dirty="0">
                <a:solidFill>
                  <a:srgbClr val="12A678"/>
                </a:solidFill>
                <a:latin typeface="Calibri" pitchFamily="34" charset="0"/>
                <a:ea typeface="Calibri" pitchFamily="34" charset="-122"/>
                <a:cs typeface="Calibri" pitchFamily="34" charset="-120"/>
              </a:rPr>
              <a:t>DONE</a:t>
            </a:r>
            <a:endParaRPr lang="en-US" sz="800" dirty="0"/>
          </a:p>
        </p:txBody>
      </p:sp>
      <p:sp>
        <p:nvSpPr>
          <p:cNvPr id="27" name="Shape 22"/>
          <p:cNvSpPr/>
          <p:nvPr/>
        </p:nvSpPr>
        <p:spPr>
          <a:xfrm>
            <a:off x="5943600" y="304495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28" name="Shape 23"/>
          <p:cNvSpPr/>
          <p:nvPr/>
        </p:nvSpPr>
        <p:spPr>
          <a:xfrm>
            <a:off x="6144768" y="3236976"/>
            <a:ext cx="457200" cy="457200"/>
          </a:xfrm>
          <a:prstGeom prst="ellipse">
            <a:avLst/>
          </a:prstGeom>
          <a:solidFill>
            <a:srgbClr val="12A678"/>
          </a:solidFill>
          <a:ln/>
        </p:spPr>
      </p:sp>
      <p:pic>
        <p:nvPicPr>
          <p:cNvPr id="29" name="Image 3" descr="preencoded.png"/>
          <p:cNvPicPr>
            <a:picLocks noChangeAspect="1"/>
          </p:cNvPicPr>
          <p:nvPr/>
        </p:nvPicPr>
        <p:blipFill>
          <a:blip r:embed="rId6"/>
          <a:stretch>
            <a:fillRect/>
          </a:stretch>
        </p:blipFill>
        <p:spPr>
          <a:xfrm>
            <a:off x="6254496" y="3346704"/>
            <a:ext cx="237744" cy="237744"/>
          </a:xfrm>
          <a:prstGeom prst="rect">
            <a:avLst/>
          </a:prstGeom>
        </p:spPr>
      </p:pic>
      <p:sp>
        <p:nvSpPr>
          <p:cNvPr id="30" name="Text 24"/>
          <p:cNvSpPr/>
          <p:nvPr/>
        </p:nvSpPr>
        <p:spPr>
          <a:xfrm>
            <a:off x="6748272" y="317296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Initial dimensional verification done</a:t>
            </a:r>
            <a:endParaRPr lang="en-US" sz="1350" dirty="0"/>
          </a:p>
        </p:txBody>
      </p:sp>
      <p:sp>
        <p:nvSpPr>
          <p:cNvPr id="31" name="Text 25"/>
          <p:cNvSpPr/>
          <p:nvPr/>
        </p:nvSpPr>
        <p:spPr>
          <a:xfrm>
            <a:off x="6748272" y="348386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Printed parts measured against design specs.</a:t>
            </a:r>
            <a:endParaRPr lang="en-US" sz="1100" dirty="0"/>
          </a:p>
        </p:txBody>
      </p:sp>
      <p:sp>
        <p:nvSpPr>
          <p:cNvPr id="32" name="Text 26"/>
          <p:cNvSpPr/>
          <p:nvPr/>
        </p:nvSpPr>
        <p:spPr>
          <a:xfrm>
            <a:off x="10972800" y="3191256"/>
            <a:ext cx="548640" cy="228600"/>
          </a:xfrm>
          <a:prstGeom prst="rect">
            <a:avLst/>
          </a:prstGeom>
          <a:noFill/>
          <a:ln/>
        </p:spPr>
        <p:txBody>
          <a:bodyPr wrap="square" lIns="0" tIns="0" rIns="0" bIns="0" rtlCol="0" anchor="ctr"/>
          <a:lstStyle/>
          <a:p>
            <a:pPr marL="0" indent="0" algn="r">
              <a:buNone/>
            </a:pPr>
            <a:r>
              <a:rPr lang="en-US" sz="800" b="1" kern="0" spc="100" dirty="0">
                <a:solidFill>
                  <a:srgbClr val="12A678"/>
                </a:solidFill>
                <a:latin typeface="Calibri" pitchFamily="34" charset="0"/>
                <a:ea typeface="Calibri" pitchFamily="34" charset="-122"/>
                <a:cs typeface="Calibri" pitchFamily="34" charset="-120"/>
              </a:rPr>
              <a:t>DONE</a:t>
            </a:r>
            <a:endParaRPr lang="en-US" sz="800" dirty="0"/>
          </a:p>
        </p:txBody>
      </p:sp>
      <p:sp>
        <p:nvSpPr>
          <p:cNvPr id="33" name="Shape 27"/>
          <p:cNvSpPr/>
          <p:nvPr/>
        </p:nvSpPr>
        <p:spPr>
          <a:xfrm>
            <a:off x="5943600" y="400507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34" name="Shape 28"/>
          <p:cNvSpPr/>
          <p:nvPr/>
        </p:nvSpPr>
        <p:spPr>
          <a:xfrm>
            <a:off x="6144768" y="4197096"/>
            <a:ext cx="457200" cy="457200"/>
          </a:xfrm>
          <a:prstGeom prst="ellipse">
            <a:avLst/>
          </a:prstGeom>
          <a:solidFill>
            <a:srgbClr val="E08A1E"/>
          </a:solidFill>
          <a:ln/>
        </p:spPr>
      </p:sp>
      <p:pic>
        <p:nvPicPr>
          <p:cNvPr id="35" name="Image 4" descr="preencoded.png"/>
          <p:cNvPicPr>
            <a:picLocks noChangeAspect="1"/>
          </p:cNvPicPr>
          <p:nvPr/>
        </p:nvPicPr>
        <p:blipFill>
          <a:blip r:embed="rId7"/>
          <a:stretch>
            <a:fillRect/>
          </a:stretch>
        </p:blipFill>
        <p:spPr>
          <a:xfrm>
            <a:off x="6254496" y="4306824"/>
            <a:ext cx="237744" cy="237744"/>
          </a:xfrm>
          <a:prstGeom prst="rect">
            <a:avLst/>
          </a:prstGeom>
        </p:spPr>
      </p:pic>
      <p:sp>
        <p:nvSpPr>
          <p:cNvPr id="36" name="Text 29"/>
          <p:cNvSpPr/>
          <p:nvPr/>
        </p:nvSpPr>
        <p:spPr>
          <a:xfrm>
            <a:off x="6748272" y="413308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Physical validation of CAD initiated</a:t>
            </a:r>
            <a:endParaRPr lang="en-US" sz="1350" dirty="0"/>
          </a:p>
        </p:txBody>
      </p:sp>
      <p:sp>
        <p:nvSpPr>
          <p:cNvPr id="37" name="Text 30"/>
          <p:cNvSpPr/>
          <p:nvPr/>
        </p:nvSpPr>
        <p:spPr>
          <a:xfrm>
            <a:off x="6748272" y="444398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Checking fit, tolerances and assembly.</a:t>
            </a:r>
            <a:endParaRPr lang="en-US" sz="1100" dirty="0"/>
          </a:p>
        </p:txBody>
      </p:sp>
      <p:sp>
        <p:nvSpPr>
          <p:cNvPr id="38" name="Text 31"/>
          <p:cNvSpPr/>
          <p:nvPr/>
        </p:nvSpPr>
        <p:spPr>
          <a:xfrm>
            <a:off x="10972800" y="4151376"/>
            <a:ext cx="548640" cy="228600"/>
          </a:xfrm>
          <a:prstGeom prst="rect">
            <a:avLst/>
          </a:prstGeom>
          <a:noFill/>
          <a:ln/>
        </p:spPr>
        <p:txBody>
          <a:bodyPr wrap="square" lIns="0" tIns="0" rIns="0" bIns="0" rtlCol="0" anchor="ctr"/>
          <a:lstStyle/>
          <a:p>
            <a:pPr marL="0" indent="0" algn="r">
              <a:buNone/>
            </a:pPr>
            <a:r>
              <a:rPr lang="en-US" sz="800" b="1" kern="0" spc="100" dirty="0">
                <a:solidFill>
                  <a:srgbClr val="E08A1E"/>
                </a:solidFill>
                <a:latin typeface="Calibri" pitchFamily="34" charset="0"/>
                <a:ea typeface="Calibri" pitchFamily="34" charset="-122"/>
                <a:cs typeface="Calibri" pitchFamily="34" charset="-120"/>
              </a:rPr>
              <a:t>NEXT</a:t>
            </a:r>
            <a:endParaRPr lang="en-US" sz="800" dirty="0"/>
          </a:p>
        </p:txBody>
      </p:sp>
      <p:sp>
        <p:nvSpPr>
          <p:cNvPr id="39" name="Shape 32"/>
          <p:cNvSpPr/>
          <p:nvPr/>
        </p:nvSpPr>
        <p:spPr>
          <a:xfrm>
            <a:off x="5943600" y="4965192"/>
            <a:ext cx="5715000" cy="841248"/>
          </a:xfrm>
          <a:prstGeom prst="roundRect">
            <a:avLst>
              <a:gd name="adj" fmla="val 8696"/>
            </a:avLst>
          </a:prstGeom>
          <a:solidFill>
            <a:srgbClr val="FFFFFF"/>
          </a:solidFill>
          <a:ln w="12700">
            <a:solidFill>
              <a:srgbClr val="E2E8F0"/>
            </a:solidFill>
            <a:prstDash val="solid"/>
          </a:ln>
          <a:effectLst>
            <a:outerShdw blurRad="76200" dist="25400" dir="5400000" algn="bl" rotWithShape="0">
              <a:srgbClr val="1A2440">
                <a:alpha val="8000"/>
              </a:srgbClr>
            </a:outerShdw>
          </a:effectLst>
        </p:spPr>
      </p:sp>
      <p:sp>
        <p:nvSpPr>
          <p:cNvPr id="40" name="Shape 33"/>
          <p:cNvSpPr/>
          <p:nvPr/>
        </p:nvSpPr>
        <p:spPr>
          <a:xfrm>
            <a:off x="6144768" y="5157216"/>
            <a:ext cx="457200" cy="457200"/>
          </a:xfrm>
          <a:prstGeom prst="ellipse">
            <a:avLst/>
          </a:prstGeom>
          <a:solidFill>
            <a:srgbClr val="E08A1E"/>
          </a:solidFill>
          <a:ln/>
        </p:spPr>
      </p:sp>
      <p:pic>
        <p:nvPicPr>
          <p:cNvPr id="41" name="Image 5" descr="preencoded.png"/>
          <p:cNvPicPr>
            <a:picLocks noChangeAspect="1"/>
          </p:cNvPicPr>
          <p:nvPr/>
        </p:nvPicPr>
        <p:blipFill>
          <a:blip r:embed="rId8"/>
          <a:stretch>
            <a:fillRect/>
          </a:stretch>
        </p:blipFill>
        <p:spPr>
          <a:xfrm>
            <a:off x="6254496" y="5266944"/>
            <a:ext cx="237744" cy="237744"/>
          </a:xfrm>
          <a:prstGeom prst="rect">
            <a:avLst/>
          </a:prstGeom>
        </p:spPr>
      </p:pic>
      <p:sp>
        <p:nvSpPr>
          <p:cNvPr id="42" name="Text 34"/>
          <p:cNvSpPr/>
          <p:nvPr/>
        </p:nvSpPr>
        <p:spPr>
          <a:xfrm>
            <a:off x="6748272" y="5093208"/>
            <a:ext cx="4297680" cy="310896"/>
          </a:xfrm>
          <a:prstGeom prst="rect">
            <a:avLst/>
          </a:prstGeom>
          <a:noFill/>
          <a:ln/>
        </p:spPr>
        <p:txBody>
          <a:bodyPr wrap="square" lIns="0" tIns="0" rIns="0" bIns="0" rtlCol="0" anchor="ctr"/>
          <a:lstStyle/>
          <a:p>
            <a:pPr marL="0" indent="0">
              <a:buNone/>
            </a:pPr>
            <a:r>
              <a:rPr lang="en-US" sz="1350" b="1" dirty="0">
                <a:solidFill>
                  <a:srgbClr val="16223A"/>
                </a:solidFill>
                <a:latin typeface="Calibri" pitchFamily="34" charset="0"/>
                <a:ea typeface="Calibri" pitchFamily="34" charset="-122"/>
                <a:cs typeface="Calibri" pitchFamily="34" charset="-120"/>
              </a:rPr>
              <a:t>Preparing for motor-integration tests</a:t>
            </a:r>
            <a:endParaRPr lang="en-US" sz="1350" dirty="0"/>
          </a:p>
        </p:txBody>
      </p:sp>
      <p:sp>
        <p:nvSpPr>
          <p:cNvPr id="43" name="Text 35"/>
          <p:cNvSpPr/>
          <p:nvPr/>
        </p:nvSpPr>
        <p:spPr>
          <a:xfrm>
            <a:off x="6748272" y="5404104"/>
            <a:ext cx="4663440" cy="274320"/>
          </a:xfrm>
          <a:prstGeom prst="rect">
            <a:avLst/>
          </a:prstGeom>
          <a:noFill/>
          <a:ln/>
        </p:spPr>
        <p:txBody>
          <a:bodyPr wrap="square" lIns="0" tIns="0" rIns="0" bIns="0" rtlCol="0" anchor="ctr"/>
          <a:lstStyle/>
          <a:p>
            <a:pPr marL="0" indent="0">
              <a:buNone/>
            </a:pPr>
            <a:r>
              <a:rPr lang="en-US" sz="1100" dirty="0">
                <a:solidFill>
                  <a:srgbClr val="6B7890"/>
                </a:solidFill>
                <a:latin typeface="Calibri" pitchFamily="34" charset="0"/>
                <a:ea typeface="Calibri" pitchFamily="34" charset="-122"/>
                <a:cs typeface="Calibri" pitchFamily="34" charset="-120"/>
              </a:rPr>
              <a:t>Next: seat XL330 servos into segments.</a:t>
            </a:r>
            <a:endParaRPr lang="en-US" sz="1100" dirty="0"/>
          </a:p>
        </p:txBody>
      </p:sp>
      <p:sp>
        <p:nvSpPr>
          <p:cNvPr id="44" name="Text 36"/>
          <p:cNvSpPr/>
          <p:nvPr/>
        </p:nvSpPr>
        <p:spPr>
          <a:xfrm>
            <a:off x="10972800" y="5111496"/>
            <a:ext cx="548640" cy="228600"/>
          </a:xfrm>
          <a:prstGeom prst="rect">
            <a:avLst/>
          </a:prstGeom>
          <a:noFill/>
          <a:ln/>
        </p:spPr>
        <p:txBody>
          <a:bodyPr wrap="square" lIns="0" tIns="0" rIns="0" bIns="0" rtlCol="0" anchor="ctr"/>
          <a:lstStyle/>
          <a:p>
            <a:pPr marL="0" indent="0" algn="r">
              <a:buNone/>
            </a:pPr>
            <a:r>
              <a:rPr lang="en-US" sz="800" b="1" kern="0" spc="100" dirty="0">
                <a:solidFill>
                  <a:srgbClr val="E08A1E"/>
                </a:solidFill>
                <a:latin typeface="Calibri" pitchFamily="34" charset="0"/>
                <a:ea typeface="Calibri" pitchFamily="34" charset="-122"/>
                <a:cs typeface="Calibri" pitchFamily="34" charset="-120"/>
              </a:rPr>
              <a:t>NEXT</a:t>
            </a:r>
            <a:endParaRPr lang="en-US" sz="800" dirty="0"/>
          </a:p>
        </p:txBody>
      </p:sp>
      <p:pic>
        <p:nvPicPr>
          <p:cNvPr id="5" name="Picture 4" descr="The image shows a white, rectangular piece of furniture, possibly a desk or shelf, resting on a patterned carpet with a few scattered fabric scraps nearby.">
            <a:extLst>
              <a:ext uri="{FF2B5EF4-FFF2-40B4-BE49-F238E27FC236}">
                <a16:creationId xmlns:a16="http://schemas.microsoft.com/office/drawing/2014/main" id="{2B7CD62D-6348-4C50-4F1E-F52677B2E6DA}"/>
              </a:ext>
            </a:extLst>
          </p:cNvPr>
          <p:cNvPicPr>
            <a:picLocks noChangeAspect="1"/>
          </p:cNvPicPr>
          <p:nvPr/>
        </p:nvPicPr>
        <p:blipFill>
          <a:blip r:embed="rId9"/>
          <a:srcRect l="23494" t="18612" r="28325" b="16104"/>
          <a:stretch>
            <a:fillRect/>
          </a:stretch>
        </p:blipFill>
        <p:spPr>
          <a:xfrm>
            <a:off x="576072" y="1606526"/>
            <a:ext cx="5047487" cy="2101366"/>
          </a:xfrm>
          <a:prstGeom prst="rect">
            <a:avLst/>
          </a:prstGeom>
        </p:spPr>
      </p:pic>
      <p:pic>
        <p:nvPicPr>
          <p:cNvPr id="7" name="Picture 6" descr="The image shows a white, rectangular plastic structure lying flat on a patterned carpeted floor.&#10;&#10;AI-generated content may be incorrect.">
            <a:extLst>
              <a:ext uri="{FF2B5EF4-FFF2-40B4-BE49-F238E27FC236}">
                <a16:creationId xmlns:a16="http://schemas.microsoft.com/office/drawing/2014/main" id="{B31C5E51-FD00-4342-13F3-2A959BDD17D3}"/>
              </a:ext>
            </a:extLst>
          </p:cNvPr>
          <p:cNvPicPr>
            <a:picLocks noChangeAspect="1"/>
          </p:cNvPicPr>
          <p:nvPr/>
        </p:nvPicPr>
        <p:blipFill>
          <a:blip r:embed="rId10"/>
          <a:srcRect l="17223" t="9297" r="24652" b="21573"/>
          <a:stretch>
            <a:fillRect/>
          </a:stretch>
        </p:blipFill>
        <p:spPr>
          <a:xfrm>
            <a:off x="576072" y="3970730"/>
            <a:ext cx="5001768" cy="20313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6F8FB"/>
        </a:solidFill>
        <a:effectLst/>
      </p:bgPr>
    </p:bg>
    <p:spTree>
      <p:nvGrpSpPr>
        <p:cNvPr id="1" name=""/>
        <p:cNvGrpSpPr/>
        <p:nvPr/>
      </p:nvGrpSpPr>
      <p:grpSpPr>
        <a:xfrm>
          <a:off x="0" y="0"/>
          <a:ext cx="0" cy="0"/>
          <a:chOff x="0" y="0"/>
          <a:chExt cx="0" cy="0"/>
        </a:xfrm>
      </p:grpSpPr>
      <p:sp>
        <p:nvSpPr>
          <p:cNvPr id="300" name="LeftBg"/>
          <p:cNvSpPr/>
          <p:nvPr/>
        </p:nvSpPr>
        <p:spPr>
          <a:xfrm>
            <a:off x="101600" y="787400"/>
            <a:ext cx="4699000" cy="5943600"/>
          </a:xfrm>
          <a:prstGeom prst="roundRect">
            <a:avLst>
              <a:gd name="adj" fmla="val 3000"/>
            </a:avLst>
          </a:prstGeom>
          <a:solidFill>
            <a:srgbClr val="F4F7FB"/>
          </a:solidFill>
          <a:ln w="9525">
            <a:solidFill>
              <a:srgbClr val="DDE5F0"/>
            </a:solidFill>
          </a:ln>
        </p:spPr>
        <p:txBody>
          <a:bodyPr/>
          <a:lstStyle/>
          <a:p>
            <a:endParaRPr/>
          </a:p>
        </p:txBody>
      </p:sp>
      <p:sp>
        <p:nvSpPr>
          <p:cNvPr id="10" name="Shape 8"/>
          <p:cNvSpPr/>
          <p:nvPr/>
        </p:nvSpPr>
        <p:spPr>
          <a:xfrm>
            <a:off x="177800" y="9398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11" name="Shape 9"/>
          <p:cNvSpPr/>
          <p:nvPr/>
        </p:nvSpPr>
        <p:spPr>
          <a:xfrm>
            <a:off x="279400" y="1104900"/>
            <a:ext cx="393700" cy="393700"/>
          </a:xfrm>
          <a:prstGeom prst="ellipse">
            <a:avLst/>
          </a:prstGeom>
          <a:solidFill>
            <a:srgbClr val="0E96AC"/>
          </a:solidFill>
          <a:ln/>
        </p:spPr>
        <p:txBody>
          <a:bodyPr/>
          <a:lstStyle/>
          <a:p>
            <a:endParaRPr lang="en-IN"/>
          </a:p>
        </p:txBody>
      </p:sp>
      <p:pic>
        <p:nvPicPr>
          <p:cNvPr id="12" name="Image 0" descr="preencoded.png"/>
          <p:cNvPicPr>
            <a:picLocks noChangeAspect="1"/>
          </p:cNvPicPr>
          <p:nvPr/>
        </p:nvPicPr>
        <p:blipFill>
          <a:blip r:embed="rId3"/>
          <a:stretch>
            <a:fillRect/>
          </a:stretch>
        </p:blipFill>
        <p:spPr>
          <a:xfrm>
            <a:off x="381000" y="1206500"/>
            <a:ext cx="190500" cy="190500"/>
          </a:xfrm>
          <a:prstGeom prst="rect">
            <a:avLst/>
          </a:prstGeom>
        </p:spPr>
      </p:pic>
      <p:sp>
        <p:nvSpPr>
          <p:cNvPr id="13" name="Text 10"/>
          <p:cNvSpPr/>
          <p:nvPr/>
        </p:nvSpPr>
        <p:spPr>
          <a:xfrm>
            <a:off x="762000" y="10414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Raspberry Pi 5 received &amp; configured</a:t>
            </a:r>
            <a:endParaRPr lang="en-US" sz="1250" dirty="0"/>
          </a:p>
        </p:txBody>
      </p:sp>
      <p:pic>
        <p:nvPicPr>
          <p:cNvPr id="14" name="Image 1" descr="preencoded.png"/>
          <p:cNvPicPr>
            <a:picLocks noChangeAspect="1"/>
          </p:cNvPicPr>
          <p:nvPr/>
        </p:nvPicPr>
        <p:blipFill>
          <a:blip r:embed="rId4"/>
          <a:stretch>
            <a:fillRect/>
          </a:stretch>
        </p:blipFill>
        <p:spPr>
          <a:xfrm>
            <a:off x="4368800" y="1193800"/>
            <a:ext cx="215900" cy="215900"/>
          </a:xfrm>
          <a:prstGeom prst="rect">
            <a:avLst/>
          </a:prstGeom>
        </p:spPr>
      </p:pic>
      <p:sp>
        <p:nvSpPr>
          <p:cNvPr id="15" name="Shape 11"/>
          <p:cNvSpPr/>
          <p:nvPr/>
        </p:nvSpPr>
        <p:spPr>
          <a:xfrm>
            <a:off x="177800" y="18542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16" name="Shape 12"/>
          <p:cNvSpPr/>
          <p:nvPr/>
        </p:nvSpPr>
        <p:spPr>
          <a:xfrm>
            <a:off x="279400" y="2019300"/>
            <a:ext cx="393700" cy="393700"/>
          </a:xfrm>
          <a:prstGeom prst="ellipse">
            <a:avLst/>
          </a:prstGeom>
          <a:solidFill>
            <a:srgbClr val="0E96AC"/>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381000" y="2120900"/>
            <a:ext cx="190500" cy="190500"/>
          </a:xfrm>
          <a:prstGeom prst="rect">
            <a:avLst/>
          </a:prstGeom>
        </p:spPr>
      </p:pic>
      <p:sp>
        <p:nvSpPr>
          <p:cNvPr id="18" name="Text 13"/>
          <p:cNvSpPr/>
          <p:nvPr/>
        </p:nvSpPr>
        <p:spPr>
          <a:xfrm>
            <a:off x="762000" y="19558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Raspberry Pi OS installation completed</a:t>
            </a:r>
            <a:endParaRPr lang="en-US" sz="1250" dirty="0"/>
          </a:p>
        </p:txBody>
      </p:sp>
      <p:pic>
        <p:nvPicPr>
          <p:cNvPr id="19" name="Image 3" descr="preencoded.png"/>
          <p:cNvPicPr>
            <a:picLocks noChangeAspect="1"/>
          </p:cNvPicPr>
          <p:nvPr/>
        </p:nvPicPr>
        <p:blipFill>
          <a:blip r:embed="rId4"/>
          <a:stretch>
            <a:fillRect/>
          </a:stretch>
        </p:blipFill>
        <p:spPr>
          <a:xfrm>
            <a:off x="4368800" y="2108200"/>
            <a:ext cx="215900" cy="215900"/>
          </a:xfrm>
          <a:prstGeom prst="rect">
            <a:avLst/>
          </a:prstGeom>
        </p:spPr>
      </p:pic>
      <p:sp>
        <p:nvSpPr>
          <p:cNvPr id="20" name="Shape 14"/>
          <p:cNvSpPr/>
          <p:nvPr/>
        </p:nvSpPr>
        <p:spPr>
          <a:xfrm>
            <a:off x="177800" y="27686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21" name="Shape 15"/>
          <p:cNvSpPr/>
          <p:nvPr/>
        </p:nvSpPr>
        <p:spPr>
          <a:xfrm>
            <a:off x="279400" y="2933700"/>
            <a:ext cx="393700" cy="393700"/>
          </a:xfrm>
          <a:prstGeom prst="ellipse">
            <a:avLst/>
          </a:prstGeom>
          <a:solidFill>
            <a:srgbClr val="0E96AC"/>
          </a:solidFill>
          <a:ln/>
        </p:spPr>
        <p:txBody>
          <a:bodyPr/>
          <a:lstStyle/>
          <a:p>
            <a:endParaRPr lang="en-IN"/>
          </a:p>
        </p:txBody>
      </p:sp>
      <p:pic>
        <p:nvPicPr>
          <p:cNvPr id="22" name="Image 4" descr="preencoded.png"/>
          <p:cNvPicPr>
            <a:picLocks noChangeAspect="1"/>
          </p:cNvPicPr>
          <p:nvPr/>
        </p:nvPicPr>
        <p:blipFill>
          <a:blip r:embed="rId6"/>
          <a:stretch>
            <a:fillRect/>
          </a:stretch>
        </p:blipFill>
        <p:spPr>
          <a:xfrm>
            <a:off x="381000" y="3035300"/>
            <a:ext cx="190500" cy="190500"/>
          </a:xfrm>
          <a:prstGeom prst="rect">
            <a:avLst/>
          </a:prstGeom>
        </p:spPr>
      </p:pic>
      <p:sp>
        <p:nvSpPr>
          <p:cNvPr id="23" name="Text 16"/>
          <p:cNvSpPr/>
          <p:nvPr/>
        </p:nvSpPr>
        <p:spPr>
          <a:xfrm>
            <a:off x="762000" y="28702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Wi-Fi connectivity established</a:t>
            </a:r>
            <a:endParaRPr lang="en-US" sz="1250" dirty="0"/>
          </a:p>
        </p:txBody>
      </p:sp>
      <p:pic>
        <p:nvPicPr>
          <p:cNvPr id="24" name="Image 5" descr="preencoded.png"/>
          <p:cNvPicPr>
            <a:picLocks noChangeAspect="1"/>
          </p:cNvPicPr>
          <p:nvPr/>
        </p:nvPicPr>
        <p:blipFill>
          <a:blip r:embed="rId4"/>
          <a:stretch>
            <a:fillRect/>
          </a:stretch>
        </p:blipFill>
        <p:spPr>
          <a:xfrm>
            <a:off x="4368800" y="3022600"/>
            <a:ext cx="215900" cy="215900"/>
          </a:xfrm>
          <a:prstGeom prst="rect">
            <a:avLst/>
          </a:prstGeom>
        </p:spPr>
      </p:pic>
      <p:sp>
        <p:nvSpPr>
          <p:cNvPr id="25" name="Shape 17"/>
          <p:cNvSpPr/>
          <p:nvPr/>
        </p:nvSpPr>
        <p:spPr>
          <a:xfrm>
            <a:off x="177800" y="36830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26" name="Shape 18"/>
          <p:cNvSpPr/>
          <p:nvPr/>
        </p:nvSpPr>
        <p:spPr>
          <a:xfrm>
            <a:off x="279400" y="3848100"/>
            <a:ext cx="393700" cy="393700"/>
          </a:xfrm>
          <a:prstGeom prst="ellipse">
            <a:avLst/>
          </a:prstGeom>
          <a:solidFill>
            <a:srgbClr val="0E96AC"/>
          </a:solidFill>
          <a:ln/>
        </p:spPr>
        <p:txBody>
          <a:bodyPr/>
          <a:lstStyle/>
          <a:p>
            <a:endParaRPr lang="en-IN"/>
          </a:p>
        </p:txBody>
      </p:sp>
      <p:pic>
        <p:nvPicPr>
          <p:cNvPr id="27" name="Image 6" descr="preencoded.png"/>
          <p:cNvPicPr>
            <a:picLocks noChangeAspect="1"/>
          </p:cNvPicPr>
          <p:nvPr/>
        </p:nvPicPr>
        <p:blipFill>
          <a:blip r:embed="rId7"/>
          <a:stretch>
            <a:fillRect/>
          </a:stretch>
        </p:blipFill>
        <p:spPr>
          <a:xfrm>
            <a:off x="381000" y="3949700"/>
            <a:ext cx="190500" cy="190500"/>
          </a:xfrm>
          <a:prstGeom prst="rect">
            <a:avLst/>
          </a:prstGeom>
        </p:spPr>
      </p:pic>
      <p:sp>
        <p:nvSpPr>
          <p:cNvPr id="28" name="Text 19"/>
          <p:cNvSpPr/>
          <p:nvPr/>
        </p:nvSpPr>
        <p:spPr>
          <a:xfrm>
            <a:off x="762000" y="37846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SSH &amp; remote access explored</a:t>
            </a:r>
            <a:endParaRPr lang="en-US" sz="1250" dirty="0"/>
          </a:p>
        </p:txBody>
      </p:sp>
      <p:pic>
        <p:nvPicPr>
          <p:cNvPr id="29" name="Image 7" descr="preencoded.png"/>
          <p:cNvPicPr>
            <a:picLocks noChangeAspect="1"/>
          </p:cNvPicPr>
          <p:nvPr/>
        </p:nvPicPr>
        <p:blipFill>
          <a:blip r:embed="rId4"/>
          <a:stretch>
            <a:fillRect/>
          </a:stretch>
        </p:blipFill>
        <p:spPr>
          <a:xfrm>
            <a:off x="4368800" y="3937000"/>
            <a:ext cx="215900" cy="215900"/>
          </a:xfrm>
          <a:prstGeom prst="rect">
            <a:avLst/>
          </a:prstGeom>
        </p:spPr>
      </p:pic>
      <p:sp>
        <p:nvSpPr>
          <p:cNvPr id="30" name="Shape 20"/>
          <p:cNvSpPr/>
          <p:nvPr/>
        </p:nvSpPr>
        <p:spPr>
          <a:xfrm>
            <a:off x="177800" y="45974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31" name="Shape 21"/>
          <p:cNvSpPr/>
          <p:nvPr/>
        </p:nvSpPr>
        <p:spPr>
          <a:xfrm>
            <a:off x="279400" y="4762500"/>
            <a:ext cx="393700" cy="393700"/>
          </a:xfrm>
          <a:prstGeom prst="ellipse">
            <a:avLst/>
          </a:prstGeom>
          <a:solidFill>
            <a:srgbClr val="0E96AC"/>
          </a:solidFill>
          <a:ln/>
        </p:spPr>
        <p:txBody>
          <a:bodyPr/>
          <a:lstStyle/>
          <a:p>
            <a:endParaRPr lang="en-IN"/>
          </a:p>
        </p:txBody>
      </p:sp>
      <p:pic>
        <p:nvPicPr>
          <p:cNvPr id="32" name="Image 8" descr="preencoded.png"/>
          <p:cNvPicPr>
            <a:picLocks noChangeAspect="1"/>
          </p:cNvPicPr>
          <p:nvPr/>
        </p:nvPicPr>
        <p:blipFill>
          <a:blip r:embed="rId8"/>
          <a:stretch>
            <a:fillRect/>
          </a:stretch>
        </p:blipFill>
        <p:spPr>
          <a:xfrm>
            <a:off x="381000" y="4864100"/>
            <a:ext cx="190500" cy="190500"/>
          </a:xfrm>
          <a:prstGeom prst="rect">
            <a:avLst/>
          </a:prstGeom>
        </p:spPr>
      </p:pic>
      <p:sp>
        <p:nvSpPr>
          <p:cNvPr id="33" name="Text 22"/>
          <p:cNvSpPr/>
          <p:nvPr/>
        </p:nvSpPr>
        <p:spPr>
          <a:xfrm>
            <a:off x="762000" y="46990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Basic GPIO &amp; intro projects performed</a:t>
            </a:r>
            <a:endParaRPr lang="en-US" sz="1250" dirty="0"/>
          </a:p>
        </p:txBody>
      </p:sp>
      <p:pic>
        <p:nvPicPr>
          <p:cNvPr id="34" name="Image 9" descr="preencoded.png"/>
          <p:cNvPicPr>
            <a:picLocks noChangeAspect="1"/>
          </p:cNvPicPr>
          <p:nvPr/>
        </p:nvPicPr>
        <p:blipFill>
          <a:blip r:embed="rId4"/>
          <a:stretch>
            <a:fillRect/>
          </a:stretch>
        </p:blipFill>
        <p:spPr>
          <a:xfrm>
            <a:off x="4368800" y="4851400"/>
            <a:ext cx="215900" cy="215900"/>
          </a:xfrm>
          <a:prstGeom prst="rect">
            <a:avLst/>
          </a:prstGeom>
        </p:spPr>
      </p:pic>
      <p:sp>
        <p:nvSpPr>
          <p:cNvPr id="35" name="Shape 23"/>
          <p:cNvSpPr/>
          <p:nvPr/>
        </p:nvSpPr>
        <p:spPr>
          <a:xfrm>
            <a:off x="177800" y="5511800"/>
            <a:ext cx="4495800" cy="723900"/>
          </a:xfrm>
          <a:prstGeom prst="roundRect">
            <a:avLst>
              <a:gd name="adj" fmla="val 10294"/>
            </a:avLst>
          </a:prstGeom>
          <a:solidFill>
            <a:srgbClr val="FFFFFF"/>
          </a:solidFill>
          <a:ln w="12700">
            <a:solidFill>
              <a:srgbClr val="E2E8F0"/>
            </a:solidFill>
            <a:prstDash val="solid"/>
          </a:ln>
        </p:spPr>
        <p:txBody>
          <a:bodyPr/>
          <a:lstStyle/>
          <a:p>
            <a:endParaRPr lang="en-IN"/>
          </a:p>
        </p:txBody>
      </p:sp>
      <p:sp>
        <p:nvSpPr>
          <p:cNvPr id="36" name="Shape 24"/>
          <p:cNvSpPr/>
          <p:nvPr/>
        </p:nvSpPr>
        <p:spPr>
          <a:xfrm>
            <a:off x="279400" y="5676900"/>
            <a:ext cx="393700" cy="393700"/>
          </a:xfrm>
          <a:prstGeom prst="ellipse">
            <a:avLst/>
          </a:prstGeom>
          <a:solidFill>
            <a:srgbClr val="0E96AC"/>
          </a:solidFill>
          <a:ln/>
        </p:spPr>
        <p:txBody>
          <a:bodyPr/>
          <a:lstStyle/>
          <a:p>
            <a:endParaRPr lang="en-IN"/>
          </a:p>
        </p:txBody>
      </p:sp>
      <p:pic>
        <p:nvPicPr>
          <p:cNvPr id="37" name="Image 10" descr="preencoded.png"/>
          <p:cNvPicPr>
            <a:picLocks noChangeAspect="1"/>
          </p:cNvPicPr>
          <p:nvPr/>
        </p:nvPicPr>
        <p:blipFill>
          <a:blip r:embed="rId9"/>
          <a:stretch>
            <a:fillRect/>
          </a:stretch>
        </p:blipFill>
        <p:spPr>
          <a:xfrm>
            <a:off x="381000" y="5778500"/>
            <a:ext cx="190500" cy="190500"/>
          </a:xfrm>
          <a:prstGeom prst="rect">
            <a:avLst/>
          </a:prstGeom>
        </p:spPr>
      </p:pic>
      <p:sp>
        <p:nvSpPr>
          <p:cNvPr id="38" name="Text 25"/>
          <p:cNvSpPr/>
          <p:nvPr/>
        </p:nvSpPr>
        <p:spPr>
          <a:xfrm>
            <a:off x="762000" y="5613400"/>
            <a:ext cx="3390900" cy="520700"/>
          </a:xfrm>
          <a:prstGeom prst="rect">
            <a:avLst/>
          </a:prstGeom>
          <a:noFill/>
          <a:ln/>
        </p:spPr>
        <p:txBody>
          <a:bodyPr wrap="square" lIns="0" tIns="0" rIns="0" bIns="0" rtlCol="0" anchor="ctr"/>
          <a:lstStyle/>
          <a:p>
            <a:pPr marL="0" indent="0">
              <a:buNone/>
            </a:pPr>
            <a:r>
              <a:rPr lang="en-US" sz="1250" dirty="0">
                <a:solidFill>
                  <a:srgbClr val="16223A"/>
                </a:solidFill>
                <a:latin typeface="Calibri" pitchFamily="34" charset="0"/>
                <a:ea typeface="Calibri" pitchFamily="34" charset="-122"/>
                <a:cs typeface="Calibri" pitchFamily="34" charset="-120"/>
              </a:rPr>
              <a:t>Linux environment &amp; Python familiarity</a:t>
            </a:r>
            <a:endParaRPr lang="en-US" sz="1250" dirty="0"/>
          </a:p>
        </p:txBody>
      </p:sp>
      <p:pic>
        <p:nvPicPr>
          <p:cNvPr id="39" name="Image 11" descr="preencoded.png"/>
          <p:cNvPicPr>
            <a:picLocks noChangeAspect="1"/>
          </p:cNvPicPr>
          <p:nvPr/>
        </p:nvPicPr>
        <p:blipFill>
          <a:blip r:embed="rId4"/>
          <a:stretch>
            <a:fillRect/>
          </a:stretch>
        </p:blipFill>
        <p:spPr>
          <a:xfrm>
            <a:off x="4368800" y="5765800"/>
            <a:ext cx="215900" cy="215900"/>
          </a:xfrm>
          <a:prstGeom prst="rect">
            <a:avLst/>
          </a:prstGeom>
        </p:spPr>
      </p:pic>
      <p:sp>
        <p:nvSpPr>
          <p:cNvPr id="310" name="Card0"/>
          <p:cNvSpPr/>
          <p:nvPr/>
        </p:nvSpPr>
        <p:spPr>
          <a:xfrm>
            <a:off x="5080000" y="1003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1" name="Card1"/>
          <p:cNvSpPr/>
          <p:nvPr/>
        </p:nvSpPr>
        <p:spPr>
          <a:xfrm>
            <a:off x="8458200" y="1003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2" name="Card2"/>
          <p:cNvSpPr/>
          <p:nvPr/>
        </p:nvSpPr>
        <p:spPr>
          <a:xfrm>
            <a:off x="5080000" y="3162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sp>
        <p:nvSpPr>
          <p:cNvPr id="313" name="Card3"/>
          <p:cNvSpPr/>
          <p:nvPr/>
        </p:nvSpPr>
        <p:spPr>
          <a:xfrm>
            <a:off x="8458200" y="3162300"/>
            <a:ext cx="3251200" cy="1828800"/>
          </a:xfrm>
          <a:prstGeom prst="roundRect">
            <a:avLst>
              <a:gd name="adj" fmla="val 5000"/>
            </a:avLst>
          </a:prstGeom>
          <a:solidFill>
            <a:srgbClr val="FFFFFF"/>
          </a:solidFill>
          <a:ln w="19050">
            <a:solidFill>
              <a:srgbClr val="C5D5E8"/>
            </a:solidFill>
          </a:ln>
          <a:effectLst>
            <a:outerShdw blurRad="38100" dist="25400" dir="5400000" algn="ctr" rotWithShape="0">
              <a:srgbClr val="607090">
                <a:alpha val="22000"/>
              </a:srgbClr>
            </a:outerShdw>
          </a:effectLst>
        </p:spPr>
        <p:txBody>
          <a:bodyPr/>
          <a:lstStyle/>
          <a:p>
            <a:endParaRPr/>
          </a:p>
        </p:txBody>
      </p:sp>
      <p:pic>
        <p:nvPicPr>
          <p:cNvPr id="46" name="Picture 45" descr="The image shows a schematic diagram of the Raspberry Pi GPIO pinout, detailing the connections between various pins and components such as power, ground, and communication interfaces.&#10;&#10;AI-generated content may be incorrect.">
            <a:extLst>
              <a:ext uri="{FF2B5EF4-FFF2-40B4-BE49-F238E27FC236}">
                <a16:creationId xmlns:a16="http://schemas.microsoft.com/office/drawing/2014/main" id="{DE1F7E33-CA39-C0EF-A173-4BAD70E88A32}"/>
              </a:ext>
            </a:extLst>
          </p:cNvPr>
          <p:cNvPicPr>
            <a:picLocks noChangeAspect="1"/>
          </p:cNvPicPr>
          <p:nvPr/>
        </p:nvPicPr>
        <p:blipFill>
          <a:blip r:embed="rId10"/>
          <a:srcRect r="60211"/>
          <a:stretch>
            <a:fillRect/>
          </a:stretch>
        </p:blipFill>
        <p:spPr>
          <a:xfrm>
            <a:off x="5105400" y="1028700"/>
            <a:ext cx="3200400" cy="1778000"/>
          </a:xfrm>
          <a:prstGeom prst="rect">
            <a:avLst/>
          </a:prstGeom>
        </p:spPr>
      </p:pic>
      <p:pic>
        <p:nvPicPr>
          <p:cNvPr id="5" name="Picture 4" descr="The image shows a Windows command prompt window, with a user logged into a remote Linux system via SSH, navigating through directories and listing files on a desktop.&#10;&#10;AI-generated content may be incorrect.">
            <a:extLst>
              <a:ext uri="{FF2B5EF4-FFF2-40B4-BE49-F238E27FC236}">
                <a16:creationId xmlns:a16="http://schemas.microsoft.com/office/drawing/2014/main" id="{476EAFDA-9F87-F6F2-3722-50C8B96B4274}"/>
              </a:ext>
            </a:extLst>
          </p:cNvPr>
          <p:cNvPicPr>
            <a:picLocks noChangeAspect="1"/>
          </p:cNvPicPr>
          <p:nvPr/>
        </p:nvPicPr>
        <p:blipFill>
          <a:blip r:embed="rId11"/>
          <a:srcRect b="23740"/>
          <a:stretch>
            <a:fillRect/>
          </a:stretch>
        </p:blipFill>
        <p:spPr>
          <a:xfrm>
            <a:off x="5105400" y="3187700"/>
            <a:ext cx="3200400" cy="1778000"/>
          </a:xfrm>
          <a:prstGeom prst="rect">
            <a:avLst/>
          </a:prstGeom>
        </p:spPr>
      </p:pic>
      <p:pic>
        <p:nvPicPr>
          <p:cNvPr id="7" name="Picture 6" descr="The image shows a purple rectangular device, presumably a Raspberry Pi E, with four black USB ports, placed on a wooden surface.">
            <a:extLst>
              <a:ext uri="{FF2B5EF4-FFF2-40B4-BE49-F238E27FC236}">
                <a16:creationId xmlns:a16="http://schemas.microsoft.com/office/drawing/2014/main" id="{2B20CD64-9A81-0E6C-1B7D-03F8DCC66540}"/>
              </a:ext>
            </a:extLst>
          </p:cNvPr>
          <p:cNvPicPr>
            <a:picLocks noChangeAspect="1"/>
          </p:cNvPicPr>
          <p:nvPr/>
        </p:nvPicPr>
        <p:blipFill>
          <a:blip r:embed="rId12"/>
          <a:srcRect l="19186" t="3630" r="28657" b="6275"/>
          <a:stretch>
            <a:fillRect/>
          </a:stretch>
        </p:blipFill>
        <p:spPr>
          <a:xfrm>
            <a:off x="8483600" y="3187700"/>
            <a:ext cx="3200400" cy="1778000"/>
          </a:xfrm>
          <a:prstGeom prst="rect">
            <a:avLst/>
          </a:prstGeom>
        </p:spPr>
      </p:pic>
      <p:pic>
        <p:nvPicPr>
          <p:cNvPr id="9" name="Picture 8" descr="The image shows a schematic diagram of the Raspberry Pi GPIO pinout, detailing the connections between various pins and components such as power, ground, and communication interfaces.&#10;&#10;AI-generated content may be incorrect.">
            <a:extLst>
              <a:ext uri="{FF2B5EF4-FFF2-40B4-BE49-F238E27FC236}">
                <a16:creationId xmlns:a16="http://schemas.microsoft.com/office/drawing/2014/main" id="{FEAE6426-EE78-D26E-1075-61019A1547A7}"/>
              </a:ext>
            </a:extLst>
          </p:cNvPr>
          <p:cNvPicPr>
            <a:picLocks noChangeAspect="1"/>
          </p:cNvPicPr>
          <p:nvPr/>
        </p:nvPicPr>
        <p:blipFill>
          <a:blip r:embed="rId10"/>
          <a:srcRect l="37886"/>
          <a:stretch>
            <a:fillRect/>
          </a:stretch>
        </p:blipFill>
        <p:spPr>
          <a:xfrm>
            <a:off x="8483600" y="1028700"/>
            <a:ext cx="3200400" cy="1778000"/>
          </a:xfrm>
          <a:prstGeom prst="rect">
            <a:avLst/>
          </a:prstGeom>
        </p:spPr>
      </p:pic>
      <p:sp>
        <p:nvSpPr>
          <p:cNvPr id="301" name="Divider"/>
          <p:cNvSpPr/>
          <p:nvPr/>
        </p:nvSpPr>
        <p:spPr>
          <a:xfrm>
            <a:off x="4864100" y="127000"/>
            <a:ext cx="25400" cy="6629400"/>
          </a:xfrm>
          <a:prstGeom prst="rect">
            <a:avLst/>
          </a:prstGeom>
          <a:solidFill>
            <a:srgbClr val="DDE5F0"/>
          </a:solidFill>
          <a:ln>
            <a:noFill/>
          </a:ln>
        </p:spPr>
        <p:txBody>
          <a:bodyPr/>
          <a:lstStyle/>
          <a:p>
            <a:endParaRPr/>
          </a:p>
        </p:txBody>
      </p:sp>
      <p:sp>
        <p:nvSpPr>
          <p:cNvPr id="330" name="BannerBg"/>
          <p:cNvSpPr/>
          <p:nvPr/>
        </p:nvSpPr>
        <p:spPr>
          <a:xfrm>
            <a:off x="5054600" y="5397500"/>
            <a:ext cx="6680200" cy="381000"/>
          </a:xfrm>
          <a:prstGeom prst="roundRect">
            <a:avLst>
              <a:gd name="adj" fmla="val 10000"/>
            </a:avLst>
          </a:prstGeom>
          <a:solidFill>
            <a:srgbClr val="D4EDDA"/>
          </a:solidFill>
          <a:ln w="12700">
            <a:solidFill>
              <a:srgbClr val="28A745"/>
            </a:solidFill>
          </a:ln>
        </p:spPr>
        <p:txBody>
          <a:bodyPr/>
          <a:lstStyle/>
          <a:p>
            <a:endParaRPr/>
          </a:p>
        </p:txBody>
      </p:sp>
      <p:sp>
        <p:nvSpPr>
          <p:cNvPr id="331" name="BannerText"/>
          <p:cNvSpPr/>
          <p:nvPr/>
        </p:nvSpPr>
        <p:spPr>
          <a:xfrm>
            <a:off x="5105400" y="5473700"/>
            <a:ext cx="6578600" cy="279400"/>
          </a:xfrm>
          <a:prstGeom prst="rect">
            <a:avLst/>
          </a:prstGeom>
          <a:noFill/>
        </p:spPr>
        <p:txBody>
          <a:bodyPr wrap="square" rtlCol="0"/>
          <a:lstStyle/>
          <a:p>
            <a:pPr marL="0" indent="0" algn="ctr">
              <a:buNone/>
            </a:pPr>
            <a:r>
              <a:rPr lang="en-US" sz="1000" b="1" dirty="0">
                <a:solidFill>
                  <a:srgbClr val="0A3D1F"/>
                </a:solidFill>
                <a:latin typeface="Calibri" pitchFamily="34" charset="0"/>
              </a:rPr>
              <a:t>Raspberry Pi Platform Successfully Configured and Tested</a:t>
            </a:r>
          </a:p>
        </p:txBody>
      </p:sp>
      <p:sp>
        <p:nvSpPr>
          <p:cNvPr id="320" name="Cap0"/>
          <p:cNvSpPr/>
          <p:nvPr/>
        </p:nvSpPr>
        <p:spPr>
          <a:xfrm>
            <a:off x="5080000" y="2857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Raspberry Pi OS Desktop</a:t>
            </a:r>
          </a:p>
        </p:txBody>
      </p:sp>
      <p:sp>
        <p:nvSpPr>
          <p:cNvPr id="321" name="Cap1"/>
          <p:cNvSpPr/>
          <p:nvPr/>
        </p:nvSpPr>
        <p:spPr>
          <a:xfrm>
            <a:off x="8458200" y="2857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GPIO / Python Testing</a:t>
            </a:r>
          </a:p>
        </p:txBody>
      </p:sp>
      <p:sp>
        <p:nvSpPr>
          <p:cNvPr id="322" name="Cap2"/>
          <p:cNvSpPr/>
          <p:nvPr/>
        </p:nvSpPr>
        <p:spPr>
          <a:xfrm>
            <a:off x="5080000" y="5016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SSH Remote Access</a:t>
            </a:r>
          </a:p>
        </p:txBody>
      </p:sp>
      <p:sp>
        <p:nvSpPr>
          <p:cNvPr id="323" name="Cap3"/>
          <p:cNvSpPr/>
          <p:nvPr/>
        </p:nvSpPr>
        <p:spPr>
          <a:xfrm>
            <a:off x="8458200" y="5016500"/>
            <a:ext cx="3251200" cy="203200"/>
          </a:xfrm>
          <a:prstGeom prst="rect">
            <a:avLst/>
          </a:prstGeom>
          <a:noFill/>
        </p:spPr>
        <p:txBody>
          <a:bodyPr wrap="square" rtlCol="0"/>
          <a:lstStyle/>
          <a:p>
            <a:pPr marL="0" indent="0" algn="ctr">
              <a:buNone/>
            </a:pPr>
            <a:r>
              <a:rPr lang="en-US" sz="900" dirty="0">
                <a:solidFill>
                  <a:srgbClr val="4A5568"/>
                </a:solidFill>
                <a:latin typeface="Calibri" pitchFamily="34" charset="0"/>
              </a:rPr>
              <a:t>System Configuration</a:t>
            </a:r>
          </a:p>
        </p:txBody>
      </p:sp>
      <p:sp>
        <p:nvSpPr>
          <p:cNvPr id="303" name="RightHeading"/>
          <p:cNvSpPr/>
          <p:nvPr/>
        </p:nvSpPr>
        <p:spPr>
          <a:xfrm>
            <a:off x="5029200" y="660400"/>
            <a:ext cx="6959600" cy="279400"/>
          </a:xfrm>
          <a:prstGeom prst="rect">
            <a:avLst/>
          </a:prstGeom>
          <a:noFill/>
        </p:spPr>
        <p:txBody>
          <a:bodyPr wrap="square" rtlCol="0"/>
          <a:lstStyle/>
          <a:p>
            <a:pPr marL="0" indent="0">
              <a:buNone/>
            </a:pPr>
            <a:r>
              <a:rPr lang="en-US" sz="1200" b="1" dirty="0">
                <a:solidFill>
                  <a:srgbClr val="0E96AC"/>
                </a:solidFill>
                <a:latin typeface="Calibri" pitchFamily="34" charset="0"/>
              </a:rPr>
              <a:t>Development Environment Setup</a:t>
            </a:r>
          </a:p>
        </p:txBody>
      </p:sp>
      <p:sp>
        <p:nvSpPr>
          <p:cNvPr id="302" name="MilesLabel"/>
          <p:cNvSpPr/>
          <p:nvPr/>
        </p:nvSpPr>
        <p:spPr>
          <a:xfrm>
            <a:off x="228600" y="787400"/>
            <a:ext cx="4318000" cy="177800"/>
          </a:xfrm>
          <a:prstGeom prst="rect">
            <a:avLst/>
          </a:prstGeom>
          <a:noFill/>
        </p:spPr>
        <p:txBody>
          <a:bodyPr wrap="square" rtlCol="0"/>
          <a:lstStyle/>
          <a:p>
            <a:pPr marL="0" indent="0">
              <a:buNone/>
            </a:pPr>
            <a:r>
              <a:rPr lang="en-US" sz="900" b="1" spc="100" dirty="0">
                <a:solidFill>
                  <a:srgbClr val="3A6D82"/>
                </a:solidFill>
                <a:latin typeface="Calibri" pitchFamily="34" charset="0"/>
              </a:rPr>
              <a:t>PROGRESS MILESTONES</a:t>
            </a:r>
          </a:p>
        </p:txBody>
      </p:sp>
      <p:sp>
        <p:nvSpPr>
          <p:cNvPr id="3" name="Text 1"/>
          <p:cNvSpPr/>
          <p:nvPr/>
        </p:nvSpPr>
        <p:spPr>
          <a:xfrm>
            <a:off x="228600" y="330200"/>
            <a:ext cx="4546600" cy="381000"/>
          </a:xfrm>
          <a:prstGeom prst="rect">
            <a:avLst/>
          </a:prstGeom>
          <a:noFill/>
          <a:ln/>
        </p:spPr>
        <p:txBody>
          <a:bodyPr wrap="square" lIns="0" tIns="0" rIns="0" bIns="0" rtlCol="0" anchor="ctr"/>
          <a:lstStyle/>
          <a:p>
            <a:pPr marL="0" indent="0">
              <a:buNone/>
            </a:pPr>
            <a:r>
              <a:rPr lang="en-US" sz="2200" b="1" dirty="0">
                <a:solidFill>
                  <a:srgbClr val="16223A"/>
                </a:solidFill>
                <a:latin typeface="Calibri" pitchFamily="34" charset="0"/>
                <a:ea typeface="Calibri" pitchFamily="34" charset="-122"/>
                <a:cs typeface="Calibri" pitchFamily="34" charset="-120"/>
              </a:rPr>
              <a:t>Standing Up the Compute Platform</a:t>
            </a:r>
            <a:endParaRPr lang="en-US" sz="3000" dirty="0"/>
          </a:p>
        </p:txBody>
      </p:sp>
      <p:sp>
        <p:nvSpPr>
          <p:cNvPr id="2" name="Text 0"/>
          <p:cNvSpPr/>
          <p:nvPr/>
        </p:nvSpPr>
        <p:spPr>
          <a:xfrm>
            <a:off x="228600" y="127000"/>
            <a:ext cx="4546600" cy="2286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RASPBERRY PI LEARNING &amp; DEVELOPMENT</a:t>
            </a:r>
            <a:endParaRPr lang="en-US" sz="1200" dirty="0"/>
          </a:p>
        </p:txBody>
      </p:sp>
    </p:spTree>
    <p:extLst>
      <p:ext uri="{BB962C8B-B14F-4D97-AF65-F5344CB8AC3E}">
        <p14:creationId xmlns:p14="http://schemas.microsoft.com/office/powerpoint/2010/main" val="28406056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6F8FB"/>
        </a:solidFill>
        <a:effectLst/>
      </p:bgPr>
    </p:bg>
    <p:spTree>
      <p:nvGrpSpPr>
        <p:cNvPr id="1" name=""/>
        <p:cNvGrpSpPr/>
        <p:nvPr/>
      </p:nvGrpSpPr>
      <p:grpSpPr>
        <a:xfrm>
          <a:off x="0" y="0"/>
          <a:ext cx="0" cy="0"/>
          <a:chOff x="0" y="0"/>
          <a:chExt cx="0" cy="0"/>
        </a:xfrm>
      </p:grpSpPr>
      <p:sp>
        <p:nvSpPr>
          <p:cNvPr id="100" name="bg_top"/>
          <p:cNvSpPr>
            <a:spLocks noGrp="1"/>
          </p:cNvSpPr>
          <p:nvPr/>
        </p:nvSpPr>
        <p:spPr>
          <a:xfrm>
            <a:off x="0" y="0"/>
            <a:ext cx="12192000" cy="1397000"/>
          </a:xfrm>
          <a:prstGeom prst="rect">
            <a:avLst/>
          </a:prstGeom>
          <a:solidFill>
            <a:srgbClr val="F4F6F9"/>
          </a:solidFill>
          <a:ln>
            <a:noFill/>
          </a:ln>
        </p:spPr>
        <p:txBody>
          <a:bodyPr/>
          <a:lstStyle/>
          <a:p>
            <a:endParaRPr lang="en-US"/>
          </a:p>
        </p:txBody>
      </p:sp>
      <p:sp>
        <p:nvSpPr>
          <p:cNvPr id="101" name="bg_body"/>
          <p:cNvSpPr>
            <a:spLocks noGrp="1"/>
          </p:cNvSpPr>
          <p:nvPr/>
        </p:nvSpPr>
        <p:spPr>
          <a:xfrm>
            <a:off x="0" y="1397000"/>
            <a:ext cx="12192000" cy="5461000"/>
          </a:xfrm>
          <a:prstGeom prst="rect">
            <a:avLst/>
          </a:prstGeom>
          <a:solidFill>
            <a:srgbClr val="FFFFFF"/>
          </a:solidFill>
          <a:ln>
            <a:noFill/>
          </a:ln>
        </p:spPr>
        <p:txBody>
          <a:bodyPr/>
          <a:lstStyle/>
          <a:p>
            <a:endParaRPr lang="en-US"/>
          </a:p>
        </p:txBody>
      </p:sp>
      <p:sp>
        <p:nvSpPr>
          <p:cNvPr id="102" name="accent_bar"/>
          <p:cNvSpPr>
            <a:spLocks noGrp="1"/>
          </p:cNvSpPr>
          <p:nvPr/>
        </p:nvSpPr>
        <p:spPr>
          <a:xfrm>
            <a:off x="0" y="0"/>
            <a:ext cx="12192000" cy="63500"/>
          </a:xfrm>
          <a:prstGeom prst="rect">
            <a:avLst/>
          </a:prstGeom>
          <a:solidFill>
            <a:srgbClr val="0E96AC"/>
          </a:solidFill>
          <a:ln>
            <a:noFill/>
          </a:ln>
        </p:spPr>
        <p:txBody>
          <a:bodyPr/>
          <a:lstStyle/>
          <a:p>
            <a:endParaRPr lang="en-US"/>
          </a:p>
        </p:txBody>
      </p:sp>
      <p:sp>
        <p:nvSpPr>
          <p:cNvPr id="103" name="subtitle"/>
          <p:cNvSpPr txBox="1">
            <a:spLocks noGrp="1"/>
          </p:cNvSpPr>
          <p:nvPr/>
        </p:nvSpPr>
        <p:spPr>
          <a:xfrm>
            <a:off x="546100" y="177800"/>
            <a:ext cx="8636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HARDWARE PROCUREMENT &amp; RESOURCE AVAILABILITY</a:t>
            </a:r>
          </a:p>
        </p:txBody>
      </p:sp>
      <p:sp>
        <p:nvSpPr>
          <p:cNvPr id="104" name="title"/>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Hardware Procurement &amp; Resource Availability</a:t>
            </a:r>
          </a:p>
        </p:txBody>
      </p:sp>
      <p:sp>
        <p:nvSpPr>
          <p:cNvPr id="105" name="divider"/>
          <p:cNvSpPr>
            <a:spLocks noGrp="1"/>
          </p:cNvSpPr>
          <p:nvPr/>
        </p:nvSpPr>
        <p:spPr>
          <a:xfrm>
            <a:off x="546100" y="1320800"/>
            <a:ext cx="11099800" cy="25400"/>
          </a:xfrm>
          <a:prstGeom prst="rect">
            <a:avLst/>
          </a:prstGeom>
          <a:solidFill>
            <a:srgbClr val="0E96AC"/>
          </a:solidFill>
          <a:ln>
            <a:noFill/>
          </a:ln>
        </p:spPr>
        <p:txBody>
          <a:bodyPr/>
          <a:lstStyle/>
          <a:p>
            <a:endParaRPr lang="en-US"/>
          </a:p>
        </p:txBody>
      </p:sp>
      <p:sp>
        <p:nvSpPr>
          <p:cNvPr id="110" name="s1_bg"/>
          <p:cNvSpPr>
            <a:spLocks noGrp="1"/>
          </p:cNvSpPr>
          <p:nvPr/>
        </p:nvSpPr>
        <p:spPr>
          <a:xfrm>
            <a:off x="546100" y="1447800"/>
            <a:ext cx="11099800" cy="711200"/>
          </a:xfrm>
          <a:prstGeom prst="roundRect">
            <a:avLst>
              <a:gd name="adj" fmla="val 12000"/>
            </a:avLst>
          </a:prstGeom>
          <a:solidFill>
            <a:srgbClr val="EBF8FA"/>
          </a:solidFill>
          <a:ln>
            <a:noFill/>
          </a:ln>
        </p:spPr>
        <p:txBody>
          <a:bodyPr/>
          <a:lstStyle/>
          <a:p>
            <a:endParaRPr lang="en-US"/>
          </a:p>
        </p:txBody>
      </p:sp>
      <p:sp>
        <p:nvSpPr>
          <p:cNvPr id="111" name="s1_accent"/>
          <p:cNvSpPr>
            <a:spLocks noGrp="1"/>
          </p:cNvSpPr>
          <p:nvPr/>
        </p:nvSpPr>
        <p:spPr>
          <a:xfrm>
            <a:off x="546100" y="1447800"/>
            <a:ext cx="63500" cy="711200"/>
          </a:xfrm>
          <a:prstGeom prst="rect">
            <a:avLst/>
          </a:prstGeom>
          <a:solidFill>
            <a:srgbClr val="0E96AC"/>
          </a:solidFill>
          <a:ln>
            <a:noFill/>
          </a:ln>
        </p:spPr>
        <p:txBody>
          <a:bodyPr/>
          <a:lstStyle/>
          <a:p>
            <a:endParaRPr lang="en-US"/>
          </a:p>
        </p:txBody>
      </p:sp>
      <p:sp>
        <p:nvSpPr>
          <p:cNvPr id="112" name="s1_text"/>
          <p:cNvSpPr txBox="1">
            <a:spLocks noGrp="1"/>
          </p:cNvSpPr>
          <p:nvPr/>
        </p:nvSpPr>
        <p:spPr>
          <a:xfrm>
            <a:off x="736600" y="1473200"/>
            <a:ext cx="10795000" cy="660400"/>
          </a:xfrm>
          <a:prstGeom prst="rect">
            <a:avLst/>
          </a:prstGeom>
          <a:noFill/>
          <a:ln>
            <a:noFill/>
          </a:ln>
        </p:spPr>
        <p:txBody>
          <a:bodyPr anchor="ctr">
            <a:normAutofit lnSpcReduction="10000"/>
          </a:bodyPr>
          <a:lstStyle/>
          <a:p>
            <a:pPr marL="0" indent="0">
              <a:buNone/>
            </a:pPr>
            <a:r>
              <a:rPr lang="en-IN" sz="1300" b="1" dirty="0">
                <a:solidFill>
                  <a:srgbClr val="16223A"/>
                </a:solidFill>
                <a:latin typeface="Calibri"/>
              </a:rPr>
              <a:t>Hardware Strategy: </a:t>
            </a:r>
            <a:r>
              <a:rPr lang="en-IN" sz="1300" dirty="0">
                <a:solidFill>
                  <a:srgbClr val="16223A"/>
                </a:solidFill>
                <a:latin typeface="Calibri"/>
              </a:rPr>
              <a:t>Raspberry Pi 4 was planned in the BOM; however, a Raspberry Pi 5 was already available in the laboratory, enabling immediate software development and testing without waiting for delivery. To accelerate development, the team utilised the laboratory Raspberry Pi 5 platform while the ordered components remain under procurement.</a:t>
            </a:r>
          </a:p>
        </p:txBody>
      </p:sp>
      <p:sp>
        <p:nvSpPr>
          <p:cNvPr id="120" name="card0_bg"/>
          <p:cNvSpPr>
            <a:spLocks noGrp="1"/>
          </p:cNvSpPr>
          <p:nvPr/>
        </p:nvSpPr>
        <p:spPr>
          <a:xfrm>
            <a:off x="546100" y="2260600"/>
            <a:ext cx="3568700" cy="1714500"/>
          </a:xfrm>
          <a:prstGeom prst="roundRect">
            <a:avLst>
              <a:gd name="adj" fmla="val 10000"/>
            </a:avLst>
          </a:prstGeom>
          <a:solidFill>
            <a:srgbClr val="F0FBF4"/>
          </a:solidFill>
          <a:ln w="15000">
            <a:solidFill>
              <a:srgbClr val="1E7A3E"/>
            </a:solidFill>
          </a:ln>
        </p:spPr>
        <p:txBody>
          <a:bodyPr/>
          <a:lstStyle/>
          <a:p>
            <a:endParaRPr lang="en-US"/>
          </a:p>
        </p:txBody>
      </p:sp>
      <p:sp>
        <p:nvSpPr>
          <p:cNvPr id="121" name="card0_hdr"/>
          <p:cNvSpPr>
            <a:spLocks noGrp="1"/>
          </p:cNvSpPr>
          <p:nvPr/>
        </p:nvSpPr>
        <p:spPr>
          <a:xfrm>
            <a:off x="546100" y="2260600"/>
            <a:ext cx="3568700" cy="330200"/>
          </a:xfrm>
          <a:prstGeom prst="rect">
            <a:avLst/>
          </a:prstGeom>
          <a:solidFill>
            <a:srgbClr val="1E7A3E"/>
          </a:solidFill>
          <a:ln>
            <a:noFill/>
          </a:ln>
        </p:spPr>
        <p:txBody>
          <a:bodyPr/>
          <a:lstStyle/>
          <a:p>
            <a:endParaRPr lang="en-US"/>
          </a:p>
        </p:txBody>
      </p:sp>
      <p:sp>
        <p:nvSpPr>
          <p:cNvPr id="130" name="card1_bg"/>
          <p:cNvSpPr>
            <a:spLocks noGrp="1"/>
          </p:cNvSpPr>
          <p:nvPr/>
        </p:nvSpPr>
        <p:spPr>
          <a:xfrm>
            <a:off x="4305300" y="2260600"/>
            <a:ext cx="3568700" cy="1714500"/>
          </a:xfrm>
          <a:prstGeom prst="roundRect">
            <a:avLst>
              <a:gd name="adj" fmla="val 10000"/>
            </a:avLst>
          </a:prstGeom>
          <a:solidFill>
            <a:srgbClr val="FEF9EE"/>
          </a:solidFill>
          <a:ln w="15000">
            <a:solidFill>
              <a:srgbClr val="B45309"/>
            </a:solidFill>
          </a:ln>
        </p:spPr>
        <p:txBody>
          <a:bodyPr/>
          <a:lstStyle/>
          <a:p>
            <a:endParaRPr lang="en-US"/>
          </a:p>
        </p:txBody>
      </p:sp>
      <p:sp>
        <p:nvSpPr>
          <p:cNvPr id="131" name="card1_hdr"/>
          <p:cNvSpPr>
            <a:spLocks noGrp="1"/>
          </p:cNvSpPr>
          <p:nvPr/>
        </p:nvSpPr>
        <p:spPr>
          <a:xfrm>
            <a:off x="4305300" y="2260600"/>
            <a:ext cx="3568700" cy="330200"/>
          </a:xfrm>
          <a:prstGeom prst="rect">
            <a:avLst/>
          </a:prstGeom>
          <a:solidFill>
            <a:srgbClr val="B45309"/>
          </a:solidFill>
          <a:ln>
            <a:noFill/>
          </a:ln>
        </p:spPr>
        <p:txBody>
          <a:bodyPr/>
          <a:lstStyle/>
          <a:p>
            <a:endParaRPr lang="en-US"/>
          </a:p>
        </p:txBody>
      </p:sp>
      <p:sp>
        <p:nvSpPr>
          <p:cNvPr id="140" name="card2_bg"/>
          <p:cNvSpPr>
            <a:spLocks noGrp="1"/>
          </p:cNvSpPr>
          <p:nvPr/>
        </p:nvSpPr>
        <p:spPr>
          <a:xfrm>
            <a:off x="8064500" y="2260600"/>
            <a:ext cx="3568700" cy="1714500"/>
          </a:xfrm>
          <a:prstGeom prst="roundRect">
            <a:avLst>
              <a:gd name="adj" fmla="val 10000"/>
            </a:avLst>
          </a:prstGeom>
          <a:solidFill>
            <a:srgbClr val="EEF3FC"/>
          </a:solidFill>
          <a:ln w="15000">
            <a:solidFill>
              <a:srgbClr val="1A4A8A"/>
            </a:solidFill>
          </a:ln>
        </p:spPr>
        <p:txBody>
          <a:bodyPr/>
          <a:lstStyle/>
          <a:p>
            <a:endParaRPr lang="en-US"/>
          </a:p>
        </p:txBody>
      </p:sp>
      <p:sp>
        <p:nvSpPr>
          <p:cNvPr id="141" name="card2_hdr"/>
          <p:cNvSpPr>
            <a:spLocks noGrp="1"/>
          </p:cNvSpPr>
          <p:nvPr/>
        </p:nvSpPr>
        <p:spPr>
          <a:xfrm>
            <a:off x="8064500" y="2260600"/>
            <a:ext cx="3568700" cy="330200"/>
          </a:xfrm>
          <a:prstGeom prst="rect">
            <a:avLst/>
          </a:prstGeom>
          <a:solidFill>
            <a:srgbClr val="1A4A8A"/>
          </a:solidFill>
          <a:ln>
            <a:noFill/>
          </a:ln>
        </p:spPr>
        <p:txBody>
          <a:bodyPr/>
          <a:lstStyle/>
          <a:p>
            <a:endParaRPr lang="en-US"/>
          </a:p>
        </p:txBody>
      </p:sp>
      <p:sp>
        <p:nvSpPr>
          <p:cNvPr id="124" name="card0_hdr_fix"/>
          <p:cNvSpPr>
            <a:spLocks noGrp="1"/>
          </p:cNvSpPr>
          <p:nvPr/>
        </p:nvSpPr>
        <p:spPr>
          <a:xfrm>
            <a:off x="546100" y="2413000"/>
            <a:ext cx="3568700" cy="177800"/>
          </a:xfrm>
          <a:prstGeom prst="rect">
            <a:avLst/>
          </a:prstGeom>
          <a:solidFill>
            <a:srgbClr val="1E7A3E"/>
          </a:solidFill>
          <a:ln>
            <a:noFill/>
          </a:ln>
        </p:spPr>
        <p:txBody>
          <a:bodyPr/>
          <a:lstStyle/>
          <a:p>
            <a:endParaRPr lang="en-US"/>
          </a:p>
        </p:txBody>
      </p:sp>
      <p:sp>
        <p:nvSpPr>
          <p:cNvPr id="134" name="card1_hdr_fix"/>
          <p:cNvSpPr>
            <a:spLocks noGrp="1"/>
          </p:cNvSpPr>
          <p:nvPr/>
        </p:nvSpPr>
        <p:spPr>
          <a:xfrm>
            <a:off x="4305300" y="2413000"/>
            <a:ext cx="3568700" cy="177800"/>
          </a:xfrm>
          <a:prstGeom prst="rect">
            <a:avLst/>
          </a:prstGeom>
          <a:solidFill>
            <a:srgbClr val="B45309"/>
          </a:solidFill>
          <a:ln>
            <a:noFill/>
          </a:ln>
        </p:spPr>
        <p:txBody>
          <a:bodyPr/>
          <a:lstStyle/>
          <a:p>
            <a:endParaRPr lang="en-US"/>
          </a:p>
        </p:txBody>
      </p:sp>
      <p:sp>
        <p:nvSpPr>
          <p:cNvPr id="144" name="card2_hdr_fix"/>
          <p:cNvSpPr>
            <a:spLocks noGrp="1"/>
          </p:cNvSpPr>
          <p:nvPr/>
        </p:nvSpPr>
        <p:spPr>
          <a:xfrm>
            <a:off x="8064500" y="2413000"/>
            <a:ext cx="3568700" cy="177800"/>
          </a:xfrm>
          <a:prstGeom prst="rect">
            <a:avLst/>
          </a:prstGeom>
          <a:solidFill>
            <a:srgbClr val="1A4A8A"/>
          </a:solidFill>
          <a:ln>
            <a:noFill/>
          </a:ln>
        </p:spPr>
        <p:txBody>
          <a:bodyPr/>
          <a:lstStyle/>
          <a:p>
            <a:endParaRPr lang="en-US"/>
          </a:p>
        </p:txBody>
      </p:sp>
      <p:sp>
        <p:nvSpPr>
          <p:cNvPr id="125" name="card0_title"/>
          <p:cNvSpPr txBox="1">
            <a:spLocks noGrp="1"/>
          </p:cNvSpPr>
          <p:nvPr/>
        </p:nvSpPr>
        <p:spPr>
          <a:xfrm>
            <a:off x="6477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AVAILABLE &amp; IN USE</a:t>
            </a:r>
          </a:p>
        </p:txBody>
      </p:sp>
      <p:sp>
        <p:nvSpPr>
          <p:cNvPr id="135" name="card1_title"/>
          <p:cNvSpPr txBox="1">
            <a:spLocks noGrp="1"/>
          </p:cNvSpPr>
          <p:nvPr/>
        </p:nvSpPr>
        <p:spPr>
          <a:xfrm>
            <a:off x="44069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ORDERED — AWAITING DELIVERY</a:t>
            </a:r>
          </a:p>
        </p:txBody>
      </p:sp>
      <p:sp>
        <p:nvSpPr>
          <p:cNvPr id="145" name="card2_title"/>
          <p:cNvSpPr txBox="1">
            <a:spLocks noGrp="1"/>
          </p:cNvSpPr>
          <p:nvPr/>
        </p:nvSpPr>
        <p:spPr>
          <a:xfrm>
            <a:off x="81661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COMPLETED PREPARATORY WORK</a:t>
            </a:r>
          </a:p>
        </p:txBody>
      </p:sp>
      <p:sp>
        <p:nvSpPr>
          <p:cNvPr id="160" name="card0_items"/>
          <p:cNvSpPr txBox="1">
            <a:spLocks noGrp="1"/>
          </p:cNvSpPr>
          <p:nvPr/>
        </p:nvSpPr>
        <p:spPr>
          <a:xfrm>
            <a:off x="647700" y="2641600"/>
            <a:ext cx="3365500" cy="1282700"/>
          </a:xfrm>
          <a:prstGeom prst="rect">
            <a:avLst/>
          </a:prstGeom>
          <a:noFill/>
          <a:ln>
            <a:noFill/>
          </a:ln>
        </p:spPr>
        <p:txBody>
          <a:bodyPr anchor="t">
            <a:normAutofit/>
          </a:bodyPr>
          <a:lstStyle/>
          <a:p>
            <a:pPr marL="180000" indent="-180000">
              <a:buFont typeface="Arial"/>
              <a:buChar char="•"/>
            </a:pPr>
            <a:r>
              <a:rPr lang="en-IN" sz="1200" dirty="0">
                <a:solidFill>
                  <a:srgbClr val="1E4620"/>
                </a:solidFill>
                <a:latin typeface="Calibri"/>
              </a:rPr>
              <a:t>Raspberry Pi 5 (Laboratory Resource)</a:t>
            </a:r>
          </a:p>
          <a:p>
            <a:pPr marL="180000" indent="-180000">
              <a:buFont typeface="Arial"/>
              <a:buChar char="•"/>
            </a:pPr>
            <a:r>
              <a:rPr lang="en-IN" sz="1200" dirty="0">
                <a:solidFill>
                  <a:srgbClr val="1E4620"/>
                </a:solidFill>
                <a:latin typeface="Calibri"/>
              </a:rPr>
              <a:t>Raspberry Pi Starter Kit</a:t>
            </a:r>
          </a:p>
          <a:p>
            <a:pPr marL="180000" indent="-180000">
              <a:buFont typeface="Arial"/>
              <a:buChar char="•"/>
            </a:pPr>
            <a:r>
              <a:rPr lang="en-IN" sz="1200" dirty="0">
                <a:solidFill>
                  <a:srgbClr val="1E4620"/>
                </a:solidFill>
                <a:latin typeface="Calibri"/>
              </a:rPr>
              <a:t>Raspberry Pi OS Environment</a:t>
            </a:r>
          </a:p>
          <a:p>
            <a:pPr marL="180000" indent="-180000">
              <a:buFont typeface="Arial"/>
              <a:buChar char="•"/>
            </a:pPr>
            <a:r>
              <a:rPr lang="en-IN" sz="1200" dirty="0">
                <a:solidFill>
                  <a:srgbClr val="1E4620"/>
                </a:solidFill>
                <a:latin typeface="Calibri"/>
              </a:rPr>
              <a:t>GitHub Repository</a:t>
            </a:r>
          </a:p>
          <a:p>
            <a:pPr marL="180000" indent="-180000">
              <a:buFont typeface="Arial"/>
              <a:buChar char="•"/>
            </a:pPr>
            <a:r>
              <a:rPr lang="en-IN" sz="1200" dirty="0">
                <a:solidFill>
                  <a:srgbClr val="1E4620"/>
                </a:solidFill>
                <a:latin typeface="Calibri"/>
              </a:rPr>
              <a:t>3D Printed Prototype Segments</a:t>
            </a:r>
          </a:p>
        </p:txBody>
      </p:sp>
      <p:sp>
        <p:nvSpPr>
          <p:cNvPr id="161" name="card1_items"/>
          <p:cNvSpPr txBox="1">
            <a:spLocks noGrp="1"/>
          </p:cNvSpPr>
          <p:nvPr/>
        </p:nvSpPr>
        <p:spPr>
          <a:xfrm>
            <a:off x="44069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Dynamixel XL330 Smart Servo Motors</a:t>
            </a:r>
          </a:p>
          <a:p>
            <a:pPr marL="180000" indent="-180000">
              <a:buFont typeface="Arial"/>
              <a:buChar char="•"/>
            </a:pPr>
            <a:r>
              <a:rPr lang="en-IN" sz="1000" dirty="0">
                <a:solidFill>
                  <a:srgbClr val="374151"/>
                </a:solidFill>
                <a:latin typeface="Calibri"/>
              </a:rPr>
              <a:t>U2D2 Communication Interface</a:t>
            </a:r>
          </a:p>
          <a:p>
            <a:pPr marL="180000" indent="-180000">
              <a:buFont typeface="Arial"/>
              <a:buChar char="•"/>
            </a:pPr>
            <a:r>
              <a:rPr lang="en-IN" sz="1000" dirty="0">
                <a:solidFill>
                  <a:srgbClr val="374151"/>
                </a:solidFill>
                <a:latin typeface="Calibri"/>
              </a:rPr>
              <a:t>U2D2 Power Hub Board</a:t>
            </a:r>
          </a:p>
          <a:p>
            <a:pPr marL="180000" indent="-180000">
              <a:buFont typeface="Arial"/>
              <a:buChar char="•"/>
            </a:pPr>
            <a:r>
              <a:rPr lang="en-IN" sz="1000" dirty="0">
                <a:solidFill>
                  <a:srgbClr val="374151"/>
                </a:solidFill>
                <a:latin typeface="Calibri"/>
              </a:rPr>
              <a:t>Dynamixel Communication Cables</a:t>
            </a:r>
          </a:p>
          <a:p>
            <a:pPr marL="180000" indent="-180000">
              <a:buFont typeface="Arial"/>
              <a:buChar char="•"/>
            </a:pPr>
            <a:r>
              <a:rPr lang="en-IN" sz="1000" dirty="0">
                <a:solidFill>
                  <a:srgbClr val="374151"/>
                </a:solidFill>
                <a:latin typeface="Calibri"/>
              </a:rPr>
              <a:t>5V Power Supply</a:t>
            </a:r>
          </a:p>
          <a:p>
            <a:pPr marL="180000" indent="-180000">
              <a:buFont typeface="Arial"/>
              <a:buChar char="•"/>
            </a:pPr>
            <a:r>
              <a:rPr lang="en-IN" sz="1000" dirty="0">
                <a:solidFill>
                  <a:srgbClr val="374151"/>
                </a:solidFill>
                <a:latin typeface="Calibri"/>
              </a:rPr>
              <a:t>ESP32 Development Board</a:t>
            </a:r>
          </a:p>
        </p:txBody>
      </p:sp>
      <p:sp>
        <p:nvSpPr>
          <p:cNvPr id="162" name="card2_items"/>
          <p:cNvSpPr txBox="1">
            <a:spLocks noGrp="1"/>
          </p:cNvSpPr>
          <p:nvPr/>
        </p:nvSpPr>
        <p:spPr>
          <a:xfrm>
            <a:off x="81661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Hardware selection finalised</a:t>
            </a:r>
          </a:p>
          <a:p>
            <a:pPr marL="180000" indent="-180000">
              <a:buFont typeface="Arial"/>
              <a:buChar char="•"/>
            </a:pPr>
            <a:r>
              <a:rPr lang="en-IN" sz="1000" dirty="0">
                <a:solidFill>
                  <a:srgbClr val="374151"/>
                </a:solidFill>
                <a:latin typeface="Calibri"/>
              </a:rPr>
              <a:t>Bill of Materials prepared</a:t>
            </a:r>
          </a:p>
          <a:p>
            <a:pPr marL="180000" indent="-180000">
              <a:buFont typeface="Arial"/>
              <a:buChar char="•"/>
            </a:pPr>
            <a:r>
              <a:rPr lang="en-IN" sz="1000" dirty="0">
                <a:solidFill>
                  <a:srgbClr val="374151"/>
                </a:solidFill>
                <a:latin typeface="Calibri"/>
              </a:rPr>
              <a:t>CAD model completed</a:t>
            </a:r>
          </a:p>
          <a:p>
            <a:pPr marL="180000" indent="-180000">
              <a:buFont typeface="Arial"/>
              <a:buChar char="•"/>
            </a:pPr>
            <a:r>
              <a:rPr lang="en-IN" sz="1000" dirty="0">
                <a:solidFill>
                  <a:srgbClr val="374151"/>
                </a:solidFill>
                <a:latin typeface="Calibri"/>
              </a:rPr>
              <a:t>Segment fabrication initiated</a:t>
            </a:r>
          </a:p>
          <a:p>
            <a:pPr marL="180000" indent="-180000">
              <a:buFont typeface="Arial"/>
              <a:buChar char="•"/>
            </a:pPr>
            <a:r>
              <a:rPr lang="en-IN" sz="1000" dirty="0">
                <a:solidFill>
                  <a:srgbClr val="374151"/>
                </a:solidFill>
                <a:latin typeface="Calibri"/>
              </a:rPr>
              <a:t>Software environment configured</a:t>
            </a:r>
          </a:p>
        </p:txBody>
      </p:sp>
      <p:sp>
        <p:nvSpPr>
          <p:cNvPr id="200" name="s3_label"/>
          <p:cNvSpPr txBox="1">
            <a:spLocks noGrp="1"/>
          </p:cNvSpPr>
          <p:nvPr/>
        </p:nvSpPr>
        <p:spPr>
          <a:xfrm>
            <a:off x="546100" y="4089400"/>
            <a:ext cx="6350000" cy="228600"/>
          </a:xfrm>
          <a:prstGeom prst="rect">
            <a:avLst/>
          </a:prstGeom>
          <a:noFill/>
          <a:ln>
            <a:noFill/>
          </a:ln>
        </p:spPr>
        <p:txBody>
          <a:bodyPr anchor="t">
            <a:normAutofit/>
          </a:bodyPr>
          <a:lstStyle/>
          <a:p>
            <a:pPr marL="0" indent="0">
              <a:buNone/>
            </a:pPr>
            <a:r>
              <a:rPr lang="en-IN" sz="900" b="1" kern="0" spc="200" dirty="0">
                <a:solidFill>
                  <a:srgbClr val="0E96AC"/>
                </a:solidFill>
                <a:latin typeface="Calibri"/>
              </a:rPr>
              <a:t>DEVELOPMENT PROGRESS</a:t>
            </a:r>
          </a:p>
        </p:txBody>
      </p:sp>
      <p:sp>
        <p:nvSpPr>
          <p:cNvPr id="300" name="conn0"/>
          <p:cNvSpPr>
            <a:spLocks noGrp="1"/>
          </p:cNvSpPr>
          <p:nvPr/>
        </p:nvSpPr>
        <p:spPr>
          <a:xfrm>
            <a:off x="1028700" y="4432300"/>
            <a:ext cx="965200" cy="63500"/>
          </a:xfrm>
          <a:prstGeom prst="rect">
            <a:avLst/>
          </a:prstGeom>
          <a:solidFill>
            <a:srgbClr val="1E7A3E"/>
          </a:solidFill>
          <a:ln>
            <a:noFill/>
          </a:ln>
        </p:spPr>
        <p:txBody>
          <a:bodyPr/>
          <a:lstStyle/>
          <a:p>
            <a:endParaRPr lang="en-US"/>
          </a:p>
        </p:txBody>
      </p:sp>
      <p:sp>
        <p:nvSpPr>
          <p:cNvPr id="310" name="step0_circle"/>
          <p:cNvSpPr>
            <a:spLocks noGrp="1"/>
          </p:cNvSpPr>
          <p:nvPr/>
        </p:nvSpPr>
        <p:spPr>
          <a:xfrm>
            <a:off x="774700" y="4241800"/>
            <a:ext cx="457200" cy="457200"/>
          </a:xfrm>
          <a:prstGeom prst="roundRect">
            <a:avLst>
              <a:gd name="adj" fmla="val 50000"/>
            </a:avLst>
          </a:prstGeom>
          <a:solidFill>
            <a:srgbClr val="1E7A3E"/>
          </a:solidFill>
          <a:ln>
            <a:noFill/>
          </a:ln>
        </p:spPr>
        <p:txBody>
          <a:bodyPr/>
          <a:lstStyle/>
          <a:p>
            <a:endParaRPr lang="en-US"/>
          </a:p>
        </p:txBody>
      </p:sp>
      <p:sp>
        <p:nvSpPr>
          <p:cNvPr id="320" name="step0_icon"/>
          <p:cNvSpPr txBox="1">
            <a:spLocks noGrp="1"/>
          </p:cNvSpPr>
          <p:nvPr/>
        </p:nvSpPr>
        <p:spPr>
          <a:xfrm>
            <a:off x="774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0" name="step0_label"/>
          <p:cNvSpPr txBox="1">
            <a:spLocks noGrp="1"/>
          </p:cNvSpPr>
          <p:nvPr/>
        </p:nvSpPr>
        <p:spPr>
          <a:xfrm>
            <a:off x="546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Component</a:t>
            </a:r>
          </a:p>
          <a:p>
            <a:pPr algn="ctr">
              <a:buNone/>
            </a:pPr>
            <a:r>
              <a:rPr lang="en-IN" sz="1400" dirty="0">
                <a:solidFill>
                  <a:srgbClr val="374151"/>
                </a:solidFill>
                <a:latin typeface="Calibri"/>
              </a:rPr>
              <a:t>Selection</a:t>
            </a:r>
          </a:p>
        </p:txBody>
      </p:sp>
      <p:sp>
        <p:nvSpPr>
          <p:cNvPr id="301" name="conn1"/>
          <p:cNvSpPr>
            <a:spLocks noGrp="1"/>
          </p:cNvSpPr>
          <p:nvPr/>
        </p:nvSpPr>
        <p:spPr>
          <a:xfrm>
            <a:off x="2501900" y="4432300"/>
            <a:ext cx="965200" cy="63500"/>
          </a:xfrm>
          <a:prstGeom prst="rect">
            <a:avLst/>
          </a:prstGeom>
          <a:solidFill>
            <a:srgbClr val="1E7A3E"/>
          </a:solidFill>
          <a:ln>
            <a:noFill/>
          </a:ln>
        </p:spPr>
        <p:txBody>
          <a:bodyPr/>
          <a:lstStyle/>
          <a:p>
            <a:endParaRPr lang="en-US"/>
          </a:p>
        </p:txBody>
      </p:sp>
      <p:sp>
        <p:nvSpPr>
          <p:cNvPr id="311" name="step1_circle"/>
          <p:cNvSpPr>
            <a:spLocks noGrp="1"/>
          </p:cNvSpPr>
          <p:nvPr/>
        </p:nvSpPr>
        <p:spPr>
          <a:xfrm>
            <a:off x="2247900" y="4241800"/>
            <a:ext cx="457200" cy="457200"/>
          </a:xfrm>
          <a:prstGeom prst="roundRect">
            <a:avLst>
              <a:gd name="adj" fmla="val 50000"/>
            </a:avLst>
          </a:prstGeom>
          <a:solidFill>
            <a:srgbClr val="1E7A3E"/>
          </a:solidFill>
          <a:ln>
            <a:noFill/>
          </a:ln>
        </p:spPr>
        <p:txBody>
          <a:bodyPr/>
          <a:lstStyle/>
          <a:p>
            <a:endParaRPr lang="en-US"/>
          </a:p>
        </p:txBody>
      </p:sp>
      <p:sp>
        <p:nvSpPr>
          <p:cNvPr id="321" name="step1_icon"/>
          <p:cNvSpPr txBox="1">
            <a:spLocks noGrp="1"/>
          </p:cNvSpPr>
          <p:nvPr/>
        </p:nvSpPr>
        <p:spPr>
          <a:xfrm>
            <a:off x="2247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1" name="step1_label"/>
          <p:cNvSpPr txBox="1">
            <a:spLocks noGrp="1"/>
          </p:cNvSpPr>
          <p:nvPr/>
        </p:nvSpPr>
        <p:spPr>
          <a:xfrm>
            <a:off x="2019300" y="4737100"/>
            <a:ext cx="914400" cy="457200"/>
          </a:xfrm>
          <a:prstGeom prst="rect">
            <a:avLst/>
          </a:prstGeom>
          <a:noFill/>
          <a:ln>
            <a:noFill/>
          </a:ln>
        </p:spPr>
        <p:txBody>
          <a:bodyPr anchor="t">
            <a:normAutofit fontScale="70000" lnSpcReduction="20000"/>
          </a:bodyPr>
          <a:lstStyle/>
          <a:p>
            <a:pPr algn="ctr">
              <a:buNone/>
            </a:pPr>
            <a:r>
              <a:rPr lang="en-IN" sz="1400" dirty="0">
                <a:solidFill>
                  <a:srgbClr val="374151"/>
                </a:solidFill>
                <a:latin typeface="Calibri"/>
              </a:rPr>
              <a:t>Procurement</a:t>
            </a:r>
          </a:p>
          <a:p>
            <a:pPr algn="ctr">
              <a:buNone/>
            </a:pPr>
            <a:r>
              <a:rPr lang="en-IN" sz="1400" dirty="0">
                <a:solidFill>
                  <a:srgbClr val="374151"/>
                </a:solidFill>
                <a:latin typeface="Calibri"/>
              </a:rPr>
              <a:t>Initiated</a:t>
            </a:r>
          </a:p>
        </p:txBody>
      </p:sp>
      <p:sp>
        <p:nvSpPr>
          <p:cNvPr id="302" name="conn2"/>
          <p:cNvSpPr>
            <a:spLocks noGrp="1"/>
          </p:cNvSpPr>
          <p:nvPr/>
        </p:nvSpPr>
        <p:spPr>
          <a:xfrm>
            <a:off x="3975100" y="4432300"/>
            <a:ext cx="965200" cy="63500"/>
          </a:xfrm>
          <a:prstGeom prst="rect">
            <a:avLst/>
          </a:prstGeom>
          <a:solidFill>
            <a:srgbClr val="1E7A3E"/>
          </a:solidFill>
          <a:ln>
            <a:noFill/>
          </a:ln>
        </p:spPr>
        <p:txBody>
          <a:bodyPr/>
          <a:lstStyle/>
          <a:p>
            <a:endParaRPr lang="en-US"/>
          </a:p>
        </p:txBody>
      </p:sp>
      <p:sp>
        <p:nvSpPr>
          <p:cNvPr id="312" name="step2_circle"/>
          <p:cNvSpPr>
            <a:spLocks noGrp="1"/>
          </p:cNvSpPr>
          <p:nvPr/>
        </p:nvSpPr>
        <p:spPr>
          <a:xfrm>
            <a:off x="3721100" y="4241800"/>
            <a:ext cx="457200" cy="457200"/>
          </a:xfrm>
          <a:prstGeom prst="roundRect">
            <a:avLst>
              <a:gd name="adj" fmla="val 50000"/>
            </a:avLst>
          </a:prstGeom>
          <a:solidFill>
            <a:srgbClr val="1E7A3E"/>
          </a:solidFill>
          <a:ln>
            <a:noFill/>
          </a:ln>
        </p:spPr>
        <p:txBody>
          <a:bodyPr/>
          <a:lstStyle/>
          <a:p>
            <a:endParaRPr lang="en-US"/>
          </a:p>
        </p:txBody>
      </p:sp>
      <p:sp>
        <p:nvSpPr>
          <p:cNvPr id="322" name="step2_icon"/>
          <p:cNvSpPr txBox="1">
            <a:spLocks noGrp="1"/>
          </p:cNvSpPr>
          <p:nvPr/>
        </p:nvSpPr>
        <p:spPr>
          <a:xfrm>
            <a:off x="37211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2" name="step2_label"/>
          <p:cNvSpPr txBox="1">
            <a:spLocks noGrp="1"/>
          </p:cNvSpPr>
          <p:nvPr/>
        </p:nvSpPr>
        <p:spPr>
          <a:xfrm>
            <a:off x="34925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CAD</a:t>
            </a:r>
          </a:p>
          <a:p>
            <a:pPr algn="ctr">
              <a:buNone/>
            </a:pPr>
            <a:r>
              <a:rPr lang="en-IN" sz="1400" dirty="0">
                <a:solidFill>
                  <a:srgbClr val="374151"/>
                </a:solidFill>
                <a:latin typeface="Calibri"/>
              </a:rPr>
              <a:t>Design</a:t>
            </a:r>
          </a:p>
        </p:txBody>
      </p:sp>
      <p:sp>
        <p:nvSpPr>
          <p:cNvPr id="303" name="conn3"/>
          <p:cNvSpPr>
            <a:spLocks noGrp="1"/>
          </p:cNvSpPr>
          <p:nvPr/>
        </p:nvSpPr>
        <p:spPr>
          <a:xfrm>
            <a:off x="5448300" y="4432300"/>
            <a:ext cx="965200" cy="63500"/>
          </a:xfrm>
          <a:prstGeom prst="rect">
            <a:avLst/>
          </a:prstGeom>
          <a:solidFill>
            <a:srgbClr val="1E7A3E"/>
          </a:solidFill>
          <a:ln>
            <a:noFill/>
          </a:ln>
        </p:spPr>
        <p:txBody>
          <a:bodyPr/>
          <a:lstStyle/>
          <a:p>
            <a:endParaRPr lang="en-US"/>
          </a:p>
        </p:txBody>
      </p:sp>
      <p:sp>
        <p:nvSpPr>
          <p:cNvPr id="313" name="step3_circle"/>
          <p:cNvSpPr>
            <a:spLocks noGrp="1"/>
          </p:cNvSpPr>
          <p:nvPr/>
        </p:nvSpPr>
        <p:spPr>
          <a:xfrm>
            <a:off x="5194300" y="4241800"/>
            <a:ext cx="457200" cy="457200"/>
          </a:xfrm>
          <a:prstGeom prst="roundRect">
            <a:avLst>
              <a:gd name="adj" fmla="val 50000"/>
            </a:avLst>
          </a:prstGeom>
          <a:solidFill>
            <a:srgbClr val="1E7A3E"/>
          </a:solidFill>
          <a:ln>
            <a:noFill/>
          </a:ln>
        </p:spPr>
        <p:txBody>
          <a:bodyPr/>
          <a:lstStyle/>
          <a:p>
            <a:endParaRPr lang="en-US"/>
          </a:p>
        </p:txBody>
      </p:sp>
      <p:sp>
        <p:nvSpPr>
          <p:cNvPr id="323" name="step3_icon"/>
          <p:cNvSpPr txBox="1">
            <a:spLocks noGrp="1"/>
          </p:cNvSpPr>
          <p:nvPr/>
        </p:nvSpPr>
        <p:spPr>
          <a:xfrm>
            <a:off x="51943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3" name="step3_label"/>
          <p:cNvSpPr txBox="1">
            <a:spLocks noGrp="1"/>
          </p:cNvSpPr>
          <p:nvPr/>
        </p:nvSpPr>
        <p:spPr>
          <a:xfrm>
            <a:off x="49657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Prototype</a:t>
            </a:r>
          </a:p>
          <a:p>
            <a:pPr algn="ctr">
              <a:buNone/>
            </a:pPr>
            <a:r>
              <a:rPr lang="en-IN" sz="1400" dirty="0">
                <a:solidFill>
                  <a:srgbClr val="374151"/>
                </a:solidFill>
                <a:latin typeface="Calibri"/>
              </a:rPr>
              <a:t>Printing</a:t>
            </a:r>
          </a:p>
        </p:txBody>
      </p:sp>
      <p:sp>
        <p:nvSpPr>
          <p:cNvPr id="304" name="conn4"/>
          <p:cNvSpPr>
            <a:spLocks noGrp="1"/>
          </p:cNvSpPr>
          <p:nvPr/>
        </p:nvSpPr>
        <p:spPr>
          <a:xfrm>
            <a:off x="6921500" y="4432300"/>
            <a:ext cx="965200" cy="63500"/>
          </a:xfrm>
          <a:prstGeom prst="rect">
            <a:avLst/>
          </a:prstGeom>
          <a:solidFill>
            <a:srgbClr val="1E7A3E"/>
          </a:solidFill>
          <a:ln>
            <a:noFill/>
          </a:ln>
        </p:spPr>
        <p:txBody>
          <a:bodyPr/>
          <a:lstStyle/>
          <a:p>
            <a:endParaRPr lang="en-US"/>
          </a:p>
        </p:txBody>
      </p:sp>
      <p:sp>
        <p:nvSpPr>
          <p:cNvPr id="314" name="step4_circle"/>
          <p:cNvSpPr>
            <a:spLocks noGrp="1"/>
          </p:cNvSpPr>
          <p:nvPr/>
        </p:nvSpPr>
        <p:spPr>
          <a:xfrm>
            <a:off x="6667500" y="4241800"/>
            <a:ext cx="457200" cy="457200"/>
          </a:xfrm>
          <a:prstGeom prst="roundRect">
            <a:avLst>
              <a:gd name="adj" fmla="val 50000"/>
            </a:avLst>
          </a:prstGeom>
          <a:solidFill>
            <a:srgbClr val="1E7A3E"/>
          </a:solidFill>
          <a:ln>
            <a:noFill/>
          </a:ln>
        </p:spPr>
        <p:txBody>
          <a:bodyPr/>
          <a:lstStyle/>
          <a:p>
            <a:endParaRPr lang="en-US"/>
          </a:p>
        </p:txBody>
      </p:sp>
      <p:sp>
        <p:nvSpPr>
          <p:cNvPr id="324" name="step4_icon"/>
          <p:cNvSpPr txBox="1">
            <a:spLocks noGrp="1"/>
          </p:cNvSpPr>
          <p:nvPr/>
        </p:nvSpPr>
        <p:spPr>
          <a:xfrm>
            <a:off x="66675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4" name="step4_label"/>
          <p:cNvSpPr txBox="1">
            <a:spLocks noGrp="1"/>
          </p:cNvSpPr>
          <p:nvPr/>
        </p:nvSpPr>
        <p:spPr>
          <a:xfrm>
            <a:off x="64389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RPi</a:t>
            </a:r>
          </a:p>
          <a:p>
            <a:pPr algn="ctr">
              <a:buNone/>
            </a:pPr>
            <a:r>
              <a:rPr lang="en-IN" sz="1400" dirty="0">
                <a:solidFill>
                  <a:srgbClr val="374151"/>
                </a:solidFill>
                <a:latin typeface="Calibri"/>
              </a:rPr>
              <a:t>Learning</a:t>
            </a:r>
          </a:p>
        </p:txBody>
      </p:sp>
      <p:sp>
        <p:nvSpPr>
          <p:cNvPr id="305" name="conn5"/>
          <p:cNvSpPr>
            <a:spLocks noGrp="1"/>
          </p:cNvSpPr>
          <p:nvPr/>
        </p:nvSpPr>
        <p:spPr>
          <a:xfrm>
            <a:off x="8394700" y="4432300"/>
            <a:ext cx="965200" cy="63500"/>
          </a:xfrm>
          <a:prstGeom prst="rect">
            <a:avLst/>
          </a:prstGeom>
          <a:solidFill>
            <a:srgbClr val="CBD5E1"/>
          </a:solidFill>
          <a:ln>
            <a:noFill/>
          </a:ln>
        </p:spPr>
        <p:txBody>
          <a:bodyPr/>
          <a:lstStyle/>
          <a:p>
            <a:endParaRPr lang="en-US"/>
          </a:p>
        </p:txBody>
      </p:sp>
      <p:sp>
        <p:nvSpPr>
          <p:cNvPr id="315" name="step5_circle"/>
          <p:cNvSpPr>
            <a:spLocks noGrp="1"/>
          </p:cNvSpPr>
          <p:nvPr/>
        </p:nvSpPr>
        <p:spPr>
          <a:xfrm>
            <a:off x="8140700" y="4241800"/>
            <a:ext cx="457200" cy="457200"/>
          </a:xfrm>
          <a:prstGeom prst="roundRect">
            <a:avLst>
              <a:gd name="adj" fmla="val 50000"/>
            </a:avLst>
          </a:prstGeom>
          <a:solidFill>
            <a:srgbClr val="D97706"/>
          </a:solidFill>
          <a:ln>
            <a:noFill/>
          </a:ln>
        </p:spPr>
        <p:txBody>
          <a:bodyPr/>
          <a:lstStyle/>
          <a:p>
            <a:endParaRPr lang="en-US"/>
          </a:p>
        </p:txBody>
      </p:sp>
      <p:sp>
        <p:nvSpPr>
          <p:cNvPr id="325" name="step5_icon"/>
          <p:cNvSpPr txBox="1">
            <a:spLocks noGrp="1"/>
          </p:cNvSpPr>
          <p:nvPr/>
        </p:nvSpPr>
        <p:spPr>
          <a:xfrm>
            <a:off x="8140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5" name="step5_label"/>
          <p:cNvSpPr txBox="1">
            <a:spLocks noGrp="1"/>
          </p:cNvSpPr>
          <p:nvPr/>
        </p:nvSpPr>
        <p:spPr>
          <a:xfrm>
            <a:off x="7912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Motor</a:t>
            </a:r>
          </a:p>
          <a:p>
            <a:pPr algn="ctr">
              <a:buNone/>
            </a:pPr>
            <a:r>
              <a:rPr lang="en-IN" sz="1400" dirty="0">
                <a:solidFill>
                  <a:srgbClr val="374151"/>
                </a:solidFill>
                <a:latin typeface="Calibri"/>
              </a:rPr>
              <a:t>Integration</a:t>
            </a:r>
          </a:p>
        </p:txBody>
      </p:sp>
      <p:sp>
        <p:nvSpPr>
          <p:cNvPr id="345" name="step5_status"/>
          <p:cNvSpPr txBox="1">
            <a:spLocks noGrp="1"/>
          </p:cNvSpPr>
          <p:nvPr/>
        </p:nvSpPr>
        <p:spPr>
          <a:xfrm>
            <a:off x="78613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D97706"/>
                </a:solidFill>
                <a:latin typeface="Calibri"/>
              </a:rPr>
              <a:t>Awaiting HW</a:t>
            </a:r>
          </a:p>
        </p:txBody>
      </p:sp>
      <p:sp>
        <p:nvSpPr>
          <p:cNvPr id="316" name="step6_circle"/>
          <p:cNvSpPr>
            <a:spLocks noGrp="1"/>
          </p:cNvSpPr>
          <p:nvPr/>
        </p:nvSpPr>
        <p:spPr>
          <a:xfrm>
            <a:off x="9613900" y="4241800"/>
            <a:ext cx="457200" cy="457200"/>
          </a:xfrm>
          <a:prstGeom prst="roundRect">
            <a:avLst>
              <a:gd name="adj" fmla="val 50000"/>
            </a:avLst>
          </a:prstGeom>
          <a:solidFill>
            <a:srgbClr val="94A3B8"/>
          </a:solidFill>
          <a:ln>
            <a:noFill/>
          </a:ln>
        </p:spPr>
        <p:txBody>
          <a:bodyPr/>
          <a:lstStyle/>
          <a:p>
            <a:endParaRPr lang="en-US"/>
          </a:p>
        </p:txBody>
      </p:sp>
      <p:sp>
        <p:nvSpPr>
          <p:cNvPr id="326" name="step6_icon"/>
          <p:cNvSpPr txBox="1">
            <a:spLocks noGrp="1"/>
          </p:cNvSpPr>
          <p:nvPr/>
        </p:nvSpPr>
        <p:spPr>
          <a:xfrm>
            <a:off x="9613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6" name="step6_label"/>
          <p:cNvSpPr txBox="1">
            <a:spLocks noGrp="1"/>
          </p:cNvSpPr>
          <p:nvPr/>
        </p:nvSpPr>
        <p:spPr>
          <a:xfrm>
            <a:off x="9385300" y="4737100"/>
            <a:ext cx="914400" cy="457200"/>
          </a:xfrm>
          <a:prstGeom prst="rect">
            <a:avLst/>
          </a:prstGeom>
          <a:noFill/>
          <a:ln>
            <a:noFill/>
          </a:ln>
        </p:spPr>
        <p:txBody>
          <a:bodyPr anchor="t">
            <a:normAutofit fontScale="77500" lnSpcReduction="20000"/>
          </a:bodyPr>
          <a:lstStyle/>
          <a:p>
            <a:pPr algn="ctr">
              <a:buNone/>
            </a:pPr>
            <a:r>
              <a:rPr lang="en-IN" sz="1400" dirty="0">
                <a:solidFill>
                  <a:srgbClr val="374151"/>
                </a:solidFill>
                <a:latin typeface="Calibri"/>
              </a:rPr>
              <a:t>Locomotion</a:t>
            </a:r>
          </a:p>
          <a:p>
            <a:pPr algn="ctr">
              <a:buNone/>
            </a:pPr>
            <a:r>
              <a:rPr lang="en-IN" sz="1400" dirty="0">
                <a:solidFill>
                  <a:srgbClr val="374151"/>
                </a:solidFill>
                <a:latin typeface="Calibri"/>
              </a:rPr>
              <a:t>Testing</a:t>
            </a:r>
          </a:p>
        </p:txBody>
      </p:sp>
      <p:sp>
        <p:nvSpPr>
          <p:cNvPr id="346" name="step6_status"/>
          <p:cNvSpPr txBox="1">
            <a:spLocks noGrp="1"/>
          </p:cNvSpPr>
          <p:nvPr/>
        </p:nvSpPr>
        <p:spPr>
          <a:xfrm>
            <a:off x="93345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6B7280"/>
                </a:solidFill>
                <a:latin typeface="Calibri"/>
              </a:rPr>
              <a:t>Upcoming</a:t>
            </a:r>
          </a:p>
        </p:txBody>
      </p:sp>
      <p:sp>
        <p:nvSpPr>
          <p:cNvPr id="400" name="achieve_bg"/>
          <p:cNvSpPr>
            <a:spLocks noGrp="1"/>
          </p:cNvSpPr>
          <p:nvPr/>
        </p:nvSpPr>
        <p:spPr>
          <a:xfrm>
            <a:off x="546100" y="5270500"/>
            <a:ext cx="11099800" cy="838200"/>
          </a:xfrm>
          <a:prstGeom prst="roundRect">
            <a:avLst>
              <a:gd name="adj" fmla="val 10000"/>
            </a:avLst>
          </a:prstGeom>
          <a:solidFill>
            <a:srgbClr val="EBF8FA"/>
          </a:solidFill>
          <a:ln w="15000">
            <a:solidFill>
              <a:srgbClr val="0E96AC"/>
            </a:solidFill>
          </a:ln>
        </p:spPr>
        <p:txBody>
          <a:bodyPr/>
          <a:lstStyle/>
          <a:p>
            <a:endParaRPr lang="en-US"/>
          </a:p>
        </p:txBody>
      </p:sp>
      <p:sp>
        <p:nvSpPr>
          <p:cNvPr id="401" name="achieve_accent"/>
          <p:cNvSpPr>
            <a:spLocks noGrp="1"/>
          </p:cNvSpPr>
          <p:nvPr/>
        </p:nvSpPr>
        <p:spPr>
          <a:xfrm>
            <a:off x="546100" y="5270500"/>
            <a:ext cx="76200" cy="838200"/>
          </a:xfrm>
          <a:prstGeom prst="rect">
            <a:avLst/>
          </a:prstGeom>
          <a:solidFill>
            <a:srgbClr val="0E96AC"/>
          </a:solidFill>
          <a:ln>
            <a:noFill/>
          </a:ln>
        </p:spPr>
        <p:txBody>
          <a:bodyPr/>
          <a:lstStyle/>
          <a:p>
            <a:endParaRPr lang="en-US"/>
          </a:p>
        </p:txBody>
      </p:sp>
      <p:sp>
        <p:nvSpPr>
          <p:cNvPr id="402" name="achieve_star"/>
          <p:cNvSpPr txBox="1">
            <a:spLocks noGrp="1"/>
          </p:cNvSpPr>
          <p:nvPr/>
        </p:nvSpPr>
        <p:spPr>
          <a:xfrm>
            <a:off x="660400" y="5270500"/>
            <a:ext cx="355600" cy="838200"/>
          </a:xfrm>
          <a:prstGeom prst="rect">
            <a:avLst/>
          </a:prstGeom>
          <a:noFill/>
          <a:ln>
            <a:noFill/>
          </a:ln>
        </p:spPr>
        <p:txBody>
          <a:bodyPr anchor="ctr">
            <a:normAutofit/>
          </a:bodyPr>
          <a:lstStyle/>
          <a:p>
            <a:pPr algn="ctr">
              <a:buNone/>
            </a:pPr>
            <a:r>
              <a:rPr lang="en-US" sz="1600" dirty="0">
                <a:solidFill>
                  <a:srgbClr val="0E96AC"/>
                </a:solidFill>
                <a:latin typeface="Calibri"/>
              </a:rPr>
              <a:t>★</a:t>
            </a:r>
          </a:p>
        </p:txBody>
      </p:sp>
      <p:sp>
        <p:nvSpPr>
          <p:cNvPr id="403" name="achieve_text"/>
          <p:cNvSpPr txBox="1">
            <a:spLocks noGrp="1"/>
          </p:cNvSpPr>
          <p:nvPr/>
        </p:nvSpPr>
        <p:spPr>
          <a:xfrm>
            <a:off x="1041400" y="5295900"/>
            <a:ext cx="10515600" cy="787400"/>
          </a:xfrm>
          <a:prstGeom prst="rect">
            <a:avLst/>
          </a:prstGeom>
          <a:noFill/>
          <a:ln>
            <a:noFill/>
          </a:ln>
        </p:spPr>
        <p:txBody>
          <a:bodyPr anchor="ctr">
            <a:normAutofit/>
          </a:bodyPr>
          <a:lstStyle/>
          <a:p>
            <a:pPr marL="0" indent="0">
              <a:buNone/>
            </a:pPr>
            <a:r>
              <a:rPr lang="en-IN" sz="1100" b="1" dirty="0">
                <a:solidFill>
                  <a:srgbClr val="16223A"/>
                </a:solidFill>
                <a:latin typeface="Calibri"/>
              </a:rPr>
              <a:t>Key Achievement: </a:t>
            </a:r>
            <a:r>
              <a:rPr lang="en-IN" sz="1100" dirty="0">
                <a:solidFill>
                  <a:srgbClr val="374151"/>
                </a:solidFill>
                <a:latin typeface="Calibri"/>
              </a:rPr>
              <a:t>Although the primary Dynamixel hardware has not yet arrived, the team has successfully utilised available laboratory resources to complete design, fabrication, documentation, and software preparation activities, ensuring project progress is maintained.</a:t>
            </a:r>
          </a:p>
        </p:txBody>
      </p:sp>
    </p:spTree>
    <p:extLst>
      <p:ext uri="{BB962C8B-B14F-4D97-AF65-F5344CB8AC3E}">
        <p14:creationId xmlns:p14="http://schemas.microsoft.com/office/powerpoint/2010/main" val="4144980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6F8FB"/>
        </a:solidFill>
        <a:effectLst/>
      </p:bgPr>
    </p:bg>
    <p:spTree>
      <p:nvGrpSpPr>
        <p:cNvPr id="1" name=""/>
        <p:cNvGrpSpPr/>
        <p:nvPr/>
      </p:nvGrpSpPr>
      <p:grpSpPr>
        <a:xfrm>
          <a:off x="0" y="0"/>
          <a:ext cx="0" cy="0"/>
          <a:chOff x="0" y="0"/>
          <a:chExt cx="0" cy="0"/>
        </a:xfrm>
      </p:grpSpPr>
      <p:sp>
        <p:nvSpPr>
          <p:cNvPr id="100" name="bg_hdr"/>
          <p:cNvSpPr>
            <a:spLocks noGrp="1"/>
          </p:cNvSpPr>
          <p:nvPr/>
        </p:nvSpPr>
        <p:spPr>
          <a:xfrm>
            <a:off x="0" y="0"/>
            <a:ext cx="12192000" cy="1371600"/>
          </a:xfrm>
          <a:prstGeom prst="rect">
            <a:avLst/>
          </a:prstGeom>
          <a:solidFill>
            <a:srgbClr val="F4F6F9"/>
          </a:solidFill>
          <a:ln>
            <a:noFill/>
          </a:ln>
        </p:spPr>
        <p:txBody>
          <a:bodyPr/>
          <a:lstStyle/>
          <a:p>
            <a:endParaRPr lang="en-US" dirty="0"/>
          </a:p>
        </p:txBody>
      </p:sp>
      <p:sp>
        <p:nvSpPr>
          <p:cNvPr id="101" name="bg_body"/>
          <p:cNvSpPr>
            <a:spLocks noGrp="1"/>
          </p:cNvSpPr>
          <p:nvPr/>
        </p:nvSpPr>
        <p:spPr>
          <a:xfrm>
            <a:off x="0" y="1371600"/>
            <a:ext cx="12192000" cy="5486400"/>
          </a:xfrm>
          <a:prstGeom prst="rect">
            <a:avLst/>
          </a:prstGeom>
          <a:solidFill>
            <a:srgbClr val="FFFFFF"/>
          </a:solidFill>
          <a:ln>
            <a:noFill/>
          </a:ln>
        </p:spPr>
        <p:txBody>
          <a:bodyPr/>
          <a:lstStyle/>
          <a:p>
            <a:endParaRPr lang="en-US" dirty="0"/>
          </a:p>
        </p:txBody>
      </p:sp>
      <p:sp>
        <p:nvSpPr>
          <p:cNvPr id="102" name="teal_bar"/>
          <p:cNvSpPr>
            <a:spLocks noGrp="1"/>
          </p:cNvSpPr>
          <p:nvPr/>
        </p:nvSpPr>
        <p:spPr>
          <a:xfrm>
            <a:off x="0" y="0"/>
            <a:ext cx="12192000" cy="63500"/>
          </a:xfrm>
          <a:prstGeom prst="rect">
            <a:avLst/>
          </a:prstGeom>
          <a:solidFill>
            <a:srgbClr val="0E96AC"/>
          </a:solidFill>
          <a:ln>
            <a:noFill/>
          </a:ln>
        </p:spPr>
        <p:txBody>
          <a:bodyPr/>
          <a:lstStyle/>
          <a:p>
            <a:endParaRPr lang="en-US" dirty="0"/>
          </a:p>
        </p:txBody>
      </p:sp>
      <p:sp>
        <p:nvSpPr>
          <p:cNvPr id="103" name="div_v"/>
          <p:cNvSpPr>
            <a:spLocks noGrp="1"/>
          </p:cNvSpPr>
          <p:nvPr/>
        </p:nvSpPr>
        <p:spPr>
          <a:xfrm>
            <a:off x="4241800" y="1422400"/>
            <a:ext cx="25400" cy="5257800"/>
          </a:xfrm>
          <a:prstGeom prst="rect">
            <a:avLst/>
          </a:prstGeom>
          <a:solidFill>
            <a:srgbClr val="CBD5E1"/>
          </a:solidFill>
          <a:ln>
            <a:noFill/>
          </a:ln>
        </p:spPr>
        <p:txBody>
          <a:bodyPr/>
          <a:lstStyle/>
          <a:p>
            <a:endParaRPr lang="en-US" dirty="0"/>
          </a:p>
        </p:txBody>
      </p:sp>
      <p:sp>
        <p:nvSpPr>
          <p:cNvPr id="104" name="subt"/>
          <p:cNvSpPr txBox="1">
            <a:spLocks noGrp="1"/>
          </p:cNvSpPr>
          <p:nvPr/>
        </p:nvSpPr>
        <p:spPr>
          <a:xfrm>
            <a:off x="546100" y="177800"/>
            <a:ext cx="8890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REPOSITORY &amp; DOCUMENTATION</a:t>
            </a:r>
          </a:p>
        </p:txBody>
      </p:sp>
      <p:sp>
        <p:nvSpPr>
          <p:cNvPr id="105" name="ttl"/>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Version Control From Day One</a:t>
            </a:r>
          </a:p>
        </p:txBody>
      </p:sp>
      <p:sp>
        <p:nvSpPr>
          <p:cNvPr id="106" name="hdr_ln"/>
          <p:cNvSpPr>
            <a:spLocks noGrp="1"/>
          </p:cNvSpPr>
          <p:nvPr/>
        </p:nvSpPr>
        <p:spPr>
          <a:xfrm>
            <a:off x="546100" y="1320800"/>
            <a:ext cx="11099800" cy="25400"/>
          </a:xfrm>
          <a:prstGeom prst="rect">
            <a:avLst/>
          </a:prstGeom>
          <a:solidFill>
            <a:srgbClr val="0E96AC"/>
          </a:solidFill>
          <a:ln>
            <a:noFill/>
          </a:ln>
        </p:spPr>
        <p:txBody>
          <a:bodyPr/>
          <a:lstStyle/>
          <a:p>
            <a:endParaRPr lang="en-US" dirty="0"/>
          </a:p>
        </p:txBody>
      </p:sp>
      <p:sp>
        <p:nvSpPr>
          <p:cNvPr id="200" name="rbg0"/>
          <p:cNvSpPr>
            <a:spLocks noGrp="1"/>
          </p:cNvSpPr>
          <p:nvPr/>
        </p:nvSpPr>
        <p:spPr>
          <a:xfrm>
            <a:off x="546100" y="1422400"/>
            <a:ext cx="3632200" cy="838200"/>
          </a:xfrm>
          <a:prstGeom prst="rect">
            <a:avLst/>
          </a:prstGeom>
          <a:solidFill>
            <a:srgbClr val="F8FAFC"/>
          </a:solidFill>
          <a:ln>
            <a:noFill/>
          </a:ln>
        </p:spPr>
        <p:txBody>
          <a:bodyPr/>
          <a:lstStyle/>
          <a:p>
            <a:endParaRPr lang="en-US" dirty="0"/>
          </a:p>
        </p:txBody>
      </p:sp>
      <p:sp>
        <p:nvSpPr>
          <p:cNvPr id="210" name="nc0"/>
          <p:cNvSpPr>
            <a:spLocks noGrp="1"/>
          </p:cNvSpPr>
          <p:nvPr/>
        </p:nvSpPr>
        <p:spPr>
          <a:xfrm>
            <a:off x="609600" y="1689100"/>
            <a:ext cx="304800" cy="304800"/>
          </a:xfrm>
          <a:prstGeom prst="ellipse">
            <a:avLst/>
          </a:prstGeom>
          <a:solidFill>
            <a:srgbClr val="0E96AC"/>
          </a:solidFill>
          <a:ln>
            <a:noFill/>
          </a:ln>
        </p:spPr>
        <p:txBody>
          <a:bodyPr/>
          <a:lstStyle/>
          <a:p>
            <a:endParaRPr lang="en-US" dirty="0"/>
          </a:p>
        </p:txBody>
      </p:sp>
      <p:sp>
        <p:nvSpPr>
          <p:cNvPr id="220" name="nct0"/>
          <p:cNvSpPr txBox="1">
            <a:spLocks noGrp="1"/>
          </p:cNvSpPr>
          <p:nvPr/>
        </p:nvSpPr>
        <p:spPr>
          <a:xfrm>
            <a:off x="609600" y="16891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1</a:t>
            </a:r>
          </a:p>
        </p:txBody>
      </p:sp>
      <p:sp>
        <p:nvSpPr>
          <p:cNvPr id="230" name="bt0"/>
          <p:cNvSpPr txBox="1">
            <a:spLocks noGrp="1"/>
          </p:cNvSpPr>
          <p:nvPr/>
        </p:nvSpPr>
        <p:spPr>
          <a:xfrm>
            <a:off x="1003300" y="14986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Repository created</a:t>
            </a:r>
          </a:p>
          <a:p>
            <a:pPr marL="0" indent="0">
              <a:buNone/>
            </a:pPr>
            <a:r>
              <a:rPr lang="en-IN" sz="1400" dirty="0">
                <a:solidFill>
                  <a:srgbClr val="6B7890"/>
                </a:solidFill>
                <a:latin typeface="Calibri"/>
              </a:rPr>
              <a:t>Central home for the whole project.</a:t>
            </a:r>
          </a:p>
        </p:txBody>
      </p:sp>
      <p:sp>
        <p:nvSpPr>
          <p:cNvPr id="240" name="rdiv0"/>
          <p:cNvSpPr>
            <a:spLocks noGrp="1"/>
          </p:cNvSpPr>
          <p:nvPr/>
        </p:nvSpPr>
        <p:spPr>
          <a:xfrm>
            <a:off x="546100" y="2247900"/>
            <a:ext cx="3632200" cy="12700"/>
          </a:xfrm>
          <a:prstGeom prst="rect">
            <a:avLst/>
          </a:prstGeom>
          <a:solidFill>
            <a:srgbClr val="E2E8F0"/>
          </a:solidFill>
          <a:ln>
            <a:noFill/>
          </a:ln>
        </p:spPr>
        <p:txBody>
          <a:bodyPr/>
          <a:lstStyle/>
          <a:p>
            <a:endParaRPr lang="en-US" dirty="0"/>
          </a:p>
        </p:txBody>
      </p:sp>
      <p:sp>
        <p:nvSpPr>
          <p:cNvPr id="211" name="nc1"/>
          <p:cNvSpPr>
            <a:spLocks noGrp="1"/>
          </p:cNvSpPr>
          <p:nvPr/>
        </p:nvSpPr>
        <p:spPr>
          <a:xfrm>
            <a:off x="609600" y="2527300"/>
            <a:ext cx="304800" cy="304800"/>
          </a:xfrm>
          <a:prstGeom prst="ellipse">
            <a:avLst/>
          </a:prstGeom>
          <a:solidFill>
            <a:srgbClr val="0E96AC"/>
          </a:solidFill>
          <a:ln>
            <a:noFill/>
          </a:ln>
        </p:spPr>
        <p:txBody>
          <a:bodyPr/>
          <a:lstStyle/>
          <a:p>
            <a:endParaRPr lang="en-US" dirty="0"/>
          </a:p>
        </p:txBody>
      </p:sp>
      <p:sp>
        <p:nvSpPr>
          <p:cNvPr id="221" name="nct1"/>
          <p:cNvSpPr txBox="1">
            <a:spLocks noGrp="1"/>
          </p:cNvSpPr>
          <p:nvPr/>
        </p:nvSpPr>
        <p:spPr>
          <a:xfrm>
            <a:off x="609600" y="25273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2</a:t>
            </a:r>
          </a:p>
        </p:txBody>
      </p:sp>
      <p:sp>
        <p:nvSpPr>
          <p:cNvPr id="231" name="bt1"/>
          <p:cNvSpPr txBox="1">
            <a:spLocks noGrp="1"/>
          </p:cNvSpPr>
          <p:nvPr/>
        </p:nvSpPr>
        <p:spPr>
          <a:xfrm>
            <a:off x="1003300" y="23368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Version control established</a:t>
            </a:r>
          </a:p>
          <a:p>
            <a:pPr marL="0" indent="0">
              <a:buNone/>
            </a:pPr>
            <a:r>
              <a:rPr lang="en-IN" sz="1400" dirty="0">
                <a:solidFill>
                  <a:srgbClr val="6B7890"/>
                </a:solidFill>
                <a:latin typeface="Calibri"/>
              </a:rPr>
              <a:t>Tracked, reversible change history.</a:t>
            </a:r>
          </a:p>
        </p:txBody>
      </p:sp>
      <p:sp>
        <p:nvSpPr>
          <p:cNvPr id="241" name="rdiv1"/>
          <p:cNvSpPr>
            <a:spLocks noGrp="1"/>
          </p:cNvSpPr>
          <p:nvPr/>
        </p:nvSpPr>
        <p:spPr>
          <a:xfrm>
            <a:off x="546100" y="3086100"/>
            <a:ext cx="3632200" cy="12700"/>
          </a:xfrm>
          <a:prstGeom prst="rect">
            <a:avLst/>
          </a:prstGeom>
          <a:solidFill>
            <a:srgbClr val="E2E8F0"/>
          </a:solidFill>
          <a:ln>
            <a:noFill/>
          </a:ln>
        </p:spPr>
        <p:txBody>
          <a:bodyPr/>
          <a:lstStyle/>
          <a:p>
            <a:endParaRPr lang="en-US" dirty="0"/>
          </a:p>
        </p:txBody>
      </p:sp>
      <p:sp>
        <p:nvSpPr>
          <p:cNvPr id="202" name="rbg2"/>
          <p:cNvSpPr>
            <a:spLocks noGrp="1"/>
          </p:cNvSpPr>
          <p:nvPr/>
        </p:nvSpPr>
        <p:spPr>
          <a:xfrm>
            <a:off x="546100" y="3098800"/>
            <a:ext cx="3632200" cy="838200"/>
          </a:xfrm>
          <a:prstGeom prst="rect">
            <a:avLst/>
          </a:prstGeom>
          <a:solidFill>
            <a:srgbClr val="F8FAFC"/>
          </a:solidFill>
          <a:ln>
            <a:noFill/>
          </a:ln>
        </p:spPr>
        <p:txBody>
          <a:bodyPr/>
          <a:lstStyle/>
          <a:p>
            <a:endParaRPr lang="en-US" dirty="0"/>
          </a:p>
        </p:txBody>
      </p:sp>
      <p:sp>
        <p:nvSpPr>
          <p:cNvPr id="212" name="nc2"/>
          <p:cNvSpPr>
            <a:spLocks noGrp="1"/>
          </p:cNvSpPr>
          <p:nvPr/>
        </p:nvSpPr>
        <p:spPr>
          <a:xfrm>
            <a:off x="609600" y="3365500"/>
            <a:ext cx="304800" cy="304800"/>
          </a:xfrm>
          <a:prstGeom prst="ellipse">
            <a:avLst/>
          </a:prstGeom>
          <a:solidFill>
            <a:srgbClr val="0E96AC"/>
          </a:solidFill>
          <a:ln>
            <a:noFill/>
          </a:ln>
        </p:spPr>
        <p:txBody>
          <a:bodyPr/>
          <a:lstStyle/>
          <a:p>
            <a:endParaRPr lang="en-US" dirty="0"/>
          </a:p>
        </p:txBody>
      </p:sp>
      <p:sp>
        <p:nvSpPr>
          <p:cNvPr id="222" name="nct2"/>
          <p:cNvSpPr txBox="1">
            <a:spLocks noGrp="1"/>
          </p:cNvSpPr>
          <p:nvPr/>
        </p:nvSpPr>
        <p:spPr>
          <a:xfrm>
            <a:off x="609600" y="33655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3</a:t>
            </a:r>
          </a:p>
        </p:txBody>
      </p:sp>
      <p:sp>
        <p:nvSpPr>
          <p:cNvPr id="232" name="bt2"/>
          <p:cNvSpPr txBox="1">
            <a:spLocks noGrp="1"/>
          </p:cNvSpPr>
          <p:nvPr/>
        </p:nvSpPr>
        <p:spPr>
          <a:xfrm>
            <a:off x="1003300" y="31750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CAD files uploaded</a:t>
            </a:r>
          </a:p>
          <a:p>
            <a:pPr marL="0" indent="0">
              <a:buNone/>
            </a:pPr>
            <a:r>
              <a:rPr lang="en-IN" sz="1400" dirty="0">
                <a:solidFill>
                  <a:srgbClr val="6B7890"/>
                </a:solidFill>
                <a:latin typeface="Calibri"/>
              </a:rPr>
              <a:t>Design source committed to the repo.</a:t>
            </a:r>
          </a:p>
        </p:txBody>
      </p:sp>
      <p:sp>
        <p:nvSpPr>
          <p:cNvPr id="242" name="rdiv2"/>
          <p:cNvSpPr>
            <a:spLocks noGrp="1"/>
          </p:cNvSpPr>
          <p:nvPr/>
        </p:nvSpPr>
        <p:spPr>
          <a:xfrm>
            <a:off x="546100" y="3924300"/>
            <a:ext cx="3632200" cy="12700"/>
          </a:xfrm>
          <a:prstGeom prst="rect">
            <a:avLst/>
          </a:prstGeom>
          <a:solidFill>
            <a:srgbClr val="E2E8F0"/>
          </a:solidFill>
          <a:ln>
            <a:noFill/>
          </a:ln>
        </p:spPr>
        <p:txBody>
          <a:bodyPr/>
          <a:lstStyle/>
          <a:p>
            <a:endParaRPr lang="en-US" dirty="0"/>
          </a:p>
        </p:txBody>
      </p:sp>
      <p:sp>
        <p:nvSpPr>
          <p:cNvPr id="213" name="nc3"/>
          <p:cNvSpPr>
            <a:spLocks noGrp="1"/>
          </p:cNvSpPr>
          <p:nvPr/>
        </p:nvSpPr>
        <p:spPr>
          <a:xfrm>
            <a:off x="609600" y="4203700"/>
            <a:ext cx="304800" cy="304800"/>
          </a:xfrm>
          <a:prstGeom prst="ellipse">
            <a:avLst/>
          </a:prstGeom>
          <a:solidFill>
            <a:srgbClr val="0E96AC"/>
          </a:solidFill>
          <a:ln>
            <a:noFill/>
          </a:ln>
        </p:spPr>
        <p:txBody>
          <a:bodyPr/>
          <a:lstStyle/>
          <a:p>
            <a:endParaRPr lang="en-US" dirty="0"/>
          </a:p>
        </p:txBody>
      </p:sp>
      <p:sp>
        <p:nvSpPr>
          <p:cNvPr id="223" name="nct3"/>
          <p:cNvSpPr txBox="1">
            <a:spLocks noGrp="1"/>
          </p:cNvSpPr>
          <p:nvPr/>
        </p:nvSpPr>
        <p:spPr>
          <a:xfrm>
            <a:off x="609600" y="42037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4</a:t>
            </a:r>
          </a:p>
        </p:txBody>
      </p:sp>
      <p:sp>
        <p:nvSpPr>
          <p:cNvPr id="233" name="bt3"/>
          <p:cNvSpPr txBox="1">
            <a:spLocks noGrp="1"/>
          </p:cNvSpPr>
          <p:nvPr/>
        </p:nvSpPr>
        <p:spPr>
          <a:xfrm>
            <a:off x="1003300" y="40132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Design iterations documented</a:t>
            </a:r>
          </a:p>
          <a:p>
            <a:pPr marL="0" indent="0">
              <a:buNone/>
            </a:pPr>
            <a:r>
              <a:rPr lang="en-IN" sz="1400" dirty="0">
                <a:solidFill>
                  <a:srgbClr val="6B7890"/>
                </a:solidFill>
                <a:latin typeface="Calibri"/>
              </a:rPr>
              <a:t>Every revision captured in commits.</a:t>
            </a:r>
          </a:p>
        </p:txBody>
      </p:sp>
      <p:sp>
        <p:nvSpPr>
          <p:cNvPr id="243" name="rdiv3"/>
          <p:cNvSpPr>
            <a:spLocks noGrp="1"/>
          </p:cNvSpPr>
          <p:nvPr/>
        </p:nvSpPr>
        <p:spPr>
          <a:xfrm>
            <a:off x="546100" y="4762500"/>
            <a:ext cx="3632200" cy="12700"/>
          </a:xfrm>
          <a:prstGeom prst="rect">
            <a:avLst/>
          </a:prstGeom>
          <a:solidFill>
            <a:srgbClr val="E2E8F0"/>
          </a:solidFill>
          <a:ln>
            <a:noFill/>
          </a:ln>
        </p:spPr>
        <p:txBody>
          <a:bodyPr/>
          <a:lstStyle/>
          <a:p>
            <a:endParaRPr lang="en-US" dirty="0"/>
          </a:p>
        </p:txBody>
      </p:sp>
      <p:sp>
        <p:nvSpPr>
          <p:cNvPr id="204" name="rbg4"/>
          <p:cNvSpPr>
            <a:spLocks noGrp="1"/>
          </p:cNvSpPr>
          <p:nvPr/>
        </p:nvSpPr>
        <p:spPr>
          <a:xfrm>
            <a:off x="546100" y="4775200"/>
            <a:ext cx="3632200" cy="838200"/>
          </a:xfrm>
          <a:prstGeom prst="rect">
            <a:avLst/>
          </a:prstGeom>
          <a:solidFill>
            <a:srgbClr val="F8FAFC"/>
          </a:solidFill>
          <a:ln>
            <a:noFill/>
          </a:ln>
        </p:spPr>
        <p:txBody>
          <a:bodyPr/>
          <a:lstStyle/>
          <a:p>
            <a:endParaRPr lang="en-US" dirty="0"/>
          </a:p>
        </p:txBody>
      </p:sp>
      <p:sp>
        <p:nvSpPr>
          <p:cNvPr id="214" name="nc4"/>
          <p:cNvSpPr>
            <a:spLocks noGrp="1"/>
          </p:cNvSpPr>
          <p:nvPr/>
        </p:nvSpPr>
        <p:spPr>
          <a:xfrm>
            <a:off x="609600" y="5041900"/>
            <a:ext cx="304800" cy="304800"/>
          </a:xfrm>
          <a:prstGeom prst="ellipse">
            <a:avLst/>
          </a:prstGeom>
          <a:solidFill>
            <a:srgbClr val="0E96AC"/>
          </a:solidFill>
          <a:ln>
            <a:noFill/>
          </a:ln>
        </p:spPr>
        <p:txBody>
          <a:bodyPr/>
          <a:lstStyle/>
          <a:p>
            <a:endParaRPr lang="en-US" dirty="0"/>
          </a:p>
        </p:txBody>
      </p:sp>
      <p:sp>
        <p:nvSpPr>
          <p:cNvPr id="224" name="nct4"/>
          <p:cNvSpPr txBox="1">
            <a:spLocks noGrp="1"/>
          </p:cNvSpPr>
          <p:nvPr/>
        </p:nvSpPr>
        <p:spPr>
          <a:xfrm>
            <a:off x="609600" y="50419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5</a:t>
            </a:r>
          </a:p>
        </p:txBody>
      </p:sp>
      <p:sp>
        <p:nvSpPr>
          <p:cNvPr id="234" name="bt4"/>
          <p:cNvSpPr txBox="1">
            <a:spLocks noGrp="1"/>
          </p:cNvSpPr>
          <p:nvPr/>
        </p:nvSpPr>
        <p:spPr>
          <a:xfrm>
            <a:off x="1003300" y="48514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Progress tracking in place</a:t>
            </a:r>
          </a:p>
          <a:p>
            <a:pPr marL="0" indent="0">
              <a:buNone/>
            </a:pPr>
            <a:r>
              <a:rPr lang="en-IN" sz="1400" dirty="0">
                <a:solidFill>
                  <a:srgbClr val="6B7890"/>
                </a:solidFill>
                <a:latin typeface="Calibri"/>
              </a:rPr>
              <a:t>Milestones and issues logged.</a:t>
            </a:r>
          </a:p>
        </p:txBody>
      </p:sp>
      <p:sp>
        <p:nvSpPr>
          <p:cNvPr id="244" name="rdiv4"/>
          <p:cNvSpPr>
            <a:spLocks noGrp="1"/>
          </p:cNvSpPr>
          <p:nvPr/>
        </p:nvSpPr>
        <p:spPr>
          <a:xfrm>
            <a:off x="546100" y="5600700"/>
            <a:ext cx="3632200" cy="12700"/>
          </a:xfrm>
          <a:prstGeom prst="rect">
            <a:avLst/>
          </a:prstGeom>
          <a:solidFill>
            <a:srgbClr val="E2E8F0"/>
          </a:solidFill>
          <a:ln>
            <a:noFill/>
          </a:ln>
        </p:spPr>
        <p:txBody>
          <a:bodyPr/>
          <a:lstStyle/>
          <a:p>
            <a:endParaRPr lang="en-US" dirty="0"/>
          </a:p>
        </p:txBody>
      </p:sp>
      <p:sp>
        <p:nvSpPr>
          <p:cNvPr id="215" name="nc5"/>
          <p:cNvSpPr>
            <a:spLocks noGrp="1"/>
          </p:cNvSpPr>
          <p:nvPr/>
        </p:nvSpPr>
        <p:spPr>
          <a:xfrm>
            <a:off x="609600" y="5880100"/>
            <a:ext cx="304800" cy="304800"/>
          </a:xfrm>
          <a:prstGeom prst="ellipse">
            <a:avLst/>
          </a:prstGeom>
          <a:solidFill>
            <a:srgbClr val="0E96AC"/>
          </a:solidFill>
          <a:ln>
            <a:noFill/>
          </a:ln>
        </p:spPr>
        <p:txBody>
          <a:bodyPr/>
          <a:lstStyle/>
          <a:p>
            <a:endParaRPr lang="en-US" dirty="0"/>
          </a:p>
        </p:txBody>
      </p:sp>
      <p:sp>
        <p:nvSpPr>
          <p:cNvPr id="225" name="nct5"/>
          <p:cNvSpPr txBox="1">
            <a:spLocks noGrp="1"/>
          </p:cNvSpPr>
          <p:nvPr/>
        </p:nvSpPr>
        <p:spPr>
          <a:xfrm>
            <a:off x="609600" y="5880100"/>
            <a:ext cx="304800" cy="304800"/>
          </a:xfrm>
          <a:prstGeom prst="rect">
            <a:avLst/>
          </a:prstGeom>
          <a:noFill/>
          <a:ln>
            <a:noFill/>
          </a:ln>
        </p:spPr>
        <p:txBody>
          <a:bodyPr anchor="ctr">
            <a:normAutofit/>
          </a:bodyPr>
          <a:lstStyle/>
          <a:p>
            <a:pPr algn="ctr">
              <a:buNone/>
            </a:pPr>
            <a:r>
              <a:rPr lang="en-IN" sz="1000" b="1" dirty="0">
                <a:solidFill>
                  <a:srgbClr val="FFFFFF"/>
                </a:solidFill>
                <a:latin typeface="Calibri"/>
              </a:rPr>
              <a:t>6</a:t>
            </a:r>
          </a:p>
        </p:txBody>
      </p:sp>
      <p:sp>
        <p:nvSpPr>
          <p:cNvPr id="235" name="bt5"/>
          <p:cNvSpPr txBox="1">
            <a:spLocks noGrp="1"/>
          </p:cNvSpPr>
          <p:nvPr/>
        </p:nvSpPr>
        <p:spPr>
          <a:xfrm>
            <a:off x="1003300" y="5689600"/>
            <a:ext cx="3162300" cy="736600"/>
          </a:xfrm>
          <a:prstGeom prst="rect">
            <a:avLst/>
          </a:prstGeom>
          <a:noFill/>
          <a:ln>
            <a:noFill/>
          </a:ln>
        </p:spPr>
        <p:txBody>
          <a:bodyPr anchor="t">
            <a:normAutofit/>
          </a:bodyPr>
          <a:lstStyle/>
          <a:p>
            <a:pPr marL="0" indent="0">
              <a:buNone/>
            </a:pPr>
            <a:r>
              <a:rPr lang="en-IN" sz="1500" b="1" dirty="0">
                <a:solidFill>
                  <a:srgbClr val="16223A"/>
                </a:solidFill>
                <a:latin typeface="Calibri"/>
              </a:rPr>
              <a:t>Team collaboration workflow</a:t>
            </a:r>
          </a:p>
          <a:p>
            <a:pPr marL="0" indent="0">
              <a:buNone/>
            </a:pPr>
            <a:r>
              <a:rPr lang="en-IN" sz="1400" dirty="0">
                <a:solidFill>
                  <a:srgbClr val="6B7890"/>
                </a:solidFill>
                <a:latin typeface="Calibri"/>
              </a:rPr>
              <a:t>Shared branches and pull requests.</a:t>
            </a:r>
          </a:p>
        </p:txBody>
      </p:sp>
      <p:sp>
        <p:nvSpPr>
          <p:cNvPr id="300" name="fr0"/>
          <p:cNvSpPr>
            <a:spLocks noGrp="1"/>
          </p:cNvSpPr>
          <p:nvPr/>
        </p:nvSpPr>
        <p:spPr>
          <a:xfrm>
            <a:off x="4406900" y="1409700"/>
            <a:ext cx="6176383" cy="2338618"/>
          </a:xfrm>
          <a:prstGeom prst="rect">
            <a:avLst/>
          </a:prstGeom>
          <a:solidFill>
            <a:srgbClr val="FFFFFF"/>
          </a:solidFill>
          <a:ln w="15875">
            <a:solidFill>
              <a:srgbClr val="0E96AC"/>
            </a:solidFill>
          </a:ln>
        </p:spPr>
        <p:txBody>
          <a:bodyPr/>
          <a:lstStyle/>
          <a:p>
            <a:endParaRPr lang="en-US" dirty="0"/>
          </a:p>
        </p:txBody>
      </p:sp>
      <p:sp>
        <p:nvSpPr>
          <p:cNvPr id="301" name="fr1"/>
          <p:cNvSpPr>
            <a:spLocks noGrp="1"/>
          </p:cNvSpPr>
          <p:nvPr/>
        </p:nvSpPr>
        <p:spPr>
          <a:xfrm>
            <a:off x="4343400" y="4102100"/>
            <a:ext cx="5164394" cy="1703848"/>
          </a:xfrm>
          <a:prstGeom prst="rect">
            <a:avLst/>
          </a:prstGeom>
          <a:solidFill>
            <a:srgbClr val="FFFFFF"/>
          </a:solidFill>
          <a:ln w="15875">
            <a:solidFill>
              <a:srgbClr val="0E96AC"/>
            </a:solidFill>
          </a:ln>
        </p:spPr>
        <p:txBody>
          <a:bodyPr/>
          <a:lstStyle/>
          <a:p>
            <a:endParaRPr lang="en-US" dirty="0"/>
          </a:p>
        </p:txBody>
      </p:sp>
      <p:pic>
        <p:nvPicPr>
          <p:cNvPr id="9" name="Picture 8" descr="Locomotion set too 2D forward sine curve movement.&#10;&#10;AI-generated content may be incorrect.">
            <a:extLst>
              <a:ext uri="{FF2B5EF4-FFF2-40B4-BE49-F238E27FC236}">
                <a16:creationId xmlns:a16="http://schemas.microsoft.com/office/drawing/2014/main" id="{ED2047AF-DB81-F6EB-B705-0BA0C0456025}"/>
              </a:ext>
            </a:extLst>
          </p:cNvPr>
          <p:cNvPicPr>
            <a:picLocks noChangeAspect="1"/>
          </p:cNvPicPr>
          <p:nvPr/>
        </p:nvPicPr>
        <p:blipFill>
          <a:blip r:embed="rId3"/>
          <a:stretch>
            <a:fillRect/>
          </a:stretch>
        </p:blipFill>
        <p:spPr>
          <a:xfrm>
            <a:off x="4419600" y="1461524"/>
            <a:ext cx="6150983" cy="2056376"/>
          </a:xfrm>
          <a:prstGeom prst="rect">
            <a:avLst/>
          </a:prstGeom>
        </p:spPr>
      </p:pic>
      <p:pic>
        <p:nvPicPr>
          <p:cNvPr id="5" name="Picture 4" descr="step&#10;&#10;AI-generated content may be incorrect.">
            <a:extLst>
              <a:ext uri="{FF2B5EF4-FFF2-40B4-BE49-F238E27FC236}">
                <a16:creationId xmlns:a16="http://schemas.microsoft.com/office/drawing/2014/main" id="{80777DB4-B751-FFD3-5E4E-49618F172697}"/>
              </a:ext>
            </a:extLst>
          </p:cNvPr>
          <p:cNvPicPr>
            <a:picLocks noChangeAspect="1"/>
          </p:cNvPicPr>
          <p:nvPr/>
        </p:nvPicPr>
        <p:blipFill>
          <a:blip r:embed="rId4"/>
          <a:stretch>
            <a:fillRect/>
          </a:stretch>
        </p:blipFill>
        <p:spPr>
          <a:xfrm>
            <a:off x="4356100" y="4110447"/>
            <a:ext cx="5139813" cy="1473200"/>
          </a:xfrm>
          <a:prstGeom prst="rect">
            <a:avLst/>
          </a:prstGeom>
        </p:spPr>
      </p:pic>
      <p:pic>
        <p:nvPicPr>
          <p:cNvPr id="7" name="Picture 6" descr="The image shows a collection of text documents and files related to Raspberry Pi setup and testing, including installation guides, hardware documentation, and various scripts and manuals.&#10;&#10;AI-generated content may be incorrect.">
            <a:extLst>
              <a:ext uri="{FF2B5EF4-FFF2-40B4-BE49-F238E27FC236}">
                <a16:creationId xmlns:a16="http://schemas.microsoft.com/office/drawing/2014/main" id="{95193EA5-352B-66B9-D1D8-D963F722885B}"/>
              </a:ext>
            </a:extLst>
          </p:cNvPr>
          <p:cNvPicPr>
            <a:picLocks noChangeAspect="1"/>
          </p:cNvPicPr>
          <p:nvPr/>
        </p:nvPicPr>
        <p:blipFill>
          <a:blip r:embed="rId5"/>
          <a:stretch>
            <a:fillRect/>
          </a:stretch>
        </p:blipFill>
        <p:spPr>
          <a:xfrm>
            <a:off x="9957620" y="3827640"/>
            <a:ext cx="1776053" cy="3017659"/>
          </a:xfrm>
          <a:prstGeom prst="rect">
            <a:avLst/>
          </a:prstGeom>
        </p:spPr>
      </p:pic>
      <p:sp>
        <p:nvSpPr>
          <p:cNvPr id="310" name="cov0"/>
          <p:cNvSpPr>
            <a:spLocks noGrp="1"/>
          </p:cNvSpPr>
          <p:nvPr/>
        </p:nvSpPr>
        <p:spPr>
          <a:xfrm>
            <a:off x="4406900" y="3512752"/>
            <a:ext cx="6176383" cy="235565"/>
          </a:xfrm>
          <a:prstGeom prst="rect">
            <a:avLst/>
          </a:prstGeom>
          <a:solidFill>
            <a:srgbClr val="16223A"/>
          </a:solidFill>
          <a:ln>
            <a:noFill/>
          </a:ln>
        </p:spPr>
        <p:txBody>
          <a:bodyPr/>
          <a:lstStyle/>
          <a:p>
            <a:endParaRPr lang="en-US" dirty="0"/>
          </a:p>
        </p:txBody>
      </p:sp>
      <p:sp>
        <p:nvSpPr>
          <p:cNvPr id="320" name="cap0"/>
          <p:cNvSpPr txBox="1">
            <a:spLocks noGrp="1"/>
          </p:cNvSpPr>
          <p:nvPr/>
        </p:nvSpPr>
        <p:spPr>
          <a:xfrm>
            <a:off x="4383386" y="3535937"/>
            <a:ext cx="6223410" cy="229624"/>
          </a:xfrm>
          <a:prstGeom prst="rect">
            <a:avLst/>
          </a:prstGeom>
          <a:noFill/>
          <a:ln>
            <a:noFill/>
          </a:ln>
        </p:spPr>
        <p:txBody>
          <a:bodyPr anchor="ctr">
            <a:normAutofit lnSpcReduction="10000"/>
          </a:bodyPr>
          <a:lstStyle/>
          <a:p>
            <a:pPr marL="0" indent="0">
              <a:buNone/>
            </a:pPr>
            <a:r>
              <a:rPr lang="en-IN" sz="1000" b="1" dirty="0">
                <a:solidFill>
                  <a:srgbClr val="FFFFFF"/>
                </a:solidFill>
                <a:latin typeface="Calibri"/>
              </a:rPr>
              <a:t>GitHub repository — project root &amp; structure</a:t>
            </a:r>
          </a:p>
        </p:txBody>
      </p:sp>
      <p:sp>
        <p:nvSpPr>
          <p:cNvPr id="311" name="cov1"/>
          <p:cNvSpPr>
            <a:spLocks noGrp="1"/>
          </p:cNvSpPr>
          <p:nvPr/>
        </p:nvSpPr>
        <p:spPr>
          <a:xfrm>
            <a:off x="4343400" y="5579192"/>
            <a:ext cx="5164394" cy="202304"/>
          </a:xfrm>
          <a:prstGeom prst="rect">
            <a:avLst/>
          </a:prstGeom>
          <a:solidFill>
            <a:srgbClr val="16223A"/>
          </a:solidFill>
          <a:ln>
            <a:noFill/>
          </a:ln>
        </p:spPr>
        <p:txBody>
          <a:bodyPr/>
          <a:lstStyle/>
          <a:p>
            <a:endParaRPr lang="en-US" dirty="0"/>
          </a:p>
        </p:txBody>
      </p:sp>
      <p:sp>
        <p:nvSpPr>
          <p:cNvPr id="321" name="cap1"/>
          <p:cNvSpPr txBox="1">
            <a:spLocks noGrp="1"/>
          </p:cNvSpPr>
          <p:nvPr/>
        </p:nvSpPr>
        <p:spPr>
          <a:xfrm>
            <a:off x="4318819" y="5543012"/>
            <a:ext cx="5177094" cy="271283"/>
          </a:xfrm>
          <a:prstGeom prst="rect">
            <a:avLst/>
          </a:prstGeom>
          <a:noFill/>
          <a:ln>
            <a:noFill/>
          </a:ln>
        </p:spPr>
        <p:txBody>
          <a:bodyPr anchor="ctr">
            <a:normAutofit/>
          </a:bodyPr>
          <a:lstStyle/>
          <a:p>
            <a:pPr marL="0" indent="0">
              <a:buNone/>
            </a:pPr>
            <a:r>
              <a:rPr lang="en-IN" sz="1000" b="1" dirty="0">
                <a:solidFill>
                  <a:srgbClr val="FFFFFF"/>
                </a:solidFill>
                <a:latin typeface="Calibri"/>
              </a:rPr>
              <a:t>Commit history — tracked iterations &amp; uploads</a:t>
            </a:r>
          </a:p>
        </p:txBody>
      </p:sp>
      <p:sp>
        <p:nvSpPr>
          <p:cNvPr id="330" name="arr0"/>
          <p:cNvSpPr>
            <a:spLocks noGrp="1"/>
          </p:cNvSpPr>
          <p:nvPr/>
        </p:nvSpPr>
        <p:spPr>
          <a:xfrm>
            <a:off x="7360879" y="3750647"/>
            <a:ext cx="355600" cy="266700"/>
          </a:xfrm>
          <a:prstGeom prst="downArrow">
            <a:avLst>
              <a:gd name="adj1" fmla="val 50000"/>
              <a:gd name="adj2" fmla="val 50000"/>
            </a:avLst>
          </a:prstGeom>
          <a:solidFill>
            <a:srgbClr val="0E96AC"/>
          </a:solidFill>
          <a:ln>
            <a:noFill/>
          </a:ln>
        </p:spPr>
        <p:txBody>
          <a:bodyPr/>
          <a:lstStyle/>
          <a:p>
            <a:endParaRPr lang="en-US" dirty="0"/>
          </a:p>
        </p:txBody>
      </p:sp>
      <p:sp>
        <p:nvSpPr>
          <p:cNvPr id="331" name="arr1"/>
          <p:cNvSpPr>
            <a:spLocks noGrp="1"/>
          </p:cNvSpPr>
          <p:nvPr/>
        </p:nvSpPr>
        <p:spPr>
          <a:xfrm rot="16200000">
            <a:off x="9554907" y="5036459"/>
            <a:ext cx="355600" cy="177800"/>
          </a:xfrm>
          <a:prstGeom prst="downArrow">
            <a:avLst>
              <a:gd name="adj1" fmla="val 50000"/>
              <a:gd name="adj2" fmla="val 50000"/>
            </a:avLst>
          </a:prstGeom>
          <a:solidFill>
            <a:srgbClr val="0E96AC"/>
          </a:solidFill>
          <a:ln>
            <a:noFill/>
          </a:ln>
        </p:spPr>
        <p:txBody>
          <a:bodyPr/>
          <a:lstStyle/>
          <a:p>
            <a:endParaRPr lang="en-US" dirty="0"/>
          </a:p>
        </p:txBody>
      </p:sp>
      <p:sp>
        <p:nvSpPr>
          <p:cNvPr id="340" name="gh_lbl"/>
          <p:cNvSpPr txBox="1">
            <a:spLocks noGrp="1"/>
          </p:cNvSpPr>
          <p:nvPr/>
        </p:nvSpPr>
        <p:spPr>
          <a:xfrm>
            <a:off x="4419600" y="1371600"/>
            <a:ext cx="3810000" cy="177800"/>
          </a:xfrm>
          <a:prstGeom prst="rect">
            <a:avLst/>
          </a:prstGeom>
          <a:noFill/>
          <a:ln>
            <a:noFill/>
          </a:ln>
        </p:spPr>
        <p:txBody>
          <a:bodyPr anchor="t">
            <a:normAutofit fontScale="70000" lnSpcReduction="20000"/>
          </a:bodyPr>
          <a:lstStyle/>
          <a:p>
            <a:pPr marL="0" indent="0">
              <a:buNone/>
            </a:pPr>
            <a:r>
              <a:rPr lang="en-IN" sz="900" b="1" spc="200" dirty="0">
                <a:solidFill>
                  <a:srgbClr val="0E96AC"/>
                </a:solidFill>
                <a:latin typeface="Calibri"/>
              </a:rPr>
              <a:t>GITHUB REPOSITORY SCREENSHOTS</a:t>
            </a:r>
          </a:p>
        </p:txBody>
      </p:sp>
      <p:sp>
        <p:nvSpPr>
          <p:cNvPr id="400" name="sum_strip"/>
          <p:cNvSpPr>
            <a:spLocks noGrp="1"/>
          </p:cNvSpPr>
          <p:nvPr/>
        </p:nvSpPr>
        <p:spPr>
          <a:xfrm>
            <a:off x="546100" y="6451600"/>
            <a:ext cx="3632200" cy="254000"/>
          </a:xfrm>
          <a:prstGeom prst="rect">
            <a:avLst/>
          </a:prstGeom>
          <a:solidFill>
            <a:srgbClr val="0E96AC"/>
          </a:solidFill>
          <a:ln>
            <a:noFill/>
          </a:ln>
        </p:spPr>
        <p:txBody>
          <a:bodyPr anchor="ctr"/>
          <a:lstStyle/>
          <a:p>
            <a:pPr algn="ctr">
              <a:buNone/>
            </a:pPr>
            <a:r>
              <a:rPr lang="en-IN" sz="900" b="1" dirty="0">
                <a:solidFill>
                  <a:srgbClr val="FFFFFF"/>
                </a:solidFill>
                <a:latin typeface="Calibri"/>
              </a:rPr>
              <a:t>✓ All milestones tracked in GitHub</a:t>
            </a:r>
          </a:p>
        </p:txBody>
      </p:sp>
    </p:spTree>
    <p:extLst>
      <p:ext uri="{BB962C8B-B14F-4D97-AF65-F5344CB8AC3E}">
        <p14:creationId xmlns:p14="http://schemas.microsoft.com/office/powerpoint/2010/main" val="786253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PROJECT TIMELINE</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Eight Phases · Currently at 25%</a:t>
            </a:r>
            <a:endParaRPr lang="en-US" sz="3000" dirty="0"/>
          </a:p>
        </p:txBody>
      </p:sp>
      <p:sp>
        <p:nvSpPr>
          <p:cNvPr id="10" name="Shape 8"/>
          <p:cNvSpPr/>
          <p:nvPr/>
        </p:nvSpPr>
        <p:spPr>
          <a:xfrm>
            <a:off x="868680" y="3520440"/>
            <a:ext cx="10469880" cy="0"/>
          </a:xfrm>
          <a:prstGeom prst="line">
            <a:avLst/>
          </a:prstGeom>
          <a:noFill/>
          <a:ln w="38100">
            <a:solidFill>
              <a:srgbClr val="E2E8F0"/>
            </a:solidFill>
            <a:prstDash val="solid"/>
          </a:ln>
        </p:spPr>
      </p:sp>
      <p:sp>
        <p:nvSpPr>
          <p:cNvPr id="11" name="Shape 9"/>
          <p:cNvSpPr/>
          <p:nvPr/>
        </p:nvSpPr>
        <p:spPr>
          <a:xfrm>
            <a:off x="868680" y="3520440"/>
            <a:ext cx="1495697" cy="0"/>
          </a:xfrm>
          <a:prstGeom prst="line">
            <a:avLst/>
          </a:prstGeom>
          <a:noFill/>
          <a:ln w="38100">
            <a:solidFill>
              <a:srgbClr val="0E96AC"/>
            </a:solidFill>
            <a:prstDash val="solid"/>
          </a:ln>
        </p:spPr>
      </p:sp>
      <p:sp>
        <p:nvSpPr>
          <p:cNvPr id="12" name="Shape 10"/>
          <p:cNvSpPr/>
          <p:nvPr/>
        </p:nvSpPr>
        <p:spPr>
          <a:xfrm>
            <a:off x="868680" y="3063240"/>
            <a:ext cx="0" cy="457200"/>
          </a:xfrm>
          <a:prstGeom prst="line">
            <a:avLst/>
          </a:prstGeom>
          <a:noFill/>
          <a:ln w="15875">
            <a:solidFill>
              <a:srgbClr val="E2E8F0"/>
            </a:solidFill>
            <a:prstDash val="solid"/>
          </a:ln>
        </p:spPr>
      </p:sp>
      <p:sp>
        <p:nvSpPr>
          <p:cNvPr id="13" name="Shape 11"/>
          <p:cNvSpPr/>
          <p:nvPr/>
        </p:nvSpPr>
        <p:spPr>
          <a:xfrm>
            <a:off x="502920" y="2148840"/>
            <a:ext cx="1335024" cy="914400"/>
          </a:xfrm>
          <a:prstGeom prst="roundRect">
            <a:avLst>
              <a:gd name="adj" fmla="val 8000"/>
            </a:avLst>
          </a:prstGeom>
          <a:solidFill>
            <a:srgbClr val="FFFFFF"/>
          </a:solidFill>
          <a:ln w="15875">
            <a:solidFill>
              <a:srgbClr val="12A678"/>
            </a:solidFill>
            <a:prstDash val="solid"/>
          </a:ln>
          <a:effectLst>
            <a:outerShdw blurRad="63500" dist="25400" dir="5400000" algn="bl" rotWithShape="0">
              <a:srgbClr val="1A2440">
                <a:alpha val="8000"/>
              </a:srgbClr>
            </a:outerShdw>
          </a:effectLst>
        </p:spPr>
      </p:sp>
      <p:sp>
        <p:nvSpPr>
          <p:cNvPr id="14" name="Text 12"/>
          <p:cNvSpPr/>
          <p:nvPr/>
        </p:nvSpPr>
        <p:spPr>
          <a:xfrm>
            <a:off x="594360" y="2240280"/>
            <a:ext cx="1152144" cy="201168"/>
          </a:xfrm>
          <a:prstGeom prst="rect">
            <a:avLst/>
          </a:prstGeom>
          <a:noFill/>
          <a:ln/>
        </p:spPr>
        <p:txBody>
          <a:bodyPr wrap="square" lIns="0" tIns="0" rIns="0" bIns="0" rtlCol="0" anchor="ctr"/>
          <a:lstStyle/>
          <a:p>
            <a:pPr marL="0" indent="0">
              <a:buNone/>
            </a:pPr>
            <a:r>
              <a:rPr lang="en-US" sz="800" b="1" kern="0" spc="100" dirty="0">
                <a:solidFill>
                  <a:srgbClr val="12A678"/>
                </a:solidFill>
                <a:latin typeface="Calibri" pitchFamily="34" charset="0"/>
                <a:ea typeface="Calibri" pitchFamily="34" charset="-122"/>
                <a:cs typeface="Calibri" pitchFamily="34" charset="-120"/>
              </a:rPr>
              <a:t>PHASE 1</a:t>
            </a:r>
            <a:endParaRPr lang="en-US" sz="800" dirty="0"/>
          </a:p>
        </p:txBody>
      </p:sp>
      <p:sp>
        <p:nvSpPr>
          <p:cNvPr id="15" name="Text 13"/>
          <p:cNvSpPr/>
          <p:nvPr/>
        </p:nvSpPr>
        <p:spPr>
          <a:xfrm>
            <a:off x="594360"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Research &amp; Design</a:t>
            </a:r>
            <a:endParaRPr lang="en-US" sz="1050" dirty="0"/>
          </a:p>
        </p:txBody>
      </p:sp>
      <p:sp>
        <p:nvSpPr>
          <p:cNvPr id="16" name="Text 14"/>
          <p:cNvSpPr/>
          <p:nvPr/>
        </p:nvSpPr>
        <p:spPr>
          <a:xfrm>
            <a:off x="594360" y="2825496"/>
            <a:ext cx="1152144" cy="182880"/>
          </a:xfrm>
          <a:prstGeom prst="rect">
            <a:avLst/>
          </a:prstGeom>
          <a:noFill/>
          <a:ln/>
        </p:spPr>
        <p:txBody>
          <a:bodyPr wrap="square" lIns="0" tIns="0" rIns="0" bIns="0" rtlCol="0" anchor="ctr"/>
          <a:lstStyle/>
          <a:p>
            <a:pPr marL="0" indent="0">
              <a:buNone/>
            </a:pPr>
            <a:r>
              <a:rPr lang="en-US" sz="800" b="1" dirty="0">
                <a:solidFill>
                  <a:srgbClr val="12A678"/>
                </a:solidFill>
                <a:latin typeface="Calibri" pitchFamily="34" charset="0"/>
                <a:ea typeface="Calibri" pitchFamily="34" charset="-122"/>
                <a:cs typeface="Calibri" pitchFamily="34" charset="-120"/>
              </a:rPr>
              <a:t>Completed</a:t>
            </a:r>
            <a:endParaRPr lang="en-US" sz="800" dirty="0"/>
          </a:p>
        </p:txBody>
      </p:sp>
      <p:sp>
        <p:nvSpPr>
          <p:cNvPr id="17" name="Shape 15"/>
          <p:cNvSpPr/>
          <p:nvPr/>
        </p:nvSpPr>
        <p:spPr>
          <a:xfrm>
            <a:off x="694944" y="3346704"/>
            <a:ext cx="347472" cy="347472"/>
          </a:xfrm>
          <a:prstGeom prst="ellipse">
            <a:avLst/>
          </a:prstGeom>
          <a:solidFill>
            <a:srgbClr val="12A678"/>
          </a:solidFill>
          <a:ln w="31750">
            <a:solidFill>
              <a:srgbClr val="F6F8FB"/>
            </a:solidFill>
            <a:prstDash val="solid"/>
          </a:ln>
        </p:spPr>
      </p:sp>
      <p:sp>
        <p:nvSpPr>
          <p:cNvPr id="18" name="Text 16"/>
          <p:cNvSpPr/>
          <p:nvPr/>
        </p:nvSpPr>
        <p:spPr>
          <a:xfrm>
            <a:off x="69494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Shape 17"/>
          <p:cNvSpPr/>
          <p:nvPr/>
        </p:nvSpPr>
        <p:spPr>
          <a:xfrm>
            <a:off x="2364377" y="3520440"/>
            <a:ext cx="0" cy="457200"/>
          </a:xfrm>
          <a:prstGeom prst="line">
            <a:avLst/>
          </a:prstGeom>
          <a:noFill/>
          <a:ln w="15875">
            <a:solidFill>
              <a:srgbClr val="E2E8F0"/>
            </a:solidFill>
            <a:prstDash val="solid"/>
          </a:ln>
        </p:spPr>
      </p:sp>
      <p:sp>
        <p:nvSpPr>
          <p:cNvPr id="20" name="Shape 18"/>
          <p:cNvSpPr/>
          <p:nvPr/>
        </p:nvSpPr>
        <p:spPr>
          <a:xfrm>
            <a:off x="1696865" y="3977640"/>
            <a:ext cx="1335024" cy="914400"/>
          </a:xfrm>
          <a:prstGeom prst="roundRect">
            <a:avLst>
              <a:gd name="adj" fmla="val 8000"/>
            </a:avLst>
          </a:prstGeom>
          <a:solidFill>
            <a:srgbClr val="FFFFFF"/>
          </a:solidFill>
          <a:ln w="15875">
            <a:solidFill>
              <a:srgbClr val="E08A1E"/>
            </a:solidFill>
            <a:prstDash val="solid"/>
          </a:ln>
          <a:effectLst>
            <a:outerShdw blurRad="63500" dist="25400" dir="5400000" algn="bl" rotWithShape="0">
              <a:srgbClr val="1A2440">
                <a:alpha val="8000"/>
              </a:srgbClr>
            </a:outerShdw>
          </a:effectLst>
        </p:spPr>
      </p:sp>
      <p:sp>
        <p:nvSpPr>
          <p:cNvPr id="21" name="Text 19"/>
          <p:cNvSpPr/>
          <p:nvPr/>
        </p:nvSpPr>
        <p:spPr>
          <a:xfrm>
            <a:off x="1788305" y="4069080"/>
            <a:ext cx="1152144" cy="201168"/>
          </a:xfrm>
          <a:prstGeom prst="rect">
            <a:avLst/>
          </a:prstGeom>
          <a:noFill/>
          <a:ln/>
        </p:spPr>
        <p:txBody>
          <a:bodyPr wrap="square" lIns="0" tIns="0" rIns="0" bIns="0" rtlCol="0" anchor="ctr"/>
          <a:lstStyle/>
          <a:p>
            <a:pPr marL="0" indent="0">
              <a:buNone/>
            </a:pPr>
            <a:r>
              <a:rPr lang="en-US" sz="800" b="1" kern="0" spc="100" dirty="0">
                <a:solidFill>
                  <a:srgbClr val="E08A1E"/>
                </a:solidFill>
                <a:latin typeface="Calibri" pitchFamily="34" charset="0"/>
                <a:ea typeface="Calibri" pitchFamily="34" charset="-122"/>
                <a:cs typeface="Calibri" pitchFamily="34" charset="-120"/>
              </a:rPr>
              <a:t>PHASE 2</a:t>
            </a:r>
            <a:endParaRPr lang="en-US" sz="800" dirty="0"/>
          </a:p>
        </p:txBody>
      </p:sp>
      <p:sp>
        <p:nvSpPr>
          <p:cNvPr id="22" name="Text 20"/>
          <p:cNvSpPr/>
          <p:nvPr/>
        </p:nvSpPr>
        <p:spPr>
          <a:xfrm>
            <a:off x="1788305"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Hardware Procurement</a:t>
            </a:r>
            <a:endParaRPr lang="en-US" sz="1050" dirty="0"/>
          </a:p>
        </p:txBody>
      </p:sp>
      <p:sp>
        <p:nvSpPr>
          <p:cNvPr id="23" name="Text 21"/>
          <p:cNvSpPr/>
          <p:nvPr/>
        </p:nvSpPr>
        <p:spPr>
          <a:xfrm>
            <a:off x="1788305" y="4654296"/>
            <a:ext cx="1152144" cy="182880"/>
          </a:xfrm>
          <a:prstGeom prst="rect">
            <a:avLst/>
          </a:prstGeom>
          <a:noFill/>
          <a:ln/>
        </p:spPr>
        <p:txBody>
          <a:bodyPr wrap="square" lIns="0" tIns="0" rIns="0" bIns="0" rtlCol="0" anchor="ctr"/>
          <a:lstStyle/>
          <a:p>
            <a:pPr marL="0" indent="0">
              <a:buNone/>
            </a:pPr>
            <a:r>
              <a:rPr lang="en-US" sz="800" b="1" dirty="0">
                <a:solidFill>
                  <a:srgbClr val="E08A1E"/>
                </a:solidFill>
                <a:latin typeface="Calibri" pitchFamily="34" charset="0"/>
                <a:ea typeface="Calibri" pitchFamily="34" charset="-122"/>
                <a:cs typeface="Calibri" pitchFamily="34" charset="-120"/>
              </a:rPr>
              <a:t>In progress</a:t>
            </a:r>
            <a:endParaRPr lang="en-US" sz="800" dirty="0"/>
          </a:p>
        </p:txBody>
      </p:sp>
      <p:sp>
        <p:nvSpPr>
          <p:cNvPr id="24" name="Shape 22"/>
          <p:cNvSpPr/>
          <p:nvPr/>
        </p:nvSpPr>
        <p:spPr>
          <a:xfrm>
            <a:off x="2190641" y="3346704"/>
            <a:ext cx="347472" cy="347472"/>
          </a:xfrm>
          <a:prstGeom prst="ellipse">
            <a:avLst/>
          </a:prstGeom>
          <a:solidFill>
            <a:srgbClr val="E08A1E"/>
          </a:solidFill>
          <a:ln w="31750">
            <a:solidFill>
              <a:srgbClr val="F6F8FB"/>
            </a:solidFill>
            <a:prstDash val="solid"/>
          </a:ln>
        </p:spPr>
      </p:sp>
      <p:sp>
        <p:nvSpPr>
          <p:cNvPr id="25" name="Text 23"/>
          <p:cNvSpPr/>
          <p:nvPr/>
        </p:nvSpPr>
        <p:spPr>
          <a:xfrm>
            <a:off x="2190641"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Shape 24"/>
          <p:cNvSpPr/>
          <p:nvPr/>
        </p:nvSpPr>
        <p:spPr>
          <a:xfrm>
            <a:off x="3860074" y="3063240"/>
            <a:ext cx="0" cy="457200"/>
          </a:xfrm>
          <a:prstGeom prst="line">
            <a:avLst/>
          </a:prstGeom>
          <a:noFill/>
          <a:ln w="15875">
            <a:solidFill>
              <a:srgbClr val="E2E8F0"/>
            </a:solidFill>
            <a:prstDash val="solid"/>
          </a:ln>
        </p:spPr>
      </p:sp>
      <p:sp>
        <p:nvSpPr>
          <p:cNvPr id="27" name="Shape 25"/>
          <p:cNvSpPr/>
          <p:nvPr/>
        </p:nvSpPr>
        <p:spPr>
          <a:xfrm>
            <a:off x="3192562" y="2148840"/>
            <a:ext cx="1335024" cy="914400"/>
          </a:xfrm>
          <a:prstGeom prst="roundRect">
            <a:avLst>
              <a:gd name="adj" fmla="val 8000"/>
            </a:avLst>
          </a:prstGeom>
          <a:solidFill>
            <a:srgbClr val="FFFFFF"/>
          </a:solidFill>
          <a:ln w="15875">
            <a:solidFill>
              <a:srgbClr val="0E96AC"/>
            </a:solidFill>
            <a:prstDash val="solid"/>
          </a:ln>
          <a:effectLst>
            <a:outerShdw blurRad="63500" dist="25400" dir="5400000" algn="bl" rotWithShape="0">
              <a:srgbClr val="1A2440">
                <a:alpha val="8000"/>
              </a:srgbClr>
            </a:outerShdw>
          </a:effectLst>
        </p:spPr>
      </p:sp>
      <p:sp>
        <p:nvSpPr>
          <p:cNvPr id="28" name="Text 26"/>
          <p:cNvSpPr/>
          <p:nvPr/>
        </p:nvSpPr>
        <p:spPr>
          <a:xfrm>
            <a:off x="3284002" y="2240280"/>
            <a:ext cx="1152144" cy="201168"/>
          </a:xfrm>
          <a:prstGeom prst="rect">
            <a:avLst/>
          </a:prstGeom>
          <a:noFill/>
          <a:ln/>
        </p:spPr>
        <p:txBody>
          <a:bodyPr wrap="square" lIns="0" tIns="0" rIns="0" bIns="0" rtlCol="0" anchor="ctr"/>
          <a:lstStyle/>
          <a:p>
            <a:pPr marL="0" indent="0">
              <a:buNone/>
            </a:pPr>
            <a:r>
              <a:rPr lang="en-US" sz="800" b="1" kern="0" spc="100" dirty="0">
                <a:solidFill>
                  <a:srgbClr val="0E96AC"/>
                </a:solidFill>
                <a:latin typeface="Calibri" pitchFamily="34" charset="0"/>
                <a:ea typeface="Calibri" pitchFamily="34" charset="-122"/>
                <a:cs typeface="Calibri" pitchFamily="34" charset="-120"/>
              </a:rPr>
              <a:t>PHASE 3</a:t>
            </a:r>
            <a:endParaRPr lang="en-US" sz="800" dirty="0"/>
          </a:p>
        </p:txBody>
      </p:sp>
      <p:sp>
        <p:nvSpPr>
          <p:cNvPr id="29" name="Text 27"/>
          <p:cNvSpPr/>
          <p:nvPr/>
        </p:nvSpPr>
        <p:spPr>
          <a:xfrm>
            <a:off x="3284002"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3A4658"/>
                </a:solidFill>
                <a:latin typeface="Calibri" pitchFamily="34" charset="0"/>
                <a:ea typeface="Calibri" pitchFamily="34" charset="-122"/>
                <a:cs typeface="Calibri" pitchFamily="34" charset="-120"/>
              </a:rPr>
              <a:t>Mechanical Assembly</a:t>
            </a:r>
            <a:endParaRPr lang="en-US" sz="1050" dirty="0"/>
          </a:p>
        </p:txBody>
      </p:sp>
      <p:sp>
        <p:nvSpPr>
          <p:cNvPr id="30" name="Text 28"/>
          <p:cNvSpPr/>
          <p:nvPr/>
        </p:nvSpPr>
        <p:spPr>
          <a:xfrm>
            <a:off x="3284002" y="2825496"/>
            <a:ext cx="1152144" cy="182880"/>
          </a:xfrm>
          <a:prstGeom prst="rect">
            <a:avLst/>
          </a:prstGeom>
          <a:noFill/>
          <a:ln/>
        </p:spPr>
        <p:txBody>
          <a:bodyPr wrap="square" lIns="0" tIns="0" rIns="0" bIns="0" rtlCol="0" anchor="ctr"/>
          <a:lstStyle/>
          <a:p>
            <a:pPr marL="0" indent="0">
              <a:buNone/>
            </a:pPr>
            <a:r>
              <a:rPr lang="en-US" sz="800" b="1" dirty="0">
                <a:solidFill>
                  <a:srgbClr val="0E96AC"/>
                </a:solidFill>
                <a:latin typeface="Calibri" pitchFamily="34" charset="0"/>
                <a:ea typeface="Calibri" pitchFamily="34" charset="-122"/>
                <a:cs typeface="Calibri" pitchFamily="34" charset="-120"/>
              </a:rPr>
              <a:t>Up next</a:t>
            </a:r>
            <a:endParaRPr lang="en-US" sz="800" dirty="0"/>
          </a:p>
        </p:txBody>
      </p:sp>
      <p:sp>
        <p:nvSpPr>
          <p:cNvPr id="31" name="Shape 29"/>
          <p:cNvSpPr/>
          <p:nvPr/>
        </p:nvSpPr>
        <p:spPr>
          <a:xfrm>
            <a:off x="3686338" y="3346704"/>
            <a:ext cx="347472" cy="347472"/>
          </a:xfrm>
          <a:prstGeom prst="ellipse">
            <a:avLst/>
          </a:prstGeom>
          <a:solidFill>
            <a:srgbClr val="0E96AC"/>
          </a:solidFill>
          <a:ln w="31750">
            <a:solidFill>
              <a:srgbClr val="F6F8FB"/>
            </a:solidFill>
            <a:prstDash val="solid"/>
          </a:ln>
        </p:spPr>
      </p:sp>
      <p:sp>
        <p:nvSpPr>
          <p:cNvPr id="32" name="Text 30"/>
          <p:cNvSpPr/>
          <p:nvPr/>
        </p:nvSpPr>
        <p:spPr>
          <a:xfrm>
            <a:off x="3686338"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3" name="Shape 31"/>
          <p:cNvSpPr/>
          <p:nvPr/>
        </p:nvSpPr>
        <p:spPr>
          <a:xfrm>
            <a:off x="5355771" y="3520440"/>
            <a:ext cx="0" cy="457200"/>
          </a:xfrm>
          <a:prstGeom prst="line">
            <a:avLst/>
          </a:prstGeom>
          <a:noFill/>
          <a:ln w="15875">
            <a:solidFill>
              <a:srgbClr val="E2E8F0"/>
            </a:solidFill>
            <a:prstDash val="solid"/>
          </a:ln>
        </p:spPr>
      </p:sp>
      <p:sp>
        <p:nvSpPr>
          <p:cNvPr id="34" name="Shape 32"/>
          <p:cNvSpPr/>
          <p:nvPr/>
        </p:nvSpPr>
        <p:spPr>
          <a:xfrm>
            <a:off x="4688259"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35" name="Text 33"/>
          <p:cNvSpPr/>
          <p:nvPr/>
        </p:nvSpPr>
        <p:spPr>
          <a:xfrm>
            <a:off x="4779699"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4</a:t>
            </a:r>
            <a:endParaRPr lang="en-US" sz="800" dirty="0"/>
          </a:p>
        </p:txBody>
      </p:sp>
      <p:sp>
        <p:nvSpPr>
          <p:cNvPr id="36" name="Text 34"/>
          <p:cNvSpPr/>
          <p:nvPr/>
        </p:nvSpPr>
        <p:spPr>
          <a:xfrm>
            <a:off x="4779699"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Motor Integration</a:t>
            </a:r>
            <a:endParaRPr lang="en-US" sz="1050" dirty="0"/>
          </a:p>
        </p:txBody>
      </p:sp>
      <p:sp>
        <p:nvSpPr>
          <p:cNvPr id="37" name="Shape 35"/>
          <p:cNvSpPr/>
          <p:nvPr/>
        </p:nvSpPr>
        <p:spPr>
          <a:xfrm>
            <a:off x="5182035" y="3346704"/>
            <a:ext cx="347472" cy="347472"/>
          </a:xfrm>
          <a:prstGeom prst="ellipse">
            <a:avLst/>
          </a:prstGeom>
          <a:solidFill>
            <a:srgbClr val="E2E8F0"/>
          </a:solidFill>
          <a:ln w="31750">
            <a:solidFill>
              <a:srgbClr val="F6F8FB"/>
            </a:solidFill>
            <a:prstDash val="solid"/>
          </a:ln>
        </p:spPr>
      </p:sp>
      <p:sp>
        <p:nvSpPr>
          <p:cNvPr id="38" name="Text 36"/>
          <p:cNvSpPr/>
          <p:nvPr/>
        </p:nvSpPr>
        <p:spPr>
          <a:xfrm>
            <a:off x="5182035"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9" name="Shape 37"/>
          <p:cNvSpPr/>
          <p:nvPr/>
        </p:nvSpPr>
        <p:spPr>
          <a:xfrm>
            <a:off x="6851469" y="3063240"/>
            <a:ext cx="0" cy="457200"/>
          </a:xfrm>
          <a:prstGeom prst="line">
            <a:avLst/>
          </a:prstGeom>
          <a:noFill/>
          <a:ln w="15875">
            <a:solidFill>
              <a:srgbClr val="E2E8F0"/>
            </a:solidFill>
            <a:prstDash val="solid"/>
          </a:ln>
        </p:spPr>
      </p:sp>
      <p:sp>
        <p:nvSpPr>
          <p:cNvPr id="40" name="Shape 38"/>
          <p:cNvSpPr/>
          <p:nvPr/>
        </p:nvSpPr>
        <p:spPr>
          <a:xfrm>
            <a:off x="6183957"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1" name="Text 39"/>
          <p:cNvSpPr/>
          <p:nvPr/>
        </p:nvSpPr>
        <p:spPr>
          <a:xfrm>
            <a:off x="6275397"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5</a:t>
            </a:r>
            <a:endParaRPr lang="en-US" sz="800" dirty="0"/>
          </a:p>
        </p:txBody>
      </p:sp>
      <p:sp>
        <p:nvSpPr>
          <p:cNvPr id="42" name="Text 40"/>
          <p:cNvSpPr/>
          <p:nvPr/>
        </p:nvSpPr>
        <p:spPr>
          <a:xfrm>
            <a:off x="6275397"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Control Algorithms</a:t>
            </a:r>
            <a:endParaRPr lang="en-US" sz="1050" dirty="0"/>
          </a:p>
        </p:txBody>
      </p:sp>
      <p:sp>
        <p:nvSpPr>
          <p:cNvPr id="43" name="Shape 41"/>
          <p:cNvSpPr/>
          <p:nvPr/>
        </p:nvSpPr>
        <p:spPr>
          <a:xfrm>
            <a:off x="6677733" y="3346704"/>
            <a:ext cx="347472" cy="347472"/>
          </a:xfrm>
          <a:prstGeom prst="ellipse">
            <a:avLst/>
          </a:prstGeom>
          <a:solidFill>
            <a:srgbClr val="E2E8F0"/>
          </a:solidFill>
          <a:ln w="31750">
            <a:solidFill>
              <a:srgbClr val="F6F8FB"/>
            </a:solidFill>
            <a:prstDash val="solid"/>
          </a:ln>
        </p:spPr>
      </p:sp>
      <p:sp>
        <p:nvSpPr>
          <p:cNvPr id="44" name="Text 42"/>
          <p:cNvSpPr/>
          <p:nvPr/>
        </p:nvSpPr>
        <p:spPr>
          <a:xfrm>
            <a:off x="6677733"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5" name="Shape 43"/>
          <p:cNvSpPr/>
          <p:nvPr/>
        </p:nvSpPr>
        <p:spPr>
          <a:xfrm>
            <a:off x="8347166" y="3520440"/>
            <a:ext cx="0" cy="457200"/>
          </a:xfrm>
          <a:prstGeom prst="line">
            <a:avLst/>
          </a:prstGeom>
          <a:noFill/>
          <a:ln w="15875">
            <a:solidFill>
              <a:srgbClr val="E2E8F0"/>
            </a:solidFill>
            <a:prstDash val="solid"/>
          </a:ln>
        </p:spPr>
      </p:sp>
      <p:sp>
        <p:nvSpPr>
          <p:cNvPr id="46" name="Shape 44"/>
          <p:cNvSpPr/>
          <p:nvPr/>
        </p:nvSpPr>
        <p:spPr>
          <a:xfrm>
            <a:off x="7679654"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7" name="Text 45"/>
          <p:cNvSpPr/>
          <p:nvPr/>
        </p:nvSpPr>
        <p:spPr>
          <a:xfrm>
            <a:off x="7771094"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6</a:t>
            </a:r>
            <a:endParaRPr lang="en-US" sz="800" dirty="0"/>
          </a:p>
        </p:txBody>
      </p:sp>
      <p:sp>
        <p:nvSpPr>
          <p:cNvPr id="48" name="Text 46"/>
          <p:cNvSpPr/>
          <p:nvPr/>
        </p:nvSpPr>
        <p:spPr>
          <a:xfrm>
            <a:off x="7771094"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Sensor Integration</a:t>
            </a:r>
            <a:endParaRPr lang="en-US" sz="1050" dirty="0"/>
          </a:p>
        </p:txBody>
      </p:sp>
      <p:sp>
        <p:nvSpPr>
          <p:cNvPr id="49" name="Shape 47"/>
          <p:cNvSpPr/>
          <p:nvPr/>
        </p:nvSpPr>
        <p:spPr>
          <a:xfrm>
            <a:off x="8173430" y="3346704"/>
            <a:ext cx="347472" cy="347472"/>
          </a:xfrm>
          <a:prstGeom prst="ellipse">
            <a:avLst/>
          </a:prstGeom>
          <a:solidFill>
            <a:srgbClr val="E2E8F0"/>
          </a:solidFill>
          <a:ln w="31750">
            <a:solidFill>
              <a:srgbClr val="F6F8FB"/>
            </a:solidFill>
            <a:prstDash val="solid"/>
          </a:ln>
        </p:spPr>
      </p:sp>
      <p:sp>
        <p:nvSpPr>
          <p:cNvPr id="50" name="Text 48"/>
          <p:cNvSpPr/>
          <p:nvPr/>
        </p:nvSpPr>
        <p:spPr>
          <a:xfrm>
            <a:off x="8173430"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1" name="Shape 49"/>
          <p:cNvSpPr/>
          <p:nvPr/>
        </p:nvSpPr>
        <p:spPr>
          <a:xfrm>
            <a:off x="9842863" y="3063240"/>
            <a:ext cx="0" cy="457200"/>
          </a:xfrm>
          <a:prstGeom prst="line">
            <a:avLst/>
          </a:prstGeom>
          <a:noFill/>
          <a:ln w="15875">
            <a:solidFill>
              <a:srgbClr val="E2E8F0"/>
            </a:solidFill>
            <a:prstDash val="solid"/>
          </a:ln>
        </p:spPr>
      </p:sp>
      <p:sp>
        <p:nvSpPr>
          <p:cNvPr id="52" name="Shape 50"/>
          <p:cNvSpPr/>
          <p:nvPr/>
        </p:nvSpPr>
        <p:spPr>
          <a:xfrm>
            <a:off x="9175351"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3" name="Text 51"/>
          <p:cNvSpPr/>
          <p:nvPr/>
        </p:nvSpPr>
        <p:spPr>
          <a:xfrm>
            <a:off x="9266791"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7</a:t>
            </a:r>
            <a:endParaRPr lang="en-US" sz="800" dirty="0"/>
          </a:p>
        </p:txBody>
      </p:sp>
      <p:sp>
        <p:nvSpPr>
          <p:cNvPr id="54" name="Text 52"/>
          <p:cNvSpPr/>
          <p:nvPr/>
        </p:nvSpPr>
        <p:spPr>
          <a:xfrm>
            <a:off x="9266791"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Testing &amp; Optimisation</a:t>
            </a:r>
            <a:endParaRPr lang="en-US" sz="1050" dirty="0"/>
          </a:p>
        </p:txBody>
      </p:sp>
      <p:sp>
        <p:nvSpPr>
          <p:cNvPr id="55" name="Shape 53"/>
          <p:cNvSpPr/>
          <p:nvPr/>
        </p:nvSpPr>
        <p:spPr>
          <a:xfrm>
            <a:off x="9669127" y="3346704"/>
            <a:ext cx="347472" cy="347472"/>
          </a:xfrm>
          <a:prstGeom prst="ellipse">
            <a:avLst/>
          </a:prstGeom>
          <a:solidFill>
            <a:srgbClr val="E2E8F0"/>
          </a:solidFill>
          <a:ln w="31750">
            <a:solidFill>
              <a:srgbClr val="F6F8FB"/>
            </a:solidFill>
            <a:prstDash val="solid"/>
          </a:ln>
        </p:spPr>
      </p:sp>
      <p:sp>
        <p:nvSpPr>
          <p:cNvPr id="56" name="Text 54"/>
          <p:cNvSpPr/>
          <p:nvPr/>
        </p:nvSpPr>
        <p:spPr>
          <a:xfrm>
            <a:off x="9669127"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7" name="Shape 55"/>
          <p:cNvSpPr/>
          <p:nvPr/>
        </p:nvSpPr>
        <p:spPr>
          <a:xfrm>
            <a:off x="11338560" y="3520440"/>
            <a:ext cx="0" cy="457200"/>
          </a:xfrm>
          <a:prstGeom prst="line">
            <a:avLst/>
          </a:prstGeom>
          <a:noFill/>
          <a:ln w="15875">
            <a:solidFill>
              <a:srgbClr val="E2E8F0"/>
            </a:solidFill>
            <a:prstDash val="solid"/>
          </a:ln>
        </p:spPr>
      </p:sp>
      <p:sp>
        <p:nvSpPr>
          <p:cNvPr id="58" name="Shape 56"/>
          <p:cNvSpPr/>
          <p:nvPr/>
        </p:nvSpPr>
        <p:spPr>
          <a:xfrm>
            <a:off x="10351008"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9" name="Text 57"/>
          <p:cNvSpPr/>
          <p:nvPr/>
        </p:nvSpPr>
        <p:spPr>
          <a:xfrm>
            <a:off x="10442448"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8</a:t>
            </a:r>
            <a:endParaRPr lang="en-US" sz="800" dirty="0"/>
          </a:p>
        </p:txBody>
      </p:sp>
      <p:sp>
        <p:nvSpPr>
          <p:cNvPr id="60" name="Text 58"/>
          <p:cNvSpPr/>
          <p:nvPr/>
        </p:nvSpPr>
        <p:spPr>
          <a:xfrm>
            <a:off x="10442448"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Final Demonstration</a:t>
            </a:r>
            <a:endParaRPr lang="en-US" sz="1050" dirty="0"/>
          </a:p>
        </p:txBody>
      </p:sp>
      <p:sp>
        <p:nvSpPr>
          <p:cNvPr id="61" name="Shape 59"/>
          <p:cNvSpPr/>
          <p:nvPr/>
        </p:nvSpPr>
        <p:spPr>
          <a:xfrm>
            <a:off x="11164824" y="3346704"/>
            <a:ext cx="347472" cy="347472"/>
          </a:xfrm>
          <a:prstGeom prst="ellipse">
            <a:avLst/>
          </a:prstGeom>
          <a:solidFill>
            <a:srgbClr val="E2E8F0"/>
          </a:solidFill>
          <a:ln w="31750">
            <a:solidFill>
              <a:srgbClr val="F6F8FB"/>
            </a:solidFill>
            <a:prstDash val="solid"/>
          </a:ln>
        </p:spPr>
      </p:sp>
      <p:sp>
        <p:nvSpPr>
          <p:cNvPr id="62" name="Text 60"/>
          <p:cNvSpPr/>
          <p:nvPr/>
        </p:nvSpPr>
        <p:spPr>
          <a:xfrm>
            <a:off x="1116482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3" name="Shape 61"/>
          <p:cNvSpPr/>
          <p:nvPr/>
        </p:nvSpPr>
        <p:spPr>
          <a:xfrm>
            <a:off x="1632857" y="5394960"/>
            <a:ext cx="1691640" cy="457200"/>
          </a:xfrm>
          <a:prstGeom prst="roundRect">
            <a:avLst>
              <a:gd name="adj" fmla="val 50000"/>
            </a:avLst>
          </a:prstGeom>
          <a:solidFill>
            <a:srgbClr val="16223A"/>
          </a:solidFill>
          <a:ln/>
        </p:spPr>
      </p:sp>
      <p:sp>
        <p:nvSpPr>
          <p:cNvPr id="64" name="Text 62"/>
          <p:cNvSpPr/>
          <p:nvPr/>
        </p:nvSpPr>
        <p:spPr>
          <a:xfrm>
            <a:off x="1632857" y="5394960"/>
            <a:ext cx="1691640" cy="457200"/>
          </a:xfrm>
          <a:prstGeom prst="rect">
            <a:avLst/>
          </a:prstGeom>
          <a:noFill/>
          <a:ln/>
        </p:spPr>
        <p:txBody>
          <a:bodyPr wrap="square" lIns="0" tIns="0" rIns="0" bIns="0" rtlCol="0" anchor="ctr"/>
          <a:lstStyle/>
          <a:p>
            <a:pPr marL="0" indent="0" algn="ctr">
              <a:buNone/>
            </a:pPr>
            <a:r>
              <a:rPr lang="en-US" sz="950" b="1" dirty="0">
                <a:solidFill>
                  <a:srgbClr val="2BD4E8"/>
                </a:solidFill>
                <a:latin typeface="Calibri" pitchFamily="34" charset="0"/>
                <a:ea typeface="Calibri" pitchFamily="34" charset="-122"/>
                <a:cs typeface="Calibri" pitchFamily="34" charset="-120"/>
              </a:rPr>
              <a:t>WE ARE HERE </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6F8FB"/>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CURRENT ACHIEVEMENTS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Concrete Wins in Quarter One</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1" name="Shape 9"/>
          <p:cNvSpPr/>
          <p:nvPr/>
        </p:nvSpPr>
        <p:spPr>
          <a:xfrm>
            <a:off x="822960" y="1901952"/>
            <a:ext cx="713232" cy="713232"/>
          </a:xfrm>
          <a:prstGeom prst="ellipse">
            <a:avLst/>
          </a:prstGeom>
          <a:solidFill>
            <a:srgbClr val="0E96AC"/>
          </a:solidFill>
          <a:ln/>
        </p:spPr>
      </p:sp>
      <p:pic>
        <p:nvPicPr>
          <p:cNvPr id="12" name="Image 0" descr="preencoded.png"/>
          <p:cNvPicPr>
            <a:picLocks noChangeAspect="1"/>
          </p:cNvPicPr>
          <p:nvPr/>
        </p:nvPicPr>
        <p:blipFill>
          <a:blip r:embed="rId3"/>
          <a:stretch>
            <a:fillRect/>
          </a:stretch>
        </p:blipFill>
        <p:spPr>
          <a:xfrm>
            <a:off x="1001268" y="2080260"/>
            <a:ext cx="356616" cy="356616"/>
          </a:xfrm>
          <a:prstGeom prst="rect">
            <a:avLst/>
          </a:prstGeom>
        </p:spPr>
      </p:pic>
      <p:pic>
        <p:nvPicPr>
          <p:cNvPr id="13" name="Image 1" descr="preencoded.png"/>
          <p:cNvPicPr>
            <a:picLocks noChangeAspect="1"/>
          </p:cNvPicPr>
          <p:nvPr/>
        </p:nvPicPr>
        <p:blipFill>
          <a:blip r:embed="rId4"/>
          <a:stretch>
            <a:fillRect/>
          </a:stretch>
        </p:blipFill>
        <p:spPr>
          <a:xfrm>
            <a:off x="3511296" y="1901952"/>
            <a:ext cx="310896" cy="310896"/>
          </a:xfrm>
          <a:prstGeom prst="rect">
            <a:avLst/>
          </a:prstGeom>
        </p:spPr>
      </p:pic>
      <p:sp>
        <p:nvSpPr>
          <p:cNvPr id="14" name="Text 10"/>
          <p:cNvSpPr/>
          <p:nvPr/>
        </p:nvSpPr>
        <p:spPr>
          <a:xfrm>
            <a:off x="822960"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Architecture finalized</a:t>
            </a:r>
            <a:endParaRPr lang="en-US" sz="1500" dirty="0"/>
          </a:p>
        </p:txBody>
      </p:sp>
      <p:sp>
        <p:nvSpPr>
          <p:cNvPr id="15" name="Text 11"/>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System block diagram locked.</a:t>
            </a:r>
            <a:endParaRPr lang="en-US" sz="1150" dirty="0"/>
          </a:p>
        </p:txBody>
      </p:sp>
      <p:sp>
        <p:nvSpPr>
          <p:cNvPr id="16" name="Shape 12"/>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7" name="Shape 13"/>
          <p:cNvSpPr/>
          <p:nvPr/>
        </p:nvSpPr>
        <p:spPr>
          <a:xfrm>
            <a:off x="4645152" y="1901952"/>
            <a:ext cx="713232" cy="713232"/>
          </a:xfrm>
          <a:prstGeom prst="ellipse">
            <a:avLst/>
          </a:prstGeom>
          <a:solidFill>
            <a:srgbClr val="12A678"/>
          </a:solidFill>
          <a:ln/>
        </p:spPr>
      </p:sp>
      <p:pic>
        <p:nvPicPr>
          <p:cNvPr id="18" name="Image 2" descr="preencoded.png"/>
          <p:cNvPicPr>
            <a:picLocks noChangeAspect="1"/>
          </p:cNvPicPr>
          <p:nvPr/>
        </p:nvPicPr>
        <p:blipFill>
          <a:blip r:embed="rId5"/>
          <a:stretch>
            <a:fillRect/>
          </a:stretch>
        </p:blipFill>
        <p:spPr>
          <a:xfrm>
            <a:off x="4823460" y="2080260"/>
            <a:ext cx="356616" cy="356616"/>
          </a:xfrm>
          <a:prstGeom prst="rect">
            <a:avLst/>
          </a:prstGeom>
        </p:spPr>
      </p:pic>
      <p:pic>
        <p:nvPicPr>
          <p:cNvPr id="19" name="Image 3" descr="preencoded.png"/>
          <p:cNvPicPr>
            <a:picLocks noChangeAspect="1"/>
          </p:cNvPicPr>
          <p:nvPr/>
        </p:nvPicPr>
        <p:blipFill>
          <a:blip r:embed="rId4"/>
          <a:stretch>
            <a:fillRect/>
          </a:stretch>
        </p:blipFill>
        <p:spPr>
          <a:xfrm>
            <a:off x="7333488" y="1901952"/>
            <a:ext cx="310896" cy="310896"/>
          </a:xfrm>
          <a:prstGeom prst="rect">
            <a:avLst/>
          </a:prstGeom>
        </p:spPr>
      </p:pic>
      <p:sp>
        <p:nvSpPr>
          <p:cNvPr id="20" name="Text 14"/>
          <p:cNvSpPr/>
          <p:nvPr/>
        </p:nvSpPr>
        <p:spPr>
          <a:xfrm>
            <a:off x="4645152"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CAD design completed</a:t>
            </a:r>
            <a:endParaRPr lang="en-US" sz="1500" dirty="0"/>
          </a:p>
        </p:txBody>
      </p:sp>
      <p:sp>
        <p:nvSpPr>
          <p:cNvPr id="21" name="Text 15"/>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Segment modelled to motor specs.</a:t>
            </a:r>
            <a:endParaRPr lang="en-US" sz="1150" dirty="0"/>
          </a:p>
        </p:txBody>
      </p:sp>
      <p:sp>
        <p:nvSpPr>
          <p:cNvPr id="22" name="Shape 16"/>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3" name="Shape 17"/>
          <p:cNvSpPr/>
          <p:nvPr/>
        </p:nvSpPr>
        <p:spPr>
          <a:xfrm>
            <a:off x="8467344" y="1901952"/>
            <a:ext cx="713232" cy="713232"/>
          </a:xfrm>
          <a:prstGeom prst="ellipse">
            <a:avLst/>
          </a:prstGeom>
          <a:solidFill>
            <a:srgbClr val="E08A1E"/>
          </a:solidFill>
          <a:ln/>
        </p:spPr>
      </p:sp>
      <p:pic>
        <p:nvPicPr>
          <p:cNvPr id="24" name="Image 4" descr="preencoded.png"/>
          <p:cNvPicPr>
            <a:picLocks noChangeAspect="1"/>
          </p:cNvPicPr>
          <p:nvPr/>
        </p:nvPicPr>
        <p:blipFill>
          <a:blip r:embed="rId6"/>
          <a:stretch>
            <a:fillRect/>
          </a:stretch>
        </p:blipFill>
        <p:spPr>
          <a:xfrm>
            <a:off x="8645652" y="2080260"/>
            <a:ext cx="356616" cy="356616"/>
          </a:xfrm>
          <a:prstGeom prst="rect">
            <a:avLst/>
          </a:prstGeom>
        </p:spPr>
      </p:pic>
      <p:pic>
        <p:nvPicPr>
          <p:cNvPr id="25" name="Image 5" descr="preencoded.png"/>
          <p:cNvPicPr>
            <a:picLocks noChangeAspect="1"/>
          </p:cNvPicPr>
          <p:nvPr/>
        </p:nvPicPr>
        <p:blipFill>
          <a:blip r:embed="rId4"/>
          <a:stretch>
            <a:fillRect/>
          </a:stretch>
        </p:blipFill>
        <p:spPr>
          <a:xfrm>
            <a:off x="11155680" y="1901952"/>
            <a:ext cx="310896" cy="310896"/>
          </a:xfrm>
          <a:prstGeom prst="rect">
            <a:avLst/>
          </a:prstGeom>
        </p:spPr>
      </p:pic>
      <p:sp>
        <p:nvSpPr>
          <p:cNvPr id="26" name="Text 18"/>
          <p:cNvSpPr/>
          <p:nvPr/>
        </p:nvSpPr>
        <p:spPr>
          <a:xfrm>
            <a:off x="8467344"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Prototype fabrication started</a:t>
            </a:r>
            <a:endParaRPr lang="en-US" sz="1500" dirty="0"/>
          </a:p>
        </p:txBody>
      </p:sp>
      <p:sp>
        <p:nvSpPr>
          <p:cNvPr id="27" name="Text 19"/>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Two segments printed &amp; checked.</a:t>
            </a:r>
            <a:endParaRPr lang="en-US" sz="1150" dirty="0"/>
          </a:p>
        </p:txBody>
      </p:sp>
      <p:sp>
        <p:nvSpPr>
          <p:cNvPr id="28" name="Shape 20"/>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9" name="Shape 21"/>
          <p:cNvSpPr/>
          <p:nvPr/>
        </p:nvSpPr>
        <p:spPr>
          <a:xfrm>
            <a:off x="822960" y="4151376"/>
            <a:ext cx="713232" cy="713232"/>
          </a:xfrm>
          <a:prstGeom prst="ellipse">
            <a:avLst/>
          </a:prstGeom>
          <a:solidFill>
            <a:srgbClr val="0E96AC"/>
          </a:solidFill>
          <a:ln/>
        </p:spPr>
      </p:sp>
      <p:pic>
        <p:nvPicPr>
          <p:cNvPr id="30" name="Image 6" descr="preencoded.png"/>
          <p:cNvPicPr>
            <a:picLocks noChangeAspect="1"/>
          </p:cNvPicPr>
          <p:nvPr/>
        </p:nvPicPr>
        <p:blipFill>
          <a:blip r:embed="rId7"/>
          <a:stretch>
            <a:fillRect/>
          </a:stretch>
        </p:blipFill>
        <p:spPr>
          <a:xfrm>
            <a:off x="1001268" y="4329684"/>
            <a:ext cx="356616" cy="356616"/>
          </a:xfrm>
          <a:prstGeom prst="rect">
            <a:avLst/>
          </a:prstGeom>
        </p:spPr>
      </p:pic>
      <p:pic>
        <p:nvPicPr>
          <p:cNvPr id="31" name="Image 7" descr="preencoded.png"/>
          <p:cNvPicPr>
            <a:picLocks noChangeAspect="1"/>
          </p:cNvPicPr>
          <p:nvPr/>
        </p:nvPicPr>
        <p:blipFill>
          <a:blip r:embed="rId4"/>
          <a:stretch>
            <a:fillRect/>
          </a:stretch>
        </p:blipFill>
        <p:spPr>
          <a:xfrm>
            <a:off x="3511296" y="4151376"/>
            <a:ext cx="310896" cy="310896"/>
          </a:xfrm>
          <a:prstGeom prst="rect">
            <a:avLst/>
          </a:prstGeom>
        </p:spPr>
      </p:pic>
      <p:sp>
        <p:nvSpPr>
          <p:cNvPr id="32" name="Text 22"/>
          <p:cNvSpPr/>
          <p:nvPr/>
        </p:nvSpPr>
        <p:spPr>
          <a:xfrm>
            <a:off x="822960"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Pi environment established</a:t>
            </a:r>
            <a:endParaRPr lang="en-US" sz="1500" dirty="0"/>
          </a:p>
        </p:txBody>
      </p:sp>
      <p:sp>
        <p:nvSpPr>
          <p:cNvPr id="33" name="Text 23"/>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OS, network and tooling ready.</a:t>
            </a:r>
            <a:endParaRPr lang="en-US" sz="1150" dirty="0"/>
          </a:p>
        </p:txBody>
      </p:sp>
      <p:sp>
        <p:nvSpPr>
          <p:cNvPr id="34" name="Shape 24"/>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35" name="Shape 25"/>
          <p:cNvSpPr/>
          <p:nvPr/>
        </p:nvSpPr>
        <p:spPr>
          <a:xfrm>
            <a:off x="4645152" y="4151376"/>
            <a:ext cx="713232" cy="713232"/>
          </a:xfrm>
          <a:prstGeom prst="ellipse">
            <a:avLst/>
          </a:prstGeom>
          <a:solidFill>
            <a:srgbClr val="12A678"/>
          </a:solidFill>
          <a:ln/>
        </p:spPr>
      </p:sp>
      <p:pic>
        <p:nvPicPr>
          <p:cNvPr id="36" name="Image 8" descr="preencoded.png"/>
          <p:cNvPicPr>
            <a:picLocks noChangeAspect="1"/>
          </p:cNvPicPr>
          <p:nvPr/>
        </p:nvPicPr>
        <p:blipFill>
          <a:blip r:embed="rId8"/>
          <a:stretch>
            <a:fillRect/>
          </a:stretch>
        </p:blipFill>
        <p:spPr>
          <a:xfrm>
            <a:off x="4823460" y="4329684"/>
            <a:ext cx="356616" cy="356616"/>
          </a:xfrm>
          <a:prstGeom prst="rect">
            <a:avLst/>
          </a:prstGeom>
        </p:spPr>
      </p:pic>
      <p:pic>
        <p:nvPicPr>
          <p:cNvPr id="37" name="Image 9" descr="preencoded.png"/>
          <p:cNvPicPr>
            <a:picLocks noChangeAspect="1"/>
          </p:cNvPicPr>
          <p:nvPr/>
        </p:nvPicPr>
        <p:blipFill>
          <a:blip r:embed="rId4"/>
          <a:stretch>
            <a:fillRect/>
          </a:stretch>
        </p:blipFill>
        <p:spPr>
          <a:xfrm>
            <a:off x="7333488" y="4151376"/>
            <a:ext cx="310896" cy="310896"/>
          </a:xfrm>
          <a:prstGeom prst="rect">
            <a:avLst/>
          </a:prstGeom>
        </p:spPr>
      </p:pic>
      <p:sp>
        <p:nvSpPr>
          <p:cNvPr id="38" name="Text 26"/>
          <p:cNvSpPr/>
          <p:nvPr/>
        </p:nvSpPr>
        <p:spPr>
          <a:xfrm>
            <a:off x="4645152"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GitHub workflow operational</a:t>
            </a:r>
            <a:endParaRPr lang="en-US" sz="1500" dirty="0"/>
          </a:p>
        </p:txBody>
      </p:sp>
      <p:sp>
        <p:nvSpPr>
          <p:cNvPr id="39" name="Text 27"/>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Version control and docs live.</a:t>
            </a:r>
            <a:endParaRPr lang="en-US" sz="1150" dirty="0"/>
          </a:p>
        </p:txBody>
      </p:sp>
      <p:sp>
        <p:nvSpPr>
          <p:cNvPr id="40" name="Shape 28"/>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41" name="Shape 29"/>
          <p:cNvSpPr/>
          <p:nvPr/>
        </p:nvSpPr>
        <p:spPr>
          <a:xfrm>
            <a:off x="8467344" y="4151376"/>
            <a:ext cx="713232" cy="713232"/>
          </a:xfrm>
          <a:prstGeom prst="ellipse">
            <a:avLst/>
          </a:prstGeom>
          <a:solidFill>
            <a:srgbClr val="E08A1E"/>
          </a:solidFill>
          <a:ln/>
        </p:spPr>
      </p:sp>
      <p:pic>
        <p:nvPicPr>
          <p:cNvPr id="42" name="Image 10" descr="preencoded.png"/>
          <p:cNvPicPr>
            <a:picLocks noChangeAspect="1"/>
          </p:cNvPicPr>
          <p:nvPr/>
        </p:nvPicPr>
        <p:blipFill>
          <a:blip r:embed="rId9"/>
          <a:stretch>
            <a:fillRect/>
          </a:stretch>
        </p:blipFill>
        <p:spPr>
          <a:xfrm>
            <a:off x="8645652" y="4329684"/>
            <a:ext cx="356616" cy="356616"/>
          </a:xfrm>
          <a:prstGeom prst="rect">
            <a:avLst/>
          </a:prstGeom>
        </p:spPr>
      </p:pic>
      <p:pic>
        <p:nvPicPr>
          <p:cNvPr id="43" name="Image 11" descr="preencoded.png"/>
          <p:cNvPicPr>
            <a:picLocks noChangeAspect="1"/>
          </p:cNvPicPr>
          <p:nvPr/>
        </p:nvPicPr>
        <p:blipFill>
          <a:blip r:embed="rId4"/>
          <a:stretch>
            <a:fillRect/>
          </a:stretch>
        </p:blipFill>
        <p:spPr>
          <a:xfrm>
            <a:off x="11155680" y="4151376"/>
            <a:ext cx="310896" cy="310896"/>
          </a:xfrm>
          <a:prstGeom prst="rect">
            <a:avLst/>
          </a:prstGeom>
        </p:spPr>
      </p:pic>
      <p:sp>
        <p:nvSpPr>
          <p:cNvPr id="44" name="Text 30"/>
          <p:cNvSpPr/>
          <p:nvPr/>
        </p:nvSpPr>
        <p:spPr>
          <a:xfrm>
            <a:off x="8467344"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Procurement initiated</a:t>
            </a:r>
            <a:endParaRPr lang="en-US" sz="1500" dirty="0"/>
          </a:p>
        </p:txBody>
      </p:sp>
      <p:sp>
        <p:nvSpPr>
          <p:cNvPr id="45" name="Text 31"/>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Core compute received; rest ordered.</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6F9"/>
        </a:solidFill>
        <a:effectLst/>
      </p:bgPr>
    </p:bg>
    <p:spTree>
      <p:nvGrpSpPr>
        <p:cNvPr id="1" name=""/>
        <p:cNvGrpSpPr/>
        <p:nvPr/>
      </p:nvGrpSpPr>
      <p:grpSpPr>
        <a:xfrm>
          <a:off x="0" y="0"/>
          <a:ext cx="0" cy="0"/>
          <a:chOff x="0" y="0"/>
          <a:chExt cx="0" cy="0"/>
        </a:xfrm>
      </p:grpSpPr>
      <p:sp>
        <p:nvSpPr>
          <p:cNvPr id="10" name="TopBar"/>
          <p:cNvSpPr>
            <a:spLocks noGrp="1"/>
          </p:cNvSpPr>
          <p:nvPr/>
        </p:nvSpPr>
        <p:spPr>
          <a:xfrm>
            <a:off x="0" y="0"/>
            <a:ext cx="12192000" cy="76200"/>
          </a:xfrm>
          <a:prstGeom prst="rect">
            <a:avLst/>
          </a:prstGeom>
          <a:solidFill>
            <a:srgbClr val="0E96AC"/>
          </a:solidFill>
          <a:ln>
            <a:noFill/>
          </a:ln>
        </p:spPr>
        <p:txBody>
          <a:bodyPr/>
          <a:lstStyle/>
          <a:p>
            <a:endParaRPr/>
          </a:p>
        </p:txBody>
      </p:sp>
      <p:sp>
        <p:nvSpPr>
          <p:cNvPr id="11" name="Eyebrow"/>
          <p:cNvSpPr>
            <a:spLocks noGrp="1"/>
          </p:cNvSpPr>
          <p:nvPr/>
        </p:nvSpPr>
        <p:spPr>
          <a:xfrm>
            <a:off x="533400" y="177800"/>
            <a:ext cx="8890000" cy="228600"/>
          </a:xfrm>
          <a:prstGeom prst="rect">
            <a:avLst/>
          </a:prstGeom>
          <a:noFill/>
          <a:ln>
            <a:noFill/>
          </a:ln>
        </p:spPr>
        <p:txBody>
          <a:bodyPr/>
          <a:lstStyle/>
          <a:p>
            <a:pPr marL="0" indent="0" algn="l">
              <a:buNone/>
            </a:pPr>
            <a:r>
              <a:rPr lang="en-IN" sz="1100" b="1" dirty="0">
                <a:solidFill>
                  <a:srgbClr val="0E96AC"/>
                </a:solidFill>
                <a:latin typeface="Calibri" pitchFamily="34" charset="0"/>
              </a:rPr>
              <a:t>SIMULATION &amp; VALIDATION</a:t>
            </a:r>
          </a:p>
        </p:txBody>
      </p:sp>
      <p:sp>
        <p:nvSpPr>
          <p:cNvPr id="12" name="AccentLine"/>
          <p:cNvSpPr>
            <a:spLocks noGrp="1"/>
          </p:cNvSpPr>
          <p:nvPr/>
        </p:nvSpPr>
        <p:spPr>
          <a:xfrm>
            <a:off x="533400" y="431800"/>
            <a:ext cx="11125200" cy="12700"/>
          </a:xfrm>
          <a:prstGeom prst="rect">
            <a:avLst/>
          </a:prstGeom>
          <a:solidFill>
            <a:srgbClr val="0E96AC"/>
          </a:solidFill>
          <a:ln>
            <a:noFill/>
          </a:ln>
        </p:spPr>
        <p:txBody>
          <a:bodyPr/>
          <a:lstStyle/>
          <a:p>
            <a:endParaRPr/>
          </a:p>
        </p:txBody>
      </p:sp>
      <p:sp>
        <p:nvSpPr>
          <p:cNvPr id="13" name="MainTitle"/>
          <p:cNvSpPr>
            <a:spLocks noGrp="1"/>
          </p:cNvSpPr>
          <p:nvPr/>
        </p:nvSpPr>
        <p:spPr>
          <a:xfrm>
            <a:off x="533400" y="508000"/>
            <a:ext cx="10160000" cy="508000"/>
          </a:xfrm>
          <a:prstGeom prst="rect">
            <a:avLst/>
          </a:prstGeom>
          <a:noFill/>
          <a:ln>
            <a:noFill/>
          </a:ln>
        </p:spPr>
        <p:txBody>
          <a:bodyPr/>
          <a:lstStyle/>
          <a:p>
            <a:pPr marL="0" indent="0" algn="l">
              <a:buNone/>
            </a:pPr>
            <a:r>
              <a:rPr lang="en-IN" sz="2400" b="1" dirty="0">
                <a:solidFill>
                  <a:srgbClr val="16223A"/>
                </a:solidFill>
                <a:latin typeface="Calibri" pitchFamily="34" charset="0"/>
              </a:rPr>
              <a:t>Simulation-Based Validation of Control Architecture</a:t>
            </a:r>
          </a:p>
        </p:txBody>
      </p:sp>
      <p:pic>
        <p:nvPicPr>
          <p:cNvPr id="2" name="Picture 1">
            <a:extLst>
              <a:ext uri="{FF2B5EF4-FFF2-40B4-BE49-F238E27FC236}">
                <a16:creationId xmlns:a16="http://schemas.microsoft.com/office/drawing/2014/main" id="{FF57F7DB-A372-8BEE-AF61-AC58FDC57F17}"/>
              </a:ext>
            </a:extLst>
          </p:cNvPr>
          <p:cNvPicPr>
            <a:picLocks noChangeAspect="1"/>
          </p:cNvPicPr>
          <p:nvPr/>
        </p:nvPicPr>
        <p:blipFill>
          <a:blip r:embed="rId2"/>
          <a:stretch>
            <a:fillRect/>
          </a:stretch>
        </p:blipFill>
        <p:spPr>
          <a:xfrm>
            <a:off x="533400" y="1270000"/>
            <a:ext cx="6350000" cy="4772421"/>
          </a:xfrm>
          <a:prstGeom prst="rect">
            <a:avLst/>
          </a:prstGeom>
        </p:spPr>
      </p:pic>
      <p:sp>
        <p:nvSpPr>
          <p:cNvPr id="3" name="ImgFrame">
            <a:extLst>
              <a:ext uri="{FF2B5EF4-FFF2-40B4-BE49-F238E27FC236}">
                <a16:creationId xmlns:a16="http://schemas.microsoft.com/office/drawing/2014/main" id="{4BAB2F69-E5D7-47C1-A740-AD4ADA6781C8}"/>
              </a:ext>
            </a:extLst>
          </p:cNvPr>
          <p:cNvSpPr/>
          <p:nvPr/>
        </p:nvSpPr>
        <p:spPr>
          <a:xfrm>
            <a:off x="520700" y="1257300"/>
            <a:ext cx="6375400" cy="4800600"/>
          </a:xfrm>
          <a:prstGeom prst="rect">
            <a:avLst/>
          </a:prstGeom>
          <a:noFill/>
          <a:ln w="1905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Caption">
            <a:extLst>
              <a:ext uri="{FF2B5EF4-FFF2-40B4-BE49-F238E27FC236}">
                <a16:creationId xmlns:a16="http://schemas.microsoft.com/office/drawing/2014/main" id="{0A70087A-913A-4173-8A2B-10264A92E2F2}"/>
              </a:ext>
            </a:extLst>
          </p:cNvPr>
          <p:cNvSpPr txBox="1"/>
          <p:nvPr/>
        </p:nvSpPr>
        <p:spPr>
          <a:xfrm>
            <a:off x="533400" y="6121400"/>
            <a:ext cx="6350000" cy="584200"/>
          </a:xfrm>
          <a:prstGeom prst="rect">
            <a:avLst/>
          </a:prstGeom>
          <a:noFill/>
        </p:spPr>
        <p:txBody>
          <a:bodyPr vertOverflow="overflow" vert="horz" wrap="square" rtlCol="0" anchor="t" anchorCtr="0">
            <a:spAutoFit/>
          </a:bodyPr>
          <a:lstStyle/>
          <a:p>
            <a:pPr algn="l"/>
            <a:r>
              <a:rPr lang="en-US" sz="1050" i="1">
                <a:solidFill>
                  <a:srgbClr val="6B7280"/>
                </a:solidFill>
                <a:latin typeface="Calibri"/>
                <a:ea typeface="Calibri"/>
                <a:cs typeface="Calibri"/>
              </a:rPr>
              <a:t>Wokwi-based simulation environment developed to validate locomotion control, sensor integration, and communication architecture before physical Dynamixel hardware arrival.</a:t>
            </a:r>
            <a:endParaRPr lang="en-IN" sz="1050" i="1">
              <a:solidFill>
                <a:srgbClr val="6B7280"/>
              </a:solidFill>
              <a:latin typeface="Calibri"/>
              <a:ea typeface="Calibri"/>
              <a:cs typeface="Calibri"/>
            </a:endParaRPr>
          </a:p>
        </p:txBody>
      </p:sp>
      <p:sp>
        <p:nvSpPr>
          <p:cNvPr id="5" name="ColSep">
            <a:extLst>
              <a:ext uri="{FF2B5EF4-FFF2-40B4-BE49-F238E27FC236}">
                <a16:creationId xmlns:a16="http://schemas.microsoft.com/office/drawing/2014/main" id="{F4B4824F-43FB-40F3-A930-950484DEE059}"/>
              </a:ext>
            </a:extLst>
          </p:cNvPr>
          <p:cNvSpPr/>
          <p:nvPr/>
        </p:nvSpPr>
        <p:spPr>
          <a:xfrm>
            <a:off x="7010400" y="1219200"/>
            <a:ext cx="12700" cy="5486400"/>
          </a:xfrm>
          <a:prstGeom prst="rect">
            <a:avLst/>
          </a:prstGeom>
          <a:solidFill>
            <a:srgbClr val="D0D7E5"/>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ObjBar">
            <a:extLst>
              <a:ext uri="{FF2B5EF4-FFF2-40B4-BE49-F238E27FC236}">
                <a16:creationId xmlns:a16="http://schemas.microsoft.com/office/drawing/2014/main" id="{178EDC1E-CA49-4444-807D-C176B8B794B6}"/>
              </a:ext>
            </a:extLst>
          </p:cNvPr>
          <p:cNvSpPr/>
          <p:nvPr/>
        </p:nvSpPr>
        <p:spPr>
          <a:xfrm>
            <a:off x="7112000" y="12700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SIMULATION OBJECTIVE</a:t>
            </a:r>
          </a:p>
        </p:txBody>
      </p:sp>
      <p:sp>
        <p:nvSpPr>
          <p:cNvPr id="7" name="ObjText">
            <a:extLst>
              <a:ext uri="{FF2B5EF4-FFF2-40B4-BE49-F238E27FC236}">
                <a16:creationId xmlns:a16="http://schemas.microsoft.com/office/drawing/2014/main" id="{AB2E6402-3A0B-4197-BB71-81ED271D7DB2}"/>
              </a:ext>
            </a:extLst>
          </p:cNvPr>
          <p:cNvSpPr txBox="1"/>
          <p:nvPr/>
        </p:nvSpPr>
        <p:spPr>
          <a:xfrm>
            <a:off x="7112000" y="1549400"/>
            <a:ext cx="4546600" cy="812800"/>
          </a:xfrm>
          <a:prstGeom prst="rect">
            <a:avLst/>
          </a:prstGeom>
          <a:noFill/>
        </p:spPr>
        <p:txBody>
          <a:bodyPr vertOverflow="overflow" vert="horz" wrap="square" rtlCol="0" anchor="t" anchorCtr="0">
            <a:spAutoFit/>
          </a:bodyPr>
          <a:lstStyle/>
          <a:p>
            <a:pPr algn="l"/>
            <a:r>
              <a:rPr lang="en-US" sz="1050">
                <a:solidFill>
                  <a:srgbClr val="16223A"/>
                </a:solidFill>
                <a:latin typeface="Calibri"/>
                <a:ea typeface="Calibri"/>
                <a:cs typeface="Calibri"/>
              </a:rPr>
              <a:t>A virtual testing platform to validate the control architecture before Dynamixel actuators and communication hardware arrive — enabling software development, algorithm verification, and sensor integration in parallel with procurement.</a:t>
            </a:r>
            <a:endParaRPr lang="en-IN" sz="1050">
              <a:solidFill>
                <a:srgbClr val="16223A"/>
              </a:solidFill>
              <a:latin typeface="Calibri"/>
              <a:ea typeface="Calibri"/>
              <a:cs typeface="Calibri"/>
            </a:endParaRPr>
          </a:p>
        </p:txBody>
      </p:sp>
      <p:sp>
        <p:nvSpPr>
          <p:cNvPr id="8" name="CompBar">
            <a:extLst>
              <a:ext uri="{FF2B5EF4-FFF2-40B4-BE49-F238E27FC236}">
                <a16:creationId xmlns:a16="http://schemas.microsoft.com/office/drawing/2014/main" id="{13A72280-DA83-4A91-A182-E29B80090FB4}"/>
              </a:ext>
            </a:extLst>
          </p:cNvPr>
          <p:cNvSpPr/>
          <p:nvPr/>
        </p:nvSpPr>
        <p:spPr>
          <a:xfrm>
            <a:off x="7112000" y="24130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COMPONENTS SIMULATED</a:t>
            </a:r>
          </a:p>
        </p:txBody>
      </p:sp>
      <p:pic>
        <p:nvPicPr>
          <p:cNvPr id="14" name="Graphic 14" descr="Controlle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40600" y="2743200"/>
            <a:ext cx="330200" cy="330200"/>
          </a:xfrm>
          <a:prstGeom prst="rect">
            <a:avLst/>
          </a:prstGeom>
        </p:spPr>
      </p:pic>
      <p:pic>
        <p:nvPicPr>
          <p:cNvPr id="15" name="Graphic 15" descr="Sensors"/>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8483600" y="2743200"/>
            <a:ext cx="330200" cy="330200"/>
          </a:xfrm>
          <a:prstGeom prst="rect">
            <a:avLst/>
          </a:prstGeom>
        </p:spPr>
      </p:pic>
      <p:pic>
        <p:nvPicPr>
          <p:cNvPr id="16" name="Graphic 16" descr="Display"/>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26600" y="2743200"/>
            <a:ext cx="330200" cy="330200"/>
          </a:xfrm>
          <a:prstGeom prst="rect">
            <a:avLst/>
          </a:prstGeom>
        </p:spPr>
      </p:pic>
      <p:pic>
        <p:nvPicPr>
          <p:cNvPr id="17" name="Graphic 17" descr="Actuators"/>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769600" y="2743200"/>
            <a:ext cx="330200" cy="330200"/>
          </a:xfrm>
          <a:prstGeom prst="rect">
            <a:avLst/>
          </a:prstGeom>
        </p:spPr>
      </p:pic>
      <p:sp>
        <p:nvSpPr>
          <p:cNvPr id="9" name="TextBox 8">
            <a:extLst>
              <a:ext uri="{FF2B5EF4-FFF2-40B4-BE49-F238E27FC236}">
                <a16:creationId xmlns:a16="http://schemas.microsoft.com/office/drawing/2014/main" id="{F14FDCAF-EA1B-4688-86EC-4FDF39171679}"/>
              </a:ext>
            </a:extLst>
          </p:cNvPr>
          <p:cNvSpPr txBox="1"/>
          <p:nvPr/>
        </p:nvSpPr>
        <p:spPr>
          <a:xfrm>
            <a:off x="6946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Controller</a:t>
            </a:r>
          </a:p>
        </p:txBody>
      </p:sp>
      <p:sp>
        <p:nvSpPr>
          <p:cNvPr id="18" name="TextBox 17">
            <a:extLst>
              <a:ext uri="{FF2B5EF4-FFF2-40B4-BE49-F238E27FC236}">
                <a16:creationId xmlns:a16="http://schemas.microsoft.com/office/drawing/2014/main" id="{BCAC9736-26F2-4544-A0F4-600AE742E3F5}"/>
              </a:ext>
            </a:extLst>
          </p:cNvPr>
          <p:cNvSpPr txBox="1"/>
          <p:nvPr/>
        </p:nvSpPr>
        <p:spPr>
          <a:xfrm>
            <a:off x="8089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Sensors</a:t>
            </a:r>
          </a:p>
        </p:txBody>
      </p:sp>
      <p:sp>
        <p:nvSpPr>
          <p:cNvPr id="19" name="TextBox 18">
            <a:extLst>
              <a:ext uri="{FF2B5EF4-FFF2-40B4-BE49-F238E27FC236}">
                <a16:creationId xmlns:a16="http://schemas.microsoft.com/office/drawing/2014/main" id="{73C8DB26-9565-46C7-9618-2E76312967B5}"/>
              </a:ext>
            </a:extLst>
          </p:cNvPr>
          <p:cNvSpPr txBox="1"/>
          <p:nvPr/>
        </p:nvSpPr>
        <p:spPr>
          <a:xfrm>
            <a:off x="9232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Display</a:t>
            </a:r>
          </a:p>
        </p:txBody>
      </p:sp>
      <p:sp>
        <p:nvSpPr>
          <p:cNvPr id="20" name="TextBox 19">
            <a:extLst>
              <a:ext uri="{FF2B5EF4-FFF2-40B4-BE49-F238E27FC236}">
                <a16:creationId xmlns:a16="http://schemas.microsoft.com/office/drawing/2014/main" id="{943EA61A-F56F-4D25-A1D6-D7B8CDF5A8FC}"/>
              </a:ext>
            </a:extLst>
          </p:cNvPr>
          <p:cNvSpPr txBox="1"/>
          <p:nvPr/>
        </p:nvSpPr>
        <p:spPr>
          <a:xfrm>
            <a:off x="10375900" y="3086100"/>
            <a:ext cx="1117600" cy="177800"/>
          </a:xfrm>
          <a:prstGeom prst="rect">
            <a:avLst/>
          </a:prstGeom>
          <a:noFill/>
        </p:spPr>
        <p:txBody>
          <a:bodyPr vertOverflow="overflow" vert="horz" wrap="square" rtlCol="0" anchor="t" anchorCtr="0">
            <a:noAutofit/>
          </a:bodyPr>
          <a:lstStyle/>
          <a:p>
            <a:pPr algn="l"/>
            <a:r>
              <a:rPr lang="en-IN" sz="900" b="1">
                <a:solidFill>
                  <a:srgbClr val="16223A"/>
                </a:solidFill>
                <a:latin typeface="Calibri"/>
                <a:ea typeface="Calibri"/>
                <a:cs typeface="Calibri"/>
              </a:rPr>
              <a:t>Actuators</a:t>
            </a:r>
          </a:p>
        </p:txBody>
      </p:sp>
      <p:sp>
        <p:nvSpPr>
          <p:cNvPr id="21" name="CompSub">
            <a:extLst>
              <a:ext uri="{FF2B5EF4-FFF2-40B4-BE49-F238E27FC236}">
                <a16:creationId xmlns:a16="http://schemas.microsoft.com/office/drawing/2014/main" id="{E9BA4A95-644D-43CC-86B7-250148BF0C59}"/>
              </a:ext>
            </a:extLst>
          </p:cNvPr>
          <p:cNvSpPr txBox="1"/>
          <p:nvPr/>
        </p:nvSpPr>
        <p:spPr>
          <a:xfrm>
            <a:off x="7112000" y="3327400"/>
            <a:ext cx="4546600" cy="330200"/>
          </a:xfrm>
          <a:prstGeom prst="rect">
            <a:avLst/>
          </a:prstGeom>
          <a:noFill/>
        </p:spPr>
        <p:txBody>
          <a:bodyPr vertOverflow="overflow" vert="horz" wrap="square" rtlCol="0" anchor="t" anchorCtr="0">
            <a:spAutoFit/>
          </a:bodyPr>
          <a:lstStyle/>
          <a:p>
            <a:pPr algn="l"/>
            <a:r>
              <a:rPr lang="en-IN" sz="900" i="1">
                <a:solidFill>
                  <a:srgbClr val="6B7280"/>
                </a:solidFill>
                <a:latin typeface="Calibri"/>
                <a:ea typeface="Calibri"/>
                <a:cs typeface="Calibri"/>
              </a:rPr>
              <a:t>ESP32 · 5-Servo joint network · MPU6050 IMU · HC-SR04 ultrasonic · SSD1306 OLED · control &amp; communication framework</a:t>
            </a:r>
          </a:p>
        </p:txBody>
      </p:sp>
      <p:sp>
        <p:nvSpPr>
          <p:cNvPr id="22" name="ValBar">
            <a:extLst>
              <a:ext uri="{FF2B5EF4-FFF2-40B4-BE49-F238E27FC236}">
                <a16:creationId xmlns:a16="http://schemas.microsoft.com/office/drawing/2014/main" id="{969CB65F-F6A4-423C-A59B-AAE9CC13FF12}"/>
              </a:ext>
            </a:extLst>
          </p:cNvPr>
          <p:cNvSpPr/>
          <p:nvPr/>
        </p:nvSpPr>
        <p:spPr>
          <a:xfrm>
            <a:off x="7112000" y="37084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FUNCTIONAL VALIDATION COMPLETED</a:t>
            </a:r>
          </a:p>
        </p:txBody>
      </p:sp>
      <p:sp>
        <p:nvSpPr>
          <p:cNvPr id="23" name="BenBar">
            <a:extLst>
              <a:ext uri="{FF2B5EF4-FFF2-40B4-BE49-F238E27FC236}">
                <a16:creationId xmlns:a16="http://schemas.microsoft.com/office/drawing/2014/main" id="{17226090-79FF-4BDE-85B8-E78705648C85}"/>
              </a:ext>
            </a:extLst>
          </p:cNvPr>
          <p:cNvSpPr/>
          <p:nvPr/>
        </p:nvSpPr>
        <p:spPr>
          <a:xfrm>
            <a:off x="7112000" y="5283200"/>
            <a:ext cx="4546600" cy="2540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IN" sz="1050" b="1">
                <a:solidFill>
                  <a:srgbClr val="FFFFFF"/>
                </a:solidFill>
                <a:latin typeface="Calibri"/>
                <a:ea typeface="Calibri"/>
                <a:cs typeface="Calibri"/>
              </a:rPr>
              <a:t>ENGINEERING BENEFITS</a:t>
            </a:r>
          </a:p>
        </p:txBody>
      </p:sp>
      <p:sp>
        <p:nvSpPr>
          <p:cNvPr id="24" name="ValList">
            <a:extLst>
              <a:ext uri="{FF2B5EF4-FFF2-40B4-BE49-F238E27FC236}">
                <a16:creationId xmlns:a16="http://schemas.microsoft.com/office/drawing/2014/main" id="{8F2F53C0-A6EB-4C72-B492-9B0DAB6755D0}"/>
              </a:ext>
            </a:extLst>
          </p:cNvPr>
          <p:cNvSpPr txBox="1"/>
          <p:nvPr/>
        </p:nvSpPr>
        <p:spPr>
          <a:xfrm>
            <a:off x="7112000" y="3987800"/>
            <a:ext cx="4546600" cy="1244600"/>
          </a:xfrm>
          <a:prstGeom prst="rect">
            <a:avLst/>
          </a:prstGeom>
          <a:noFill/>
        </p:spPr>
        <p:txBody>
          <a:bodyPr vertOverflow="overflow" vert="horz" wrap="square" rtlCol="0" anchor="t" anchorCtr="0">
            <a:noAutofit/>
          </a:bodyPr>
          <a:lstStyle/>
          <a:p>
            <a:pPr marL="170000" indent="-170000">
              <a:lnSpc>
                <a:spcPts val="1380"/>
              </a:lnSpc>
              <a:spcAft>
                <a:spcPts val="200"/>
              </a:spcAft>
              <a:buClr>
                <a:srgbClr val="1F9D55"/>
              </a:buClr>
              <a:buFont typeface="Arial"/>
              <a:buChar char="✓"/>
            </a:pPr>
            <a:r>
              <a:rPr lang="en-IN" sz="1000" dirty="0">
                <a:solidFill>
                  <a:srgbClr val="16223A"/>
                </a:solidFill>
                <a:latin typeface="Calibri"/>
              </a:rPr>
              <a:t>Multi-joint servo coordination</a:t>
            </a:r>
          </a:p>
          <a:p>
            <a:pPr marL="170000" indent="-170000">
              <a:lnSpc>
                <a:spcPts val="1380"/>
              </a:lnSpc>
              <a:spcAft>
                <a:spcPts val="200"/>
              </a:spcAft>
              <a:buClr>
                <a:srgbClr val="1F9D55"/>
              </a:buClr>
              <a:buFont typeface="Arial"/>
              <a:buChar char="✓"/>
            </a:pPr>
            <a:r>
              <a:rPr lang="en-IN" sz="1000" dirty="0">
                <a:solidFill>
                  <a:srgbClr val="16223A"/>
                </a:solidFill>
                <a:latin typeface="Calibri"/>
              </a:rPr>
              <a:t>Travelling-wave serpentine gait generation</a:t>
            </a:r>
          </a:p>
          <a:p>
            <a:pPr marL="170000" indent="-170000">
              <a:lnSpc>
                <a:spcPts val="1380"/>
              </a:lnSpc>
              <a:spcAft>
                <a:spcPts val="200"/>
              </a:spcAft>
              <a:buClr>
                <a:srgbClr val="1F9D55"/>
              </a:buClr>
              <a:buFont typeface="Arial"/>
              <a:buChar char="✓"/>
            </a:pPr>
            <a:r>
              <a:rPr lang="en-IN" sz="1000" dirty="0">
                <a:solidFill>
                  <a:srgbClr val="16223A"/>
                </a:solidFill>
                <a:latin typeface="Calibri"/>
              </a:rPr>
              <a:t>Obstacle detection via ultrasonic sensing</a:t>
            </a:r>
          </a:p>
          <a:p>
            <a:pPr marL="170000" indent="-170000">
              <a:lnSpc>
                <a:spcPts val="1380"/>
              </a:lnSpc>
              <a:spcAft>
                <a:spcPts val="200"/>
              </a:spcAft>
              <a:buClr>
                <a:srgbClr val="1F9D55"/>
              </a:buClr>
              <a:buFont typeface="Arial"/>
              <a:buChar char="✓"/>
            </a:pPr>
            <a:r>
              <a:rPr lang="en-IN" sz="1000" dirty="0">
                <a:solidFill>
                  <a:srgbClr val="16223A"/>
                </a:solidFill>
                <a:latin typeface="Calibri"/>
              </a:rPr>
              <a:t>IMU integration for orientation feedback</a:t>
            </a:r>
          </a:p>
          <a:p>
            <a:pPr marL="170000" indent="-170000">
              <a:lnSpc>
                <a:spcPts val="1380"/>
              </a:lnSpc>
              <a:spcAft>
                <a:spcPts val="200"/>
              </a:spcAft>
              <a:buClr>
                <a:srgbClr val="1F9D55"/>
              </a:buClr>
              <a:buFont typeface="Arial"/>
              <a:buChar char="✓"/>
            </a:pPr>
            <a:r>
              <a:rPr lang="en-IN" sz="1000" dirty="0">
                <a:solidFill>
                  <a:srgbClr val="16223A"/>
                </a:solidFill>
                <a:latin typeface="Calibri"/>
              </a:rPr>
              <a:t>OLED-based system status monitoring</a:t>
            </a:r>
          </a:p>
          <a:p>
            <a:pPr marL="170000" indent="-170000">
              <a:lnSpc>
                <a:spcPts val="1380"/>
              </a:lnSpc>
              <a:spcAft>
                <a:spcPts val="200"/>
              </a:spcAft>
              <a:buClr>
                <a:srgbClr val="1F9D55"/>
              </a:buClr>
              <a:buFont typeface="Arial"/>
              <a:buChar char="✓"/>
            </a:pPr>
            <a:r>
              <a:rPr lang="en-IN" sz="1000" dirty="0">
                <a:solidFill>
                  <a:srgbClr val="16223A"/>
                </a:solidFill>
                <a:latin typeface="Calibri"/>
              </a:rPr>
              <a:t>Sensor–controller–actuator communication</a:t>
            </a:r>
          </a:p>
        </p:txBody>
      </p:sp>
      <p:sp>
        <p:nvSpPr>
          <p:cNvPr id="25" name="BenList">
            <a:extLst>
              <a:ext uri="{FF2B5EF4-FFF2-40B4-BE49-F238E27FC236}">
                <a16:creationId xmlns:a16="http://schemas.microsoft.com/office/drawing/2014/main" id="{FF6D1A2A-EA57-464C-91D6-7133350B2A9C}"/>
              </a:ext>
            </a:extLst>
          </p:cNvPr>
          <p:cNvSpPr txBox="1"/>
          <p:nvPr/>
        </p:nvSpPr>
        <p:spPr>
          <a:xfrm>
            <a:off x="7112000" y="5562600"/>
            <a:ext cx="4546600" cy="609600"/>
          </a:xfrm>
          <a:prstGeom prst="rect">
            <a:avLst/>
          </a:prstGeom>
          <a:noFill/>
        </p:spPr>
        <p:txBody>
          <a:bodyPr vertOverflow="overflow" vert="horz" wrap="square" rtlCol="0" anchor="t" anchorCtr="0">
            <a:noAutofit/>
          </a:bodyPr>
          <a:lstStyle/>
          <a:p>
            <a:pPr marL="150000" indent="-150000">
              <a:lnSpc>
                <a:spcPts val="1180"/>
              </a:lnSpc>
              <a:spcAft>
                <a:spcPts val="150"/>
              </a:spcAft>
              <a:buFont typeface="Arial"/>
              <a:buChar char="•"/>
            </a:pPr>
            <a:r>
              <a:rPr lang="en-IN" sz="950" dirty="0">
                <a:solidFill>
                  <a:srgbClr val="16223A"/>
                </a:solidFill>
                <a:latin typeface="Calibri"/>
              </a:rPr>
              <a:t>Reduced dependence on hardware delivery timelines</a:t>
            </a:r>
          </a:p>
          <a:p>
            <a:pPr marL="150000" indent="-150000">
              <a:lnSpc>
                <a:spcPts val="1180"/>
              </a:lnSpc>
              <a:spcAft>
                <a:spcPts val="150"/>
              </a:spcAft>
              <a:buFont typeface="Arial"/>
              <a:buChar char="•"/>
            </a:pPr>
            <a:r>
              <a:rPr lang="en-IN" sz="950" dirty="0">
                <a:solidFill>
                  <a:srgbClr val="16223A"/>
                </a:solidFill>
                <a:latin typeface="Calibri"/>
              </a:rPr>
              <a:t>Enabled early software debugging &amp; control-architecture verification</a:t>
            </a:r>
          </a:p>
          <a:p>
            <a:pPr marL="150000" indent="-150000">
              <a:lnSpc>
                <a:spcPts val="1180"/>
              </a:lnSpc>
              <a:spcAft>
                <a:spcPts val="150"/>
              </a:spcAft>
              <a:buFont typeface="Arial"/>
              <a:buChar char="•"/>
            </a:pPr>
            <a:r>
              <a:rPr lang="en-IN" sz="950" dirty="0">
                <a:solidFill>
                  <a:srgbClr val="16223A"/>
                </a:solidFill>
                <a:latin typeface="Calibri"/>
              </a:rPr>
              <a:t>Established migration path to Raspberry Pi 5 + Dynamixel XL330, reducing integration risk</a:t>
            </a:r>
          </a:p>
        </p:txBody>
      </p:sp>
      <p:sp>
        <p:nvSpPr>
          <p:cNvPr id="26" name="OutcomeBox">
            <a:extLst>
              <a:ext uri="{FF2B5EF4-FFF2-40B4-BE49-F238E27FC236}">
                <a16:creationId xmlns:a16="http://schemas.microsoft.com/office/drawing/2014/main" id="{A1111AB1-B2DD-4A6B-94F7-1E0F10B973B3}"/>
              </a:ext>
            </a:extLst>
          </p:cNvPr>
          <p:cNvSpPr/>
          <p:nvPr/>
        </p:nvSpPr>
        <p:spPr>
          <a:xfrm>
            <a:off x="7112000" y="6248400"/>
            <a:ext cx="4546600" cy="508000"/>
          </a:xfrm>
          <a:prstGeom prst="rect">
            <a:avLst/>
          </a:prstGeom>
          <a:solidFill>
            <a:srgbClr val="EAF7FA"/>
          </a:solidFill>
          <a:ln w="1905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marL="0" indent="0">
              <a:buNone/>
            </a:pPr>
            <a:r>
              <a:rPr lang="en-IN" sz="950" b="1" dirty="0">
                <a:solidFill>
                  <a:srgbClr val="0A7A8E"/>
                </a:solidFill>
                <a:latin typeface="Calibri"/>
              </a:rPr>
              <a:t>KEY OUTCOME  </a:t>
            </a:r>
            <a:r>
              <a:rPr lang="en-IN" sz="950" dirty="0">
                <a:solidFill>
                  <a:srgbClr val="16223A"/>
                </a:solidFill>
                <a:latin typeface="Calibri"/>
              </a:rPr>
              <a:t>A complete software-validation framework was developed, allowing locomotion, sensing, and control workflows to be tested before physical robot assembly.</a:t>
            </a:r>
          </a:p>
        </p:txBody>
      </p:sp>
    </p:spTree>
    <p:extLst>
      <p:ext uri="{BB962C8B-B14F-4D97-AF65-F5344CB8AC3E}">
        <p14:creationId xmlns:p14="http://schemas.microsoft.com/office/powerpoint/2010/main" val="374536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TopBar">
            <a:extLst>
              <a:ext uri="{FF2B5EF4-FFF2-40B4-BE49-F238E27FC236}">
                <a16:creationId xmlns:a16="http://schemas.microsoft.com/office/drawing/2014/main" id="{30ED9168-1A8D-46D3-AF26-084DB3ADAA2A}"/>
              </a:ext>
            </a:extLst>
          </p:cNvPr>
          <p:cNvSpPr/>
          <p:nvPr/>
        </p:nvSpPr>
        <p:spPr>
          <a:xfrm>
            <a:off x="0" y="0"/>
            <a:ext cx="12192000" cy="76200"/>
          </a:xfrm>
          <a:prstGeom prst="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Eyebrow">
            <a:extLst>
              <a:ext uri="{FF2B5EF4-FFF2-40B4-BE49-F238E27FC236}">
                <a16:creationId xmlns:a16="http://schemas.microsoft.com/office/drawing/2014/main" id="{18DBE4B9-D6CE-44B5-B1C7-914B242C66E1}"/>
              </a:ext>
            </a:extLst>
          </p:cNvPr>
          <p:cNvSpPr txBox="1"/>
          <p:nvPr/>
        </p:nvSpPr>
        <p:spPr>
          <a:xfrm>
            <a:off x="533400" y="177800"/>
            <a:ext cx="8890000" cy="228600"/>
          </a:xfrm>
          <a:prstGeom prst="rect">
            <a:avLst/>
          </a:prstGeom>
          <a:noFill/>
        </p:spPr>
        <p:txBody>
          <a:bodyPr vertOverflow="overflow" vert="horz" wrap="square" rtlCol="0" anchor="ctr" anchorCtr="0">
            <a:spAutoFit/>
          </a:bodyPr>
          <a:lstStyle/>
          <a:p>
            <a:pPr algn="l"/>
            <a:r>
              <a:rPr lang="en-IN" sz="1100" b="1">
                <a:solidFill>
                  <a:srgbClr val="0E96AC"/>
                </a:solidFill>
                <a:latin typeface="Calibri"/>
                <a:ea typeface="Calibri"/>
                <a:cs typeface="Calibri"/>
              </a:rPr>
              <a:t>FUTURE WORK &amp; DEVELOPMENT ROADMAP</a:t>
            </a:r>
          </a:p>
        </p:txBody>
      </p:sp>
      <p:sp>
        <p:nvSpPr>
          <p:cNvPr id="4" name="AccentLine">
            <a:extLst>
              <a:ext uri="{FF2B5EF4-FFF2-40B4-BE49-F238E27FC236}">
                <a16:creationId xmlns:a16="http://schemas.microsoft.com/office/drawing/2014/main" id="{442F3D03-E326-4CE5-A515-22A546C90469}"/>
              </a:ext>
            </a:extLst>
          </p:cNvPr>
          <p:cNvSpPr/>
          <p:nvPr/>
        </p:nvSpPr>
        <p:spPr>
          <a:xfrm>
            <a:off x="533400" y="431800"/>
            <a:ext cx="11125200" cy="12700"/>
          </a:xfrm>
          <a:prstGeom prst="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MainTitle">
            <a:extLst>
              <a:ext uri="{FF2B5EF4-FFF2-40B4-BE49-F238E27FC236}">
                <a16:creationId xmlns:a16="http://schemas.microsoft.com/office/drawing/2014/main" id="{5EE60894-65EF-4387-A4AF-239835B25496}"/>
              </a:ext>
            </a:extLst>
          </p:cNvPr>
          <p:cNvSpPr txBox="1"/>
          <p:nvPr/>
        </p:nvSpPr>
        <p:spPr>
          <a:xfrm>
            <a:off x="533400" y="508000"/>
            <a:ext cx="11125200" cy="508000"/>
          </a:xfrm>
          <a:prstGeom prst="rect">
            <a:avLst/>
          </a:prstGeom>
          <a:noFill/>
        </p:spPr>
        <p:txBody>
          <a:bodyPr vertOverflow="overflow" vert="horz" wrap="square" rtlCol="0" anchor="ctr" anchorCtr="0">
            <a:spAutoFit/>
          </a:bodyPr>
          <a:lstStyle/>
          <a:p>
            <a:pPr algn="l"/>
            <a:r>
              <a:rPr lang="en-US" sz="2400" b="1">
                <a:solidFill>
                  <a:srgbClr val="16223A"/>
                </a:solidFill>
                <a:latin typeface="Calibri"/>
                <a:ea typeface="Calibri"/>
                <a:cs typeface="Calibri"/>
              </a:rPr>
              <a:t>Planned Activities for the Next Development Phase</a:t>
            </a:r>
            <a:endParaRPr lang="en-IN" sz="2400" b="1">
              <a:solidFill>
                <a:srgbClr val="16223A"/>
              </a:solidFill>
              <a:latin typeface="Calibri"/>
              <a:ea typeface="Calibri"/>
              <a:cs typeface="Calibri"/>
            </a:endParaRPr>
          </a:p>
        </p:txBody>
      </p:sp>
      <p:sp>
        <p:nvSpPr>
          <p:cNvPr id="201" name="Pill0"/>
          <p:cNvSpPr/>
          <p:nvPr/>
        </p:nvSpPr>
        <p:spPr>
          <a:xfrm>
            <a:off x="533400" y="1219200"/>
            <a:ext cx="1752600" cy="584200"/>
          </a:xfrm>
          <a:prstGeom prst="roundRect">
            <a:avLst/>
          </a:prstGeom>
          <a:solidFill>
            <a:srgbClr val="1F9D55"/>
          </a:solidFill>
          <a:ln>
            <a:noFill/>
          </a:ln>
        </p:spPr>
        <p:txBody>
          <a:bodyPr/>
          <a:lstStyle/>
          <a:p>
            <a:endParaRPr/>
          </a:p>
        </p:txBody>
      </p:sp>
      <p:sp>
        <p:nvSpPr>
          <p:cNvPr id="202" name="Num0"/>
          <p:cNvSpPr/>
          <p:nvPr/>
        </p:nvSpPr>
        <p:spPr>
          <a:xfrm>
            <a:off x="635000" y="1346200"/>
            <a:ext cx="330200" cy="330200"/>
          </a:xfrm>
          <a:prstGeom prst="ellipse">
            <a:avLst/>
          </a:prstGeom>
          <a:solidFill>
            <a:srgbClr val="FFFFFF"/>
          </a:solidFill>
          <a:ln>
            <a:noFill/>
          </a:ln>
        </p:spPr>
        <p:txBody>
          <a:bodyPr/>
          <a:lstStyle/>
          <a:p>
            <a:endParaRPr/>
          </a:p>
        </p:txBody>
      </p:sp>
      <p:sp>
        <p:nvSpPr>
          <p:cNvPr id="203" name="NumT0"/>
          <p:cNvSpPr txBox="1"/>
          <p:nvPr/>
        </p:nvSpPr>
        <p:spPr>
          <a:xfrm>
            <a:off x="6350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F9D55"/>
                </a:solidFill>
                <a:latin typeface="Calibri"/>
              </a:rPr>
              <a:t>1</a:t>
            </a:r>
          </a:p>
        </p:txBody>
      </p:sp>
      <p:sp>
        <p:nvSpPr>
          <p:cNvPr id="204" name="PillT0"/>
          <p:cNvSpPr txBox="1"/>
          <p:nvPr/>
        </p:nvSpPr>
        <p:spPr>
          <a:xfrm>
            <a:off x="10160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Hardware Arrival</a:t>
            </a:r>
          </a:p>
        </p:txBody>
      </p:sp>
      <p:sp>
        <p:nvSpPr>
          <p:cNvPr id="205" name="Card0"/>
          <p:cNvSpPr/>
          <p:nvPr/>
        </p:nvSpPr>
        <p:spPr>
          <a:xfrm>
            <a:off x="533400" y="1905000"/>
            <a:ext cx="1752600" cy="1676400"/>
          </a:xfrm>
          <a:prstGeom prst="roundRect">
            <a:avLst/>
          </a:prstGeom>
          <a:solidFill>
            <a:srgbClr val="FFFFFF"/>
          </a:solidFill>
          <a:ln w="9525">
            <a:solidFill>
              <a:srgbClr val="D0D7E5"/>
            </a:solidFill>
          </a:ln>
        </p:spPr>
        <p:txBody>
          <a:bodyPr/>
          <a:lstStyle/>
          <a:p>
            <a:endParaRPr/>
          </a:p>
        </p:txBody>
      </p:sp>
      <p:sp>
        <p:nvSpPr>
          <p:cNvPr id="206" name="Strip0"/>
          <p:cNvSpPr/>
          <p:nvPr/>
        </p:nvSpPr>
        <p:spPr>
          <a:xfrm>
            <a:off x="533400" y="1905000"/>
            <a:ext cx="1752600" cy="38100"/>
          </a:xfrm>
          <a:prstGeom prst="rect">
            <a:avLst/>
          </a:prstGeom>
          <a:solidFill>
            <a:srgbClr val="1F9D55"/>
          </a:solidFill>
          <a:ln>
            <a:noFill/>
          </a:ln>
        </p:spPr>
        <p:txBody>
          <a:bodyPr/>
          <a:lstStyle/>
          <a:p>
            <a:endParaRPr/>
          </a:p>
        </p:txBody>
      </p:sp>
      <p:sp>
        <p:nvSpPr>
          <p:cNvPr id="207" name="CardT0"/>
          <p:cNvSpPr txBox="1"/>
          <p:nvPr/>
        </p:nvSpPr>
        <p:spPr>
          <a:xfrm>
            <a:off x="6350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F9D55"/>
              </a:buClr>
              <a:buFont typeface="Arial"/>
              <a:buChar char="•"/>
            </a:pPr>
            <a:r>
              <a:rPr lang="en-IN" sz="900" dirty="0">
                <a:solidFill>
                  <a:srgbClr val="16223A"/>
                </a:solidFill>
                <a:latin typeface="Calibri"/>
              </a:rPr>
              <a:t>Receive Dynamixel XL330 motors</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Receive U2D2 interface</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Verify purchased components</a:t>
            </a:r>
          </a:p>
        </p:txBody>
      </p:sp>
      <p:sp>
        <p:nvSpPr>
          <p:cNvPr id="209" name="Pill1"/>
          <p:cNvSpPr/>
          <p:nvPr/>
        </p:nvSpPr>
        <p:spPr>
          <a:xfrm>
            <a:off x="2387600" y="1219200"/>
            <a:ext cx="1752600" cy="584200"/>
          </a:xfrm>
          <a:prstGeom prst="roundRect">
            <a:avLst/>
          </a:prstGeom>
          <a:solidFill>
            <a:srgbClr val="1F9D55"/>
          </a:solidFill>
          <a:ln>
            <a:noFill/>
          </a:ln>
        </p:spPr>
        <p:txBody>
          <a:bodyPr/>
          <a:lstStyle/>
          <a:p>
            <a:endParaRPr/>
          </a:p>
        </p:txBody>
      </p:sp>
      <p:sp>
        <p:nvSpPr>
          <p:cNvPr id="210" name="Num1"/>
          <p:cNvSpPr/>
          <p:nvPr/>
        </p:nvSpPr>
        <p:spPr>
          <a:xfrm>
            <a:off x="2489200" y="1346200"/>
            <a:ext cx="330200" cy="330200"/>
          </a:xfrm>
          <a:prstGeom prst="ellipse">
            <a:avLst/>
          </a:prstGeom>
          <a:solidFill>
            <a:srgbClr val="FFFFFF"/>
          </a:solidFill>
          <a:ln>
            <a:noFill/>
          </a:ln>
        </p:spPr>
        <p:txBody>
          <a:bodyPr/>
          <a:lstStyle/>
          <a:p>
            <a:endParaRPr/>
          </a:p>
        </p:txBody>
      </p:sp>
      <p:sp>
        <p:nvSpPr>
          <p:cNvPr id="211" name="NumT1"/>
          <p:cNvSpPr txBox="1"/>
          <p:nvPr/>
        </p:nvSpPr>
        <p:spPr>
          <a:xfrm>
            <a:off x="24892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F9D55"/>
                </a:solidFill>
                <a:latin typeface="Calibri"/>
              </a:rPr>
              <a:t>2</a:t>
            </a:r>
          </a:p>
        </p:txBody>
      </p:sp>
      <p:sp>
        <p:nvSpPr>
          <p:cNvPr id="212" name="PillT1"/>
          <p:cNvSpPr txBox="1"/>
          <p:nvPr/>
        </p:nvSpPr>
        <p:spPr>
          <a:xfrm>
            <a:off x="28702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Mechanical Assembly</a:t>
            </a:r>
          </a:p>
        </p:txBody>
      </p:sp>
      <p:sp>
        <p:nvSpPr>
          <p:cNvPr id="213" name="Card1"/>
          <p:cNvSpPr/>
          <p:nvPr/>
        </p:nvSpPr>
        <p:spPr>
          <a:xfrm>
            <a:off x="2387600" y="1905000"/>
            <a:ext cx="1752600" cy="1676400"/>
          </a:xfrm>
          <a:prstGeom prst="roundRect">
            <a:avLst/>
          </a:prstGeom>
          <a:solidFill>
            <a:srgbClr val="FFFFFF"/>
          </a:solidFill>
          <a:ln w="9525">
            <a:solidFill>
              <a:srgbClr val="D0D7E5"/>
            </a:solidFill>
          </a:ln>
        </p:spPr>
        <p:txBody>
          <a:bodyPr/>
          <a:lstStyle/>
          <a:p>
            <a:endParaRPr/>
          </a:p>
        </p:txBody>
      </p:sp>
      <p:sp>
        <p:nvSpPr>
          <p:cNvPr id="214" name="Strip1"/>
          <p:cNvSpPr/>
          <p:nvPr/>
        </p:nvSpPr>
        <p:spPr>
          <a:xfrm>
            <a:off x="2387600" y="1905000"/>
            <a:ext cx="1752600" cy="38100"/>
          </a:xfrm>
          <a:prstGeom prst="rect">
            <a:avLst/>
          </a:prstGeom>
          <a:solidFill>
            <a:srgbClr val="1F9D55"/>
          </a:solidFill>
          <a:ln>
            <a:noFill/>
          </a:ln>
        </p:spPr>
        <p:txBody>
          <a:bodyPr/>
          <a:lstStyle/>
          <a:p>
            <a:endParaRPr/>
          </a:p>
        </p:txBody>
      </p:sp>
      <p:sp>
        <p:nvSpPr>
          <p:cNvPr id="215" name="CardT1"/>
          <p:cNvSpPr txBox="1"/>
          <p:nvPr/>
        </p:nvSpPr>
        <p:spPr>
          <a:xfrm>
            <a:off x="24892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F9D55"/>
              </a:buClr>
              <a:buFont typeface="Arial"/>
              <a:buChar char="•"/>
            </a:pPr>
            <a:r>
              <a:rPr lang="en-IN" sz="900" dirty="0">
                <a:solidFill>
                  <a:srgbClr val="16223A"/>
                </a:solidFill>
                <a:latin typeface="Calibri"/>
              </a:rPr>
              <a:t>Assemble complete snake body</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Install Dynamixel actuators</a:t>
            </a:r>
          </a:p>
          <a:p>
            <a:pPr marL="120000" indent="-120000" algn="l">
              <a:lnSpc>
                <a:spcPts val="1180"/>
              </a:lnSpc>
              <a:spcAft>
                <a:spcPts val="400"/>
              </a:spcAft>
              <a:buClr>
                <a:srgbClr val="1F9D55"/>
              </a:buClr>
              <a:buFont typeface="Arial"/>
              <a:buChar char="•"/>
            </a:pPr>
            <a:r>
              <a:rPr lang="en-IN" sz="900" dirty="0">
                <a:solidFill>
                  <a:srgbClr val="16223A"/>
                </a:solidFill>
                <a:latin typeface="Calibri"/>
              </a:rPr>
              <a:t>Route communication cables</a:t>
            </a:r>
          </a:p>
        </p:txBody>
      </p:sp>
      <p:sp>
        <p:nvSpPr>
          <p:cNvPr id="217" name="Pill2"/>
          <p:cNvSpPr/>
          <p:nvPr/>
        </p:nvSpPr>
        <p:spPr>
          <a:xfrm>
            <a:off x="4241800" y="1219200"/>
            <a:ext cx="1752600" cy="584200"/>
          </a:xfrm>
          <a:prstGeom prst="roundRect">
            <a:avLst/>
          </a:prstGeom>
          <a:solidFill>
            <a:srgbClr val="1E6FD6"/>
          </a:solidFill>
          <a:ln>
            <a:noFill/>
          </a:ln>
        </p:spPr>
        <p:txBody>
          <a:bodyPr/>
          <a:lstStyle/>
          <a:p>
            <a:endParaRPr/>
          </a:p>
        </p:txBody>
      </p:sp>
      <p:sp>
        <p:nvSpPr>
          <p:cNvPr id="218" name="Num2"/>
          <p:cNvSpPr/>
          <p:nvPr/>
        </p:nvSpPr>
        <p:spPr>
          <a:xfrm>
            <a:off x="4343400" y="1346200"/>
            <a:ext cx="330200" cy="330200"/>
          </a:xfrm>
          <a:prstGeom prst="ellipse">
            <a:avLst/>
          </a:prstGeom>
          <a:solidFill>
            <a:srgbClr val="FFFFFF"/>
          </a:solidFill>
          <a:ln>
            <a:noFill/>
          </a:ln>
        </p:spPr>
        <p:txBody>
          <a:bodyPr/>
          <a:lstStyle/>
          <a:p>
            <a:endParaRPr/>
          </a:p>
        </p:txBody>
      </p:sp>
      <p:sp>
        <p:nvSpPr>
          <p:cNvPr id="219" name="NumT2"/>
          <p:cNvSpPr txBox="1"/>
          <p:nvPr/>
        </p:nvSpPr>
        <p:spPr>
          <a:xfrm>
            <a:off x="43434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E6FD6"/>
                </a:solidFill>
                <a:latin typeface="Calibri"/>
              </a:rPr>
              <a:t>3</a:t>
            </a:r>
          </a:p>
        </p:txBody>
      </p:sp>
      <p:sp>
        <p:nvSpPr>
          <p:cNvPr id="220" name="PillT2"/>
          <p:cNvSpPr txBox="1"/>
          <p:nvPr/>
        </p:nvSpPr>
        <p:spPr>
          <a:xfrm>
            <a:off x="47244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Communication Setup</a:t>
            </a:r>
          </a:p>
        </p:txBody>
      </p:sp>
      <p:sp>
        <p:nvSpPr>
          <p:cNvPr id="221" name="Card2"/>
          <p:cNvSpPr/>
          <p:nvPr/>
        </p:nvSpPr>
        <p:spPr>
          <a:xfrm>
            <a:off x="4241800" y="1905000"/>
            <a:ext cx="1752600" cy="1676400"/>
          </a:xfrm>
          <a:prstGeom prst="roundRect">
            <a:avLst/>
          </a:prstGeom>
          <a:solidFill>
            <a:srgbClr val="FFFFFF"/>
          </a:solidFill>
          <a:ln w="9525">
            <a:solidFill>
              <a:srgbClr val="D0D7E5"/>
            </a:solidFill>
          </a:ln>
        </p:spPr>
        <p:txBody>
          <a:bodyPr/>
          <a:lstStyle/>
          <a:p>
            <a:endParaRPr/>
          </a:p>
        </p:txBody>
      </p:sp>
      <p:sp>
        <p:nvSpPr>
          <p:cNvPr id="222" name="Strip2"/>
          <p:cNvSpPr/>
          <p:nvPr/>
        </p:nvSpPr>
        <p:spPr>
          <a:xfrm>
            <a:off x="4241800" y="1905000"/>
            <a:ext cx="1752600" cy="38100"/>
          </a:xfrm>
          <a:prstGeom prst="rect">
            <a:avLst/>
          </a:prstGeom>
          <a:solidFill>
            <a:srgbClr val="1E6FD6"/>
          </a:solidFill>
          <a:ln>
            <a:noFill/>
          </a:ln>
        </p:spPr>
        <p:txBody>
          <a:bodyPr/>
          <a:lstStyle/>
          <a:p>
            <a:endParaRPr/>
          </a:p>
        </p:txBody>
      </p:sp>
      <p:sp>
        <p:nvSpPr>
          <p:cNvPr id="223" name="CardT2"/>
          <p:cNvSpPr txBox="1"/>
          <p:nvPr/>
        </p:nvSpPr>
        <p:spPr>
          <a:xfrm>
            <a:off x="43434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E6FD6"/>
              </a:buClr>
              <a:buFont typeface="Arial"/>
              <a:buChar char="•"/>
            </a:pPr>
            <a:r>
              <a:rPr lang="en-IN" sz="900" dirty="0">
                <a:solidFill>
                  <a:srgbClr val="16223A"/>
                </a:solidFill>
                <a:latin typeface="Calibri"/>
              </a:rPr>
              <a:t>Configure motor IDs</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Establish serial communication</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Validate daisy-chain architecture</a:t>
            </a:r>
          </a:p>
        </p:txBody>
      </p:sp>
      <p:sp>
        <p:nvSpPr>
          <p:cNvPr id="225" name="Pill3"/>
          <p:cNvSpPr/>
          <p:nvPr/>
        </p:nvSpPr>
        <p:spPr>
          <a:xfrm>
            <a:off x="6096000" y="1219200"/>
            <a:ext cx="1752600" cy="584200"/>
          </a:xfrm>
          <a:prstGeom prst="roundRect">
            <a:avLst/>
          </a:prstGeom>
          <a:solidFill>
            <a:srgbClr val="1E6FD6"/>
          </a:solidFill>
          <a:ln>
            <a:noFill/>
          </a:ln>
        </p:spPr>
        <p:txBody>
          <a:bodyPr/>
          <a:lstStyle/>
          <a:p>
            <a:endParaRPr/>
          </a:p>
        </p:txBody>
      </p:sp>
      <p:sp>
        <p:nvSpPr>
          <p:cNvPr id="226" name="Num3"/>
          <p:cNvSpPr/>
          <p:nvPr/>
        </p:nvSpPr>
        <p:spPr>
          <a:xfrm>
            <a:off x="6197600" y="1346200"/>
            <a:ext cx="330200" cy="330200"/>
          </a:xfrm>
          <a:prstGeom prst="ellipse">
            <a:avLst/>
          </a:prstGeom>
          <a:solidFill>
            <a:srgbClr val="FFFFFF"/>
          </a:solidFill>
          <a:ln>
            <a:noFill/>
          </a:ln>
        </p:spPr>
        <p:txBody>
          <a:bodyPr/>
          <a:lstStyle/>
          <a:p>
            <a:endParaRPr/>
          </a:p>
        </p:txBody>
      </p:sp>
      <p:sp>
        <p:nvSpPr>
          <p:cNvPr id="227" name="NumT3"/>
          <p:cNvSpPr txBox="1"/>
          <p:nvPr/>
        </p:nvSpPr>
        <p:spPr>
          <a:xfrm>
            <a:off x="61976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1E6FD6"/>
                </a:solidFill>
                <a:latin typeface="Calibri"/>
              </a:rPr>
              <a:t>4</a:t>
            </a:r>
          </a:p>
        </p:txBody>
      </p:sp>
      <p:sp>
        <p:nvSpPr>
          <p:cNvPr id="228" name="PillT3"/>
          <p:cNvSpPr txBox="1"/>
          <p:nvPr/>
        </p:nvSpPr>
        <p:spPr>
          <a:xfrm>
            <a:off x="65786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Locomotion Development</a:t>
            </a:r>
          </a:p>
        </p:txBody>
      </p:sp>
      <p:sp>
        <p:nvSpPr>
          <p:cNvPr id="229" name="Card3"/>
          <p:cNvSpPr/>
          <p:nvPr/>
        </p:nvSpPr>
        <p:spPr>
          <a:xfrm>
            <a:off x="6096000" y="1905000"/>
            <a:ext cx="1752600" cy="1676400"/>
          </a:xfrm>
          <a:prstGeom prst="roundRect">
            <a:avLst/>
          </a:prstGeom>
          <a:solidFill>
            <a:srgbClr val="FFFFFF"/>
          </a:solidFill>
          <a:ln w="9525">
            <a:solidFill>
              <a:srgbClr val="D0D7E5"/>
            </a:solidFill>
          </a:ln>
        </p:spPr>
        <p:txBody>
          <a:bodyPr/>
          <a:lstStyle/>
          <a:p>
            <a:endParaRPr/>
          </a:p>
        </p:txBody>
      </p:sp>
      <p:sp>
        <p:nvSpPr>
          <p:cNvPr id="230" name="Strip3"/>
          <p:cNvSpPr/>
          <p:nvPr/>
        </p:nvSpPr>
        <p:spPr>
          <a:xfrm>
            <a:off x="6096000" y="1905000"/>
            <a:ext cx="1752600" cy="38100"/>
          </a:xfrm>
          <a:prstGeom prst="rect">
            <a:avLst/>
          </a:prstGeom>
          <a:solidFill>
            <a:srgbClr val="1E6FD6"/>
          </a:solidFill>
          <a:ln>
            <a:noFill/>
          </a:ln>
        </p:spPr>
        <p:txBody>
          <a:bodyPr/>
          <a:lstStyle/>
          <a:p>
            <a:endParaRPr/>
          </a:p>
        </p:txBody>
      </p:sp>
      <p:sp>
        <p:nvSpPr>
          <p:cNvPr id="231" name="CardT3"/>
          <p:cNvSpPr txBox="1"/>
          <p:nvPr/>
        </p:nvSpPr>
        <p:spPr>
          <a:xfrm>
            <a:off x="61976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1E6FD6"/>
              </a:buClr>
              <a:buFont typeface="Arial"/>
              <a:buChar char="•"/>
            </a:pPr>
            <a:r>
              <a:rPr lang="en-IN" sz="900" dirty="0">
                <a:solidFill>
                  <a:srgbClr val="16223A"/>
                </a:solidFill>
                <a:latin typeface="Calibri"/>
              </a:rPr>
              <a:t>Port simulation code to Pi 5</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Implement serpentine locomotion</a:t>
            </a:r>
          </a:p>
          <a:p>
            <a:pPr marL="120000" indent="-120000" algn="l">
              <a:lnSpc>
                <a:spcPts val="1180"/>
              </a:lnSpc>
              <a:spcAft>
                <a:spcPts val="400"/>
              </a:spcAft>
              <a:buClr>
                <a:srgbClr val="1E6FD6"/>
              </a:buClr>
              <a:buFont typeface="Arial"/>
              <a:buChar char="•"/>
            </a:pPr>
            <a:r>
              <a:rPr lang="en-IN" sz="900" dirty="0">
                <a:solidFill>
                  <a:srgbClr val="16223A"/>
                </a:solidFill>
                <a:latin typeface="Calibri"/>
              </a:rPr>
              <a:t>Synchronize multi-joint movement</a:t>
            </a:r>
          </a:p>
        </p:txBody>
      </p:sp>
      <p:sp>
        <p:nvSpPr>
          <p:cNvPr id="233" name="Pill4"/>
          <p:cNvSpPr/>
          <p:nvPr/>
        </p:nvSpPr>
        <p:spPr>
          <a:xfrm>
            <a:off x="7950200" y="1219200"/>
            <a:ext cx="1752600" cy="584200"/>
          </a:xfrm>
          <a:prstGeom prst="roundRect">
            <a:avLst/>
          </a:prstGeom>
          <a:solidFill>
            <a:srgbClr val="E8821E"/>
          </a:solidFill>
          <a:ln>
            <a:noFill/>
          </a:ln>
        </p:spPr>
        <p:txBody>
          <a:bodyPr/>
          <a:lstStyle/>
          <a:p>
            <a:endParaRPr/>
          </a:p>
        </p:txBody>
      </p:sp>
      <p:sp>
        <p:nvSpPr>
          <p:cNvPr id="234" name="Num4"/>
          <p:cNvSpPr/>
          <p:nvPr/>
        </p:nvSpPr>
        <p:spPr>
          <a:xfrm>
            <a:off x="8051800" y="1346200"/>
            <a:ext cx="330200" cy="330200"/>
          </a:xfrm>
          <a:prstGeom prst="ellipse">
            <a:avLst/>
          </a:prstGeom>
          <a:solidFill>
            <a:srgbClr val="FFFFFF"/>
          </a:solidFill>
          <a:ln>
            <a:noFill/>
          </a:ln>
        </p:spPr>
        <p:txBody>
          <a:bodyPr/>
          <a:lstStyle/>
          <a:p>
            <a:endParaRPr/>
          </a:p>
        </p:txBody>
      </p:sp>
      <p:sp>
        <p:nvSpPr>
          <p:cNvPr id="235" name="NumT4"/>
          <p:cNvSpPr txBox="1"/>
          <p:nvPr/>
        </p:nvSpPr>
        <p:spPr>
          <a:xfrm>
            <a:off x="80518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E8821E"/>
                </a:solidFill>
                <a:latin typeface="Calibri"/>
              </a:rPr>
              <a:t>5</a:t>
            </a:r>
          </a:p>
        </p:txBody>
      </p:sp>
      <p:sp>
        <p:nvSpPr>
          <p:cNvPr id="236" name="PillT4"/>
          <p:cNvSpPr txBox="1"/>
          <p:nvPr/>
        </p:nvSpPr>
        <p:spPr>
          <a:xfrm>
            <a:off x="84328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Sensor Integration</a:t>
            </a:r>
          </a:p>
        </p:txBody>
      </p:sp>
      <p:sp>
        <p:nvSpPr>
          <p:cNvPr id="237" name="Card4"/>
          <p:cNvSpPr/>
          <p:nvPr/>
        </p:nvSpPr>
        <p:spPr>
          <a:xfrm>
            <a:off x="7950200" y="1905000"/>
            <a:ext cx="1752600" cy="1676400"/>
          </a:xfrm>
          <a:prstGeom prst="roundRect">
            <a:avLst/>
          </a:prstGeom>
          <a:solidFill>
            <a:srgbClr val="FFFFFF"/>
          </a:solidFill>
          <a:ln w="9525">
            <a:solidFill>
              <a:srgbClr val="D0D7E5"/>
            </a:solidFill>
          </a:ln>
        </p:spPr>
        <p:txBody>
          <a:bodyPr/>
          <a:lstStyle/>
          <a:p>
            <a:endParaRPr/>
          </a:p>
        </p:txBody>
      </p:sp>
      <p:sp>
        <p:nvSpPr>
          <p:cNvPr id="238" name="Strip4"/>
          <p:cNvSpPr/>
          <p:nvPr/>
        </p:nvSpPr>
        <p:spPr>
          <a:xfrm>
            <a:off x="7950200" y="1905000"/>
            <a:ext cx="1752600" cy="38100"/>
          </a:xfrm>
          <a:prstGeom prst="rect">
            <a:avLst/>
          </a:prstGeom>
          <a:solidFill>
            <a:srgbClr val="E8821E"/>
          </a:solidFill>
          <a:ln>
            <a:noFill/>
          </a:ln>
        </p:spPr>
        <p:txBody>
          <a:bodyPr/>
          <a:lstStyle/>
          <a:p>
            <a:endParaRPr/>
          </a:p>
        </p:txBody>
      </p:sp>
      <p:sp>
        <p:nvSpPr>
          <p:cNvPr id="239" name="CardT4"/>
          <p:cNvSpPr txBox="1"/>
          <p:nvPr/>
        </p:nvSpPr>
        <p:spPr>
          <a:xfrm>
            <a:off x="80518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E8821E"/>
              </a:buClr>
              <a:buFont typeface="Arial"/>
              <a:buChar char="•"/>
            </a:pPr>
            <a:r>
              <a:rPr lang="en-IN" sz="900" dirty="0">
                <a:solidFill>
                  <a:srgbClr val="16223A"/>
                </a:solidFill>
                <a:latin typeface="Calibri"/>
              </a:rPr>
              <a:t>Integrate MPU6050 IMU</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Integrate obstacle detection</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Implement feedback control</a:t>
            </a:r>
          </a:p>
        </p:txBody>
      </p:sp>
      <p:sp>
        <p:nvSpPr>
          <p:cNvPr id="240" name="Pill5"/>
          <p:cNvSpPr/>
          <p:nvPr/>
        </p:nvSpPr>
        <p:spPr>
          <a:xfrm>
            <a:off x="9804400" y="1219200"/>
            <a:ext cx="1752600" cy="584200"/>
          </a:xfrm>
          <a:prstGeom prst="roundRect">
            <a:avLst/>
          </a:prstGeom>
          <a:solidFill>
            <a:srgbClr val="E8821E"/>
          </a:solidFill>
          <a:ln>
            <a:noFill/>
          </a:ln>
        </p:spPr>
        <p:txBody>
          <a:bodyPr/>
          <a:lstStyle/>
          <a:p>
            <a:endParaRPr/>
          </a:p>
        </p:txBody>
      </p:sp>
      <p:sp>
        <p:nvSpPr>
          <p:cNvPr id="241" name="Num5"/>
          <p:cNvSpPr/>
          <p:nvPr/>
        </p:nvSpPr>
        <p:spPr>
          <a:xfrm>
            <a:off x="9906000" y="1346200"/>
            <a:ext cx="330200" cy="330200"/>
          </a:xfrm>
          <a:prstGeom prst="ellipse">
            <a:avLst/>
          </a:prstGeom>
          <a:solidFill>
            <a:srgbClr val="FFFFFF"/>
          </a:solidFill>
          <a:ln>
            <a:noFill/>
          </a:ln>
        </p:spPr>
        <p:txBody>
          <a:bodyPr/>
          <a:lstStyle/>
          <a:p>
            <a:endParaRPr/>
          </a:p>
        </p:txBody>
      </p:sp>
      <p:sp>
        <p:nvSpPr>
          <p:cNvPr id="242" name="NumT5"/>
          <p:cNvSpPr txBox="1"/>
          <p:nvPr/>
        </p:nvSpPr>
        <p:spPr>
          <a:xfrm>
            <a:off x="9906000" y="1346200"/>
            <a:ext cx="330200" cy="330200"/>
          </a:xfrm>
          <a:prstGeom prst="rect">
            <a:avLst/>
          </a:prstGeom>
          <a:noFill/>
        </p:spPr>
        <p:txBody>
          <a:bodyPr wrap="square" lIns="38100" tIns="25400" rIns="38100" bIns="25400" anchor="ctr">
            <a:noAutofit/>
          </a:bodyPr>
          <a:lstStyle/>
          <a:p>
            <a:pPr algn="ctr">
              <a:buNone/>
            </a:pPr>
            <a:r>
              <a:rPr lang="en-IN" sz="1300" b="1" dirty="0">
                <a:solidFill>
                  <a:srgbClr val="E8821E"/>
                </a:solidFill>
                <a:latin typeface="Calibri"/>
              </a:rPr>
              <a:t>6</a:t>
            </a:r>
          </a:p>
        </p:txBody>
      </p:sp>
      <p:sp>
        <p:nvSpPr>
          <p:cNvPr id="243" name="PillT5"/>
          <p:cNvSpPr txBox="1"/>
          <p:nvPr/>
        </p:nvSpPr>
        <p:spPr>
          <a:xfrm>
            <a:off x="10287000" y="1219200"/>
            <a:ext cx="1219200" cy="584200"/>
          </a:xfrm>
          <a:prstGeom prst="rect">
            <a:avLst/>
          </a:prstGeom>
          <a:noFill/>
        </p:spPr>
        <p:txBody>
          <a:bodyPr wrap="square" lIns="38100" tIns="25400" rIns="38100" bIns="25400" anchor="ctr">
            <a:noAutofit/>
          </a:bodyPr>
          <a:lstStyle/>
          <a:p>
            <a:pPr algn="l">
              <a:buNone/>
            </a:pPr>
            <a:r>
              <a:rPr lang="en-IN" sz="1000" b="1" dirty="0">
                <a:solidFill>
                  <a:srgbClr val="FFFFFF"/>
                </a:solidFill>
                <a:latin typeface="Calibri"/>
              </a:rPr>
              <a:t>Testing &amp; Optimization</a:t>
            </a:r>
          </a:p>
        </p:txBody>
      </p:sp>
      <p:sp>
        <p:nvSpPr>
          <p:cNvPr id="244" name="Card5"/>
          <p:cNvSpPr/>
          <p:nvPr/>
        </p:nvSpPr>
        <p:spPr>
          <a:xfrm>
            <a:off x="9804400" y="1905000"/>
            <a:ext cx="1752600" cy="1676400"/>
          </a:xfrm>
          <a:prstGeom prst="roundRect">
            <a:avLst/>
          </a:prstGeom>
          <a:solidFill>
            <a:srgbClr val="FFFFFF"/>
          </a:solidFill>
          <a:ln w="9525">
            <a:solidFill>
              <a:srgbClr val="D0D7E5"/>
            </a:solidFill>
          </a:ln>
        </p:spPr>
        <p:txBody>
          <a:bodyPr/>
          <a:lstStyle/>
          <a:p>
            <a:endParaRPr/>
          </a:p>
        </p:txBody>
      </p:sp>
      <p:sp>
        <p:nvSpPr>
          <p:cNvPr id="245" name="Strip5"/>
          <p:cNvSpPr/>
          <p:nvPr/>
        </p:nvSpPr>
        <p:spPr>
          <a:xfrm>
            <a:off x="9804400" y="1905000"/>
            <a:ext cx="1752600" cy="38100"/>
          </a:xfrm>
          <a:prstGeom prst="rect">
            <a:avLst/>
          </a:prstGeom>
          <a:solidFill>
            <a:srgbClr val="E8821E"/>
          </a:solidFill>
          <a:ln>
            <a:noFill/>
          </a:ln>
        </p:spPr>
        <p:txBody>
          <a:bodyPr/>
          <a:lstStyle/>
          <a:p>
            <a:endParaRPr/>
          </a:p>
        </p:txBody>
      </p:sp>
      <p:sp>
        <p:nvSpPr>
          <p:cNvPr id="246" name="CardT5"/>
          <p:cNvSpPr txBox="1"/>
          <p:nvPr/>
        </p:nvSpPr>
        <p:spPr>
          <a:xfrm>
            <a:off x="9906000" y="2336800"/>
            <a:ext cx="1549400" cy="1168400"/>
          </a:xfrm>
          <a:prstGeom prst="rect">
            <a:avLst/>
          </a:prstGeom>
          <a:noFill/>
        </p:spPr>
        <p:txBody>
          <a:bodyPr wrap="square" lIns="38100" tIns="25400" rIns="38100" bIns="25400" anchor="t">
            <a:noAutofit/>
          </a:bodyPr>
          <a:lstStyle/>
          <a:p>
            <a:pPr marL="120000" indent="-120000" algn="l">
              <a:lnSpc>
                <a:spcPts val="1180"/>
              </a:lnSpc>
              <a:spcAft>
                <a:spcPts val="400"/>
              </a:spcAft>
              <a:buClr>
                <a:srgbClr val="E8821E"/>
              </a:buClr>
              <a:buFont typeface="Arial"/>
              <a:buChar char="•"/>
            </a:pPr>
            <a:r>
              <a:rPr lang="en-IN" sz="900" dirty="0">
                <a:solidFill>
                  <a:srgbClr val="16223A"/>
                </a:solidFill>
                <a:latin typeface="Calibri"/>
              </a:rPr>
              <a:t>Motion performance testing</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Power &amp; reliability analysis</a:t>
            </a:r>
          </a:p>
          <a:p>
            <a:pPr marL="120000" indent="-120000" algn="l">
              <a:lnSpc>
                <a:spcPts val="1180"/>
              </a:lnSpc>
              <a:spcAft>
                <a:spcPts val="400"/>
              </a:spcAft>
              <a:buClr>
                <a:srgbClr val="E8821E"/>
              </a:buClr>
              <a:buFont typeface="Arial"/>
              <a:buChar char="•"/>
            </a:pPr>
            <a:r>
              <a:rPr lang="en-IN" sz="900" dirty="0">
                <a:solidFill>
                  <a:srgbClr val="16223A"/>
                </a:solidFill>
                <a:latin typeface="Calibri"/>
              </a:rPr>
              <a:t>System optimization</a:t>
            </a:r>
          </a:p>
        </p:txBody>
      </p:sp>
      <p:pic>
        <p:nvPicPr>
          <p:cNvPr id="247" name="Graphic 247" descr="Hardware arrival"/>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930400" y="1993900"/>
            <a:ext cx="279400" cy="279400"/>
          </a:xfrm>
          <a:prstGeom prst="rect">
            <a:avLst/>
          </a:prstGeom>
        </p:spPr>
      </p:pic>
      <p:pic>
        <p:nvPicPr>
          <p:cNvPr id="248" name="Graphic 248" descr="Mechanical assembly"/>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784600" y="1993900"/>
            <a:ext cx="279400" cy="279400"/>
          </a:xfrm>
          <a:prstGeom prst="rect">
            <a:avLst/>
          </a:prstGeom>
        </p:spPr>
      </p:pic>
      <p:pic>
        <p:nvPicPr>
          <p:cNvPr id="249" name="Graphic 249" descr="Communication setup"/>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638800" y="1993900"/>
            <a:ext cx="279400" cy="279400"/>
          </a:xfrm>
          <a:prstGeom prst="rect">
            <a:avLst/>
          </a:prstGeom>
        </p:spPr>
      </p:pic>
      <p:pic>
        <p:nvPicPr>
          <p:cNvPr id="250" name="Graphic 250" descr="Locomotion development"/>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493000" y="1993900"/>
            <a:ext cx="279400" cy="279400"/>
          </a:xfrm>
          <a:prstGeom prst="rect">
            <a:avLst/>
          </a:prstGeom>
        </p:spPr>
      </p:pic>
      <p:pic>
        <p:nvPicPr>
          <p:cNvPr id="251" name="Graphic 251" descr="Sensor integration"/>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47200" y="1993900"/>
            <a:ext cx="279400" cy="279400"/>
          </a:xfrm>
          <a:prstGeom prst="rect">
            <a:avLst/>
          </a:prstGeom>
        </p:spPr>
      </p:pic>
      <p:pic>
        <p:nvPicPr>
          <p:cNvPr id="252" name="Graphic 252" descr="Testing and optimization"/>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201400" y="1993900"/>
            <a:ext cx="279400" cy="279400"/>
          </a:xfrm>
          <a:prstGeom prst="rect">
            <a:avLst/>
          </a:prstGeom>
        </p:spPr>
      </p:pic>
      <p:sp>
        <p:nvSpPr>
          <p:cNvPr id="400" name="Lg"/>
          <p:cNvSpPr/>
          <p:nvPr/>
        </p:nvSpPr>
        <p:spPr>
          <a:xfrm>
            <a:off x="533400" y="3759200"/>
            <a:ext cx="139700" cy="139700"/>
          </a:xfrm>
          <a:prstGeom prst="ellipse">
            <a:avLst/>
          </a:prstGeom>
          <a:solidFill>
            <a:srgbClr val="1F9D55"/>
          </a:solidFill>
          <a:ln>
            <a:noFill/>
          </a:ln>
        </p:spPr>
        <p:txBody>
          <a:bodyPr/>
          <a:lstStyle/>
          <a:p>
            <a:endParaRPr/>
          </a:p>
        </p:txBody>
      </p:sp>
      <p:sp>
        <p:nvSpPr>
          <p:cNvPr id="401" name="LgT"/>
          <p:cNvSpPr txBox="1"/>
          <p:nvPr/>
        </p:nvSpPr>
        <p:spPr>
          <a:xfrm>
            <a:off x="723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Completed phase</a:t>
            </a:r>
          </a:p>
        </p:txBody>
      </p:sp>
      <p:sp>
        <p:nvSpPr>
          <p:cNvPr id="402" name="Lg"/>
          <p:cNvSpPr/>
          <p:nvPr/>
        </p:nvSpPr>
        <p:spPr>
          <a:xfrm>
            <a:off x="2438400" y="3759200"/>
            <a:ext cx="139700" cy="139700"/>
          </a:xfrm>
          <a:prstGeom prst="ellipse">
            <a:avLst/>
          </a:prstGeom>
          <a:solidFill>
            <a:srgbClr val="1E6FD6"/>
          </a:solidFill>
          <a:ln>
            <a:noFill/>
          </a:ln>
        </p:spPr>
        <p:txBody>
          <a:bodyPr/>
          <a:lstStyle/>
          <a:p>
            <a:endParaRPr/>
          </a:p>
        </p:txBody>
      </p:sp>
      <p:sp>
        <p:nvSpPr>
          <p:cNvPr id="403" name="LgT"/>
          <p:cNvSpPr txBox="1"/>
          <p:nvPr/>
        </p:nvSpPr>
        <p:spPr>
          <a:xfrm>
            <a:off x="2628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Ongoing work</a:t>
            </a:r>
          </a:p>
        </p:txBody>
      </p:sp>
      <p:sp>
        <p:nvSpPr>
          <p:cNvPr id="404" name="Lg"/>
          <p:cNvSpPr/>
          <p:nvPr/>
        </p:nvSpPr>
        <p:spPr>
          <a:xfrm>
            <a:off x="4343400" y="3759200"/>
            <a:ext cx="139700" cy="139700"/>
          </a:xfrm>
          <a:prstGeom prst="ellipse">
            <a:avLst/>
          </a:prstGeom>
          <a:solidFill>
            <a:srgbClr val="E8821E"/>
          </a:solidFill>
          <a:ln>
            <a:noFill/>
          </a:ln>
        </p:spPr>
        <p:txBody>
          <a:bodyPr/>
          <a:lstStyle/>
          <a:p>
            <a:endParaRPr/>
          </a:p>
        </p:txBody>
      </p:sp>
      <p:sp>
        <p:nvSpPr>
          <p:cNvPr id="405" name="LgT"/>
          <p:cNvSpPr txBox="1"/>
          <p:nvPr/>
        </p:nvSpPr>
        <p:spPr>
          <a:xfrm>
            <a:off x="4533900" y="3695700"/>
            <a:ext cx="1905000" cy="203200"/>
          </a:xfrm>
          <a:prstGeom prst="rect">
            <a:avLst/>
          </a:prstGeom>
          <a:noFill/>
        </p:spPr>
        <p:txBody>
          <a:bodyPr wrap="square" lIns="50800" tIns="25400" rIns="50800" bIns="25400" anchor="ctr">
            <a:noAutofit/>
          </a:bodyPr>
          <a:lstStyle/>
          <a:p>
            <a:pPr algn="l">
              <a:buNone/>
            </a:pPr>
            <a:r>
              <a:rPr lang="en-IN" sz="900" b="1" dirty="0">
                <a:solidFill>
                  <a:srgbClr val="16223A"/>
                </a:solidFill>
                <a:latin typeface="Calibri"/>
              </a:rPr>
              <a:t>Future milestone</a:t>
            </a:r>
          </a:p>
        </p:txBody>
      </p:sp>
      <p:sp>
        <p:nvSpPr>
          <p:cNvPr id="406" name="DelCard"/>
          <p:cNvSpPr/>
          <p:nvPr/>
        </p:nvSpPr>
        <p:spPr>
          <a:xfrm>
            <a:off x="533400" y="4064000"/>
            <a:ext cx="5461000" cy="2489200"/>
          </a:xfrm>
          <a:prstGeom prst="roundRect">
            <a:avLst/>
          </a:prstGeom>
          <a:solidFill>
            <a:srgbClr val="F7F9FC"/>
          </a:solidFill>
          <a:ln w="9525">
            <a:solidFill>
              <a:srgbClr val="D0D7E5"/>
            </a:solidFill>
          </a:ln>
        </p:spPr>
        <p:txBody>
          <a:bodyPr/>
          <a:lstStyle/>
          <a:p>
            <a:endParaRPr/>
          </a:p>
        </p:txBody>
      </p:sp>
      <p:sp>
        <p:nvSpPr>
          <p:cNvPr id="407" name="DelStrip"/>
          <p:cNvSpPr/>
          <p:nvPr/>
        </p:nvSpPr>
        <p:spPr>
          <a:xfrm>
            <a:off x="533400" y="4064000"/>
            <a:ext cx="63500" cy="2489200"/>
          </a:xfrm>
          <a:prstGeom prst="rect">
            <a:avLst/>
          </a:prstGeom>
          <a:solidFill>
            <a:srgbClr val="0E96AC"/>
          </a:solidFill>
          <a:ln>
            <a:noFill/>
          </a:ln>
        </p:spPr>
        <p:txBody>
          <a:bodyPr/>
          <a:lstStyle/>
          <a:p>
            <a:endParaRPr/>
          </a:p>
        </p:txBody>
      </p:sp>
      <p:sp>
        <p:nvSpPr>
          <p:cNvPr id="408" name="DelHead"/>
          <p:cNvSpPr txBox="1"/>
          <p:nvPr/>
        </p:nvSpPr>
        <p:spPr>
          <a:xfrm>
            <a:off x="736600" y="4191000"/>
            <a:ext cx="5130800" cy="279400"/>
          </a:xfrm>
          <a:prstGeom prst="rect">
            <a:avLst/>
          </a:prstGeom>
          <a:noFill/>
        </p:spPr>
        <p:txBody>
          <a:bodyPr wrap="square" lIns="50800" tIns="25400" rIns="50800" bIns="25400" anchor="t">
            <a:noAutofit/>
          </a:bodyPr>
          <a:lstStyle/>
          <a:p>
            <a:pPr>
              <a:buNone/>
            </a:pPr>
            <a:r>
              <a:rPr lang="en-IN" sz="1200" b="1" dirty="0">
                <a:solidFill>
                  <a:srgbClr val="16223A"/>
                </a:solidFill>
                <a:latin typeface="Calibri"/>
              </a:rPr>
              <a:t>EXPECTED DELIVERABLES</a:t>
            </a:r>
          </a:p>
        </p:txBody>
      </p:sp>
      <p:sp>
        <p:nvSpPr>
          <p:cNvPr id="409" name="DelList"/>
          <p:cNvSpPr txBox="1"/>
          <p:nvPr/>
        </p:nvSpPr>
        <p:spPr>
          <a:xfrm>
            <a:off x="736600" y="4546600"/>
            <a:ext cx="5080000" cy="1905000"/>
          </a:xfrm>
          <a:prstGeom prst="rect">
            <a:avLst/>
          </a:prstGeom>
          <a:noFill/>
        </p:spPr>
        <p:txBody>
          <a:bodyPr wrap="square" lIns="50800" tIns="25400" rIns="50800" bIns="25400" anchor="t">
            <a:noAutofit/>
          </a:bodyPr>
          <a:lstStyle/>
          <a:p>
            <a:pPr marL="150000" indent="-150000">
              <a:lnSpc>
                <a:spcPts val="1300"/>
              </a:lnSpc>
              <a:spcAft>
                <a:spcPts val="300"/>
              </a:spcAft>
              <a:buClr>
                <a:srgbClr val="0E96AC"/>
              </a:buClr>
              <a:buFont typeface="Wingdings"/>
              <a:buChar char="Ø"/>
            </a:pPr>
            <a:r>
              <a:rPr lang="en-IN" sz="1000" dirty="0">
                <a:solidFill>
                  <a:srgbClr val="16223A"/>
                </a:solidFill>
                <a:latin typeface="Calibri"/>
              </a:rPr>
              <a:t>Fully assembled snake robot</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Dynamixel-based locomotion</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Sensor-assisted navigation</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Integrated Raspberry Pi 5 control system</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Demonstration-ready prototype</a:t>
            </a:r>
          </a:p>
          <a:p>
            <a:pPr marL="150000" indent="-150000">
              <a:lnSpc>
                <a:spcPts val="1300"/>
              </a:lnSpc>
              <a:spcAft>
                <a:spcPts val="300"/>
              </a:spcAft>
              <a:buClr>
                <a:srgbClr val="0E96AC"/>
              </a:buClr>
              <a:buFont typeface="Wingdings"/>
              <a:buChar char="Ø"/>
            </a:pPr>
            <a:r>
              <a:rPr lang="en-IN" sz="1000" dirty="0">
                <a:solidFill>
                  <a:srgbClr val="16223A"/>
                </a:solidFill>
                <a:latin typeface="Calibri"/>
              </a:rPr>
              <a:t>Final SURGE project showcase</a:t>
            </a:r>
          </a:p>
        </p:txBody>
      </p:sp>
      <p:sp>
        <p:nvSpPr>
          <p:cNvPr id="410" name="TgtCard"/>
          <p:cNvSpPr/>
          <p:nvPr/>
        </p:nvSpPr>
        <p:spPr>
          <a:xfrm>
            <a:off x="6197600" y="4064000"/>
            <a:ext cx="5461000" cy="2489200"/>
          </a:xfrm>
          <a:prstGeom prst="roundRect">
            <a:avLst/>
          </a:prstGeom>
          <a:solidFill>
            <a:srgbClr val="EAF7FA"/>
          </a:solidFill>
          <a:ln w="19050">
            <a:solidFill>
              <a:srgbClr val="0E96AC"/>
            </a:solidFill>
          </a:ln>
        </p:spPr>
        <p:txBody>
          <a:bodyPr/>
          <a:lstStyle/>
          <a:p>
            <a:endParaRPr/>
          </a:p>
        </p:txBody>
      </p:sp>
      <p:sp>
        <p:nvSpPr>
          <p:cNvPr id="411" name="TgtHead"/>
          <p:cNvSpPr txBox="1"/>
          <p:nvPr/>
        </p:nvSpPr>
        <p:spPr>
          <a:xfrm>
            <a:off x="6400800" y="4191000"/>
            <a:ext cx="5130800" cy="279400"/>
          </a:xfrm>
          <a:prstGeom prst="rect">
            <a:avLst/>
          </a:prstGeom>
          <a:noFill/>
        </p:spPr>
        <p:txBody>
          <a:bodyPr wrap="square" lIns="50800" tIns="25400" rIns="50800" bIns="25400" anchor="t">
            <a:noAutofit/>
          </a:bodyPr>
          <a:lstStyle/>
          <a:p>
            <a:pPr>
              <a:buNone/>
            </a:pPr>
            <a:r>
              <a:rPr lang="en-IN" sz="1200" b="1" dirty="0">
                <a:solidFill>
                  <a:srgbClr val="0A7A8E"/>
                </a:solidFill>
                <a:latin typeface="Calibri"/>
              </a:rPr>
              <a:t>TARGET FOR NEXT REVIEW</a:t>
            </a:r>
          </a:p>
        </p:txBody>
      </p:sp>
      <p:sp>
        <p:nvSpPr>
          <p:cNvPr id="412" name="TgtList"/>
          <p:cNvSpPr txBox="1"/>
          <p:nvPr/>
        </p:nvSpPr>
        <p:spPr>
          <a:xfrm>
            <a:off x="6400800" y="4546600"/>
            <a:ext cx="5080000" cy="1397000"/>
          </a:xfrm>
          <a:prstGeom prst="rect">
            <a:avLst/>
          </a:prstGeom>
          <a:noFill/>
        </p:spPr>
        <p:txBody>
          <a:bodyPr wrap="square" lIns="50800" tIns="25400" rIns="50800" bIns="25400" anchor="t">
            <a:noAutofit/>
          </a:bodyPr>
          <a:lstStyle/>
          <a:p>
            <a:pPr marL="150000" indent="-150000">
              <a:lnSpc>
                <a:spcPts val="1300"/>
              </a:lnSpc>
              <a:spcAft>
                <a:spcPts val="300"/>
              </a:spcAft>
              <a:buClr>
                <a:srgbClr val="0E96AC"/>
              </a:buClr>
              <a:buFont typeface="Arial"/>
              <a:buChar char="•"/>
            </a:pPr>
            <a:r>
              <a:rPr lang="en-IN" sz="1000" dirty="0">
                <a:solidFill>
                  <a:srgbClr val="16223A"/>
                </a:solidFill>
                <a:latin typeface="Calibri"/>
              </a:rPr>
              <a:t>Complete hardware integration</a:t>
            </a:r>
          </a:p>
          <a:p>
            <a:pPr marL="150000" indent="-150000">
              <a:lnSpc>
                <a:spcPts val="1300"/>
              </a:lnSpc>
              <a:spcAft>
                <a:spcPts val="300"/>
              </a:spcAft>
              <a:buClr>
                <a:srgbClr val="0E96AC"/>
              </a:buClr>
              <a:buFont typeface="Arial"/>
              <a:buChar char="•"/>
            </a:pPr>
            <a:r>
              <a:rPr lang="en-IN" sz="1000" dirty="0">
                <a:solidFill>
                  <a:srgbClr val="16223A"/>
                </a:solidFill>
                <a:latin typeface="Calibri"/>
              </a:rPr>
              <a:t>Demonstrate basic snake locomotion</a:t>
            </a:r>
          </a:p>
          <a:p>
            <a:pPr marL="150000" indent="-150000">
              <a:lnSpc>
                <a:spcPts val="1300"/>
              </a:lnSpc>
              <a:spcAft>
                <a:spcPts val="300"/>
              </a:spcAft>
              <a:buClr>
                <a:srgbClr val="0E96AC"/>
              </a:buClr>
              <a:buFont typeface="Arial"/>
              <a:buChar char="•"/>
            </a:pPr>
            <a:r>
              <a:rPr lang="en-IN" sz="1000" dirty="0">
                <a:solidFill>
                  <a:srgbClr val="16223A"/>
                </a:solidFill>
                <a:latin typeface="Calibri"/>
              </a:rPr>
              <a:t>Validate communication architecture</a:t>
            </a:r>
          </a:p>
          <a:p>
            <a:pPr marL="150000" indent="-150000">
              <a:lnSpc>
                <a:spcPts val="1300"/>
              </a:lnSpc>
              <a:spcAft>
                <a:spcPts val="300"/>
              </a:spcAft>
              <a:buClr>
                <a:srgbClr val="0E96AC"/>
              </a:buClr>
              <a:buFont typeface="Arial"/>
              <a:buChar char="•"/>
            </a:pPr>
            <a:r>
              <a:rPr lang="en-IN" sz="1000" dirty="0">
                <a:solidFill>
                  <a:srgbClr val="16223A"/>
                </a:solidFill>
                <a:latin typeface="Calibri"/>
              </a:rPr>
              <a:t>Validate sensing framework</a:t>
            </a:r>
          </a:p>
        </p:txBody>
      </p:sp>
      <p:sp>
        <p:nvSpPr>
          <p:cNvPr id="413" name="TgtBadge"/>
          <p:cNvSpPr/>
          <p:nvPr/>
        </p:nvSpPr>
        <p:spPr>
          <a:xfrm>
            <a:off x="6400800" y="5994400"/>
            <a:ext cx="5054600" cy="406400"/>
          </a:xfrm>
          <a:prstGeom prst="roundRect">
            <a:avLst/>
          </a:prstGeom>
          <a:solidFill>
            <a:srgbClr val="0A7A8E"/>
          </a:solidFill>
          <a:ln>
            <a:noFill/>
          </a:ln>
        </p:spPr>
        <p:txBody>
          <a:bodyPr/>
          <a:lstStyle/>
          <a:p>
            <a:endParaRPr/>
          </a:p>
        </p:txBody>
      </p:sp>
      <p:sp>
        <p:nvSpPr>
          <p:cNvPr id="414" name="TgtBadgeT"/>
          <p:cNvSpPr txBox="1"/>
          <p:nvPr/>
        </p:nvSpPr>
        <p:spPr>
          <a:xfrm>
            <a:off x="6400800" y="5994400"/>
            <a:ext cx="5054600" cy="406400"/>
          </a:xfrm>
          <a:prstGeom prst="rect">
            <a:avLst/>
          </a:prstGeom>
          <a:noFill/>
        </p:spPr>
        <p:txBody>
          <a:bodyPr wrap="square" lIns="50800" tIns="25400" rIns="50800" bIns="25400" anchor="ctr">
            <a:noAutofit/>
          </a:bodyPr>
          <a:lstStyle/>
          <a:p>
            <a:pPr algn="ctr">
              <a:buNone/>
            </a:pPr>
            <a:r>
              <a:rPr lang="en-IN" sz="1100" b="1" dirty="0">
                <a:solidFill>
                  <a:srgbClr val="FFFFFF"/>
                </a:solidFill>
                <a:latin typeface="Calibri"/>
              </a:rPr>
              <a:t>Goal: ~60–70% project completion</a:t>
            </a:r>
          </a:p>
        </p:txBody>
      </p:sp>
      <p:sp>
        <p:nvSpPr>
          <p:cNvPr id="600" name="Chev0"/>
          <p:cNvSpPr/>
          <p:nvPr/>
        </p:nvSpPr>
        <p:spPr>
          <a:xfrm>
            <a:off x="2222500" y="1397000"/>
            <a:ext cx="228600" cy="228600"/>
          </a:xfrm>
          <a:prstGeom prst="chevron">
            <a:avLst/>
          </a:prstGeom>
          <a:solidFill>
            <a:srgbClr val="16223A"/>
          </a:solidFill>
          <a:ln>
            <a:noFill/>
          </a:ln>
        </p:spPr>
        <p:txBody>
          <a:bodyPr/>
          <a:lstStyle/>
          <a:p>
            <a:endParaRPr/>
          </a:p>
        </p:txBody>
      </p:sp>
      <p:sp>
        <p:nvSpPr>
          <p:cNvPr id="601" name="Chev1"/>
          <p:cNvSpPr/>
          <p:nvPr/>
        </p:nvSpPr>
        <p:spPr>
          <a:xfrm>
            <a:off x="4076700" y="1397000"/>
            <a:ext cx="228600" cy="228600"/>
          </a:xfrm>
          <a:prstGeom prst="chevron">
            <a:avLst/>
          </a:prstGeom>
          <a:solidFill>
            <a:srgbClr val="16223A"/>
          </a:solidFill>
          <a:ln>
            <a:noFill/>
          </a:ln>
        </p:spPr>
        <p:txBody>
          <a:bodyPr/>
          <a:lstStyle/>
          <a:p>
            <a:endParaRPr/>
          </a:p>
        </p:txBody>
      </p:sp>
      <p:sp>
        <p:nvSpPr>
          <p:cNvPr id="602" name="Chev2"/>
          <p:cNvSpPr/>
          <p:nvPr/>
        </p:nvSpPr>
        <p:spPr>
          <a:xfrm>
            <a:off x="5930900" y="1397000"/>
            <a:ext cx="228600" cy="228600"/>
          </a:xfrm>
          <a:prstGeom prst="chevron">
            <a:avLst/>
          </a:prstGeom>
          <a:solidFill>
            <a:srgbClr val="16223A"/>
          </a:solidFill>
          <a:ln>
            <a:noFill/>
          </a:ln>
        </p:spPr>
        <p:txBody>
          <a:bodyPr/>
          <a:lstStyle/>
          <a:p>
            <a:endParaRPr/>
          </a:p>
        </p:txBody>
      </p:sp>
      <p:sp>
        <p:nvSpPr>
          <p:cNvPr id="603" name="Chev3"/>
          <p:cNvSpPr/>
          <p:nvPr/>
        </p:nvSpPr>
        <p:spPr>
          <a:xfrm>
            <a:off x="7785100" y="1397000"/>
            <a:ext cx="228600" cy="228600"/>
          </a:xfrm>
          <a:prstGeom prst="chevron">
            <a:avLst/>
          </a:prstGeom>
          <a:solidFill>
            <a:srgbClr val="16223A"/>
          </a:solidFill>
          <a:ln>
            <a:noFill/>
          </a:ln>
        </p:spPr>
        <p:txBody>
          <a:bodyPr/>
          <a:lstStyle/>
          <a:p>
            <a:endParaRPr/>
          </a:p>
        </p:txBody>
      </p:sp>
      <p:sp>
        <p:nvSpPr>
          <p:cNvPr id="604" name="Chev4"/>
          <p:cNvSpPr/>
          <p:nvPr/>
        </p:nvSpPr>
        <p:spPr>
          <a:xfrm>
            <a:off x="9639300" y="1397000"/>
            <a:ext cx="228600" cy="228600"/>
          </a:xfrm>
          <a:prstGeom prst="chevron">
            <a:avLst/>
          </a:prstGeom>
          <a:solidFill>
            <a:srgbClr val="16223A"/>
          </a:solidFill>
          <a:ln>
            <a:noFill/>
          </a:ln>
        </p:spPr>
        <p:txBody>
          <a:bodyPr/>
          <a:lstStyle/>
          <a:p>
            <a:endParaRPr/>
          </a:p>
        </p:txBody>
      </p:sp>
    </p:spTree>
    <p:extLst>
      <p:ext uri="{BB962C8B-B14F-4D97-AF65-F5344CB8AC3E}">
        <p14:creationId xmlns:p14="http://schemas.microsoft.com/office/powerpoint/2010/main" val="3269739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
    <p:bg>
      <p:bgPr>
        <a:solidFill>
          <a:srgbClr val="121A2E"/>
        </a:solidFill>
        <a:effectLst/>
      </p:bgPr>
    </p:bg>
    <p:spTree>
      <p:nvGrpSpPr>
        <p:cNvPr id="1" name=""/>
        <p:cNvGrpSpPr/>
        <p:nvPr/>
      </p:nvGrpSpPr>
      <p:grpSpPr>
        <a:xfrm>
          <a:off x="0" y="0"/>
          <a:ext cx="0" cy="0"/>
          <a:chOff x="0" y="0"/>
          <a:chExt cx="0" cy="0"/>
        </a:xfrm>
      </p:grpSpPr>
      <p:sp>
        <p:nvSpPr>
          <p:cNvPr id="2" name="Shape 0"/>
          <p:cNvSpPr/>
          <p:nvPr/>
        </p:nvSpPr>
        <p:spPr>
          <a:xfrm>
            <a:off x="8666598" y="-1828800"/>
            <a:ext cx="5669280" cy="5669280"/>
          </a:xfrm>
          <a:prstGeom prst="ellipse">
            <a:avLst/>
          </a:prstGeom>
          <a:solidFill>
            <a:srgbClr val="1E2A45"/>
          </a:solidFill>
          <a:ln/>
        </p:spPr>
        <p:txBody>
          <a:bodyPr/>
          <a:lstStyle/>
          <a:p>
            <a:endParaRPr lang="en-IN"/>
          </a:p>
        </p:txBody>
      </p:sp>
      <p:sp>
        <p:nvSpPr>
          <p:cNvPr id="3" name="Shape 1"/>
          <p:cNvSpPr/>
          <p:nvPr/>
        </p:nvSpPr>
        <p:spPr>
          <a:xfrm>
            <a:off x="10058400" y="3474720"/>
            <a:ext cx="4206240" cy="4206240"/>
          </a:xfrm>
          <a:prstGeom prst="ellipse">
            <a:avLst/>
          </a:prstGeom>
          <a:solidFill>
            <a:srgbClr val="2A3958"/>
          </a:solidFill>
          <a:ln/>
        </p:spPr>
        <p:txBody>
          <a:bodyPr/>
          <a:lstStyle/>
          <a:p>
            <a:endParaRPr lang="en-IN"/>
          </a:p>
        </p:txBody>
      </p:sp>
      <p:sp>
        <p:nvSpPr>
          <p:cNvPr id="4" name="Shape 2"/>
          <p:cNvSpPr/>
          <p:nvPr/>
        </p:nvSpPr>
        <p:spPr>
          <a:xfrm>
            <a:off x="777240" y="777240"/>
            <a:ext cx="2514600" cy="457200"/>
          </a:xfrm>
          <a:prstGeom prst="roundRect">
            <a:avLst>
              <a:gd name="adj" fmla="val 50000"/>
            </a:avLst>
          </a:prstGeom>
          <a:solidFill>
            <a:srgbClr val="0E96AC"/>
          </a:solidFill>
          <a:ln/>
        </p:spPr>
        <p:txBody>
          <a:bodyPr/>
          <a:lstStyle/>
          <a:p>
            <a:endParaRPr lang="en-IN"/>
          </a:p>
        </p:txBody>
      </p:sp>
      <p:sp>
        <p:nvSpPr>
          <p:cNvPr id="5" name="Text 3"/>
          <p:cNvSpPr/>
          <p:nvPr/>
        </p:nvSpPr>
        <p:spPr>
          <a:xfrm>
            <a:off x="777240" y="777240"/>
            <a:ext cx="2514600" cy="457200"/>
          </a:xfrm>
          <a:prstGeom prst="rect">
            <a:avLst/>
          </a:prstGeom>
          <a:noFill/>
          <a:ln/>
        </p:spPr>
        <p:txBody>
          <a:bodyPr wrap="square" lIns="0" tIns="0" rIns="0" bIns="0" rtlCol="0" anchor="ctr"/>
          <a:lstStyle/>
          <a:p>
            <a:pPr marL="0" indent="0" algn="ctr">
              <a:buNone/>
            </a:pPr>
            <a:r>
              <a:rPr lang="en-US" sz="1200" b="1" kern="0" spc="100" dirty="0">
                <a:solidFill>
                  <a:srgbClr val="FFFFFF"/>
                </a:solidFill>
                <a:latin typeface="Calibri" pitchFamily="34" charset="0"/>
                <a:ea typeface="Calibri" pitchFamily="34" charset="-122"/>
                <a:cs typeface="Calibri" pitchFamily="34" charset="-120"/>
              </a:rPr>
              <a:t>WHAT CHANGED SINCE THIS REVIEW</a:t>
            </a:r>
            <a:endParaRPr lang="en-US" sz="1200" dirty="0"/>
          </a:p>
        </p:txBody>
      </p:sp>
      <p:sp>
        <p:nvSpPr>
          <p:cNvPr id="7" name="Text 5"/>
          <p:cNvSpPr/>
          <p:nvPr/>
        </p:nvSpPr>
        <p:spPr>
          <a:xfrm>
            <a:off x="777240" y="1170432"/>
            <a:ext cx="10881360" cy="914400"/>
          </a:xfrm>
          <a:prstGeom prst="rect">
            <a:avLst/>
          </a:prstGeom>
          <a:noFill/>
          <a:ln/>
        </p:spPr>
        <p:txBody>
          <a:bodyPr wrap="square" lIns="0" tIns="0" rIns="0" bIns="0" rtlCol="0" anchor="ctr"/>
          <a:lstStyle/>
          <a:p>
            <a:pPr marL="0" indent="0">
              <a:buNone/>
            </a:pPr>
            <a:r>
              <a:rPr lang="en-US" sz="3800" b="1" dirty="0">
                <a:solidFill>
                  <a:srgbClr val="FFFFFF"/>
                </a:solidFill>
                <a:latin typeface="Calibri" pitchFamily="34" charset="0"/>
                <a:ea typeface="Calibri" pitchFamily="34" charset="-122"/>
                <a:cs typeface="Calibri" pitchFamily="34" charset="-120"/>
              </a:rPr>
              <a:t>Generation 2 — Corrections &amp; Cause</a:t>
            </a:r>
            <a:endParaRPr lang="en-US" sz="5200" dirty="0"/>
          </a:p>
        </p:txBody>
      </p:sp>
      <p:sp>
        <p:nvSpPr>
          <p:cNvPr id="8" name="Text 6"/>
          <p:cNvSpPr/>
          <p:nvPr/>
        </p:nvSpPr>
        <p:spPr>
          <a:xfrm>
            <a:off x="804672" y="1938528"/>
            <a:ext cx="10881360" cy="457200"/>
          </a:xfrm>
          <a:prstGeom prst="rect">
            <a:avLst/>
          </a:prstGeom>
          <a:noFill/>
          <a:ln/>
        </p:spPr>
        <p:txBody>
          <a:bodyPr wrap="square" lIns="0" tIns="0" rIns="0" bIns="0" rtlCol="0" anchor="ctr"/>
          <a:lstStyle/>
          <a:p>
            <a:pPr marL="0" indent="0">
              <a:buNone/>
            </a:pPr>
            <a:r>
              <a:rPr lang="en-US" sz="1300" dirty="0">
                <a:solidFill>
                  <a:srgbClr val="2BD4E8"/>
                </a:solidFill>
                <a:latin typeface="Calibri" pitchFamily="34" charset="0"/>
                <a:ea typeface="Calibri" pitchFamily="34" charset="-122"/>
                <a:cs typeface="Calibri" pitchFamily="34" charset="-120"/>
              </a:rPr>
              <a:t>Slides 1–15 are unchanged from the 25% review. This slide records what has since been superseded.</a:t>
            </a:r>
            <a:endParaRPr lang="en-US" sz="2400" dirty="0"/>
          </a:p>
        </p:txBody>
      </p:sp>
      <p:sp>
        <p:nvSpPr>
          <p:cNvPr id="18" name="Shape 15"/>
          <p:cNvSpPr/>
          <p:nvPr/>
        </p:nvSpPr>
        <p:spPr>
          <a:xfrm>
            <a:off x="777240"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19" name="Shape 16"/>
          <p:cNvSpPr/>
          <p:nvPr/>
        </p:nvSpPr>
        <p:spPr>
          <a:xfrm>
            <a:off x="978408" y="5230368"/>
            <a:ext cx="274320" cy="274320"/>
          </a:xfrm>
          <a:prstGeom prst="ellipse">
            <a:avLst/>
          </a:prstGeom>
          <a:solidFill>
            <a:srgbClr val="0E96AC"/>
          </a:solidFill>
          <a:ln/>
        </p:spPr>
        <p:txBody>
          <a:bodyPr/>
          <a:lstStyle/>
          <a:p>
            <a:endParaRPr lang="en-IN"/>
          </a:p>
        </p:txBody>
      </p:sp>
      <p:sp>
        <p:nvSpPr>
          <p:cNvPr id="20" name="Text 17"/>
          <p:cNvSpPr/>
          <p:nvPr/>
        </p:nvSpPr>
        <p:spPr>
          <a:xfrm>
            <a:off x="1362456"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Constraint</a:t>
            </a:r>
            <a:endParaRPr lang="en-US" sz="1450" dirty="0"/>
          </a:p>
        </p:txBody>
      </p:sp>
      <p:sp>
        <p:nvSpPr>
          <p:cNvPr id="21" name="Text 18"/>
          <p:cNvSpPr/>
          <p:nvPr/>
        </p:nvSpPr>
        <p:spPr>
          <a:xfrm>
            <a:off x="978408" y="5660136"/>
            <a:ext cx="2304288" cy="228600"/>
          </a:xfrm>
          <a:prstGeom prst="rect">
            <a:avLst/>
          </a:prstGeom>
          <a:noFill/>
          <a:ln/>
        </p:spPr>
        <p:txBody>
          <a:bodyPr wrap="square" lIns="0" tIns="0" rIns="0" bIns="0" rtlCol="0" anchor="ctr"/>
          <a:lstStyle/>
          <a:p>
            <a:pPr marL="0" indent="0">
              <a:buNone/>
            </a:pPr>
            <a:r>
              <a:rPr lang="en-US" sz="850" kern="0" spc="100" dirty="0">
                <a:solidFill>
                  <a:srgbClr val="6B7890"/>
                </a:solidFill>
                <a:latin typeface="Calibri" pitchFamily="34" charset="0"/>
                <a:ea typeface="Calibri" pitchFamily="34" charset="-122"/>
                <a:cs typeface="Calibri" pitchFamily="34" charset="-120"/>
              </a:rPr>
              <a:t>WHAT HAPPENED</a:t>
            </a:r>
            <a:endParaRPr lang="en-US" sz="900" dirty="0"/>
          </a:p>
        </p:txBody>
      </p:sp>
      <p:sp>
        <p:nvSpPr>
          <p:cNvPr id="22" name="Text 19"/>
          <p:cNvSpPr/>
          <p:nvPr/>
        </p:nvSpPr>
        <p:spPr>
          <a:xfrm>
            <a:off x="978408" y="5852160"/>
            <a:ext cx="2304288" cy="365760"/>
          </a:xfrm>
          <a:prstGeom prst="rect">
            <a:avLst/>
          </a:prstGeom>
          <a:noFill/>
          <a:ln/>
        </p:spPr>
        <p:txBody>
          <a:bodyPr wrap="square" lIns="0" tIns="0" rIns="0" bIns="0" rtlCol="0" anchor="ctr"/>
          <a:lstStyle/>
          <a:p>
            <a:pPr marL="0" indent="0">
              <a:buNone/>
            </a:pPr>
            <a:r>
              <a:rPr lang="en-US" sz="950" b="1" dirty="0">
                <a:solidFill>
                  <a:srgbClr val="2BD4E8"/>
                </a:solidFill>
                <a:latin typeface="Calibri" pitchFamily="34" charset="0"/>
                <a:ea typeface="Calibri" pitchFamily="34" charset="-122"/>
                <a:cs typeface="Calibri" pitchFamily="34" charset="-120"/>
              </a:rPr>
              <a:t>2 of 10 XL330 received, then the part vanished</a:t>
            </a:r>
            <a:endParaRPr lang="en-US" sz="1300" dirty="0"/>
          </a:p>
        </p:txBody>
      </p:sp>
      <p:sp>
        <p:nvSpPr>
          <p:cNvPr id="23" name="Shape 20"/>
          <p:cNvSpPr/>
          <p:nvPr/>
        </p:nvSpPr>
        <p:spPr>
          <a:xfrm>
            <a:off x="3648456"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4" name="Shape 21"/>
          <p:cNvSpPr/>
          <p:nvPr/>
        </p:nvSpPr>
        <p:spPr>
          <a:xfrm>
            <a:off x="3849624" y="5230368"/>
            <a:ext cx="274320" cy="274320"/>
          </a:xfrm>
          <a:prstGeom prst="ellipse">
            <a:avLst/>
          </a:prstGeom>
          <a:solidFill>
            <a:srgbClr val="0E96AC"/>
          </a:solidFill>
          <a:ln/>
        </p:spPr>
        <p:txBody>
          <a:bodyPr/>
          <a:lstStyle/>
          <a:p>
            <a:endParaRPr lang="en-IN"/>
          </a:p>
        </p:txBody>
      </p:sp>
      <p:sp>
        <p:nvSpPr>
          <p:cNvPr id="25" name="Text 22"/>
          <p:cNvSpPr/>
          <p:nvPr/>
        </p:nvSpPr>
        <p:spPr>
          <a:xfrm>
            <a:off x="4233672"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Six-week stall</a:t>
            </a:r>
            <a:endParaRPr lang="en-US" sz="1450" dirty="0"/>
          </a:p>
        </p:txBody>
      </p:sp>
      <p:sp>
        <p:nvSpPr>
          <p:cNvPr id="26" name="Text 23"/>
          <p:cNvSpPr/>
          <p:nvPr/>
        </p:nvSpPr>
        <p:spPr>
          <a:xfrm>
            <a:off x="3849624" y="5660136"/>
            <a:ext cx="2304288" cy="228600"/>
          </a:xfrm>
          <a:prstGeom prst="rect">
            <a:avLst/>
          </a:prstGeom>
          <a:noFill/>
          <a:ln/>
        </p:spPr>
        <p:txBody>
          <a:bodyPr wrap="square" lIns="0" tIns="0" rIns="0" bIns="0" rtlCol="0" anchor="ctr"/>
          <a:lstStyle/>
          <a:p>
            <a:pPr marL="0" indent="0">
              <a:buNone/>
            </a:pPr>
            <a:r>
              <a:rPr lang="en-US" sz="850" kern="0" spc="100" dirty="0">
                <a:solidFill>
                  <a:srgbClr val="6B7890"/>
                </a:solidFill>
                <a:latin typeface="Calibri" pitchFamily="34" charset="0"/>
                <a:ea typeface="Calibri" pitchFamily="34" charset="-122"/>
                <a:cs typeface="Calibri" pitchFamily="34" charset="-120"/>
              </a:rPr>
              <a:t>IMPACT</a:t>
            </a:r>
            <a:endParaRPr lang="en-US" sz="900" dirty="0"/>
          </a:p>
        </p:txBody>
      </p:sp>
      <p:sp>
        <p:nvSpPr>
          <p:cNvPr id="27" name="Text 24"/>
          <p:cNvSpPr/>
          <p:nvPr/>
        </p:nvSpPr>
        <p:spPr>
          <a:xfrm>
            <a:off x="3849624" y="5852160"/>
            <a:ext cx="2304288" cy="365760"/>
          </a:xfrm>
          <a:prstGeom prst="rect">
            <a:avLst/>
          </a:prstGeom>
          <a:noFill/>
          <a:ln/>
        </p:spPr>
        <p:txBody>
          <a:bodyPr wrap="square" lIns="0" tIns="0" rIns="0" bIns="0" rtlCol="0" anchor="ctr"/>
          <a:lstStyle/>
          <a:p>
            <a:pPr marL="0" indent="0">
              <a:buNone/>
            </a:pPr>
            <a:r>
              <a:rPr lang="en-US" sz="950" b="1" dirty="0">
                <a:solidFill>
                  <a:srgbClr val="2BD4E8"/>
                </a:solidFill>
                <a:latin typeface="Calibri" pitchFamily="34" charset="0"/>
                <a:ea typeface="Calibri" pitchFamily="34" charset="-122"/>
                <a:cs typeface="Calibri" pitchFamily="34" charset="-120"/>
              </a:rPr>
              <a:t>Control stack written against absent hardware</a:t>
            </a:r>
            <a:endParaRPr lang="en-US" sz="1300" dirty="0"/>
          </a:p>
        </p:txBody>
      </p:sp>
      <p:sp>
        <p:nvSpPr>
          <p:cNvPr id="28" name="Shape 25"/>
          <p:cNvSpPr/>
          <p:nvPr/>
        </p:nvSpPr>
        <p:spPr>
          <a:xfrm>
            <a:off x="6519672" y="4983480"/>
            <a:ext cx="2670048" cy="1234440"/>
          </a:xfrm>
          <a:prstGeom prst="roundRect">
            <a:avLst>
              <a:gd name="adj" fmla="val 5926"/>
            </a:avLst>
          </a:prstGeom>
          <a:solidFill>
            <a:srgbClr val="1E2A45"/>
          </a:solidFill>
          <a:ln w="12700">
            <a:solidFill>
              <a:srgbClr val="2A3958"/>
            </a:solidFill>
            <a:prstDash val="solid"/>
          </a:ln>
        </p:spPr>
        <p:txBody>
          <a:bodyPr/>
          <a:lstStyle/>
          <a:p>
            <a:endParaRPr lang="en-IN"/>
          </a:p>
        </p:txBody>
      </p:sp>
      <p:sp>
        <p:nvSpPr>
          <p:cNvPr id="29" name="Shape 26"/>
          <p:cNvSpPr/>
          <p:nvPr/>
        </p:nvSpPr>
        <p:spPr>
          <a:xfrm>
            <a:off x="6720840" y="5230368"/>
            <a:ext cx="274320" cy="274320"/>
          </a:xfrm>
          <a:prstGeom prst="ellipse">
            <a:avLst/>
          </a:prstGeom>
          <a:solidFill>
            <a:srgbClr val="0E96AC"/>
          </a:solidFill>
          <a:ln/>
        </p:spPr>
        <p:txBody>
          <a:bodyPr/>
          <a:lstStyle/>
          <a:p>
            <a:endParaRPr lang="en-IN"/>
          </a:p>
        </p:txBody>
      </p:sp>
      <p:sp>
        <p:nvSpPr>
          <p:cNvPr id="30" name="Text 27"/>
          <p:cNvSpPr/>
          <p:nvPr/>
        </p:nvSpPr>
        <p:spPr>
          <a:xfrm>
            <a:off x="7104888" y="5184648"/>
            <a:ext cx="1938528" cy="365760"/>
          </a:xfrm>
          <a:prstGeom prst="rect">
            <a:avLst/>
          </a:prstGeom>
          <a:noFill/>
          <a:ln/>
        </p:spPr>
        <p:txBody>
          <a:bodyPr wrap="square" lIns="0" tIns="0" rIns="0" bIns="0"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Re-architecture</a:t>
            </a:r>
            <a:endParaRPr lang="en-US" sz="1450" dirty="0"/>
          </a:p>
        </p:txBody>
      </p:sp>
      <p:sp>
        <p:nvSpPr>
          <p:cNvPr id="31" name="Text 28"/>
          <p:cNvSpPr/>
          <p:nvPr/>
        </p:nvSpPr>
        <p:spPr>
          <a:xfrm>
            <a:off x="6720840" y="5660136"/>
            <a:ext cx="2304288" cy="228600"/>
          </a:xfrm>
          <a:prstGeom prst="rect">
            <a:avLst/>
          </a:prstGeom>
          <a:noFill/>
          <a:ln/>
        </p:spPr>
        <p:txBody>
          <a:bodyPr wrap="square" lIns="0" tIns="0" rIns="0" bIns="0" rtlCol="0" anchor="ctr"/>
          <a:lstStyle/>
          <a:p>
            <a:pPr marL="0" indent="0">
              <a:buNone/>
            </a:pPr>
            <a:r>
              <a:rPr lang="en-US" sz="850" kern="0" spc="100" dirty="0">
                <a:solidFill>
                  <a:srgbClr val="6B7890"/>
                </a:solidFill>
                <a:latin typeface="Calibri" pitchFamily="34" charset="0"/>
                <a:ea typeface="Calibri" pitchFamily="34" charset="-122"/>
                <a:cs typeface="Calibri" pitchFamily="34" charset="-120"/>
              </a:rPr>
              <a:t>COMMIT a32b675 · 2026-08-20</a:t>
            </a:r>
            <a:endParaRPr lang="en-US" sz="900" dirty="0"/>
          </a:p>
        </p:txBody>
      </p:sp>
      <p:sp>
        <p:nvSpPr>
          <p:cNvPr id="32" name="Text 29"/>
          <p:cNvSpPr/>
          <p:nvPr/>
        </p:nvSpPr>
        <p:spPr>
          <a:xfrm>
            <a:off x="6720840" y="5852160"/>
            <a:ext cx="2304288" cy="365760"/>
          </a:xfrm>
          <a:prstGeom prst="rect">
            <a:avLst/>
          </a:prstGeom>
          <a:noFill/>
          <a:ln/>
        </p:spPr>
        <p:txBody>
          <a:bodyPr wrap="square" lIns="0" tIns="0" rIns="0" bIns="0" rtlCol="0" anchor="ctr"/>
          <a:lstStyle/>
          <a:p>
            <a:pPr marL="0" indent="0">
              <a:buNone/>
            </a:pPr>
            <a:r>
              <a:rPr lang="en-US" sz="950" b="1" dirty="0">
                <a:solidFill>
                  <a:srgbClr val="2BD4E8"/>
                </a:solidFill>
                <a:latin typeface="Calibri" pitchFamily="34" charset="0"/>
                <a:ea typeface="Calibri" pitchFamily="34" charset="-122"/>
                <a:cs typeface="Calibri" pitchFamily="34" charset="-120"/>
              </a:rPr>
              <a:t>“No dynamixel in the market. So switched to Servos”</a:t>
            </a:r>
            <a:endParaRPr lang="en-US" sz="1300" dirty="0"/>
          </a:p>
        </p:txBody>
      </p:sp>
      <p:pic>
        <p:nvPicPr>
          <p:cNvPr id="9" name="Picture 8">
            <a:extLst>
              <a:ext uri="{FF2B5EF4-FFF2-40B4-BE49-F238E27FC236}">
                <a16:creationId xmlns:a16="http://schemas.microsoft.com/office/drawing/2014/main" id="{B23F6B63-9642-A851-9339-BBD4C24031B8}"/>
              </a:ext>
            </a:extLst>
          </p:cNvPr>
          <p:cNvPicPr>
            <a:picLocks noChangeAspect="1"/>
          </p:cNvPicPr>
          <p:nvPr/>
        </p:nvPicPr>
        <p:blipFill>
          <a:blip r:embed="rId4"/>
          <a:stretch>
            <a:fillRect/>
          </a:stretch>
        </p:blipFill>
        <p:spPr>
          <a:xfrm>
            <a:off x="10652760" y="159317"/>
            <a:ext cx="762000" cy="762000"/>
          </a:xfrm>
          <a:prstGeom prst="rect">
            <a:avLst/>
          </a:prstGeom>
        </p:spPr>
      </p:pic>
      <p:graphicFrame>
        <p:nvGraphicFramePr>
          <p:cNvPr id="33" name="CorrectionsRegister"/>
          <p:cNvGraphicFramePr>
            <a:graphicFrameLocks noGrp="1"/>
          </p:cNvGraphicFramePr>
          <p:nvPr/>
        </p:nvGraphicFramePr>
        <p:xfrm>
          <a:off x="530352" y="2432304"/>
          <a:ext cx="11128247" cy="2249424"/>
        </p:xfrm>
        <a:graphic>
          <a:graphicData uri="http://schemas.openxmlformats.org/drawingml/2006/table">
            <a:tbl>
              <a:tblPr>
                <a:tableStyleId>{5C22544A-7EE6-4342-B048-85BDC9FD1C3A}</a:tableStyleId>
              </a:tblPr>
              <a:tblGrid>
                <a:gridCol w="777240"/>
                <a:gridCol w="4160520"/>
                <a:gridCol w="3977639"/>
                <a:gridCol w="2212848"/>
              </a:tblGrid>
              <a:tr h="566928">
                <a:tc>
                  <a:txBody>
                    <a:bodyPr wrap="square"/>
                    <a:lstStyle/>
                    <a:p>
                      <a:r>
                        <a:rPr sz="1000" b="1">
                          <a:solidFill>
                            <a:srgbClr val="0E96AC"/>
                          </a:solidFill>
                          <a:latin typeface="Calibri"/>
                        </a:rPr>
                        <a:t>SLIDE</a:t>
                      </a:r>
                    </a:p>
                  </a:txBody>
                  <a:tcPr marL="91440" marR="73152" marT="36576" marB="36576">
                    <a:solidFill>
                      <a:srgbClr val="1A2440"/>
                    </a:solidFill>
                  </a:tcPr>
                </a:tc>
                <a:tc>
                  <a:txBody>
                    <a:bodyPr wrap="square"/>
                    <a:lstStyle/>
                    <a:p>
                      <a:r>
                        <a:rPr sz="1000" b="1">
                          <a:solidFill>
                            <a:srgbClr val="0E96AC"/>
                          </a:solidFill>
                          <a:latin typeface="Calibri"/>
                        </a:rPr>
                        <a:t>THAT DECK SAID</a:t>
                      </a:r>
                    </a:p>
                  </a:txBody>
                  <a:tcPr marL="91440" marR="73152" marT="36576" marB="36576">
                    <a:solidFill>
                      <a:srgbClr val="1A2440"/>
                    </a:solidFill>
                  </a:tcPr>
                </a:tc>
                <a:tc>
                  <a:txBody>
                    <a:bodyPr wrap="square"/>
                    <a:lstStyle/>
                    <a:p>
                      <a:r>
                        <a:rPr sz="1000" b="1">
                          <a:solidFill>
                            <a:srgbClr val="0E96AC"/>
                          </a:solidFill>
                          <a:latin typeface="Calibri"/>
                        </a:rPr>
                        <a:t>TODAY</a:t>
                      </a:r>
                    </a:p>
                  </a:txBody>
                  <a:tcPr marL="91440" marR="73152" marT="36576" marB="36576">
                    <a:solidFill>
                      <a:srgbClr val="1A2440"/>
                    </a:solidFill>
                  </a:tcPr>
                </a:tc>
                <a:tc>
                  <a:txBody>
                    <a:bodyPr wrap="square"/>
                    <a:lstStyle/>
                    <a:p>
                      <a:r>
                        <a:rPr sz="1000" b="1">
                          <a:solidFill>
                            <a:srgbClr val="0E96AC"/>
                          </a:solidFill>
                          <a:latin typeface="Calibri"/>
                        </a:rPr>
                        <a:t>WHY</a:t>
                      </a:r>
                    </a:p>
                  </a:txBody>
                  <a:tcPr marL="91440" marR="73152" marT="36576" marB="36576">
                    <a:solidFill>
                      <a:srgbClr val="1A2440"/>
                    </a:solidFill>
                  </a:tcPr>
                </a:tc>
              </a:tr>
              <a:tr h="420624">
                <a:tc>
                  <a:txBody>
                    <a:bodyPr wrap="square"/>
                    <a:lstStyle/>
                    <a:p>
                      <a:r>
                        <a:rPr sz="1400" b="1">
                          <a:solidFill>
                            <a:srgbClr val="2BD4E8"/>
                          </a:solidFill>
                          <a:latin typeface="Calibri"/>
                        </a:rPr>
                        <a:t>10</a:t>
                      </a:r>
                    </a:p>
                  </a:txBody>
                  <a:tcPr marL="91440" marR="73152" marT="36576" marB="36576">
                    <a:solidFill>
                      <a:srgbClr val="16223A"/>
                    </a:solidFill>
                  </a:tcPr>
                </a:tc>
                <a:tc>
                  <a:txBody>
                    <a:bodyPr wrap="square"/>
                    <a:lstStyle/>
                    <a:p>
                      <a:r>
                        <a:rPr sz="950" b="0">
                          <a:solidFill>
                            <a:srgbClr val="6B7890"/>
                          </a:solidFill>
                          <a:latin typeface="Calibri"/>
                        </a:rPr>
                        <a:t>XL330 · U2D2 · Power Hub — “ORDERED, AWAITING DELIVERY”</a:t>
                      </a:r>
                    </a:p>
                  </a:txBody>
                  <a:tcPr marL="91440" marR="73152" marT="36576" marB="36576">
                    <a:solidFill>
                      <a:srgbClr val="16223A"/>
                    </a:solidFill>
                  </a:tcPr>
                </a:tc>
                <a:tc>
                  <a:txBody>
                    <a:bodyPr wrap="square"/>
                    <a:lstStyle/>
                    <a:p>
                      <a:r>
                        <a:rPr sz="950" b="1">
                          <a:solidFill>
                            <a:srgbClr val="E2E8F0"/>
                          </a:solidFill>
                          <a:latin typeface="Calibri"/>
                        </a:rPr>
                        <a:t>Order cancelled. 10× ST3215 + Waveshare ESP32 driver in hand</a:t>
                      </a:r>
                    </a:p>
                  </a:txBody>
                  <a:tcPr marL="91440" marR="73152" marT="36576" marB="36576">
                    <a:solidFill>
                      <a:srgbClr val="16223A"/>
                    </a:solidFill>
                  </a:tcPr>
                </a:tc>
                <a:tc>
                  <a:txBody>
                    <a:bodyPr wrap="square"/>
                    <a:lstStyle/>
                    <a:p>
                      <a:r>
                        <a:rPr sz="950" b="0">
                          <a:solidFill>
                            <a:srgbClr val="6B7890"/>
                          </a:solidFill>
                          <a:latin typeface="Calibri"/>
                        </a:rPr>
                        <a:t>Part unobtainable in India</a:t>
                      </a:r>
                    </a:p>
                  </a:txBody>
                  <a:tcPr marL="91440" marR="73152" marT="36576" marB="36576">
                    <a:solidFill>
                      <a:srgbClr val="16223A"/>
                    </a:solidFill>
                  </a:tcPr>
                </a:tc>
              </a:tr>
              <a:tr h="420624">
                <a:tc>
                  <a:txBody>
                    <a:bodyPr wrap="square"/>
                    <a:lstStyle/>
                    <a:p>
                      <a:r>
                        <a:rPr sz="1400" b="1">
                          <a:solidFill>
                            <a:srgbClr val="2BD4E8"/>
                          </a:solidFill>
                          <a:latin typeface="Calibri"/>
                        </a:rPr>
                        <a:t>12</a:t>
                      </a:r>
                    </a:p>
                  </a:txBody>
                  <a:tcPr marL="91440" marR="73152" marT="36576" marB="36576">
                    <a:solidFill>
                      <a:srgbClr val="16223A"/>
                    </a:solidFill>
                  </a:tcPr>
                </a:tc>
                <a:tc>
                  <a:txBody>
                    <a:bodyPr wrap="square"/>
                    <a:lstStyle/>
                    <a:p>
                      <a:r>
                        <a:rPr sz="950" b="0">
                          <a:solidFill>
                            <a:srgbClr val="6B7890"/>
                          </a:solidFill>
                          <a:latin typeface="Calibri"/>
                        </a:rPr>
                        <a:t>“Eight Phases · Currently at 25%”</a:t>
                      </a:r>
                    </a:p>
                  </a:txBody>
                  <a:tcPr marL="91440" marR="73152" marT="36576" marB="36576">
                    <a:solidFill>
                      <a:srgbClr val="16223A"/>
                    </a:solidFill>
                  </a:tcPr>
                </a:tc>
                <a:tc>
                  <a:txBody>
                    <a:bodyPr wrap="square"/>
                    <a:lstStyle/>
                    <a:p>
                      <a:r>
                        <a:rPr sz="950" b="1">
                          <a:solidFill>
                            <a:srgbClr val="E2E8F0"/>
                          </a:solidFill>
                          <a:latin typeface="Calibri"/>
                        </a:rPr>
                        <a:t>Phase 3 — Fabrication &amp; Assembly</a:t>
                      </a:r>
                    </a:p>
                  </a:txBody>
                  <a:tcPr marL="91440" marR="73152" marT="36576" marB="36576">
                    <a:solidFill>
                      <a:srgbClr val="16223A"/>
                    </a:solidFill>
                  </a:tcPr>
                </a:tc>
                <a:tc>
                  <a:txBody>
                    <a:bodyPr wrap="square"/>
                    <a:lstStyle/>
                    <a:p>
                      <a:r>
                        <a:rPr sz="950" b="0">
                          <a:solidFill>
                            <a:srgbClr val="6B7890"/>
                          </a:solidFill>
                          <a:latin typeface="Calibri"/>
                        </a:rPr>
                        <a:t>Eight weeks of Gen 2 work since</a:t>
                      </a:r>
                    </a:p>
                  </a:txBody>
                  <a:tcPr marL="91440" marR="73152" marT="36576" marB="36576">
                    <a:solidFill>
                      <a:srgbClr val="16223A"/>
                    </a:solidFill>
                  </a:tcPr>
                </a:tc>
              </a:tr>
              <a:tr h="420624">
                <a:tc>
                  <a:txBody>
                    <a:bodyPr wrap="square"/>
                    <a:lstStyle/>
                    <a:p>
                      <a:r>
                        <a:rPr sz="1400" b="1">
                          <a:solidFill>
                            <a:srgbClr val="2BD4E8"/>
                          </a:solidFill>
                          <a:latin typeface="Calibri"/>
                        </a:rPr>
                        <a:t>13</a:t>
                      </a:r>
                    </a:p>
                  </a:txBody>
                  <a:tcPr marL="91440" marR="73152" marT="36576" marB="36576">
                    <a:solidFill>
                      <a:srgbClr val="16223A"/>
                    </a:solidFill>
                  </a:tcPr>
                </a:tc>
                <a:tc>
                  <a:txBody>
                    <a:bodyPr wrap="square"/>
                    <a:lstStyle/>
                    <a:p>
                      <a:r>
                        <a:rPr sz="950" b="0">
                          <a:solidFill>
                            <a:srgbClr val="6B7890"/>
                          </a:solidFill>
                          <a:latin typeface="Calibri"/>
                        </a:rPr>
                        <a:t>“Prototype fabrication started”</a:t>
                      </a:r>
                    </a:p>
                  </a:txBody>
                  <a:tcPr marL="91440" marR="73152" marT="36576" marB="36576">
                    <a:solidFill>
                      <a:srgbClr val="16223A"/>
                    </a:solidFill>
                  </a:tcPr>
                </a:tc>
                <a:tc>
                  <a:txBody>
                    <a:bodyPr wrap="square"/>
                    <a:lstStyle/>
                    <a:p>
                      <a:r>
                        <a:rPr sz="950" b="1">
                          <a:solidFill>
                            <a:srgbClr val="E2E8F0"/>
                          </a:solidFill>
                          <a:latin typeface="Calibri"/>
                        </a:rPr>
                        <a:t>Gen 1 segments printed; Gen 2 v6 not yet printed</a:t>
                      </a:r>
                    </a:p>
                  </a:txBody>
                  <a:tcPr marL="91440" marR="73152" marT="36576" marB="36576">
                    <a:solidFill>
                      <a:srgbClr val="16223A"/>
                    </a:solidFill>
                  </a:tcPr>
                </a:tc>
                <a:tc>
                  <a:txBody>
                    <a:bodyPr wrap="square"/>
                    <a:lstStyle/>
                    <a:p>
                      <a:r>
                        <a:rPr sz="950" b="0">
                          <a:solidFill>
                            <a:srgbClr val="6B7890"/>
                          </a:solidFill>
                          <a:latin typeface="Calibri"/>
                        </a:rPr>
                        <a:t>Design of record changed</a:t>
                      </a:r>
                    </a:p>
                  </a:txBody>
                  <a:tcPr marL="91440" marR="73152" marT="36576" marB="36576">
                    <a:solidFill>
                      <a:srgbClr val="16223A"/>
                    </a:solidFill>
                  </a:tcPr>
                </a:tc>
              </a:tr>
              <a:tr h="420624">
                <a:tc>
                  <a:txBody>
                    <a:bodyPr wrap="square"/>
                    <a:lstStyle/>
                    <a:p>
                      <a:r>
                        <a:rPr sz="1400" b="1">
                          <a:solidFill>
                            <a:srgbClr val="2BD4E8"/>
                          </a:solidFill>
                          <a:latin typeface="Calibri"/>
                        </a:rPr>
                        <a:t>15</a:t>
                      </a:r>
                    </a:p>
                  </a:txBody>
                  <a:tcPr marL="91440" marR="73152" marT="36576" marB="36576">
                    <a:solidFill>
                      <a:srgbClr val="16223A"/>
                    </a:solidFill>
                  </a:tcPr>
                </a:tc>
                <a:tc>
                  <a:txBody>
                    <a:bodyPr wrap="square"/>
                    <a:lstStyle/>
                    <a:p>
                      <a:r>
                        <a:rPr sz="950" b="0">
                          <a:solidFill>
                            <a:srgbClr val="6B7890"/>
                          </a:solidFill>
                          <a:latin typeface="Calibri"/>
                        </a:rPr>
                        <a:t>Roadmap step 1 — “Receive Dynamixel XL330 motors”</a:t>
                      </a:r>
                    </a:p>
                  </a:txBody>
                  <a:tcPr marL="91440" marR="73152" marT="36576" marB="36576">
                    <a:solidFill>
                      <a:srgbClr val="16223A"/>
                    </a:solidFill>
                  </a:tcPr>
                </a:tc>
                <a:tc>
                  <a:txBody>
                    <a:bodyPr wrap="square"/>
                    <a:lstStyle/>
                    <a:p>
                      <a:r>
                        <a:rPr sz="950" b="1">
                          <a:solidFill>
                            <a:srgbClr val="E2E8F0"/>
                          </a:solidFill>
                          <a:latin typeface="Calibri"/>
                        </a:rPr>
                        <a:t>Superseded — see slide 29</a:t>
                      </a:r>
                    </a:p>
                  </a:txBody>
                  <a:tcPr marL="91440" marR="73152" marT="36576" marB="36576">
                    <a:solidFill>
                      <a:srgbClr val="16223A"/>
                    </a:solidFill>
                  </a:tcPr>
                </a:tc>
                <a:tc>
                  <a:txBody>
                    <a:bodyPr wrap="square"/>
                    <a:lstStyle/>
                    <a:p>
                      <a:r>
                        <a:rPr sz="950" b="0">
                          <a:solidFill>
                            <a:srgbClr val="6B7890"/>
                          </a:solidFill>
                          <a:latin typeface="Calibri"/>
                        </a:rPr>
                        <a:t>Different motors received</a:t>
                      </a:r>
                    </a:p>
                  </a:txBody>
                  <a:tcPr marL="91440" marR="73152" marT="36576" marB="36576">
                    <a:solidFill>
                      <a:srgbClr val="16223A"/>
                    </a:solidFill>
                  </a:tcPr>
                </a:tc>
              </a:tr>
            </a:tbl>
          </a:graphicData>
        </a:graphic>
      </p:graphicFrame>
      <p:sp>
        <p:nvSpPr>
          <p:cNvPr id="34" name="PivotCallout"/>
          <p:cNvSpPr txBox="1"/>
          <p:nvPr/>
        </p:nvSpPr>
        <p:spPr>
          <a:xfrm>
            <a:off x="777240" y="6345936"/>
            <a:ext cx="10607040" cy="384048"/>
          </a:xfrm>
          <a:prstGeom prst="rect">
            <a:avLst/>
          </a:prstGeom>
          <a:noFill/>
        </p:spPr>
        <p:txBody>
          <a:bodyPr wrap="square">
            <a:spAutoFit/>
          </a:bodyPr>
          <a:lstStyle/>
          <a:p>
            <a:r>
              <a:rPr sz="1050" b="1">
                <a:solidFill>
                  <a:srgbClr val="E8821E"/>
                </a:solidFill>
                <a:latin typeface="Calibri"/>
              </a:rPr>
              <a:t>WHAT IT BOUGHT   </a:t>
            </a:r>
            <a:r>
              <a:rPr sz="1050" b="0">
                <a:solidFill>
                  <a:srgbClr val="E2E8F0"/>
                </a:solidFill>
                <a:latin typeface="Calibri"/>
              </a:rPr>
              <a:t>5.7× joint torque (0.52 → 2.94 N·m)  ·  a 12 V rail  ·  sourceable in India  —  consequences of the switch, not its reason. Torque budget: slide 23.</a:t>
            </a:r>
          </a:p>
        </p:txBody>
      </p:sp>
    </p:spTree>
    <p:extLst>
      <p:ext uri="{BB962C8B-B14F-4D97-AF65-F5344CB8AC3E}">
        <p14:creationId xmlns:p14="http://schemas.microsoft.com/office/powerpoint/2010/main" val="10298108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yebrowA">
            <a:extLst>
              <a:ext uri="{FF2B5EF4-FFF2-40B4-BE49-F238E27FC236}">
                <a16:creationId xmlns:a16="http://schemas.microsoft.com/office/drawing/2014/main" id="{841DE8FB-782B-413F-8F93-A5A5E44CEC4B}"/>
              </a:ext>
            </a:extLst>
          </p:cNvPr>
          <p:cNvSpPr txBox="1"/>
          <p:nvPr/>
        </p:nvSpPr>
        <p:spPr>
          <a:xfrm>
            <a:off x="546100" y="381000"/>
            <a:ext cx="10160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ACTUATOR RE-SELECTION</a:t>
            </a:r>
          </a:p>
        </p:txBody>
      </p:sp>
      <p:sp>
        <p:nvSpPr>
          <p:cNvPr id="3" name="TitleA">
            <a:extLst>
              <a:ext uri="{FF2B5EF4-FFF2-40B4-BE49-F238E27FC236}">
                <a16:creationId xmlns:a16="http://schemas.microsoft.com/office/drawing/2014/main" id="{7634340B-6F43-41BD-A788-B33B6114B32F}"/>
              </a:ext>
            </a:extLst>
          </p:cNvPr>
          <p:cNvSpPr txBox="1"/>
          <p:nvPr/>
        </p:nvSpPr>
        <p:spPr>
          <a:xfrm>
            <a:off x="533400" y="635000"/>
            <a:ext cx="10922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From XL330 to Waveshare ST3215</a:t>
            </a:r>
          </a:p>
        </p:txBody>
      </p:sp>
      <p:sp>
        <p:nvSpPr>
          <p:cNvPr id="4" name="ProblemCard">
            <a:extLst>
              <a:ext uri="{FF2B5EF4-FFF2-40B4-BE49-F238E27FC236}">
                <a16:creationId xmlns:a16="http://schemas.microsoft.com/office/drawing/2014/main" id="{E876E5F6-0A7F-4BFB-B939-45A2A1D649C5}"/>
              </a:ext>
            </a:extLst>
          </p:cNvPr>
          <p:cNvSpPr/>
          <p:nvPr/>
        </p:nvSpPr>
        <p:spPr>
          <a:xfrm>
            <a:off x="546100" y="1422400"/>
            <a:ext cx="3810000" cy="4927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ProblemEyebrow">
            <a:extLst>
              <a:ext uri="{FF2B5EF4-FFF2-40B4-BE49-F238E27FC236}">
                <a16:creationId xmlns:a16="http://schemas.microsoft.com/office/drawing/2014/main" id="{FC543071-2BD3-4FE0-ADEC-F4199E47340C}"/>
              </a:ext>
            </a:extLst>
          </p:cNvPr>
          <p:cNvSpPr txBox="1"/>
          <p:nvPr/>
        </p:nvSpPr>
        <p:spPr>
          <a:xfrm>
            <a:off x="800100" y="1676400"/>
            <a:ext cx="33020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THE CONSTRAINT</a:t>
            </a:r>
          </a:p>
        </p:txBody>
      </p:sp>
      <p:sp>
        <p:nvSpPr>
          <p:cNvPr id="6" name="ProblemIntro">
            <a:extLst>
              <a:ext uri="{FF2B5EF4-FFF2-40B4-BE49-F238E27FC236}">
                <a16:creationId xmlns:a16="http://schemas.microsoft.com/office/drawing/2014/main" id="{242F95A3-B8E3-4C63-8377-5868B29AD293}"/>
              </a:ext>
            </a:extLst>
          </p:cNvPr>
          <p:cNvSpPr txBox="1"/>
          <p:nvPr/>
        </p:nvSpPr>
        <p:spPr>
          <a:xfrm>
            <a:off x="800100" y="2006600"/>
            <a:ext cx="3302000" cy="822960"/>
          </a:xfrm>
          <a:prstGeom prst="rect">
            <a:avLst/>
          </a:prstGeom>
          <a:noFill/>
        </p:spPr>
        <p:txBody>
          <a:bodyPr vertOverflow="overflow" vert="horz" wrap="square" rtlCol="0" anchor="t" anchorCtr="0">
            <a:noAutofit/>
          </a:bodyPr>
          <a:lstStyle/>
          <a:p>
            <a:pPr marL="0" indent="0">
              <a:lnSpc>
                <a:spcPct val="108000"/>
              </a:lnSpc>
              <a:buNone/>
            </a:pPr>
            <a:r>
              <a:rPr lang="en-US" sz="1100" dirty="0">
                <a:solidFill>
                  <a:srgbClr val="3A4658"/>
                </a:solidFill>
                <a:latin typeface="Calibri" pitchFamily="34" charset="0"/>
              </a:rPr>
              <a:t>The Gen 1 trade study was sound and its conclusion still holds: a snake robot needs smart serial bus servos. Only the vendor changed. XL330 became unobtainable in the Indian market after 2 of 10 units were received.</a:t>
            </a:r>
          </a:p>
        </p:txBody>
      </p:sp>
      <p:sp>
        <p:nvSpPr>
          <p:cNvPr id="7" name="ProblemBullets">
            <a:extLst>
              <a:ext uri="{FF2B5EF4-FFF2-40B4-BE49-F238E27FC236}">
                <a16:creationId xmlns:a16="http://schemas.microsoft.com/office/drawing/2014/main" id="{F7CDE160-466E-4C5D-B701-1F6DEFD06489}"/>
              </a:ext>
            </a:extLst>
          </p:cNvPr>
          <p:cNvSpPr txBox="1"/>
          <p:nvPr/>
        </p:nvSpPr>
        <p:spPr>
          <a:xfrm>
            <a:off x="800100" y="2844800"/>
            <a:ext cx="3302000" cy="3302000"/>
          </a:xfrm>
          <a:prstGeom prst="rect">
            <a:avLst/>
          </a:prstGeom>
          <a:noFill/>
        </p:spPr>
        <p:txBody>
          <a:bodyPr vertOverflow="overflow" vert="horz" wrap="square" rtlCol="0" anchor="t" anchorCtr="0">
            <a:noAutofit/>
          </a:bodyPr>
          <a:lstStyle/>
          <a:p>
            <a:pPr marL="200000" indent="-200000">
              <a:spcBef>
                <a:spcPts val="700"/>
              </a:spcBef>
              <a:buClr>
                <a:srgbClr val="0E96AC"/>
              </a:buClr>
              <a:buFont typeface="Arial"/>
              <a:buChar char="•"/>
            </a:pPr>
            <a:r>
              <a:rPr lang="en-US" sz="1400" dirty="0">
                <a:solidFill>
                  <a:srgbClr val="16223A"/>
                </a:solidFill>
                <a:latin typeface="Calibri" pitchFamily="34" charset="0"/>
              </a:rPr>
              <a:t>Precise absolute position control</a:t>
            </a:r>
          </a:p>
          <a:p>
            <a:pPr marL="200000" indent="-200000">
              <a:spcBef>
                <a:spcPts val="700"/>
              </a:spcBef>
              <a:buClr>
                <a:srgbClr val="0E96AC"/>
              </a:buClr>
              <a:buFont typeface="Arial"/>
              <a:buChar char="•"/>
            </a:pPr>
            <a:r>
              <a:rPr lang="en-US" sz="1400" dirty="0">
                <a:solidFill>
                  <a:srgbClr val="16223A"/>
                </a:solidFill>
                <a:latin typeface="Calibri" pitchFamily="34" charset="0"/>
              </a:rPr>
              <a:t>Single-cable daisy-chain wiring</a:t>
            </a:r>
          </a:p>
          <a:p>
            <a:pPr marL="200000" indent="-200000">
              <a:spcBef>
                <a:spcPts val="700"/>
              </a:spcBef>
              <a:buClr>
                <a:srgbClr val="0E96AC"/>
              </a:buClr>
              <a:buFont typeface="Arial"/>
              <a:buChar char="•"/>
            </a:pPr>
            <a:r>
              <a:rPr lang="en-US" sz="1400" dirty="0">
                <a:solidFill>
                  <a:srgbClr val="16223A"/>
                </a:solidFill>
                <a:latin typeface="Calibri" pitchFamily="34" charset="0"/>
              </a:rPr>
              <a:t>Per-joint load and current feedback</a:t>
            </a:r>
          </a:p>
          <a:p>
            <a:pPr marL="200000" indent="-200000">
              <a:spcBef>
                <a:spcPts val="700"/>
              </a:spcBef>
              <a:buClr>
                <a:srgbClr val="0E96AC"/>
              </a:buClr>
              <a:buFont typeface="Arial"/>
              <a:buChar char="•"/>
            </a:pPr>
            <a:r>
              <a:rPr lang="en-US" sz="1400" dirty="0">
                <a:solidFill>
                  <a:srgbClr val="16223A"/>
                </a:solidFill>
                <a:latin typeface="Calibri" pitchFamily="34" charset="0"/>
              </a:rPr>
              <a:t>Built-in controller, no external driver per joint</a:t>
            </a:r>
          </a:p>
          <a:p>
            <a:pPr marL="200000" indent="-200000">
              <a:spcBef>
                <a:spcPts val="700"/>
              </a:spcBef>
              <a:buClr>
                <a:srgbClr val="0E96AC"/>
              </a:buClr>
              <a:buFont typeface="Arial"/>
              <a:buChar char="•"/>
            </a:pPr>
            <a:r>
              <a:rPr lang="en-US" sz="1400" dirty="0">
                <a:solidFill>
                  <a:srgbClr val="16223A"/>
                </a:solidFill>
                <a:latin typeface="Calibri" pitchFamily="34" charset="0"/>
              </a:rPr>
              <a:t>Scalable to 10 coordinated joints</a:t>
            </a:r>
          </a:p>
          <a:p>
            <a:pPr marL="200000" indent="-200000">
              <a:spcBef>
                <a:spcPts val="700"/>
              </a:spcBef>
              <a:buClr>
                <a:srgbClr val="0E96AC"/>
              </a:buClr>
              <a:buFont typeface="Arial"/>
              <a:buChar char="•"/>
            </a:pPr>
            <a:r>
              <a:rPr lang="en-US" sz="1400" dirty="0">
                <a:solidFill>
                  <a:srgbClr val="16223A"/>
                </a:solidFill>
                <a:latin typeface="Calibri" pitchFamily="34" charset="0"/>
              </a:rPr>
              <a:t>Procurable in India, in quantity</a:t>
            </a:r>
          </a:p>
        </p:txBody>
      </p:sp>
      <p:sp>
        <p:nvSpPr>
          <p:cNvPr id="8" name="TableEyebrow">
            <a:extLst>
              <a:ext uri="{FF2B5EF4-FFF2-40B4-BE49-F238E27FC236}">
                <a16:creationId xmlns:a16="http://schemas.microsoft.com/office/drawing/2014/main" id="{7E5D13E2-1354-4CEB-BDEE-454765C80F19}"/>
              </a:ext>
            </a:extLst>
          </p:cNvPr>
          <p:cNvSpPr txBox="1"/>
          <p:nvPr/>
        </p:nvSpPr>
        <p:spPr>
          <a:xfrm>
            <a:off x="4494628" y="1079500"/>
            <a:ext cx="70739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XL330 VS ST3215 — AS SELECTED</a:t>
            </a:r>
          </a:p>
        </p:txBody>
      </p:sp>
      <p:graphicFrame>
        <p:nvGraphicFramePr>
          <p:cNvPr id="10" name="CompareTable">
            <a:extLst>
              <a:ext uri="{FF2B5EF4-FFF2-40B4-BE49-F238E27FC236}">
                <a16:creationId xmlns:a16="http://schemas.microsoft.com/office/drawing/2014/main" id="{9440023E-3667-4AD8-9283-284DCB4D212C}"/>
              </a:ext>
            </a:extLst>
          </p:cNvPr>
          <p:cNvGraphicFramePr>
            <a:graphicFrameLocks noGrp="1"/>
          </p:cNvGraphicFramePr>
          <p:nvPr>
            <p:extLst>
              <p:ext uri="{D42A27DB-BD31-4B8C-83A1-F6EECF244321}">
                <p14:modId xmlns:p14="http://schemas.microsoft.com/office/powerpoint/2010/main" val="1572894493"/>
              </p:ext>
            </p:extLst>
          </p:nvPr>
        </p:nvGraphicFramePr>
        <p:xfrm>
          <a:off x="4494628" y="1582615"/>
          <a:ext cx="7151272" cy="4195888"/>
        </p:xfrm>
        <a:graphic>
          <a:graphicData uri="http://schemas.openxmlformats.org/drawingml/2006/table">
            <a:tbl>
              <a:tblPr firstRow="1" bandRow="1">
                <a:tableStyleId>{5C22544A-7EE6-4342-B048-85BDC9FD1C3A}</a:tableStyleId>
              </a:tblPr>
              <a:tblGrid>
                <a:gridCol w="1540669">
                  <a:extLst>
                    <a:ext uri="{9D8B030D-6E8A-4147-A177-3AD203B41FA5}">
                      <a16:colId xmlns:a16="http://schemas.microsoft.com/office/drawing/2014/main" val="3347371507"/>
                    </a:ext>
                  </a:extLst>
                </a:gridCol>
                <a:gridCol w="2567782">
                  <a:extLst>
                    <a:ext uri="{9D8B030D-6E8A-4147-A177-3AD203B41FA5}">
                      <a16:colId xmlns:a16="http://schemas.microsoft.com/office/drawing/2014/main" val="2919370013"/>
                    </a:ext>
                  </a:extLst>
                </a:gridCol>
                <a:gridCol w="3042821">
                  <a:extLst>
                    <a:ext uri="{9D8B030D-6E8A-4147-A177-3AD203B41FA5}">
                      <a16:colId xmlns:a16="http://schemas.microsoft.com/office/drawing/2014/main" val="1569824111"/>
                    </a:ext>
                  </a:extLst>
                </a:gridCol>
              </a:tblGrid>
              <a:tr h="524486">
                <a:tc>
                  <a:txBody>
                    <a:bodyPr/>
                    <a:lstStyle/>
                    <a:p>
                      <a:pPr algn="ctr"/>
                      <a:r>
                        <a:rPr lang="en-IN" sz="1400" b="1" dirty="0">
                          <a:solidFill>
                            <a:srgbClr val="FFFFFF"/>
                          </a:solidFill>
                          <a:latin typeface="Calibri"/>
                          <a:ea typeface="Calibri"/>
                          <a:cs typeface="Calibri"/>
                        </a:rPr>
                        <a:t>Criterion</a:t>
                      </a:r>
                    </a:p>
                  </a:txBody>
                  <a:tcPr anchor="ctr">
                    <a:solidFill>
                      <a:srgbClr val="16223A"/>
                    </a:solidFill>
                  </a:tcPr>
                </a:tc>
                <a:tc>
                  <a:txBody>
                    <a:bodyPr/>
                    <a:lstStyle/>
                    <a:p>
                      <a:pPr algn="ctr"/>
                      <a:r>
                        <a:rPr lang="en-IN" sz="1400" b="1" dirty="0">
                          <a:solidFill>
                            <a:srgbClr val="FFFFFF"/>
                          </a:solidFill>
                          <a:latin typeface="Calibri"/>
                          <a:ea typeface="Calibri"/>
                          <a:cs typeface="Calibri"/>
                        </a:rPr>
                        <a:t>Dynamixel XL330 (Gen 1)</a:t>
                      </a:r>
                    </a:p>
                  </a:txBody>
                  <a:tcPr anchor="ctr">
                    <a:solidFill>
                      <a:srgbClr val="16223A"/>
                    </a:solidFill>
                  </a:tcPr>
                </a:tc>
                <a:tc>
                  <a:txBody>
                    <a:bodyPr/>
                    <a:lstStyle/>
                    <a:p>
                      <a:pPr algn="ctr"/>
                      <a:r>
                        <a:rPr lang="en-IN" sz="1400" b="1" dirty="0" err="1">
                          <a:solidFill>
                            <a:srgbClr val="FFFFFF"/>
                          </a:solidFill>
                          <a:latin typeface="Calibri"/>
                          <a:ea typeface="Calibri"/>
                          <a:cs typeface="Calibri"/>
                        </a:rPr>
                        <a:t>Waveshare ST3215 (Gen 2)</a:t>
                      </a:r>
                    </a:p>
                  </a:txBody>
                  <a:tcPr anchor="ctr">
                    <a:solidFill>
                      <a:srgbClr val="0E96AC"/>
                    </a:solidFill>
                  </a:tcPr>
                </a:tc>
                <a:extLst>
                  <a:ext uri="{0D108BD9-81ED-4DB2-BD59-A6C34878D82A}">
                    <a16:rowId xmlns:a16="http://schemas.microsoft.com/office/drawing/2014/main" val="408524524"/>
                  </a:ext>
                </a:extLst>
              </a:tr>
              <a:tr h="524486">
                <a:tc>
                  <a:txBody>
                    <a:bodyPr/>
                    <a:lstStyle/>
                    <a:p>
                      <a:pPr algn="l"/>
                      <a:r>
                        <a:rPr lang="en-IN" sz="1400" b="0">
                          <a:solidFill>
                            <a:srgbClr val="16223A"/>
                          </a:solidFill>
                          <a:latin typeface="Calibri"/>
                          <a:ea typeface="Calibri"/>
                          <a:cs typeface="Calibri"/>
                        </a:rPr>
                        <a:t>Stall torque</a:t>
                      </a:r>
                    </a:p>
                  </a:txBody>
                  <a:tcPr anchor="ctr">
                    <a:solidFill>
                      <a:srgbClr val="F4F6F9"/>
                    </a:solidFill>
                  </a:tcPr>
                </a:tc>
                <a:tc>
                  <a:txBody>
                    <a:bodyPr/>
                    <a:lstStyle/>
                    <a:p>
                      <a:pPr algn="l"/>
                      <a:r>
                        <a:rPr lang="en-IN" sz="1400" dirty="0" b="0">
                          <a:solidFill>
                            <a:srgbClr val="3A4658"/>
                          </a:solidFill>
                          <a:latin typeface="Calibri"/>
                          <a:ea typeface="Calibri"/>
                          <a:cs typeface="Calibri"/>
                        </a:rPr>
                        <a:t>0.52 N·m</a:t>
                      </a:r>
                    </a:p>
                  </a:txBody>
                  <a:tcPr anchor="ctr">
                    <a:solidFill>
                      <a:srgbClr val="FFFFFF"/>
                    </a:solidFill>
                  </a:tcPr>
                </a:tc>
                <a:tc>
                  <a:txBody>
                    <a:bodyPr/>
                    <a:lstStyle/>
                    <a:p>
                      <a:pPr algn="l"/>
                      <a:r>
                        <a:rPr lang="en-IN" sz="1400" b="0">
                          <a:solidFill>
                            <a:srgbClr val="16223A"/>
                          </a:solidFill>
                          <a:latin typeface="Calibri"/>
                          <a:ea typeface="Calibri"/>
                          <a:cs typeface="Calibri"/>
                        </a:rPr>
                        <a:t>2.94 N·m  —  5.7× higher</a:t>
                      </a:r>
                    </a:p>
                  </a:txBody>
                  <a:tcPr anchor="ctr">
                    <a:solidFill>
                      <a:srgbClr val="E6F4F6"/>
                    </a:solidFill>
                  </a:tcPr>
                </a:tc>
                <a:extLst>
                  <a:ext uri="{0D108BD9-81ED-4DB2-BD59-A6C34878D82A}">
                    <a16:rowId xmlns:a16="http://schemas.microsoft.com/office/drawing/2014/main" val="2149984924"/>
                  </a:ext>
                </a:extLst>
              </a:tr>
              <a:tr h="524486">
                <a:tc>
                  <a:txBody>
                    <a:bodyPr/>
                    <a:lstStyle/>
                    <a:p>
                      <a:pPr algn="l"/>
                      <a:r>
                        <a:rPr lang="en-IN" sz="1400" b="0">
                          <a:solidFill>
                            <a:srgbClr val="16223A"/>
                          </a:solidFill>
                          <a:latin typeface="Calibri"/>
                          <a:ea typeface="Calibri"/>
                          <a:cs typeface="Calibri"/>
                        </a:rPr>
                        <a:t>Voltage rail</a:t>
                      </a:r>
                    </a:p>
                  </a:txBody>
                  <a:tcPr anchor="ctr">
                    <a:solidFill>
                      <a:srgbClr val="F4F6F9"/>
                    </a:solidFill>
                  </a:tcPr>
                </a:tc>
                <a:tc>
                  <a:txBody>
                    <a:bodyPr/>
                    <a:lstStyle/>
                    <a:p>
                      <a:pPr algn="l"/>
                      <a:r>
                        <a:rPr lang="en-IN" sz="1400" dirty="0" b="0">
                          <a:solidFill>
                            <a:srgbClr val="3A4658"/>
                          </a:solidFill>
                          <a:latin typeface="Calibri"/>
                          <a:ea typeface="Calibri"/>
                          <a:cs typeface="Calibri"/>
                        </a:rPr>
                        <a:t>5 V</a:t>
                      </a:r>
                    </a:p>
                  </a:txBody>
                  <a:tcPr anchor="ctr">
                    <a:solidFill>
                      <a:srgbClr val="FFFFFF"/>
                    </a:solidFill>
                  </a:tcPr>
                </a:tc>
                <a:tc>
                  <a:txBody>
                    <a:bodyPr/>
                    <a:lstStyle/>
                    <a:p>
                      <a:pPr algn="l"/>
                      <a:r>
                        <a:rPr lang="en-IN" sz="1400" dirty="0" b="0">
                          <a:solidFill>
                            <a:srgbClr val="16223A"/>
                          </a:solidFill>
                          <a:latin typeface="Calibri"/>
                          <a:ea typeface="Calibri"/>
                          <a:cs typeface="Calibri"/>
                        </a:rPr>
                        <a:t>6.0–12.6 V</a:t>
                      </a:r>
                    </a:p>
                  </a:txBody>
                  <a:tcPr anchor="ctr">
                    <a:solidFill>
                      <a:srgbClr val="E6F4F6"/>
                    </a:solidFill>
                  </a:tcPr>
                </a:tc>
                <a:extLst>
                  <a:ext uri="{0D108BD9-81ED-4DB2-BD59-A6C34878D82A}">
                    <a16:rowId xmlns:a16="http://schemas.microsoft.com/office/drawing/2014/main" val="2686798067"/>
                  </a:ext>
                </a:extLst>
              </a:tr>
              <a:tr h="524486">
                <a:tc>
                  <a:txBody>
                    <a:bodyPr/>
                    <a:lstStyle/>
                    <a:p>
                      <a:pPr algn="l"/>
                      <a:r>
                        <a:rPr lang="en-IN" sz="1400" b="0">
                          <a:solidFill>
                            <a:srgbClr val="16223A"/>
                          </a:solidFill>
                          <a:latin typeface="Calibri"/>
                          <a:ea typeface="Calibri"/>
                          <a:cs typeface="Calibri"/>
                        </a:rPr>
                        <a:t>Stall current</a:t>
                      </a:r>
                    </a:p>
                  </a:txBody>
                  <a:tcPr anchor="ctr">
                    <a:solidFill>
                      <a:srgbClr val="F4F6F9"/>
                    </a:solidFill>
                  </a:tcPr>
                </a:tc>
                <a:tc>
                  <a:txBody>
                    <a:bodyPr/>
                    <a:lstStyle/>
                    <a:p>
                      <a:pPr algn="l"/>
                      <a:r>
                        <a:rPr lang="en-IN" sz="1400" dirty="0" b="0">
                          <a:solidFill>
                            <a:srgbClr val="3A4658"/>
                          </a:solidFill>
                          <a:latin typeface="Calibri"/>
                          <a:ea typeface="Calibri"/>
                          <a:cs typeface="Calibri"/>
                        </a:rPr>
                        <a:t>0.35 A</a:t>
                      </a:r>
                    </a:p>
                  </a:txBody>
                  <a:tcPr anchor="ctr">
                    <a:solidFill>
                      <a:srgbClr val="FFFFFF"/>
                    </a:solidFill>
                  </a:tcPr>
                </a:tc>
                <a:tc>
                  <a:txBody>
                    <a:bodyPr/>
                    <a:lstStyle/>
                    <a:p>
                      <a:pPr algn="l"/>
                      <a:r>
                        <a:rPr lang="en-IN" sz="1400" b="0">
                          <a:solidFill>
                            <a:srgbClr val="16223A"/>
                          </a:solidFill>
                          <a:latin typeface="Calibri"/>
                          <a:ea typeface="Calibri"/>
                          <a:cs typeface="Calibri"/>
                        </a:rPr>
                        <a:t>2.7 A @ 12 V</a:t>
                      </a:r>
                    </a:p>
                  </a:txBody>
                  <a:tcPr anchor="ctr">
                    <a:solidFill>
                      <a:srgbClr val="E6F4F6"/>
                    </a:solidFill>
                  </a:tcPr>
                </a:tc>
                <a:extLst>
                  <a:ext uri="{0D108BD9-81ED-4DB2-BD59-A6C34878D82A}">
                    <a16:rowId xmlns:a16="http://schemas.microsoft.com/office/drawing/2014/main" val="3806473319"/>
                  </a:ext>
                </a:extLst>
              </a:tr>
              <a:tr h="524486">
                <a:tc>
                  <a:txBody>
                    <a:bodyPr/>
                    <a:lstStyle/>
                    <a:p>
                      <a:pPr algn="l"/>
                      <a:r>
                        <a:rPr lang="en-IN" sz="1400" b="0">
                          <a:solidFill>
                            <a:srgbClr val="16223A"/>
                          </a:solidFill>
                          <a:latin typeface="Calibri"/>
                          <a:ea typeface="Calibri"/>
                          <a:cs typeface="Calibri"/>
                        </a:rPr>
                        <a:t>Encoder</a:t>
                      </a:r>
                    </a:p>
                  </a:txBody>
                  <a:tcPr anchor="ctr">
                    <a:solidFill>
                      <a:srgbClr val="F4F6F9"/>
                    </a:solidFill>
                  </a:tcPr>
                </a:tc>
                <a:tc>
                  <a:txBody>
                    <a:bodyPr/>
                    <a:lstStyle/>
                    <a:p>
                      <a:pPr algn="l"/>
                      <a:r>
                        <a:rPr lang="en-IN" sz="1400" dirty="0" b="0">
                          <a:solidFill>
                            <a:srgbClr val="3A4658"/>
                          </a:solidFill>
                          <a:latin typeface="Calibri"/>
                          <a:ea typeface="Calibri"/>
                          <a:cs typeface="Calibri"/>
                        </a:rPr>
                        <a:t>12-bit absolute</a:t>
                      </a:r>
                    </a:p>
                  </a:txBody>
                  <a:tcPr anchor="ctr">
                    <a:solidFill>
                      <a:srgbClr val="FFFFFF"/>
                    </a:solidFill>
                  </a:tcPr>
                </a:tc>
                <a:tc>
                  <a:txBody>
                    <a:bodyPr/>
                    <a:lstStyle/>
                    <a:p>
                      <a:pPr algn="l"/>
                      <a:r>
                        <a:rPr lang="en-IN" sz="1400" dirty="0" b="0">
                          <a:solidFill>
                            <a:srgbClr val="16223A"/>
                          </a:solidFill>
                          <a:latin typeface="Calibri"/>
                          <a:ea typeface="Calibri"/>
                          <a:cs typeface="Calibri"/>
                        </a:rPr>
                        <a:t>12-bit absolute, 0–4095</a:t>
                      </a:r>
                    </a:p>
                  </a:txBody>
                  <a:tcPr anchor="ctr">
                    <a:solidFill>
                      <a:srgbClr val="E6F4F6"/>
                    </a:solidFill>
                  </a:tcPr>
                </a:tc>
                <a:extLst>
                  <a:ext uri="{0D108BD9-81ED-4DB2-BD59-A6C34878D82A}">
                    <a16:rowId xmlns:a16="http://schemas.microsoft.com/office/drawing/2014/main" val="4040244787"/>
                  </a:ext>
                </a:extLst>
              </a:tr>
              <a:tr h="524486">
                <a:tc>
                  <a:txBody>
                    <a:bodyPr/>
                    <a:lstStyle/>
                    <a:p>
                      <a:pPr algn="l"/>
                      <a:r>
                        <a:rPr lang="en-IN" sz="1400" b="0">
                          <a:solidFill>
                            <a:srgbClr val="16223A"/>
                          </a:solidFill>
                          <a:latin typeface="Calibri"/>
                          <a:ea typeface="Calibri"/>
                          <a:cs typeface="Calibri"/>
                        </a:rPr>
                        <a:t>Bus protocol</a:t>
                      </a:r>
                    </a:p>
                  </a:txBody>
                  <a:tcPr anchor="ctr">
                    <a:solidFill>
                      <a:srgbClr val="F4F6F9"/>
                    </a:solidFill>
                  </a:tcPr>
                </a:tc>
                <a:tc>
                  <a:txBody>
                    <a:bodyPr/>
                    <a:lstStyle/>
                    <a:p>
                      <a:pPr algn="l"/>
                      <a:r>
                        <a:rPr lang="en-IN" sz="1400" dirty="0" b="0">
                          <a:solidFill>
                            <a:srgbClr val="3A4658"/>
                          </a:solidFill>
                          <a:latin typeface="Calibri"/>
                          <a:ea typeface="Calibri"/>
                          <a:cs typeface="Calibri"/>
                        </a:rPr>
                        <a:t>Dynamixel 2.0, 1 Mbps</a:t>
                      </a:r>
                    </a:p>
                  </a:txBody>
                  <a:tcPr anchor="ctr">
                    <a:solidFill>
                      <a:srgbClr val="FFFFFF"/>
                    </a:solidFill>
                  </a:tcPr>
                </a:tc>
                <a:tc>
                  <a:txBody>
                    <a:bodyPr/>
                    <a:lstStyle/>
                    <a:p>
                      <a:pPr algn="l"/>
                      <a:r>
                        <a:rPr lang="en-IN" sz="1400" dirty="0" b="0">
                          <a:solidFill>
                            <a:srgbClr val="16223A"/>
                          </a:solidFill>
                          <a:latin typeface="Calibri"/>
                          <a:ea typeface="Calibri"/>
                          <a:cs typeface="Calibri"/>
                        </a:rPr>
                        <a:t>Feetech STS, 1 Mbps half-duplex</a:t>
                      </a:r>
                    </a:p>
                  </a:txBody>
                  <a:tcPr anchor="ctr">
                    <a:solidFill>
                      <a:srgbClr val="E6F4F6"/>
                    </a:solidFill>
                  </a:tcPr>
                </a:tc>
                <a:extLst>
                  <a:ext uri="{0D108BD9-81ED-4DB2-BD59-A6C34878D82A}">
                    <a16:rowId xmlns:a16="http://schemas.microsoft.com/office/drawing/2014/main" val="2401347979"/>
                  </a:ext>
                </a:extLst>
              </a:tr>
              <a:tr h="524486">
                <a:tc>
                  <a:txBody>
                    <a:bodyPr/>
                    <a:lstStyle/>
                    <a:p>
                      <a:pPr algn="l"/>
                      <a:r>
                        <a:rPr lang="en-IN" sz="1400" b="0">
                          <a:solidFill>
                            <a:srgbClr val="16223A"/>
                          </a:solidFill>
                          <a:latin typeface="Calibri"/>
                          <a:ea typeface="Calibri"/>
                          <a:cs typeface="Calibri"/>
                        </a:rPr>
                        <a:t>Driver hardware</a:t>
                      </a:r>
                    </a:p>
                  </a:txBody>
                  <a:tcPr anchor="ctr">
                    <a:solidFill>
                      <a:srgbClr val="F4F6F9"/>
                    </a:solidFill>
                  </a:tcPr>
                </a:tc>
                <a:tc>
                  <a:txBody>
                    <a:bodyPr/>
                    <a:lstStyle/>
                    <a:p>
                      <a:pPr algn="l"/>
                      <a:r>
                        <a:rPr lang="en-IN" sz="1400" dirty="0" b="0">
                          <a:solidFill>
                            <a:srgbClr val="3A4658"/>
                          </a:solidFill>
                          <a:latin typeface="Calibri"/>
                          <a:ea typeface="Calibri"/>
                          <a:cs typeface="Calibri"/>
                        </a:rPr>
                        <a:t>U2D2 + Power Hub + MCU</a:t>
                      </a:r>
                    </a:p>
                  </a:txBody>
                  <a:tcPr anchor="ctr">
                    <a:solidFill>
                      <a:srgbClr val="FFFFFF"/>
                    </a:solidFill>
                  </a:tcPr>
                </a:tc>
                <a:tc>
                  <a:txBody>
                    <a:bodyPr/>
                    <a:lstStyle/>
                    <a:p>
                      <a:pPr algn="l"/>
                      <a:r>
                        <a:rPr lang="en-IN" sz="1400" dirty="0" b="0">
                          <a:solidFill>
                            <a:srgbClr val="16223A"/>
                          </a:solidFill>
                          <a:latin typeface="Calibri"/>
                          <a:ea typeface="Calibri"/>
                          <a:cs typeface="Calibri"/>
                        </a:rPr>
                        <a:t>Waveshare driver, ESP32 onboard</a:t>
                      </a:r>
                    </a:p>
                  </a:txBody>
                  <a:tcPr anchor="ctr">
                    <a:solidFill>
                      <a:srgbClr val="E6F4F6"/>
                    </a:solidFill>
                  </a:tcPr>
                </a:tc>
                <a:extLst>
                  <a:ext uri="{0D108BD9-81ED-4DB2-BD59-A6C34878D82A}">
                    <a16:rowId xmlns:a16="http://schemas.microsoft.com/office/drawing/2014/main" val="2339067859"/>
                  </a:ext>
                </a:extLst>
              </a:tr>
              <a:tr h="524486">
                <a:tc>
                  <a:txBody>
                    <a:bodyPr/>
                    <a:lstStyle/>
                    <a:p>
                      <a:pPr algn="l"/>
                      <a:r>
                        <a:rPr lang="en-IN" sz="1400" b="0" dirty="0">
                          <a:solidFill>
                            <a:srgbClr val="16223A"/>
                          </a:solidFill>
                          <a:latin typeface="Calibri"/>
                          <a:ea typeface="Calibri"/>
                          <a:cs typeface="Calibri"/>
                        </a:rPr>
                        <a:t>Availability in India</a:t>
                      </a:r>
                    </a:p>
                  </a:txBody>
                  <a:tcPr anchor="ctr">
                    <a:solidFill>
                      <a:srgbClr val="F4F6F9"/>
                    </a:solidFill>
                  </a:tcPr>
                </a:tc>
                <a:tc>
                  <a:txBody>
                    <a:bodyPr/>
                    <a:lstStyle/>
                    <a:p>
                      <a:pPr algn="l"/>
                      <a:r>
                        <a:rPr lang="en-IN" sz="1400" dirty="0" b="0">
                          <a:solidFill>
                            <a:srgbClr val="3A4658"/>
                          </a:solidFill>
                          <a:latin typeface="Calibri"/>
                          <a:ea typeface="Calibri"/>
                          <a:cs typeface="Calibri"/>
                        </a:rPr>
                        <a:t>Unobtainable</a:t>
                      </a:r>
                    </a:p>
                  </a:txBody>
                  <a:tcPr anchor="ctr">
                    <a:solidFill>
                      <a:srgbClr val="FFFFFF"/>
                    </a:solidFill>
                  </a:tcPr>
                </a:tc>
                <a:tc>
                  <a:txBody>
                    <a:bodyPr/>
                    <a:lstStyle/>
                    <a:p>
                      <a:pPr algn="l"/>
                      <a:r>
                        <a:rPr lang="en-IN" sz="1400" dirty="0" b="0">
                          <a:solidFill>
                            <a:srgbClr val="16223A"/>
                          </a:solidFill>
                          <a:latin typeface="Calibri"/>
                          <a:ea typeface="Calibri"/>
                          <a:cs typeface="Calibri"/>
                        </a:rPr>
                        <a:t>In stock — 10 units held</a:t>
                      </a:r>
                    </a:p>
                  </a:txBody>
                  <a:tcPr anchor="ctr">
                    <a:solidFill>
                      <a:srgbClr val="E6F4F6"/>
                    </a:solidFill>
                  </a:tcPr>
                </a:tc>
                <a:extLst>
                  <a:ext uri="{0D108BD9-81ED-4DB2-BD59-A6C34878D82A}">
                    <a16:rowId xmlns:a16="http://schemas.microsoft.com/office/drawing/2014/main" val="1084950083"/>
                  </a:ext>
                </a:extLst>
              </a:tr>
            </a:tbl>
          </a:graphicData>
        </a:graphic>
      </p:graphicFrame>
      <p:pic>
        <p:nvPicPr>
          <p:cNvPr id="9" name="Picture 8">
            <a:extLst>
              <a:ext uri="{FF2B5EF4-FFF2-40B4-BE49-F238E27FC236}">
                <a16:creationId xmlns:a16="http://schemas.microsoft.com/office/drawing/2014/main" id="{62BB27E5-1A94-7525-BF59-74EF6B337C81}"/>
              </a:ext>
            </a:extLst>
          </p:cNvPr>
          <p:cNvPicPr>
            <a:picLocks noChangeAspect="1"/>
          </p:cNvPicPr>
          <p:nvPr/>
        </p:nvPicPr>
        <p:blipFill>
          <a:blip r:embed="rId2"/>
          <a:stretch>
            <a:fillRect/>
          </a:stretch>
        </p:blipFill>
        <p:spPr>
          <a:xfrm>
            <a:off x="5968999" y="5866228"/>
            <a:ext cx="1676791" cy="915572"/>
          </a:xfrm>
          <a:prstGeom prst="rect">
            <a:avLst/>
          </a:prstGeom>
        </p:spPr>
      </p:pic>
      <p:pic>
        <p:nvPicPr>
          <p:cNvPr id="11" name="Picture 10">
            <a:extLst>
              <a:ext uri="{FF2B5EF4-FFF2-40B4-BE49-F238E27FC236}">
                <a16:creationId xmlns:a16="http://schemas.microsoft.com/office/drawing/2014/main" id="{C8D52D7D-EF94-EEFF-57BE-DFBE3ED682EB}"/>
              </a:ext>
            </a:extLst>
          </p:cNvPr>
          <p:cNvPicPr>
            <a:picLocks noChangeAspect="1"/>
          </p:cNvPicPr>
          <p:nvPr/>
        </p:nvPicPr>
        <p:blipFill>
          <a:blip r:embed="rId3"/>
          <a:stretch>
            <a:fillRect/>
          </a:stretch>
        </p:blipFill>
        <p:spPr>
          <a:xfrm>
            <a:off x="8932985" y="5765902"/>
            <a:ext cx="1485105" cy="1015898"/>
          </a:xfrm>
          <a:prstGeom prst="rect">
            <a:avLst/>
          </a:prstGeom>
        </p:spPr>
      </p:pic>
    </p:spTree>
    <p:extLst>
      <p:ext uri="{BB962C8B-B14F-4D97-AF65-F5344CB8AC3E}">
        <p14:creationId xmlns:p14="http://schemas.microsoft.com/office/powerpoint/2010/main" val="4284226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00" name="PwrBlock"/>
          <p:cNvSpPr/>
          <p:nvPr/>
        </p:nvSpPr>
        <p:spPr>
          <a:xfrm>
            <a:off x="635000" y="1143000"/>
            <a:ext cx="3683000" cy="609600"/>
          </a:xfrm>
          <a:prstGeom prst="rect">
            <a:avLst/>
          </a:prstGeom>
          <a:solidFill>
            <a:srgbClr val="E8F5EE"/>
          </a:solidFill>
          <a:ln w="19050">
            <a:solidFill>
              <a:srgbClr val="2E8A5A"/>
            </a:solidFill>
          </a:ln>
        </p:spPr>
        <p:txBody>
          <a:bodyPr/>
          <a:lstStyle/>
          <a:p>
            <a:endParaRPr/>
          </a:p>
        </p:txBody>
      </p:sp>
      <p:sp>
        <p:nvSpPr>
          <p:cNvPr id="401" name="PwrLabel"/>
          <p:cNvSpPr/>
          <p:nvPr/>
        </p:nvSpPr>
        <p:spPr>
          <a:xfrm>
            <a:off x="635000" y="1143000"/>
            <a:ext cx="3683000" cy="609600"/>
          </a:xfrm>
          <a:prstGeom prst="rect">
            <a:avLst/>
          </a:prstGeom>
          <a:noFill/>
          <a:ln>
            <a:noFill/>
          </a:ln>
        </p:spPr>
        <p:txBody>
          <a:bodyPr wrap="square" rtlCol="0" anchor="ctr"/>
          <a:lstStyle/>
          <a:p>
            <a:pPr marL="0" indent="0" algn="ctr">
              <a:buNone/>
            </a:pPr>
            <a:r>
              <a:rPr lang="en-US" sz="1100" b="1" dirty="0">
                <a:solidFill>
                  <a:srgbClr val="1A7A4A"/>
                </a:solidFill>
                <a:latin typeface="Calibri" pitchFamily="34" charset="0"/>
              </a:rPr>
              <a:t>3S LiPo 1800 mAh   (11.1 – 12.6 V)</a:t>
            </a:r>
          </a:p>
        </p:txBody>
      </p:sp>
      <p:sp>
        <p:nvSpPr>
          <p:cNvPr id="402" name="Arr1"/>
          <p:cNvSpPr/>
          <p:nvPr/>
        </p:nvSpPr>
        <p:spPr>
          <a:xfrm>
            <a:off x="2463800" y="1752600"/>
            <a:ext cx="25400" cy="203200"/>
          </a:xfrm>
          <a:prstGeom prst="rect">
            <a:avLst/>
          </a:prstGeom>
          <a:solidFill>
            <a:srgbClr val="4A6080"/>
          </a:solidFill>
          <a:ln>
            <a:noFill/>
          </a:ln>
        </p:spPr>
        <p:txBody>
          <a:bodyPr/>
          <a:lstStyle/>
          <a:p>
            <a:endParaRPr/>
          </a:p>
        </p:txBody>
      </p:sp>
      <p:sp>
        <p:nvSpPr>
          <p:cNvPr id="403" name="ArrH1"/>
          <p:cNvSpPr/>
          <p:nvPr/>
        </p:nvSpPr>
        <p:spPr>
          <a:xfrm flipV="1">
            <a:off x="2413000" y="1879600"/>
            <a:ext cx="127000" cy="101600"/>
          </a:xfrm>
          <a:prstGeom prst="triangle">
            <a:avLst/>
          </a:prstGeom>
          <a:solidFill>
            <a:srgbClr val="4A6080"/>
          </a:solidFill>
          <a:ln>
            <a:noFill/>
          </a:ln>
        </p:spPr>
        <p:txBody>
          <a:bodyPr/>
          <a:lstStyle/>
          <a:p>
            <a:endParaRPr/>
          </a:p>
        </p:txBody>
      </p:sp>
      <p:sp>
        <p:nvSpPr>
          <p:cNvPr id="404" name="RPiBlock"/>
          <p:cNvSpPr/>
          <p:nvPr/>
        </p:nvSpPr>
        <p:spPr>
          <a:xfrm>
            <a:off x="635000" y="1981200"/>
            <a:ext cx="3683000" cy="609600"/>
          </a:xfrm>
          <a:prstGeom prst="rect">
            <a:avLst/>
          </a:prstGeom>
          <a:solidFill>
            <a:srgbClr val="E8F5EE"/>
          </a:solidFill>
          <a:ln w="25400">
            <a:solidFill>
              <a:srgbClr val="2E8A5A"/>
            </a:solidFill>
          </a:ln>
        </p:spPr>
        <p:txBody>
          <a:bodyPr/>
          <a:lstStyle/>
          <a:p>
            <a:endParaRPr/>
          </a:p>
        </p:txBody>
      </p:sp>
      <p:sp>
        <p:nvSpPr>
          <p:cNvPr id="405" name="RPiLabel"/>
          <p:cNvSpPr/>
          <p:nvPr/>
        </p:nvSpPr>
        <p:spPr>
          <a:xfrm>
            <a:off x="635000" y="1981200"/>
            <a:ext cx="3683000" cy="609600"/>
          </a:xfrm>
          <a:prstGeom prst="rect">
            <a:avLst/>
          </a:prstGeom>
          <a:noFill/>
          <a:ln>
            <a:noFill/>
          </a:ln>
        </p:spPr>
        <p:txBody>
          <a:bodyPr wrap="square" rtlCol="0" anchor="ctr"/>
          <a:lstStyle/>
          <a:p>
            <a:pPr marL="0" indent="0" algn="ctr">
              <a:buNone/>
            </a:pPr>
            <a:r>
              <a:rPr lang="en-US" sz="1050" b="1" dirty="0">
                <a:solidFill>
                  <a:srgbClr val="1A7A4A"/>
                </a:solidFill>
                <a:latin typeface="Calibri" pitchFamily="34" charset="0"/>
              </a:rPr>
              <a:t>Waveshare Driver + ESP32   [Robot Master]</a:t>
            </a:r>
          </a:p>
        </p:txBody>
      </p:sp>
      <p:sp>
        <p:nvSpPr>
          <p:cNvPr id="406" name="Arr2"/>
          <p:cNvSpPr/>
          <p:nvPr/>
        </p:nvSpPr>
        <p:spPr>
          <a:xfrm>
            <a:off x="2463800" y="2590800"/>
            <a:ext cx="25400" cy="203200"/>
          </a:xfrm>
          <a:prstGeom prst="rect">
            <a:avLst/>
          </a:prstGeom>
          <a:solidFill>
            <a:srgbClr val="4A6080"/>
          </a:solidFill>
          <a:ln>
            <a:noFill/>
          </a:ln>
        </p:spPr>
        <p:txBody>
          <a:bodyPr/>
          <a:lstStyle/>
          <a:p>
            <a:endParaRPr/>
          </a:p>
        </p:txBody>
      </p:sp>
      <p:sp>
        <p:nvSpPr>
          <p:cNvPr id="407" name="ArrH2"/>
          <p:cNvSpPr/>
          <p:nvPr/>
        </p:nvSpPr>
        <p:spPr>
          <a:xfrm flipV="1">
            <a:off x="2413000" y="2717800"/>
            <a:ext cx="127000" cy="101600"/>
          </a:xfrm>
          <a:prstGeom prst="triangle">
            <a:avLst/>
          </a:prstGeom>
          <a:solidFill>
            <a:srgbClr val="4A6080"/>
          </a:solidFill>
          <a:ln>
            <a:noFill/>
          </a:ln>
        </p:spPr>
        <p:txBody>
          <a:bodyPr/>
          <a:lstStyle/>
          <a:p>
            <a:endParaRPr/>
          </a:p>
        </p:txBody>
      </p:sp>
      <p:sp>
        <p:nvSpPr>
          <p:cNvPr id="408" name="CommBlock"/>
          <p:cNvSpPr/>
          <p:nvPr/>
        </p:nvSpPr>
        <p:spPr>
          <a:xfrm>
            <a:off x="635000" y="2819400"/>
            <a:ext cx="3683000" cy="609600"/>
          </a:xfrm>
          <a:prstGeom prst="rect">
            <a:avLst/>
          </a:prstGeom>
          <a:solidFill>
            <a:srgbClr val="E8F0FA"/>
          </a:solidFill>
          <a:ln w="19050">
            <a:solidFill>
              <a:srgbClr val="2563A8"/>
            </a:solidFill>
          </a:ln>
        </p:spPr>
        <p:txBody>
          <a:bodyPr/>
          <a:lstStyle/>
          <a:p>
            <a:endParaRPr/>
          </a:p>
        </p:txBody>
      </p:sp>
      <p:sp>
        <p:nvSpPr>
          <p:cNvPr id="409" name="CommLabel"/>
          <p:cNvSpPr/>
          <p:nvPr/>
        </p:nvSpPr>
        <p:spPr>
          <a:xfrm>
            <a:off x="635000" y="28194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Feetech STS Bus   (1 Mbps, half-duplex)</a:t>
            </a:r>
          </a:p>
        </p:txBody>
      </p:sp>
      <p:sp>
        <p:nvSpPr>
          <p:cNvPr id="410" name="Arr3"/>
          <p:cNvSpPr/>
          <p:nvPr/>
        </p:nvSpPr>
        <p:spPr>
          <a:xfrm>
            <a:off x="2463800" y="3429000"/>
            <a:ext cx="25400" cy="203200"/>
          </a:xfrm>
          <a:prstGeom prst="rect">
            <a:avLst/>
          </a:prstGeom>
          <a:solidFill>
            <a:srgbClr val="4A6080"/>
          </a:solidFill>
          <a:ln>
            <a:noFill/>
          </a:ln>
        </p:spPr>
        <p:txBody>
          <a:bodyPr/>
          <a:lstStyle/>
          <a:p>
            <a:endParaRPr/>
          </a:p>
        </p:txBody>
      </p:sp>
      <p:sp>
        <p:nvSpPr>
          <p:cNvPr id="411" name="ArrH3"/>
          <p:cNvSpPr/>
          <p:nvPr/>
        </p:nvSpPr>
        <p:spPr>
          <a:xfrm flipV="1">
            <a:off x="2413000" y="3556000"/>
            <a:ext cx="127000" cy="101600"/>
          </a:xfrm>
          <a:prstGeom prst="triangle">
            <a:avLst/>
          </a:prstGeom>
          <a:solidFill>
            <a:srgbClr val="4A6080"/>
          </a:solidFill>
          <a:ln>
            <a:noFill/>
          </a:ln>
        </p:spPr>
        <p:txBody>
          <a:bodyPr/>
          <a:lstStyle/>
          <a:p>
            <a:endParaRPr/>
          </a:p>
        </p:txBody>
      </p:sp>
      <p:sp>
        <p:nvSpPr>
          <p:cNvPr id="412" name="DynBlock"/>
          <p:cNvSpPr/>
          <p:nvPr/>
        </p:nvSpPr>
        <p:spPr>
          <a:xfrm>
            <a:off x="635000" y="3657600"/>
            <a:ext cx="3683000" cy="609600"/>
          </a:xfrm>
          <a:prstGeom prst="rect">
            <a:avLst/>
          </a:prstGeom>
          <a:solidFill>
            <a:srgbClr val="E8F0FA"/>
          </a:solidFill>
          <a:ln w="19050">
            <a:solidFill>
              <a:srgbClr val="2563A8"/>
            </a:solidFill>
          </a:ln>
        </p:spPr>
        <p:txBody>
          <a:bodyPr/>
          <a:lstStyle/>
          <a:p>
            <a:endParaRPr/>
          </a:p>
        </p:txBody>
      </p:sp>
      <p:sp>
        <p:nvSpPr>
          <p:cNvPr id="413" name="DynLabel"/>
          <p:cNvSpPr/>
          <p:nvPr/>
        </p:nvSpPr>
        <p:spPr>
          <a:xfrm>
            <a:off x="635000" y="3657600"/>
            <a:ext cx="3683000" cy="609600"/>
          </a:xfrm>
          <a:prstGeom prst="rect">
            <a:avLst/>
          </a:prstGeom>
          <a:noFill/>
          <a:ln>
            <a:noFill/>
          </a:ln>
        </p:spPr>
        <p:txBody>
          <a:bodyPr wrap="square" rtlCol="0" anchor="ctr"/>
          <a:lstStyle/>
          <a:p>
            <a:pPr marL="0" indent="0" algn="ctr">
              <a:buNone/>
            </a:pPr>
            <a:r>
              <a:rPr lang="en-US" sz="1050" b="1" dirty="0">
                <a:solidFill>
                  <a:srgbClr val="1A5C8A"/>
                </a:solidFill>
                <a:latin typeface="Calibri" pitchFamily="34" charset="0"/>
              </a:rPr>
              <a:t>10 × Waveshare ST3215 Servos</a:t>
            </a:r>
          </a:p>
        </p:txBody>
      </p:sp>
      <p:sp>
        <p:nvSpPr>
          <p:cNvPr id="414" name="Arr4"/>
          <p:cNvSpPr/>
          <p:nvPr/>
        </p:nvSpPr>
        <p:spPr>
          <a:xfrm>
            <a:off x="2463800" y="4267200"/>
            <a:ext cx="25400" cy="203200"/>
          </a:xfrm>
          <a:prstGeom prst="rect">
            <a:avLst/>
          </a:prstGeom>
          <a:solidFill>
            <a:srgbClr val="4A6080"/>
          </a:solidFill>
          <a:ln>
            <a:noFill/>
          </a:ln>
        </p:spPr>
        <p:txBody>
          <a:bodyPr/>
          <a:lstStyle/>
          <a:p>
            <a:endParaRPr/>
          </a:p>
        </p:txBody>
      </p:sp>
      <p:sp>
        <p:nvSpPr>
          <p:cNvPr id="415" name="ArrH4"/>
          <p:cNvSpPr/>
          <p:nvPr/>
        </p:nvSpPr>
        <p:spPr>
          <a:xfrm flipV="1">
            <a:off x="2413000" y="4394200"/>
            <a:ext cx="127000" cy="101600"/>
          </a:xfrm>
          <a:prstGeom prst="triangle">
            <a:avLst/>
          </a:prstGeom>
          <a:solidFill>
            <a:srgbClr val="4A6080"/>
          </a:solidFill>
          <a:ln>
            <a:noFill/>
          </a:ln>
        </p:spPr>
        <p:txBody>
          <a:bodyPr/>
          <a:lstStyle/>
          <a:p>
            <a:endParaRPr/>
          </a:p>
        </p:txBody>
      </p:sp>
      <p:sp>
        <p:nvSpPr>
          <p:cNvPr id="416" name="RobBlock"/>
          <p:cNvSpPr/>
          <p:nvPr/>
        </p:nvSpPr>
        <p:spPr>
          <a:xfrm>
            <a:off x="635000" y="4495800"/>
            <a:ext cx="3683000" cy="609600"/>
          </a:xfrm>
          <a:prstGeom prst="rect">
            <a:avLst/>
          </a:prstGeom>
          <a:solidFill>
            <a:srgbClr val="E8F0FA"/>
          </a:solidFill>
          <a:ln w="19050">
            <a:solidFill>
              <a:srgbClr val="2563A8"/>
            </a:solidFill>
          </a:ln>
        </p:spPr>
        <p:txBody>
          <a:bodyPr/>
          <a:lstStyle/>
          <a:p>
            <a:endParaRPr/>
          </a:p>
        </p:txBody>
      </p:sp>
      <p:sp>
        <p:nvSpPr>
          <p:cNvPr id="417" name="RobLabel"/>
          <p:cNvSpPr/>
          <p:nvPr/>
        </p:nvSpPr>
        <p:spPr>
          <a:xfrm>
            <a:off x="635000" y="44958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Robot Segments   (10 × servo joints)</a:t>
            </a:r>
          </a:p>
        </p:txBody>
      </p:sp>
      <p:sp>
        <p:nvSpPr>
          <p:cNvPr id="420" name="CABlock"/>
          <p:cNvSpPr/>
          <p:nvPr/>
        </p:nvSpPr>
        <p:spPr>
          <a:xfrm>
            <a:off x="4826000" y="2019300"/>
            <a:ext cx="2159000" cy="533400"/>
          </a:xfrm>
          <a:prstGeom prst="rect">
            <a:avLst/>
          </a:prstGeom>
          <a:solidFill>
            <a:srgbClr val="E8F5EE"/>
          </a:solidFill>
          <a:ln w="19050">
            <a:solidFill>
              <a:srgbClr val="2E8A5A"/>
            </a:solidFill>
          </a:ln>
        </p:spPr>
        <p:txBody>
          <a:bodyPr/>
          <a:lstStyle/>
          <a:p>
            <a:endParaRPr/>
          </a:p>
        </p:txBody>
      </p:sp>
      <p:sp>
        <p:nvSpPr>
          <p:cNvPr id="421" name="CALabel"/>
          <p:cNvSpPr/>
          <p:nvPr/>
        </p:nvSpPr>
        <p:spPr>
          <a:xfrm>
            <a:off x="4826000" y="2019300"/>
            <a:ext cx="2159000" cy="533400"/>
          </a:xfrm>
          <a:prstGeom prst="rect">
            <a:avLst/>
          </a:prstGeom>
          <a:noFill/>
          <a:ln>
            <a:noFill/>
          </a:ln>
        </p:spPr>
        <p:txBody>
          <a:bodyPr wrap="square" rtlCol="0" anchor="ctr"/>
          <a:lstStyle/>
          <a:p>
            <a:pPr marL="0" indent="0" algn="ctr">
              <a:buNone/>
            </a:pPr>
            <a:r>
              <a:rPr lang="en-US" sz="1000" b="1" dirty="0">
                <a:solidFill>
                  <a:srgbClr val="1A7A4A"/>
                </a:solidFill>
                <a:latin typeface="Calibri" pitchFamily="34" charset="0"/>
              </a:rPr>
              <a:t>Gait CPG runs onboard</a:t>
            </a:r>
          </a:p>
        </p:txBody>
      </p:sp>
      <p:sp>
        <p:nvSpPr>
          <p:cNvPr id="422" name="HConn1"/>
          <p:cNvSpPr/>
          <p:nvPr/>
        </p:nvSpPr>
        <p:spPr>
          <a:xfrm>
            <a:off x="4318000" y="2273300"/>
            <a:ext cx="508000" cy="25400"/>
          </a:xfrm>
          <a:prstGeom prst="rect">
            <a:avLst/>
          </a:prstGeom>
          <a:solidFill>
            <a:srgbClr val="4A6080"/>
          </a:solidFill>
          <a:ln>
            <a:noFill/>
          </a:ln>
        </p:spPr>
        <p:txBody>
          <a:bodyPr/>
          <a:lstStyle/>
          <a:p>
            <a:endParaRPr/>
          </a:p>
        </p:txBody>
      </p:sp>
      <p:sp>
        <p:nvSpPr>
          <p:cNvPr id="451" name="SensorBox"/>
          <p:cNvSpPr/>
          <p:nvPr/>
        </p:nvSpPr>
        <p:spPr>
          <a:xfrm>
            <a:off x="7620000" y="1308100"/>
            <a:ext cx="2362200" cy="533400"/>
          </a:xfrm>
          <a:prstGeom prst="rect">
            <a:avLst/>
          </a:prstGeom>
          <a:solidFill>
            <a:srgbClr val="EAEEF4"/>
          </a:solidFill>
          <a:ln w="19050">
            <a:solidFill>
              <a:srgbClr val="8A96A8"/>
            </a:solidFill>
            <a:prstDash val="dash"/>
          </a:ln>
        </p:spPr>
        <p:txBody>
          <a:bodyPr/>
          <a:lstStyle/>
          <a:p>
            <a:endParaRPr/>
          </a:p>
        </p:txBody>
      </p:sp>
      <p:sp>
        <p:nvSpPr>
          <p:cNvPr id="452" name="SensorLabel"/>
          <p:cNvSpPr/>
          <p:nvPr/>
        </p:nvSpPr>
        <p:spPr>
          <a:xfrm>
            <a:off x="7620000" y="13081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MPU6050 IMU  (I²C 21 / 22)</a:t>
            </a:r>
          </a:p>
        </p:txBody>
      </p:sp>
      <p:sp>
        <p:nvSpPr>
          <p:cNvPr id="453" name="CamBox"/>
          <p:cNvSpPr/>
          <p:nvPr/>
        </p:nvSpPr>
        <p:spPr>
          <a:xfrm>
            <a:off x="7620000" y="1968500"/>
            <a:ext cx="2362200" cy="533400"/>
          </a:xfrm>
          <a:prstGeom prst="rect">
            <a:avLst/>
          </a:prstGeom>
          <a:solidFill>
            <a:srgbClr val="EAEEF4"/>
          </a:solidFill>
          <a:ln w="19050">
            <a:solidFill>
              <a:srgbClr val="8A96A8"/>
            </a:solidFill>
            <a:prstDash val="dash"/>
          </a:ln>
        </p:spPr>
        <p:txBody>
          <a:bodyPr/>
          <a:lstStyle/>
          <a:p>
            <a:endParaRPr/>
          </a:p>
        </p:txBody>
      </p:sp>
      <p:sp>
        <p:nvSpPr>
          <p:cNvPr id="454" name="CamLabel"/>
          <p:cNvSpPr/>
          <p:nvPr/>
        </p:nvSpPr>
        <p:spPr>
          <a:xfrm>
            <a:off x="7620000" y="19685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ESP32 Camera  (planned)</a:t>
            </a:r>
          </a:p>
        </p:txBody>
      </p:sp>
      <p:sp>
        <p:nvSpPr>
          <p:cNvPr id="455" name="WirelessBox"/>
          <p:cNvSpPr/>
          <p:nvPr/>
        </p:nvSpPr>
        <p:spPr>
          <a:xfrm>
            <a:off x="7620000" y="2628900"/>
            <a:ext cx="2362200" cy="533400"/>
          </a:xfrm>
          <a:prstGeom prst="rect">
            <a:avLst/>
          </a:prstGeom>
          <a:solidFill>
            <a:srgbClr val="EAEEF4"/>
          </a:solidFill>
          <a:ln w="19050">
            <a:solidFill>
              <a:srgbClr val="8A96A8"/>
            </a:solidFill>
            <a:prstDash val="dash"/>
          </a:ln>
        </p:spPr>
        <p:txBody>
          <a:bodyPr/>
          <a:lstStyle/>
          <a:p>
            <a:endParaRPr/>
          </a:p>
        </p:txBody>
      </p:sp>
      <p:sp>
        <p:nvSpPr>
          <p:cNvPr id="456" name="WirelessLabel"/>
          <p:cNvSpPr/>
          <p:nvPr/>
        </p:nvSpPr>
        <p:spPr>
          <a:xfrm>
            <a:off x="7620000" y="26289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ESP-NOW → ESP32 #2 → Pi 5</a:t>
            </a:r>
          </a:p>
        </p:txBody>
      </p:sp>
      <p:sp>
        <p:nvSpPr>
          <p:cNvPr id="460" name="FutConn1"/>
          <p:cNvSpPr/>
          <p:nvPr/>
        </p:nvSpPr>
        <p:spPr>
          <a:xfrm>
            <a:off x="4318000" y="3111500"/>
            <a:ext cx="3302000" cy="25400"/>
          </a:xfrm>
          <a:prstGeom prst="rect">
            <a:avLst/>
          </a:prstGeom>
          <a:solidFill>
            <a:srgbClr val="9AACBE"/>
          </a:solidFill>
          <a:ln>
            <a:noFill/>
          </a:ln>
        </p:spPr>
        <p:txBody>
          <a:bodyPr/>
          <a:lstStyle/>
          <a:p>
            <a:endParaRPr/>
          </a:p>
        </p:txBody>
      </p:sp>
      <p:sp>
        <p:nvSpPr>
          <p:cNvPr id="470" name="LegHeader"/>
          <p:cNvSpPr/>
          <p:nvPr/>
        </p:nvSpPr>
        <p:spPr>
          <a:xfrm>
            <a:off x="7620000" y="4546600"/>
            <a:ext cx="2286000" cy="203200"/>
          </a:xfrm>
          <a:prstGeom prst="rect">
            <a:avLst/>
          </a:prstGeom>
          <a:noFill/>
          <a:ln>
            <a:noFill/>
          </a:ln>
        </p:spPr>
        <p:txBody>
          <a:bodyPr wrap="square" rtlCol="0" anchor="ctr"/>
          <a:lstStyle/>
          <a:p>
            <a:pPr marL="0" indent="0" algn="l">
              <a:buNone/>
            </a:pPr>
            <a:r>
              <a:rPr lang="en-US" sz="1000" b="1" dirty="0">
                <a:solidFill>
                  <a:srgbClr val="334860"/>
                </a:solidFill>
                <a:latin typeface="Calibri" pitchFamily="34" charset="0"/>
              </a:rPr>
              <a:t>LEGEND</a:t>
            </a:r>
          </a:p>
        </p:txBody>
      </p:sp>
      <p:sp>
        <p:nvSpPr>
          <p:cNvPr id="471" name="LegGreen"/>
          <p:cNvSpPr/>
          <p:nvPr/>
        </p:nvSpPr>
        <p:spPr>
          <a:xfrm>
            <a:off x="7620000" y="4775200"/>
            <a:ext cx="177800" cy="177800"/>
          </a:xfrm>
          <a:prstGeom prst="rect">
            <a:avLst/>
          </a:prstGeom>
          <a:solidFill>
            <a:srgbClr val="E8F5EE"/>
          </a:solidFill>
          <a:ln w="12700">
            <a:solidFill>
              <a:srgbClr val="2E8A5A"/>
            </a:solidFill>
          </a:ln>
        </p:spPr>
        <p:txBody>
          <a:bodyPr/>
          <a:lstStyle/>
          <a:p>
            <a:endParaRPr/>
          </a:p>
        </p:txBody>
      </p:sp>
      <p:sp>
        <p:nvSpPr>
          <p:cNvPr id="472" name="LegGreenTxt"/>
          <p:cNvSpPr/>
          <p:nvPr/>
        </p:nvSpPr>
        <p:spPr>
          <a:xfrm>
            <a:off x="7848600" y="47498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Implemented</a:t>
            </a:r>
          </a:p>
        </p:txBody>
      </p:sp>
      <p:sp>
        <p:nvSpPr>
          <p:cNvPr id="473" name="LegBlue"/>
          <p:cNvSpPr/>
          <p:nvPr/>
        </p:nvSpPr>
        <p:spPr>
          <a:xfrm>
            <a:off x="7620000" y="5003800"/>
            <a:ext cx="177800" cy="177800"/>
          </a:xfrm>
          <a:prstGeom prst="rect">
            <a:avLst/>
          </a:prstGeom>
          <a:solidFill>
            <a:srgbClr val="E8F0FA"/>
          </a:solidFill>
          <a:ln w="12700">
            <a:solidFill>
              <a:srgbClr val="2563A8"/>
            </a:solidFill>
          </a:ln>
        </p:spPr>
        <p:txBody>
          <a:bodyPr/>
          <a:lstStyle/>
          <a:p>
            <a:endParaRPr/>
          </a:p>
        </p:txBody>
      </p:sp>
      <p:sp>
        <p:nvSpPr>
          <p:cNvPr id="474" name="LegBlueTxt"/>
          <p:cNvSpPr/>
          <p:nvPr/>
        </p:nvSpPr>
        <p:spPr>
          <a:xfrm>
            <a:off x="7848600" y="49784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In Progress</a:t>
            </a:r>
          </a:p>
        </p:txBody>
      </p:sp>
      <p:sp>
        <p:nvSpPr>
          <p:cNvPr id="475" name="LegGrey"/>
          <p:cNvSpPr/>
          <p:nvPr/>
        </p:nvSpPr>
        <p:spPr>
          <a:xfrm>
            <a:off x="7620000" y="5232400"/>
            <a:ext cx="177800" cy="177800"/>
          </a:xfrm>
          <a:prstGeom prst="rect">
            <a:avLst/>
          </a:prstGeom>
          <a:noFill/>
          <a:ln w="19050">
            <a:solidFill>
              <a:srgbClr val="8A96A8"/>
            </a:solidFill>
            <a:prstDash val="dash"/>
          </a:ln>
        </p:spPr>
        <p:txBody>
          <a:bodyPr/>
          <a:lstStyle/>
          <a:p>
            <a:endParaRPr/>
          </a:p>
        </p:txBody>
      </p:sp>
      <p:sp>
        <p:nvSpPr>
          <p:cNvPr id="476" name="LegGreyTxt"/>
          <p:cNvSpPr/>
          <p:nvPr/>
        </p:nvSpPr>
        <p:spPr>
          <a:xfrm>
            <a:off x="7848600" y="5207000"/>
            <a:ext cx="2159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Planned Future Work</a:t>
            </a:r>
          </a:p>
        </p:txBody>
      </p:sp>
      <p:sp>
        <p:nvSpPr>
          <p:cNvPr id="480" name="SepLine"/>
          <p:cNvSpPr/>
          <p:nvPr/>
        </p:nvSpPr>
        <p:spPr>
          <a:xfrm>
            <a:off x="558800" y="5511800"/>
            <a:ext cx="11049000" cy="12700"/>
          </a:xfrm>
          <a:prstGeom prst="rect">
            <a:avLst/>
          </a:prstGeom>
          <a:solidFill>
            <a:srgbClr val="DDE5EF"/>
          </a:solidFill>
          <a:ln>
            <a:noFill/>
          </a:ln>
        </p:spPr>
        <p:txBody>
          <a:bodyPr/>
          <a:lstStyle/>
          <a:p>
            <a:endParaRPr/>
          </a:p>
        </p:txBody>
      </p:sp>
      <p:sp>
        <p:nvSpPr>
          <p:cNvPr id="481" name="StatHead"/>
          <p:cNvSpPr/>
          <p:nvPr/>
        </p:nvSpPr>
        <p:spPr>
          <a:xfrm>
            <a:off x="558800" y="5588000"/>
            <a:ext cx="4318000" cy="203200"/>
          </a:xfrm>
          <a:prstGeom prst="rect">
            <a:avLst/>
          </a:prstGeom>
          <a:noFill/>
          <a:ln>
            <a:noFill/>
          </a:ln>
        </p:spPr>
        <p:txBody>
          <a:bodyPr wrap="square" rtlCol="0" anchor="ctr"/>
          <a:lstStyle/>
          <a:p>
            <a:pPr marL="0" indent="0" algn="l">
              <a:buNone/>
            </a:pPr>
            <a:r>
              <a:rPr lang="en-US" sz="1150" b="1" dirty="0">
                <a:solidFill>
                  <a:srgbClr val="16223A"/>
                </a:solidFill>
                <a:latin typeface="Calibri" pitchFamily="34" charset="0"/>
              </a:rPr>
              <a:t>Generation 2 Implementation Status</a:t>
            </a:r>
          </a:p>
        </p:txBody>
      </p:sp>
      <p:sp>
        <p:nvSpPr>
          <p:cNvPr id="490" name="Dot0"/>
          <p:cNvSpPr/>
          <p:nvPr/>
        </p:nvSpPr>
        <p:spPr>
          <a:xfrm>
            <a:off x="558800" y="5892800"/>
            <a:ext cx="101600" cy="101600"/>
          </a:xfrm>
          <a:prstGeom prst="rect">
            <a:avLst/>
          </a:prstGeom>
          <a:solidFill>
            <a:srgbClr val="1A7A4A"/>
          </a:solidFill>
          <a:ln>
            <a:noFill/>
          </a:ln>
        </p:spPr>
        <p:txBody>
          <a:bodyPr/>
          <a:lstStyle/>
          <a:p>
            <a:endParaRPr/>
          </a:p>
        </p:txBody>
      </p:sp>
      <p:sp>
        <p:nvSpPr>
          <p:cNvPr id="491" name="StatItem0"/>
          <p:cNvSpPr/>
          <p:nvPr/>
        </p:nvSpPr>
        <p:spPr>
          <a:xfrm>
            <a:off x="698500" y="5842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All firmware targets written and building</a:t>
            </a:r>
          </a:p>
        </p:txBody>
      </p:sp>
      <p:sp>
        <p:nvSpPr>
          <p:cNvPr id="494" name="Dot1"/>
          <p:cNvSpPr/>
          <p:nvPr/>
        </p:nvSpPr>
        <p:spPr>
          <a:xfrm>
            <a:off x="558800" y="6146800"/>
            <a:ext cx="101600" cy="101600"/>
          </a:xfrm>
          <a:prstGeom prst="rect">
            <a:avLst/>
          </a:prstGeom>
          <a:solidFill>
            <a:srgbClr val="1A7A4A"/>
          </a:solidFill>
          <a:ln>
            <a:noFill/>
          </a:ln>
        </p:spPr>
        <p:txBody>
          <a:bodyPr/>
          <a:lstStyle/>
          <a:p>
            <a:endParaRPr/>
          </a:p>
        </p:txBody>
      </p:sp>
      <p:sp>
        <p:nvSpPr>
          <p:cNvPr id="495" name="StatItem1"/>
          <p:cNvSpPr/>
          <p:nvPr/>
        </p:nvSpPr>
        <p:spPr>
          <a:xfrm>
            <a:off x="698500" y="6096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Servo IDs not yet assigned — all ship as ID 1</a:t>
            </a:r>
          </a:p>
        </p:txBody>
      </p:sp>
      <p:sp>
        <p:nvSpPr>
          <p:cNvPr id="498" name="Dot2_0"/>
          <p:cNvSpPr/>
          <p:nvPr/>
        </p:nvSpPr>
        <p:spPr>
          <a:xfrm>
            <a:off x="6223000" y="5892800"/>
            <a:ext cx="101600" cy="101600"/>
          </a:xfrm>
          <a:prstGeom prst="rect">
            <a:avLst/>
          </a:prstGeom>
          <a:solidFill>
            <a:srgbClr val="1A5C8A"/>
          </a:solidFill>
          <a:ln>
            <a:noFill/>
          </a:ln>
        </p:spPr>
        <p:txBody>
          <a:bodyPr/>
          <a:lstStyle/>
          <a:p>
            <a:endParaRPr/>
          </a:p>
        </p:txBody>
      </p:sp>
      <p:sp>
        <p:nvSpPr>
          <p:cNvPr id="499" name="StatItem2_0"/>
          <p:cNvSpPr/>
          <p:nvPr/>
        </p:nvSpPr>
        <p:spPr>
          <a:xfrm>
            <a:off x="6375400" y="5842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v6 segments not yet printed</a:t>
            </a:r>
          </a:p>
        </p:txBody>
      </p:sp>
      <p:sp>
        <p:nvSpPr>
          <p:cNvPr id="502" name="Dot2_1"/>
          <p:cNvSpPr/>
          <p:nvPr/>
        </p:nvSpPr>
        <p:spPr>
          <a:xfrm>
            <a:off x="6223000" y="6146800"/>
            <a:ext cx="101600" cy="101600"/>
          </a:xfrm>
          <a:prstGeom prst="rect">
            <a:avLst/>
          </a:prstGeom>
          <a:solidFill>
            <a:srgbClr val="1A5C8A"/>
          </a:solidFill>
          <a:ln>
            <a:noFill/>
          </a:ln>
        </p:spPr>
        <p:txBody>
          <a:bodyPr/>
          <a:lstStyle/>
          <a:p>
            <a:endParaRPr/>
          </a:p>
        </p:txBody>
      </p:sp>
      <p:sp>
        <p:nvSpPr>
          <p:cNvPr id="503" name="StatItem2_1"/>
          <p:cNvSpPr/>
          <p:nvPr/>
        </p:nvSpPr>
        <p:spPr>
          <a:xfrm>
            <a:off x="6375400" y="6096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ESP-NOW link not yet exercised on hardware</a:t>
            </a:r>
          </a:p>
        </p:txBody>
      </p:sp>
      <p:sp>
        <p:nvSpPr>
          <p:cNvPr id="2" name="Text 0"/>
          <p:cNvSpPr/>
          <p:nvPr/>
        </p:nvSpPr>
        <p:spPr>
          <a:xfrm>
            <a:off x="533400" y="127000"/>
            <a:ext cx="6350000" cy="1778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GEN 1 → GEN 2 ARCHITECTURE</a:t>
            </a:r>
            <a:endParaRPr lang="en-US" sz="1200" dirty="0"/>
          </a:p>
        </p:txBody>
      </p:sp>
      <p:sp>
        <p:nvSpPr>
          <p:cNvPr id="3" name="Text 1"/>
          <p:cNvSpPr/>
          <p:nvPr/>
        </p:nvSpPr>
        <p:spPr>
          <a:xfrm>
            <a:off x="533400" y="330200"/>
            <a:ext cx="6858000" cy="457200"/>
          </a:xfrm>
          <a:prstGeom prst="rect">
            <a:avLst/>
          </a:prstGeom>
          <a:noFill/>
          <a:ln/>
        </p:spPr>
        <p:txBody>
          <a:bodyPr wrap="square" lIns="0" tIns="0" rIns="0" bIns="0" rtlCol="0" anchor="ctr"/>
          <a:lstStyle/>
          <a:p>
            <a:pPr marL="0" indent="0">
              <a:buNone/>
            </a:pPr>
            <a:r>
              <a:rPr lang="en-US" sz="2600" b="1" dirty="0">
                <a:solidFill>
                  <a:srgbClr val="16223A"/>
                </a:solidFill>
                <a:latin typeface="Calibri" pitchFamily="34" charset="0"/>
                <a:ea typeface="Calibri" pitchFamily="34" charset="-122"/>
                <a:cs typeface="Calibri" pitchFamily="34" charset="-120"/>
              </a:rPr>
              <a:t>From Tethered Pi Control to Onboard ESP32</a:t>
            </a:r>
            <a:endParaRPr lang="en-US" sz="2600" dirty="0"/>
          </a:p>
        </p:txBody>
      </p:sp>
      <p:sp>
        <p:nvSpPr>
          <p:cNvPr id="10" name="Text 8"/>
          <p:cNvSpPr/>
          <p:nvPr/>
        </p:nvSpPr>
        <p:spPr>
          <a:xfrm>
            <a:off x="533400" y="812800"/>
            <a:ext cx="8128000" cy="203200"/>
          </a:xfrm>
          <a:prstGeom prst="rect">
            <a:avLst/>
          </a:prstGeom>
          <a:noFill/>
          <a:ln/>
        </p:spPr>
        <p:txBody>
          <a:bodyPr wrap="square" lIns="0" tIns="0" rIns="0" bIns="0" rtlCol="0" anchor="ctr"/>
          <a:lstStyle/>
          <a:p>
            <a:pPr marL="0" indent="0">
              <a:buNone/>
            </a:pPr>
            <a:r>
              <a:rPr lang="en-US" sz="1150" b="1" dirty="0">
                <a:solidFill>
                  <a:srgbClr val="12A678"/>
                </a:solidFill>
                <a:latin typeface="Calibri" pitchFamily="34" charset="0"/>
                <a:ea typeface="Calibri" pitchFamily="34" charset="-122"/>
                <a:cs typeface="Calibri" pitchFamily="34" charset="-120"/>
              </a:rPr>
              <a:t>Control moved onto the robot    ·    Pi 5 relegated to base station    ·    Link is now wireless</a:t>
            </a:r>
            <a:endParaRPr lang="en-US" sz="1150" dirty="0"/>
          </a:p>
        </p:txBody>
      </p:sp>
      <p:sp>
        <p:nvSpPr>
          <p:cNvPr id="450" name="FutHeader"/>
          <p:cNvSpPr/>
          <p:nvPr/>
        </p:nvSpPr>
        <p:spPr>
          <a:xfrm>
            <a:off x="7620000" y="1117600"/>
            <a:ext cx="2362200" cy="177800"/>
          </a:xfrm>
          <a:prstGeom prst="rect">
            <a:avLst/>
          </a:prstGeom>
          <a:noFill/>
          <a:ln>
            <a:noFill/>
          </a:ln>
        </p:spPr>
        <p:txBody>
          <a:bodyPr wrap="square" rtlCol="0" anchor="ctr"/>
          <a:lstStyle/>
          <a:p>
            <a:pPr marL="0" indent="0" algn="l">
              <a:buNone/>
            </a:pPr>
            <a:r>
              <a:rPr lang="en-US" sz="900" b="1" dirty="0">
                <a:solidFill>
                  <a:srgbClr val="9A6520"/>
                </a:solidFill>
                <a:latin typeface="Calibri" pitchFamily="34" charset="0"/>
              </a:rPr>
              <a:t>OFF-ROBOT &amp; PLANNED</a:t>
            </a:r>
          </a:p>
        </p:txBody>
      </p:sp>
      <p:sp>
        <p:nvSpPr>
          <p:cNvPr id="600" name="AccentLine"/>
          <p:cNvSpPr/>
          <p:nvPr/>
        </p:nvSpPr>
        <p:spPr>
          <a:xfrm>
            <a:off x="533400" y="304800"/>
            <a:ext cx="11074400" cy="12700"/>
          </a:xfrm>
          <a:prstGeom prst="rect">
            <a:avLst/>
          </a:prstGeom>
          <a:solidFill>
            <a:srgbClr val="0E96AC"/>
          </a:solidFill>
          <a:ln>
            <a:noFill/>
          </a:ln>
        </p:spPr>
        <p:txBody>
          <a:bodyPr/>
          <a:lstStyle/>
          <a:p>
            <a:endParaRPr/>
          </a:p>
        </p:txBody>
      </p:sp>
    </p:spTree>
    <p:extLst>
      <p:ext uri="{BB962C8B-B14F-4D97-AF65-F5344CB8AC3E}">
        <p14:creationId xmlns:p14="http://schemas.microsoft.com/office/powerpoint/2010/main" val="341458469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100" name="bg_top"/>
          <p:cNvSpPr>
            <a:spLocks noGrp="1"/>
          </p:cNvSpPr>
          <p:nvPr/>
        </p:nvSpPr>
        <p:spPr>
          <a:xfrm>
            <a:off x="0" y="0"/>
            <a:ext cx="12192000" cy="1397000"/>
          </a:xfrm>
          <a:prstGeom prst="rect">
            <a:avLst/>
          </a:prstGeom>
          <a:solidFill>
            <a:srgbClr val="F4F6F9"/>
          </a:solidFill>
          <a:ln>
            <a:noFill/>
          </a:ln>
        </p:spPr>
        <p:txBody>
          <a:bodyPr/>
          <a:lstStyle/>
          <a:p>
            <a:endParaRPr lang="en-US"/>
          </a:p>
        </p:txBody>
      </p:sp>
      <p:sp>
        <p:nvSpPr>
          <p:cNvPr id="101" name="bg_body"/>
          <p:cNvSpPr>
            <a:spLocks noGrp="1"/>
          </p:cNvSpPr>
          <p:nvPr/>
        </p:nvSpPr>
        <p:spPr>
          <a:xfrm>
            <a:off x="0" y="1397000"/>
            <a:ext cx="12192000" cy="5461000"/>
          </a:xfrm>
          <a:prstGeom prst="rect">
            <a:avLst/>
          </a:prstGeom>
          <a:solidFill>
            <a:srgbClr val="FFFFFF"/>
          </a:solidFill>
          <a:ln>
            <a:noFill/>
          </a:ln>
        </p:spPr>
        <p:txBody>
          <a:bodyPr/>
          <a:lstStyle/>
          <a:p>
            <a:endParaRPr lang="en-US"/>
          </a:p>
        </p:txBody>
      </p:sp>
      <p:sp>
        <p:nvSpPr>
          <p:cNvPr id="102" name="accent_bar"/>
          <p:cNvSpPr>
            <a:spLocks noGrp="1"/>
          </p:cNvSpPr>
          <p:nvPr/>
        </p:nvSpPr>
        <p:spPr>
          <a:xfrm>
            <a:off x="0" y="0"/>
            <a:ext cx="12192000" cy="63500"/>
          </a:xfrm>
          <a:prstGeom prst="rect">
            <a:avLst/>
          </a:prstGeom>
          <a:solidFill>
            <a:srgbClr val="0E96AC"/>
          </a:solidFill>
          <a:ln>
            <a:noFill/>
          </a:ln>
        </p:spPr>
        <p:txBody>
          <a:bodyPr/>
          <a:lstStyle/>
          <a:p>
            <a:endParaRPr lang="en-US"/>
          </a:p>
        </p:txBody>
      </p:sp>
      <p:sp>
        <p:nvSpPr>
          <p:cNvPr id="103" name="subtitle"/>
          <p:cNvSpPr txBox="1">
            <a:spLocks noGrp="1"/>
          </p:cNvSpPr>
          <p:nvPr/>
        </p:nvSpPr>
        <p:spPr>
          <a:xfrm>
            <a:off x="546100" y="177800"/>
            <a:ext cx="8636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ONBOARD FIRMWARE STACK</a:t>
            </a:r>
          </a:p>
        </p:txBody>
      </p:sp>
      <p:sp>
        <p:nvSpPr>
          <p:cNvPr id="104" name="title"/>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ESP32 Firmware — Four Targets, One Bus</a:t>
            </a:r>
          </a:p>
        </p:txBody>
      </p:sp>
      <p:sp>
        <p:nvSpPr>
          <p:cNvPr id="105" name="divider"/>
          <p:cNvSpPr>
            <a:spLocks noGrp="1"/>
          </p:cNvSpPr>
          <p:nvPr/>
        </p:nvSpPr>
        <p:spPr>
          <a:xfrm>
            <a:off x="546100" y="1320800"/>
            <a:ext cx="11099800" cy="25400"/>
          </a:xfrm>
          <a:prstGeom prst="rect">
            <a:avLst/>
          </a:prstGeom>
          <a:solidFill>
            <a:srgbClr val="0E96AC"/>
          </a:solidFill>
          <a:ln>
            <a:noFill/>
          </a:ln>
        </p:spPr>
        <p:txBody>
          <a:bodyPr/>
          <a:lstStyle/>
          <a:p>
            <a:endParaRPr lang="en-US"/>
          </a:p>
        </p:txBody>
      </p:sp>
      <p:sp>
        <p:nvSpPr>
          <p:cNvPr id="110" name="s1_bg"/>
          <p:cNvSpPr>
            <a:spLocks noGrp="1"/>
          </p:cNvSpPr>
          <p:nvPr/>
        </p:nvSpPr>
        <p:spPr>
          <a:xfrm>
            <a:off x="546100" y="1447800"/>
            <a:ext cx="11099800" cy="711200"/>
          </a:xfrm>
          <a:prstGeom prst="roundRect">
            <a:avLst>
              <a:gd name="adj" fmla="val 12000"/>
            </a:avLst>
          </a:prstGeom>
          <a:solidFill>
            <a:srgbClr val="EBF8FA"/>
          </a:solidFill>
          <a:ln>
            <a:noFill/>
          </a:ln>
        </p:spPr>
        <p:txBody>
          <a:bodyPr/>
          <a:lstStyle/>
          <a:p>
            <a:endParaRPr lang="en-US"/>
          </a:p>
        </p:txBody>
      </p:sp>
      <p:sp>
        <p:nvSpPr>
          <p:cNvPr id="111" name="s1_accent"/>
          <p:cNvSpPr>
            <a:spLocks noGrp="1"/>
          </p:cNvSpPr>
          <p:nvPr/>
        </p:nvSpPr>
        <p:spPr>
          <a:xfrm>
            <a:off x="546100" y="1447800"/>
            <a:ext cx="63500" cy="711200"/>
          </a:xfrm>
          <a:prstGeom prst="rect">
            <a:avLst/>
          </a:prstGeom>
          <a:solidFill>
            <a:srgbClr val="0E96AC"/>
          </a:solidFill>
          <a:ln>
            <a:noFill/>
          </a:ln>
        </p:spPr>
        <p:txBody>
          <a:bodyPr/>
          <a:lstStyle/>
          <a:p>
            <a:endParaRPr lang="en-US"/>
          </a:p>
        </p:txBody>
      </p:sp>
      <p:sp>
        <p:nvSpPr>
          <p:cNvPr id="112" name="s1_text"/>
          <p:cNvSpPr txBox="1">
            <a:spLocks noGrp="1"/>
          </p:cNvSpPr>
          <p:nvPr/>
        </p:nvSpPr>
        <p:spPr>
          <a:xfrm>
            <a:off x="736600" y="1473200"/>
            <a:ext cx="10795000" cy="660400"/>
          </a:xfrm>
          <a:prstGeom prst="rect">
            <a:avLst/>
          </a:prstGeom>
          <a:noFill/>
          <a:ln>
            <a:noFill/>
          </a:ln>
        </p:spPr>
        <p:txBody>
          <a:bodyPr anchor="ctr">
            <a:normAutofit lnSpcReduction="10000"/>
          </a:bodyPr>
          <a:lstStyle/>
          <a:p>
            <a:pPr marL="0" indent="0">
              <a:buNone/>
            </a:pPr>
            <a:r>
              <a:rPr lang="en-IN" sz="1300" b="1" dirty="0">
                <a:solidFill>
                  <a:srgbClr val="16223A"/>
                </a:solidFill>
                <a:latin typeface="Calibri"/>
              </a:rPr>
              <a:t>Firmware Strategy: the Waveshare driver's onboard ESP32 is the robot master and owns the servo bus; a second ESP32 at the base station receives telemetry over ESP-NOW and forwards it to the Pi 5 by USB serial. Bench and field firmware are mutually exclusive on the driver board — one is flashed at a time.</a:t>
            </a:r>
          </a:p>
        </p:txBody>
      </p:sp>
      <p:sp>
        <p:nvSpPr>
          <p:cNvPr id="120" name="card0_bg"/>
          <p:cNvSpPr>
            <a:spLocks noGrp="1"/>
          </p:cNvSpPr>
          <p:nvPr/>
        </p:nvSpPr>
        <p:spPr>
          <a:xfrm>
            <a:off x="546100" y="2260600"/>
            <a:ext cx="3568700" cy="1714500"/>
          </a:xfrm>
          <a:prstGeom prst="roundRect">
            <a:avLst>
              <a:gd name="adj" fmla="val 10000"/>
            </a:avLst>
          </a:prstGeom>
          <a:solidFill>
            <a:srgbClr val="F0FBF4"/>
          </a:solidFill>
          <a:ln w="15000">
            <a:solidFill>
              <a:srgbClr val="1E7A3E"/>
            </a:solidFill>
          </a:ln>
        </p:spPr>
        <p:txBody>
          <a:bodyPr/>
          <a:lstStyle/>
          <a:p>
            <a:endParaRPr lang="en-US"/>
          </a:p>
        </p:txBody>
      </p:sp>
      <p:sp>
        <p:nvSpPr>
          <p:cNvPr id="121" name="card0_hdr"/>
          <p:cNvSpPr>
            <a:spLocks noGrp="1"/>
          </p:cNvSpPr>
          <p:nvPr/>
        </p:nvSpPr>
        <p:spPr>
          <a:xfrm>
            <a:off x="546100" y="2260600"/>
            <a:ext cx="3568700" cy="330200"/>
          </a:xfrm>
          <a:prstGeom prst="rect">
            <a:avLst/>
          </a:prstGeom>
          <a:solidFill>
            <a:srgbClr val="1E7A3E"/>
          </a:solidFill>
          <a:ln>
            <a:noFill/>
          </a:ln>
        </p:spPr>
        <p:txBody>
          <a:bodyPr/>
          <a:lstStyle/>
          <a:p>
            <a:endParaRPr lang="en-US"/>
          </a:p>
        </p:txBody>
      </p:sp>
      <p:sp>
        <p:nvSpPr>
          <p:cNvPr id="130" name="card1_bg"/>
          <p:cNvSpPr>
            <a:spLocks noGrp="1"/>
          </p:cNvSpPr>
          <p:nvPr/>
        </p:nvSpPr>
        <p:spPr>
          <a:xfrm>
            <a:off x="4305300" y="2260600"/>
            <a:ext cx="3568700" cy="1714500"/>
          </a:xfrm>
          <a:prstGeom prst="roundRect">
            <a:avLst>
              <a:gd name="adj" fmla="val 10000"/>
            </a:avLst>
          </a:prstGeom>
          <a:solidFill>
            <a:srgbClr val="FEF9EE"/>
          </a:solidFill>
          <a:ln w="15000">
            <a:solidFill>
              <a:srgbClr val="B45309"/>
            </a:solidFill>
          </a:ln>
        </p:spPr>
        <p:txBody>
          <a:bodyPr/>
          <a:lstStyle/>
          <a:p>
            <a:endParaRPr lang="en-US"/>
          </a:p>
        </p:txBody>
      </p:sp>
      <p:sp>
        <p:nvSpPr>
          <p:cNvPr id="131" name="card1_hdr"/>
          <p:cNvSpPr>
            <a:spLocks noGrp="1"/>
          </p:cNvSpPr>
          <p:nvPr/>
        </p:nvSpPr>
        <p:spPr>
          <a:xfrm>
            <a:off x="4305300" y="2260600"/>
            <a:ext cx="3568700" cy="330200"/>
          </a:xfrm>
          <a:prstGeom prst="rect">
            <a:avLst/>
          </a:prstGeom>
          <a:solidFill>
            <a:srgbClr val="B45309"/>
          </a:solidFill>
          <a:ln>
            <a:noFill/>
          </a:ln>
        </p:spPr>
        <p:txBody>
          <a:bodyPr/>
          <a:lstStyle/>
          <a:p>
            <a:endParaRPr lang="en-US"/>
          </a:p>
        </p:txBody>
      </p:sp>
      <p:sp>
        <p:nvSpPr>
          <p:cNvPr id="140" name="card2_bg"/>
          <p:cNvSpPr>
            <a:spLocks noGrp="1"/>
          </p:cNvSpPr>
          <p:nvPr/>
        </p:nvSpPr>
        <p:spPr>
          <a:xfrm>
            <a:off x="8064500" y="2260600"/>
            <a:ext cx="3568700" cy="1714500"/>
          </a:xfrm>
          <a:prstGeom prst="roundRect">
            <a:avLst>
              <a:gd name="adj" fmla="val 10000"/>
            </a:avLst>
          </a:prstGeom>
          <a:solidFill>
            <a:srgbClr val="EEF3FC"/>
          </a:solidFill>
          <a:ln w="15000">
            <a:solidFill>
              <a:srgbClr val="1A4A8A"/>
            </a:solidFill>
          </a:ln>
        </p:spPr>
        <p:txBody>
          <a:bodyPr/>
          <a:lstStyle/>
          <a:p>
            <a:endParaRPr lang="en-US"/>
          </a:p>
        </p:txBody>
      </p:sp>
      <p:sp>
        <p:nvSpPr>
          <p:cNvPr id="141" name="card2_hdr"/>
          <p:cNvSpPr>
            <a:spLocks noGrp="1"/>
          </p:cNvSpPr>
          <p:nvPr/>
        </p:nvSpPr>
        <p:spPr>
          <a:xfrm>
            <a:off x="8064500" y="2260600"/>
            <a:ext cx="3568700" cy="330200"/>
          </a:xfrm>
          <a:prstGeom prst="rect">
            <a:avLst/>
          </a:prstGeom>
          <a:solidFill>
            <a:srgbClr val="1A4A8A"/>
          </a:solidFill>
          <a:ln>
            <a:noFill/>
          </a:ln>
        </p:spPr>
        <p:txBody>
          <a:bodyPr/>
          <a:lstStyle/>
          <a:p>
            <a:endParaRPr lang="en-US"/>
          </a:p>
        </p:txBody>
      </p:sp>
      <p:sp>
        <p:nvSpPr>
          <p:cNvPr id="124" name="card0_hdr_fix"/>
          <p:cNvSpPr>
            <a:spLocks noGrp="1"/>
          </p:cNvSpPr>
          <p:nvPr/>
        </p:nvSpPr>
        <p:spPr>
          <a:xfrm>
            <a:off x="546100" y="2413000"/>
            <a:ext cx="3568700" cy="177800"/>
          </a:xfrm>
          <a:prstGeom prst="rect">
            <a:avLst/>
          </a:prstGeom>
          <a:solidFill>
            <a:srgbClr val="1E7A3E"/>
          </a:solidFill>
          <a:ln>
            <a:noFill/>
          </a:ln>
        </p:spPr>
        <p:txBody>
          <a:bodyPr/>
          <a:lstStyle/>
          <a:p>
            <a:endParaRPr lang="en-US"/>
          </a:p>
        </p:txBody>
      </p:sp>
      <p:sp>
        <p:nvSpPr>
          <p:cNvPr id="134" name="card1_hdr_fix"/>
          <p:cNvSpPr>
            <a:spLocks noGrp="1"/>
          </p:cNvSpPr>
          <p:nvPr/>
        </p:nvSpPr>
        <p:spPr>
          <a:xfrm>
            <a:off x="4305300" y="2413000"/>
            <a:ext cx="3568700" cy="177800"/>
          </a:xfrm>
          <a:prstGeom prst="rect">
            <a:avLst/>
          </a:prstGeom>
          <a:solidFill>
            <a:srgbClr val="B45309"/>
          </a:solidFill>
          <a:ln>
            <a:noFill/>
          </a:ln>
        </p:spPr>
        <p:txBody>
          <a:bodyPr/>
          <a:lstStyle/>
          <a:p>
            <a:endParaRPr lang="en-US"/>
          </a:p>
        </p:txBody>
      </p:sp>
      <p:sp>
        <p:nvSpPr>
          <p:cNvPr id="144" name="card2_hdr_fix"/>
          <p:cNvSpPr>
            <a:spLocks noGrp="1"/>
          </p:cNvSpPr>
          <p:nvPr/>
        </p:nvSpPr>
        <p:spPr>
          <a:xfrm>
            <a:off x="8064500" y="2413000"/>
            <a:ext cx="3568700" cy="177800"/>
          </a:xfrm>
          <a:prstGeom prst="rect">
            <a:avLst/>
          </a:prstGeom>
          <a:solidFill>
            <a:srgbClr val="1A4A8A"/>
          </a:solidFill>
          <a:ln>
            <a:noFill/>
          </a:ln>
        </p:spPr>
        <p:txBody>
          <a:bodyPr/>
          <a:lstStyle/>
          <a:p>
            <a:endParaRPr lang="en-US"/>
          </a:p>
        </p:txBody>
      </p:sp>
      <p:sp>
        <p:nvSpPr>
          <p:cNvPr id="125" name="card0_title"/>
          <p:cNvSpPr txBox="1">
            <a:spLocks noGrp="1"/>
          </p:cNvSpPr>
          <p:nvPr/>
        </p:nvSpPr>
        <p:spPr>
          <a:xfrm>
            <a:off x="6477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ROBOT ESP32 — FIELD</a:t>
            </a:r>
          </a:p>
        </p:txBody>
      </p:sp>
      <p:sp>
        <p:nvSpPr>
          <p:cNvPr id="135" name="card1_title"/>
          <p:cNvSpPr txBox="1">
            <a:spLocks noGrp="1"/>
          </p:cNvSpPr>
          <p:nvPr/>
        </p:nvSpPr>
        <p:spPr>
          <a:xfrm>
            <a:off x="44069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BASE STATION ESP32 #2</a:t>
            </a:r>
          </a:p>
        </p:txBody>
      </p:sp>
      <p:sp>
        <p:nvSpPr>
          <p:cNvPr id="145" name="card2_title"/>
          <p:cNvSpPr txBox="1">
            <a:spLocks noGrp="1"/>
          </p:cNvSpPr>
          <p:nvPr/>
        </p:nvSpPr>
        <p:spPr>
          <a:xfrm>
            <a:off x="81661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BENCH &amp; BRING-UP TOOLS</a:t>
            </a:r>
          </a:p>
        </p:txBody>
      </p:sp>
      <p:sp>
        <p:nvSpPr>
          <p:cNvPr id="160" name="card0_items"/>
          <p:cNvSpPr txBox="1">
            <a:spLocks noGrp="1"/>
          </p:cNvSpPr>
          <p:nvPr/>
        </p:nvSpPr>
        <p:spPr>
          <a:xfrm>
            <a:off x="647700" y="2641600"/>
            <a:ext cx="3365500" cy="1282700"/>
          </a:xfrm>
          <a:prstGeom prst="rect">
            <a:avLst/>
          </a:prstGeom>
          <a:noFill/>
          <a:ln>
            <a:noFill/>
          </a:ln>
        </p:spPr>
        <p:txBody>
          <a:bodyPr anchor="t">
            <a:normAutofit/>
          </a:bodyPr>
          <a:lstStyle/>
          <a:p>
            <a:pPr marL="180000" indent="-180000">
              <a:buFont typeface="Arial"/>
              <a:buChar char="•"/>
            </a:pPr>
            <a:r>
              <a:rPr lang="en-IN" sz="1200" dirty="0">
                <a:solidFill>
                  <a:srgbClr val="1E4620"/>
                </a:solidFill>
                <a:latin typeface="Calibri"/>
              </a:rPr>
              <a:t>robot_esp32 — gait CPG, 10-DOF</a:t>
            </a:r>
          </a:p>
          <a:p>
            <a:pPr marL="180000" indent="-180000">
              <a:buFont typeface="Arial"/>
              <a:buChar char="•"/>
            </a:pPr>
            <a:r>
              <a:rPr lang="en-IN" sz="1200" dirty="0">
                <a:solidFill>
                  <a:srgbClr val="1E4620"/>
                </a:solidFill>
                <a:latin typeface="Calibri"/>
              </a:rPr>
              <a:t>MPU6050 on I2C GPIO 21 / 22</a:t>
            </a:r>
          </a:p>
          <a:p>
            <a:pPr marL="180000" indent="-180000">
              <a:buFont typeface="Arial"/>
              <a:buChar char="•"/>
            </a:pPr>
            <a:r>
              <a:rPr lang="en-IN" sz="1200" dirty="0">
                <a:solidFill>
                  <a:srgbClr val="1E4620"/>
                </a:solidFill>
                <a:latin typeface="Calibri"/>
              </a:rPr>
              <a:t>Current-stall obstacle FSM</a:t>
            </a:r>
          </a:p>
          <a:p>
            <a:pPr marL="180000" indent="-180000">
              <a:buFont typeface="Arial"/>
              <a:buChar char="•"/>
            </a:pPr>
            <a:r>
              <a:rPr lang="en-IN" sz="1200" dirty="0">
                <a:solidFill>
                  <a:srgbClr val="1E4620"/>
                </a:solidFill>
                <a:latin typeface="Calibri"/>
              </a:rPr>
              <a:t>ESP-NOW telemetry transmit</a:t>
            </a:r>
          </a:p>
        </p:txBody>
      </p:sp>
      <p:sp>
        <p:nvSpPr>
          <p:cNvPr id="161" name="card1_items"/>
          <p:cNvSpPr txBox="1">
            <a:spLocks noGrp="1"/>
          </p:cNvSpPr>
          <p:nvPr/>
        </p:nvSpPr>
        <p:spPr>
          <a:xfrm>
            <a:off x="44069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base_esp32 — ESP-NOW receive</a:t>
            </a:r>
          </a:p>
          <a:p>
            <a:pPr marL="180000" indent="-180000">
              <a:buFont typeface="Arial"/>
              <a:buChar char="•"/>
            </a:pPr>
            <a:r>
              <a:rPr lang="en-IN" sz="1000" dirty="0">
                <a:solidFill>
                  <a:srgbClr val="374151"/>
                </a:solidFill>
                <a:latin typeface="Calibri"/>
              </a:rPr>
              <a:t>USB serial to Pi 5 @ 115200</a:t>
            </a:r>
          </a:p>
          <a:p>
            <a:pPr marL="180000" indent="-180000">
              <a:buFont typeface="Arial"/>
              <a:buChar char="•"/>
            </a:pPr>
            <a:r>
              <a:rPr lang="en-IN" sz="1000" dirty="0">
                <a:solidFill>
                  <a:srgbClr val="374151"/>
                </a:solidFill>
                <a:latin typeface="Calibri"/>
              </a:rPr>
              <a:t>base_station.py logs telemetry</a:t>
            </a:r>
          </a:p>
        </p:txBody>
      </p:sp>
      <p:sp>
        <p:nvSpPr>
          <p:cNvPr id="162" name="card2_items"/>
          <p:cNvSpPr txBox="1">
            <a:spLocks noGrp="1"/>
          </p:cNvSpPr>
          <p:nvPr/>
        </p:nvSpPr>
        <p:spPr>
          <a:xfrm>
            <a:off x="81661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spin_all — broadcast smoke test</a:t>
            </a:r>
          </a:p>
          <a:p>
            <a:pPr marL="180000" indent="-180000">
              <a:buFont typeface="Arial"/>
              <a:buChar char="•"/>
            </a:pPr>
            <a:r>
              <a:rPr lang="en-IN" sz="1000" dirty="0">
                <a:solidFill>
                  <a:srgbClr val="374151"/>
                </a:solidFill>
                <a:latin typeface="Calibri"/>
              </a:rPr>
              <a:t>assign_ids — one servo at a time</a:t>
            </a:r>
          </a:p>
          <a:p>
            <a:pPr marL="180000" indent="-180000">
              <a:buFont typeface="Arial"/>
              <a:buChar char="•"/>
            </a:pPr>
            <a:r>
              <a:rPr lang="en-IN" sz="1000" dirty="0">
                <a:solidFill>
                  <a:srgbClr val="374151"/>
                </a:solidFill>
                <a:latin typeface="Calibri"/>
              </a:rPr>
              <a:t>usb_servo_bridge — Python stack</a:t>
            </a:r>
          </a:p>
          <a:p>
            <a:pPr marL="180000" indent="-180000">
              <a:buFont typeface="Arial"/>
              <a:buChar char="•"/>
            </a:pPr>
            <a:r>
              <a:rPr lang="en-IN" sz="1000" dirty="0">
                <a:solidFill>
                  <a:srgbClr val="374151"/>
                </a:solidFill>
                <a:latin typeface="Calibri"/>
              </a:rPr>
              <a:t>PlatformIO, one env per sketch</a:t>
            </a:r>
          </a:p>
        </p:txBody>
      </p:sp>
      <p:sp>
        <p:nvSpPr>
          <p:cNvPr id="200" name="s3_label"/>
          <p:cNvSpPr txBox="1">
            <a:spLocks noGrp="1"/>
          </p:cNvSpPr>
          <p:nvPr/>
        </p:nvSpPr>
        <p:spPr>
          <a:xfrm>
            <a:off x="546100" y="4089400"/>
            <a:ext cx="6350000" cy="228600"/>
          </a:xfrm>
          <a:prstGeom prst="rect">
            <a:avLst/>
          </a:prstGeom>
          <a:noFill/>
          <a:ln>
            <a:noFill/>
          </a:ln>
        </p:spPr>
        <p:txBody>
          <a:bodyPr anchor="t">
            <a:normAutofit/>
          </a:bodyPr>
          <a:lstStyle/>
          <a:p>
            <a:pPr marL="0" indent="0">
              <a:buNone/>
            </a:pPr>
            <a:r>
              <a:rPr lang="en-IN" sz="900" b="1" kern="0" spc="200" dirty="0">
                <a:solidFill>
                  <a:srgbClr val="0E96AC"/>
                </a:solidFill>
                <a:latin typeface="Calibri"/>
              </a:rPr>
              <a:t>FIRMWARE BRING-UP SEQUENCE</a:t>
            </a:r>
          </a:p>
        </p:txBody>
      </p:sp>
      <p:sp>
        <p:nvSpPr>
          <p:cNvPr id="300" name="conn0"/>
          <p:cNvSpPr>
            <a:spLocks noGrp="1"/>
          </p:cNvSpPr>
          <p:nvPr/>
        </p:nvSpPr>
        <p:spPr>
          <a:xfrm>
            <a:off x="1028700" y="4432300"/>
            <a:ext cx="965200" cy="63500"/>
          </a:xfrm>
          <a:prstGeom prst="rect">
            <a:avLst/>
          </a:prstGeom>
          <a:solidFill>
            <a:srgbClr val="1E7A3E"/>
          </a:solidFill>
          <a:ln>
            <a:noFill/>
          </a:ln>
        </p:spPr>
        <p:txBody>
          <a:bodyPr/>
          <a:lstStyle/>
          <a:p>
            <a:endParaRPr lang="en-US"/>
          </a:p>
        </p:txBody>
      </p:sp>
      <p:sp>
        <p:nvSpPr>
          <p:cNvPr id="310" name="step0_circle"/>
          <p:cNvSpPr>
            <a:spLocks noGrp="1"/>
          </p:cNvSpPr>
          <p:nvPr/>
        </p:nvSpPr>
        <p:spPr>
          <a:xfrm>
            <a:off x="774700" y="4241800"/>
            <a:ext cx="457200" cy="457200"/>
          </a:xfrm>
          <a:prstGeom prst="roundRect">
            <a:avLst>
              <a:gd name="adj" fmla="val 50000"/>
            </a:avLst>
          </a:prstGeom>
          <a:solidFill>
            <a:srgbClr val="1F9D55"/>
          </a:solidFill>
          <a:ln>
            <a:noFill/>
          </a:ln>
        </p:spPr>
        <p:txBody>
          <a:bodyPr/>
          <a:lstStyle/>
          <a:p>
            <a:endParaRPr lang="en-US"/>
          </a:p>
        </p:txBody>
      </p:sp>
      <p:sp>
        <p:nvSpPr>
          <p:cNvPr id="320" name="step0_icon"/>
          <p:cNvSpPr txBox="1">
            <a:spLocks noGrp="1"/>
          </p:cNvSpPr>
          <p:nvPr/>
        </p:nvSpPr>
        <p:spPr>
          <a:xfrm>
            <a:off x="774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0" name="step0_label"/>
          <p:cNvSpPr txBox="1">
            <a:spLocks noGrp="1"/>
          </p:cNvSpPr>
          <p:nvPr/>
        </p:nvSpPr>
        <p:spPr>
          <a:xfrm>
            <a:off x="546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Firmware
written</a:t>
            </a:r>
          </a:p>
        </p:txBody>
      </p:sp>
      <p:sp>
        <p:nvSpPr>
          <p:cNvPr id="301" name="conn1"/>
          <p:cNvSpPr>
            <a:spLocks noGrp="1"/>
          </p:cNvSpPr>
          <p:nvPr/>
        </p:nvSpPr>
        <p:spPr>
          <a:xfrm>
            <a:off x="2501900" y="4432300"/>
            <a:ext cx="965200" cy="63500"/>
          </a:xfrm>
          <a:prstGeom prst="rect">
            <a:avLst/>
          </a:prstGeom>
          <a:solidFill>
            <a:srgbClr val="1E7A3E"/>
          </a:solidFill>
          <a:ln>
            <a:noFill/>
          </a:ln>
        </p:spPr>
        <p:txBody>
          <a:bodyPr/>
          <a:lstStyle/>
          <a:p>
            <a:endParaRPr lang="en-US"/>
          </a:p>
        </p:txBody>
      </p:sp>
      <p:sp>
        <p:nvSpPr>
          <p:cNvPr id="311" name="step1_circle"/>
          <p:cNvSpPr>
            <a:spLocks noGrp="1"/>
          </p:cNvSpPr>
          <p:nvPr/>
        </p:nvSpPr>
        <p:spPr>
          <a:xfrm>
            <a:off x="2247900" y="4241800"/>
            <a:ext cx="457200" cy="457200"/>
          </a:xfrm>
          <a:prstGeom prst="roundRect">
            <a:avLst>
              <a:gd name="adj" fmla="val 50000"/>
            </a:avLst>
          </a:prstGeom>
          <a:solidFill>
            <a:srgbClr val="1F9D55"/>
          </a:solidFill>
          <a:ln>
            <a:noFill/>
          </a:ln>
        </p:spPr>
        <p:txBody>
          <a:bodyPr/>
          <a:lstStyle/>
          <a:p>
            <a:endParaRPr lang="en-US"/>
          </a:p>
        </p:txBody>
      </p:sp>
      <p:sp>
        <p:nvSpPr>
          <p:cNvPr id="321" name="step1_icon"/>
          <p:cNvSpPr txBox="1">
            <a:spLocks noGrp="1"/>
          </p:cNvSpPr>
          <p:nvPr/>
        </p:nvSpPr>
        <p:spPr>
          <a:xfrm>
            <a:off x="2247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1" name="step1_label"/>
          <p:cNvSpPr txBox="1">
            <a:spLocks noGrp="1"/>
          </p:cNvSpPr>
          <p:nvPr/>
        </p:nvSpPr>
        <p:spPr>
          <a:xfrm>
            <a:off x="2019300" y="4737100"/>
            <a:ext cx="914400" cy="457200"/>
          </a:xfrm>
          <a:prstGeom prst="rect">
            <a:avLst/>
          </a:prstGeom>
          <a:noFill/>
          <a:ln>
            <a:noFill/>
          </a:ln>
        </p:spPr>
        <p:txBody>
          <a:bodyPr anchor="t">
            <a:normAutofit fontScale="70000" lnSpcReduction="20000"/>
          </a:bodyPr>
          <a:lstStyle/>
          <a:p>
            <a:pPr algn="ctr">
              <a:buNone/>
            </a:pPr>
            <a:r>
              <a:rPr lang="en-IN" sz="1400" dirty="0">
                <a:solidFill>
                  <a:srgbClr val="374151"/>
                </a:solidFill>
                <a:latin typeface="Calibri"/>
              </a:rPr>
              <a:t>PlatformIO
builds</a:t>
            </a:r>
          </a:p>
        </p:txBody>
      </p:sp>
      <p:sp>
        <p:nvSpPr>
          <p:cNvPr id="302" name="conn2"/>
          <p:cNvSpPr>
            <a:spLocks noGrp="1"/>
          </p:cNvSpPr>
          <p:nvPr/>
        </p:nvSpPr>
        <p:spPr>
          <a:xfrm>
            <a:off x="3975100" y="4432300"/>
            <a:ext cx="965200" cy="63500"/>
          </a:xfrm>
          <a:prstGeom prst="rect">
            <a:avLst/>
          </a:prstGeom>
          <a:solidFill>
            <a:srgbClr val="1E7A3E"/>
          </a:solidFill>
          <a:ln>
            <a:noFill/>
          </a:ln>
        </p:spPr>
        <p:txBody>
          <a:bodyPr/>
          <a:lstStyle/>
          <a:p>
            <a:endParaRPr lang="en-US"/>
          </a:p>
        </p:txBody>
      </p:sp>
      <p:sp>
        <p:nvSpPr>
          <p:cNvPr id="312" name="step2_circle"/>
          <p:cNvSpPr>
            <a:spLocks noGrp="1"/>
          </p:cNvSpPr>
          <p:nvPr/>
        </p:nvSpPr>
        <p:spPr>
          <a:xfrm>
            <a:off x="3721100" y="4241800"/>
            <a:ext cx="457200" cy="457200"/>
          </a:xfrm>
          <a:prstGeom prst="roundRect">
            <a:avLst>
              <a:gd name="adj" fmla="val 50000"/>
            </a:avLst>
          </a:prstGeom>
          <a:solidFill>
            <a:srgbClr val="1F9D55"/>
          </a:solidFill>
          <a:ln>
            <a:noFill/>
          </a:ln>
        </p:spPr>
        <p:txBody>
          <a:bodyPr/>
          <a:lstStyle/>
          <a:p>
            <a:endParaRPr lang="en-US"/>
          </a:p>
        </p:txBody>
      </p:sp>
      <p:sp>
        <p:nvSpPr>
          <p:cNvPr id="322" name="step2_icon"/>
          <p:cNvSpPr txBox="1">
            <a:spLocks noGrp="1"/>
          </p:cNvSpPr>
          <p:nvPr/>
        </p:nvSpPr>
        <p:spPr>
          <a:xfrm>
            <a:off x="37211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2" name="step2_label"/>
          <p:cNvSpPr txBox="1">
            <a:spLocks noGrp="1"/>
          </p:cNvSpPr>
          <p:nvPr/>
        </p:nvSpPr>
        <p:spPr>
          <a:xfrm>
            <a:off x="34925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Broadcast
smoke test</a:t>
            </a:r>
          </a:p>
        </p:txBody>
      </p:sp>
      <p:sp>
        <p:nvSpPr>
          <p:cNvPr id="303" name="conn3"/>
          <p:cNvSpPr>
            <a:spLocks noGrp="1"/>
          </p:cNvSpPr>
          <p:nvPr/>
        </p:nvSpPr>
        <p:spPr>
          <a:xfrm>
            <a:off x="5448300" y="4432300"/>
            <a:ext cx="965200" cy="63500"/>
          </a:xfrm>
          <a:prstGeom prst="rect">
            <a:avLst/>
          </a:prstGeom>
          <a:solidFill>
            <a:srgbClr val="1E7A3E"/>
          </a:solidFill>
          <a:ln>
            <a:noFill/>
          </a:ln>
        </p:spPr>
        <p:txBody>
          <a:bodyPr/>
          <a:lstStyle/>
          <a:p>
            <a:endParaRPr lang="en-US"/>
          </a:p>
        </p:txBody>
      </p:sp>
      <p:sp>
        <p:nvSpPr>
          <p:cNvPr id="313" name="step3_circle"/>
          <p:cNvSpPr>
            <a:spLocks noGrp="1"/>
          </p:cNvSpPr>
          <p:nvPr/>
        </p:nvSpPr>
        <p:spPr>
          <a:xfrm>
            <a:off x="5194300" y="4241800"/>
            <a:ext cx="457200" cy="457200"/>
          </a:xfrm>
          <a:prstGeom prst="roundRect">
            <a:avLst>
              <a:gd name="adj" fmla="val 50000"/>
            </a:avLst>
          </a:prstGeom>
          <a:solidFill>
            <a:srgbClr val="1E6FD6"/>
          </a:solidFill>
          <a:ln>
            <a:noFill/>
          </a:ln>
        </p:spPr>
        <p:txBody>
          <a:bodyPr/>
          <a:lstStyle/>
          <a:p>
            <a:endParaRPr lang="en-US"/>
          </a:p>
        </p:txBody>
      </p:sp>
      <p:sp>
        <p:nvSpPr>
          <p:cNvPr id="323" name="step3_icon"/>
          <p:cNvSpPr txBox="1">
            <a:spLocks noGrp="1"/>
          </p:cNvSpPr>
          <p:nvPr/>
        </p:nvSpPr>
        <p:spPr>
          <a:xfrm>
            <a:off x="51943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3" name="step3_label"/>
          <p:cNvSpPr txBox="1">
            <a:spLocks noGrp="1"/>
          </p:cNvSpPr>
          <p:nvPr/>
        </p:nvSpPr>
        <p:spPr>
          <a:xfrm>
            <a:off x="49657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ID
assignment</a:t>
            </a:r>
          </a:p>
        </p:txBody>
      </p:sp>
      <p:sp>
        <p:nvSpPr>
          <p:cNvPr id="304" name="conn4"/>
          <p:cNvSpPr>
            <a:spLocks noGrp="1"/>
          </p:cNvSpPr>
          <p:nvPr/>
        </p:nvSpPr>
        <p:spPr>
          <a:xfrm>
            <a:off x="6921500" y="4432300"/>
            <a:ext cx="965200" cy="63500"/>
          </a:xfrm>
          <a:prstGeom prst="rect">
            <a:avLst/>
          </a:prstGeom>
          <a:solidFill>
            <a:srgbClr val="1E7A3E"/>
          </a:solidFill>
          <a:ln>
            <a:noFill/>
          </a:ln>
        </p:spPr>
        <p:txBody>
          <a:bodyPr/>
          <a:lstStyle/>
          <a:p>
            <a:endParaRPr lang="en-US"/>
          </a:p>
        </p:txBody>
      </p:sp>
      <p:sp>
        <p:nvSpPr>
          <p:cNvPr id="314" name="step4_circle"/>
          <p:cNvSpPr>
            <a:spLocks noGrp="1"/>
          </p:cNvSpPr>
          <p:nvPr/>
        </p:nvSpPr>
        <p:spPr>
          <a:xfrm>
            <a:off x="6667500" y="4241800"/>
            <a:ext cx="457200" cy="457200"/>
          </a:xfrm>
          <a:prstGeom prst="roundRect">
            <a:avLst>
              <a:gd name="adj" fmla="val 50000"/>
            </a:avLst>
          </a:prstGeom>
          <a:solidFill>
            <a:srgbClr val="E8821E"/>
          </a:solidFill>
          <a:ln>
            <a:noFill/>
          </a:ln>
        </p:spPr>
        <p:txBody>
          <a:bodyPr/>
          <a:lstStyle/>
          <a:p>
            <a:endParaRPr lang="en-US"/>
          </a:p>
        </p:txBody>
      </p:sp>
      <p:sp>
        <p:nvSpPr>
          <p:cNvPr id="324" name="step4_icon"/>
          <p:cNvSpPr txBox="1">
            <a:spLocks noGrp="1"/>
          </p:cNvSpPr>
          <p:nvPr/>
        </p:nvSpPr>
        <p:spPr>
          <a:xfrm>
            <a:off x="66675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4" name="step4_label"/>
          <p:cNvSpPr txBox="1">
            <a:spLocks noGrp="1"/>
          </p:cNvSpPr>
          <p:nvPr/>
        </p:nvSpPr>
        <p:spPr>
          <a:xfrm>
            <a:off x="64389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Bus
verification</a:t>
            </a:r>
          </a:p>
        </p:txBody>
      </p:sp>
      <p:sp>
        <p:nvSpPr>
          <p:cNvPr id="305" name="conn5"/>
          <p:cNvSpPr>
            <a:spLocks noGrp="1"/>
          </p:cNvSpPr>
          <p:nvPr/>
        </p:nvSpPr>
        <p:spPr>
          <a:xfrm>
            <a:off x="8394700" y="4432300"/>
            <a:ext cx="965200" cy="63500"/>
          </a:xfrm>
          <a:prstGeom prst="rect">
            <a:avLst/>
          </a:prstGeom>
          <a:solidFill>
            <a:srgbClr val="CBD5E1"/>
          </a:solidFill>
          <a:ln>
            <a:noFill/>
          </a:ln>
        </p:spPr>
        <p:txBody>
          <a:bodyPr/>
          <a:lstStyle/>
          <a:p>
            <a:endParaRPr lang="en-US"/>
          </a:p>
        </p:txBody>
      </p:sp>
      <p:sp>
        <p:nvSpPr>
          <p:cNvPr id="315" name="step5_circle"/>
          <p:cNvSpPr>
            <a:spLocks noGrp="1"/>
          </p:cNvSpPr>
          <p:nvPr/>
        </p:nvSpPr>
        <p:spPr>
          <a:xfrm>
            <a:off x="8140700" y="4241800"/>
            <a:ext cx="457200" cy="457200"/>
          </a:xfrm>
          <a:prstGeom prst="roundRect">
            <a:avLst>
              <a:gd name="adj" fmla="val 50000"/>
            </a:avLst>
          </a:prstGeom>
          <a:solidFill>
            <a:srgbClr val="E8821E"/>
          </a:solidFill>
          <a:ln>
            <a:noFill/>
          </a:ln>
        </p:spPr>
        <p:txBody>
          <a:bodyPr/>
          <a:lstStyle/>
          <a:p>
            <a:endParaRPr lang="en-US"/>
          </a:p>
        </p:txBody>
      </p:sp>
      <p:sp>
        <p:nvSpPr>
          <p:cNvPr id="325" name="step5_icon"/>
          <p:cNvSpPr txBox="1">
            <a:spLocks noGrp="1"/>
          </p:cNvSpPr>
          <p:nvPr/>
        </p:nvSpPr>
        <p:spPr>
          <a:xfrm>
            <a:off x="8140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5" name="step5_label"/>
          <p:cNvSpPr txBox="1">
            <a:spLocks noGrp="1"/>
          </p:cNvSpPr>
          <p:nvPr/>
        </p:nvSpPr>
        <p:spPr>
          <a:xfrm>
            <a:off x="7912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Gait on
hardware</a:t>
            </a:r>
          </a:p>
        </p:txBody>
      </p:sp>
      <p:sp>
        <p:nvSpPr>
          <p:cNvPr id="345" name="step5_status"/>
          <p:cNvSpPr txBox="1">
            <a:spLocks noGrp="1"/>
          </p:cNvSpPr>
          <p:nvPr/>
        </p:nvSpPr>
        <p:spPr>
          <a:xfrm>
            <a:off x="78613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D97706"/>
                </a:solidFill>
                <a:latin typeface="Calibri"/>
              </a:rPr>
              <a:t>Upcoming</a:t>
            </a:r>
          </a:p>
        </p:txBody>
      </p:sp>
      <p:sp>
        <p:nvSpPr>
          <p:cNvPr id="316" name="step6_circle"/>
          <p:cNvSpPr>
            <a:spLocks noGrp="1"/>
          </p:cNvSpPr>
          <p:nvPr/>
        </p:nvSpPr>
        <p:spPr>
          <a:xfrm>
            <a:off x="9613900" y="4241800"/>
            <a:ext cx="457200" cy="457200"/>
          </a:xfrm>
          <a:prstGeom prst="roundRect">
            <a:avLst>
              <a:gd name="adj" fmla="val 50000"/>
            </a:avLst>
          </a:prstGeom>
          <a:solidFill>
            <a:srgbClr val="E8821E"/>
          </a:solidFill>
          <a:ln>
            <a:noFill/>
          </a:ln>
        </p:spPr>
        <p:txBody>
          <a:bodyPr/>
          <a:lstStyle/>
          <a:p>
            <a:endParaRPr lang="en-US"/>
          </a:p>
        </p:txBody>
      </p:sp>
      <p:sp>
        <p:nvSpPr>
          <p:cNvPr id="326" name="step6_icon"/>
          <p:cNvSpPr txBox="1">
            <a:spLocks noGrp="1"/>
          </p:cNvSpPr>
          <p:nvPr/>
        </p:nvSpPr>
        <p:spPr>
          <a:xfrm>
            <a:off x="9613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6" name="step6_label"/>
          <p:cNvSpPr txBox="1">
            <a:spLocks noGrp="1"/>
          </p:cNvSpPr>
          <p:nvPr/>
        </p:nvSpPr>
        <p:spPr>
          <a:xfrm>
            <a:off x="9385300" y="4737100"/>
            <a:ext cx="914400" cy="457200"/>
          </a:xfrm>
          <a:prstGeom prst="rect">
            <a:avLst/>
          </a:prstGeom>
          <a:noFill/>
          <a:ln>
            <a:noFill/>
          </a:ln>
        </p:spPr>
        <p:txBody>
          <a:bodyPr anchor="t">
            <a:normAutofit fontScale="77500" lnSpcReduction="20000"/>
          </a:bodyPr>
          <a:lstStyle/>
          <a:p>
            <a:pPr algn="ctr">
              <a:buNone/>
            </a:pPr>
            <a:r>
              <a:rPr lang="en-IN" sz="1400" dirty="0">
                <a:solidFill>
                  <a:srgbClr val="374151"/>
                </a:solidFill>
                <a:latin typeface="Calibri"/>
              </a:rPr>
              <a:t>ESP-NOW
telemetry</a:t>
            </a:r>
          </a:p>
        </p:txBody>
      </p:sp>
      <p:sp>
        <p:nvSpPr>
          <p:cNvPr id="346" name="step6_status"/>
          <p:cNvSpPr txBox="1">
            <a:spLocks noGrp="1"/>
          </p:cNvSpPr>
          <p:nvPr/>
        </p:nvSpPr>
        <p:spPr>
          <a:xfrm>
            <a:off x="93345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6B7280"/>
                </a:solidFill>
                <a:latin typeface="Calibri"/>
              </a:rPr>
              <a:t>Upcoming</a:t>
            </a:r>
          </a:p>
        </p:txBody>
      </p:sp>
      <p:sp>
        <p:nvSpPr>
          <p:cNvPr id="400" name="achieve_bg"/>
          <p:cNvSpPr>
            <a:spLocks noGrp="1"/>
          </p:cNvSpPr>
          <p:nvPr/>
        </p:nvSpPr>
        <p:spPr>
          <a:xfrm>
            <a:off x="546100" y="5270500"/>
            <a:ext cx="11099800" cy="838200"/>
          </a:xfrm>
          <a:prstGeom prst="roundRect">
            <a:avLst>
              <a:gd name="adj" fmla="val 10000"/>
            </a:avLst>
          </a:prstGeom>
          <a:solidFill>
            <a:srgbClr val="EBF8FA"/>
          </a:solidFill>
          <a:ln w="15000">
            <a:solidFill>
              <a:srgbClr val="0E96AC"/>
            </a:solidFill>
          </a:ln>
        </p:spPr>
        <p:txBody>
          <a:bodyPr/>
          <a:lstStyle/>
          <a:p>
            <a:endParaRPr lang="en-US"/>
          </a:p>
        </p:txBody>
      </p:sp>
      <p:sp>
        <p:nvSpPr>
          <p:cNvPr id="401" name="achieve_accent"/>
          <p:cNvSpPr>
            <a:spLocks noGrp="1"/>
          </p:cNvSpPr>
          <p:nvPr/>
        </p:nvSpPr>
        <p:spPr>
          <a:xfrm>
            <a:off x="546100" y="5270500"/>
            <a:ext cx="76200" cy="838200"/>
          </a:xfrm>
          <a:prstGeom prst="rect">
            <a:avLst/>
          </a:prstGeom>
          <a:solidFill>
            <a:srgbClr val="0E96AC"/>
          </a:solidFill>
          <a:ln>
            <a:noFill/>
          </a:ln>
        </p:spPr>
        <p:txBody>
          <a:bodyPr/>
          <a:lstStyle/>
          <a:p>
            <a:endParaRPr lang="en-US"/>
          </a:p>
        </p:txBody>
      </p:sp>
      <p:sp>
        <p:nvSpPr>
          <p:cNvPr id="402" name="achieve_star"/>
          <p:cNvSpPr txBox="1">
            <a:spLocks noGrp="1"/>
          </p:cNvSpPr>
          <p:nvPr/>
        </p:nvSpPr>
        <p:spPr>
          <a:xfrm>
            <a:off x="660400" y="5270500"/>
            <a:ext cx="355600" cy="838200"/>
          </a:xfrm>
          <a:prstGeom prst="rect">
            <a:avLst/>
          </a:prstGeom>
          <a:noFill/>
          <a:ln>
            <a:noFill/>
          </a:ln>
        </p:spPr>
        <p:txBody>
          <a:bodyPr anchor="ctr">
            <a:normAutofit/>
          </a:bodyPr>
          <a:lstStyle/>
          <a:p>
            <a:pPr algn="ctr">
              <a:buNone/>
            </a:pPr>
            <a:r>
              <a:rPr lang="en-US" sz="1600" dirty="0">
                <a:solidFill>
                  <a:srgbClr val="0E96AC"/>
                </a:solidFill>
                <a:latin typeface="Calibri"/>
              </a:rPr>
              <a:t>★</a:t>
            </a:r>
          </a:p>
        </p:txBody>
      </p:sp>
      <p:sp>
        <p:nvSpPr>
          <p:cNvPr id="403" name="achieve_text"/>
          <p:cNvSpPr txBox="1">
            <a:spLocks noGrp="1"/>
          </p:cNvSpPr>
          <p:nvPr/>
        </p:nvSpPr>
        <p:spPr>
          <a:xfrm>
            <a:off x="1041400" y="5295900"/>
            <a:ext cx="10515600" cy="787400"/>
          </a:xfrm>
          <a:prstGeom prst="rect">
            <a:avLst/>
          </a:prstGeom>
          <a:noFill/>
          <a:ln>
            <a:noFill/>
          </a:ln>
        </p:spPr>
        <p:txBody>
          <a:bodyPr anchor="ctr">
            <a:normAutofit/>
          </a:bodyPr>
          <a:lstStyle/>
          <a:p>
            <a:pPr marL="0" indent="0">
              <a:buNone/>
            </a:pPr>
            <a:r>
              <a:rPr lang="en-IN" sz="1100" b="1" dirty="0">
                <a:solidFill>
                  <a:srgbClr val="16223A"/>
                </a:solidFill>
                <a:latin typeface="Calibri"/>
              </a:rPr>
              <a:t>Key Achievement: all five firmware targets are written and compile clean under PlatformIO, and the broadcast smoke test drives all ten servos before any ID has been assigned — so the control stack was validated without waiting on bring-up.</a:t>
            </a:r>
          </a:p>
        </p:txBody>
      </p:sp>
    </p:spTree>
    <p:extLst>
      <p:ext uri="{BB962C8B-B14F-4D97-AF65-F5344CB8AC3E}">
        <p14:creationId xmlns:p14="http://schemas.microsoft.com/office/powerpoint/2010/main" val="41449805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EyebrowA">
            <a:extLst>
              <a:ext uri="{FF2B5EF4-FFF2-40B4-BE49-F238E27FC236}">
                <a16:creationId xmlns:a16="http://schemas.microsoft.com/office/drawing/2014/main" id="{841DE8FB-782B-413F-8F93-A5A5E44CEC4B}"/>
              </a:ext>
            </a:extLst>
          </p:cNvPr>
          <p:cNvSpPr txBox="1"/>
          <p:nvPr/>
        </p:nvSpPr>
        <p:spPr>
          <a:xfrm>
            <a:off x="546100" y="381000"/>
            <a:ext cx="10160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BUS PROTOCOL</a:t>
            </a:r>
          </a:p>
        </p:txBody>
      </p:sp>
      <p:sp>
        <p:nvSpPr>
          <p:cNvPr id="3" name="TitleA">
            <a:extLst>
              <a:ext uri="{FF2B5EF4-FFF2-40B4-BE49-F238E27FC236}">
                <a16:creationId xmlns:a16="http://schemas.microsoft.com/office/drawing/2014/main" id="{7634340B-6F43-41BD-A788-B33B6114B32F}"/>
              </a:ext>
            </a:extLst>
          </p:cNvPr>
          <p:cNvSpPr txBox="1"/>
          <p:nvPr/>
        </p:nvSpPr>
        <p:spPr>
          <a:xfrm>
            <a:off x="533400" y="635000"/>
            <a:ext cx="10922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Feetech STS Control Table &amp; Packet Format</a:t>
            </a:r>
          </a:p>
        </p:txBody>
      </p:sp>
      <p:sp>
        <p:nvSpPr>
          <p:cNvPr id="4" name="ProblemCard">
            <a:extLst>
              <a:ext uri="{FF2B5EF4-FFF2-40B4-BE49-F238E27FC236}">
                <a16:creationId xmlns:a16="http://schemas.microsoft.com/office/drawing/2014/main" id="{E876E5F6-0A7F-4BFB-B939-45A2A1D649C5}"/>
              </a:ext>
            </a:extLst>
          </p:cNvPr>
          <p:cNvSpPr/>
          <p:nvPr/>
        </p:nvSpPr>
        <p:spPr>
          <a:xfrm>
            <a:off x="546100" y="1422400"/>
            <a:ext cx="3810000" cy="4927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ProblemEyebrow">
            <a:extLst>
              <a:ext uri="{FF2B5EF4-FFF2-40B4-BE49-F238E27FC236}">
                <a16:creationId xmlns:a16="http://schemas.microsoft.com/office/drawing/2014/main" id="{FC543071-2BD3-4FE0-ADEC-F4199E47340C}"/>
              </a:ext>
            </a:extLst>
          </p:cNvPr>
          <p:cNvSpPr txBox="1"/>
          <p:nvPr/>
        </p:nvSpPr>
        <p:spPr>
          <a:xfrm>
            <a:off x="800100" y="1676400"/>
            <a:ext cx="33020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PACKET FORMAT</a:t>
            </a:r>
          </a:p>
        </p:txBody>
      </p:sp>
      <p:sp>
        <p:nvSpPr>
          <p:cNvPr id="6" name="ProblemIntro">
            <a:extLst>
              <a:ext uri="{FF2B5EF4-FFF2-40B4-BE49-F238E27FC236}">
                <a16:creationId xmlns:a16="http://schemas.microsoft.com/office/drawing/2014/main" id="{242F95A3-B8E3-4C63-8377-5868B29AD293}"/>
              </a:ext>
            </a:extLst>
          </p:cNvPr>
          <p:cNvSpPr txBox="1"/>
          <p:nvPr/>
        </p:nvSpPr>
        <p:spPr>
          <a:xfrm>
            <a:off x="800100" y="2006600"/>
            <a:ext cx="3302000" cy="822960"/>
          </a:xfrm>
          <a:prstGeom prst="rect">
            <a:avLst/>
          </a:prstGeom>
          <a:noFill/>
        </p:spPr>
        <p:txBody>
          <a:bodyPr vertOverflow="overflow" vert="horz" wrap="square" rtlCol="0" anchor="t" anchorCtr="0">
            <a:noAutofit/>
          </a:bodyPr>
          <a:lstStyle/>
          <a:p>
            <a:pPr marL="0" indent="0">
              <a:lnSpc>
                <a:spcPct val="108000"/>
              </a:lnSpc>
              <a:buNone/>
            </a:pPr>
            <a:r>
              <a:rPr lang="en-US" sz="1100" dirty="0">
                <a:solidFill>
                  <a:srgbClr val="3A4658"/>
                </a:solidFill>
                <a:latin typeface="Calibri" pitchFamily="34" charset="0"/>
              </a:rPr>
              <a:t>All ten servos share one half-duplex TTL line at 1 Mbps. Every packet is addressed to a single ID, or to broadcast ID 0xFE, which every servo acts on and none replies to — the only safe way to drive the bus before IDs are assigned.</a:t>
            </a:r>
          </a:p>
        </p:txBody>
      </p:sp>
      <p:sp>
        <p:nvSpPr>
          <p:cNvPr id="7" name="ProblemBullets">
            <a:extLst>
              <a:ext uri="{FF2B5EF4-FFF2-40B4-BE49-F238E27FC236}">
                <a16:creationId xmlns:a16="http://schemas.microsoft.com/office/drawing/2014/main" id="{F7CDE160-466E-4C5D-B701-1F6DEFD06489}"/>
              </a:ext>
            </a:extLst>
          </p:cNvPr>
          <p:cNvSpPr txBox="1"/>
          <p:nvPr/>
        </p:nvSpPr>
        <p:spPr>
          <a:xfrm>
            <a:off x="800100" y="2844800"/>
            <a:ext cx="3302000" cy="3302000"/>
          </a:xfrm>
          <a:prstGeom prst="rect">
            <a:avLst/>
          </a:prstGeom>
          <a:noFill/>
        </p:spPr>
        <p:txBody>
          <a:bodyPr vertOverflow="overflow" vert="horz" wrap="square" rtlCol="0" anchor="t" anchorCtr="0">
            <a:noAutofit/>
          </a:bodyPr>
          <a:lstStyle/>
          <a:p>
            <a:pPr marL="200000" indent="-200000">
              <a:spcBef>
                <a:spcPts val="700"/>
              </a:spcBef>
              <a:buClr>
                <a:srgbClr val="0E96AC"/>
              </a:buClr>
              <a:buFont typeface="Arial"/>
              <a:buChar char="•"/>
            </a:pPr>
            <a:r>
              <a:rPr lang="en-US" sz="1400" dirty="0">
                <a:solidFill>
                  <a:srgbClr val="16223A"/>
                </a:solidFill>
                <a:latin typeface="Calibri" pitchFamily="34" charset="0"/>
              </a:rPr>
              <a:t>Header  0xFF 0xFF</a:t>
            </a:r>
          </a:p>
          <a:p>
            <a:pPr marL="200000" indent="-200000">
              <a:spcBef>
                <a:spcPts val="700"/>
              </a:spcBef>
              <a:buClr>
                <a:srgbClr val="0E96AC"/>
              </a:buClr>
              <a:buFont typeface="Arial"/>
              <a:buChar char="•"/>
            </a:pPr>
            <a:r>
              <a:rPr lang="en-US" sz="1400" dirty="0">
                <a:solidFill>
                  <a:srgbClr val="16223A"/>
                </a:solidFill>
                <a:latin typeface="Calibri" pitchFamily="34" charset="0"/>
              </a:rPr>
              <a:t>ID  1–253, or 0xFE broadcast</a:t>
            </a:r>
          </a:p>
          <a:p>
            <a:pPr marL="200000" indent="-200000">
              <a:spcBef>
                <a:spcPts val="700"/>
              </a:spcBef>
              <a:buClr>
                <a:srgbClr val="0E96AC"/>
              </a:buClr>
              <a:buFont typeface="Arial"/>
              <a:buChar char="•"/>
            </a:pPr>
            <a:r>
              <a:rPr lang="en-US" sz="1400" dirty="0">
                <a:solidFill>
                  <a:srgbClr val="16223A"/>
                </a:solidFill>
                <a:latin typeface="Calibri" pitchFamily="34" charset="0"/>
              </a:rPr>
              <a:t>Length  parameters + 2</a:t>
            </a:r>
          </a:p>
          <a:p>
            <a:pPr marL="200000" indent="-200000">
              <a:spcBef>
                <a:spcPts val="700"/>
              </a:spcBef>
              <a:buClr>
                <a:srgbClr val="0E96AC"/>
              </a:buClr>
              <a:buFont typeface="Arial"/>
              <a:buChar char="•"/>
            </a:pPr>
            <a:r>
              <a:rPr lang="en-US" sz="1400" dirty="0">
                <a:solidFill>
                  <a:srgbClr val="16223A"/>
                </a:solidFill>
                <a:latin typeface="Calibri" pitchFamily="34" charset="0"/>
              </a:rPr>
              <a:t>Instruction  0x03 = WRITE, 0x02 = READ</a:t>
            </a:r>
          </a:p>
          <a:p>
            <a:pPr marL="200000" indent="-200000">
              <a:spcBef>
                <a:spcPts val="700"/>
              </a:spcBef>
              <a:buClr>
                <a:srgbClr val="0E96AC"/>
              </a:buClr>
              <a:buFont typeface="Arial"/>
              <a:buChar char="•"/>
            </a:pPr>
            <a:r>
              <a:rPr lang="en-US" sz="1400" dirty="0">
                <a:solidFill>
                  <a:srgbClr val="16223A"/>
                </a:solidFill>
                <a:latin typeface="Calibri" pitchFamily="34" charset="0"/>
              </a:rPr>
              <a:t>Parameters  address, then data bytes</a:t>
            </a:r>
          </a:p>
          <a:p>
            <a:pPr marL="200000" indent="-200000">
              <a:spcBef>
                <a:spcPts val="700"/>
              </a:spcBef>
              <a:buClr>
                <a:srgbClr val="0E96AC"/>
              </a:buClr>
              <a:buFont typeface="Arial"/>
              <a:buChar char="•"/>
            </a:pPr>
            <a:r>
              <a:rPr lang="en-US" sz="1400" dirty="0">
                <a:solidFill>
                  <a:srgbClr val="16223A"/>
                </a:solidFill>
                <a:latin typeface="Calibri" pitchFamily="34" charset="0"/>
              </a:rPr>
              <a:t>Checksum  bitwise NOT of the byte sum</a:t>
            </a:r>
          </a:p>
          <a:p>
            <a:pPr marL="200000" indent="-200000">
              <a:spcBef>
                <a:spcPts val="700"/>
              </a:spcBef>
              <a:buClr>
                <a:srgbClr val="0E96AC"/>
              </a:buClr>
              <a:buFont typeface="Arial"/>
              <a:buChar char="•"/>
            </a:pPr>
            <a:r>
              <a:rPr lang="en-US" sz="1400" dirty="0">
                <a:solidFill>
                  <a:srgbClr val="16223A"/>
                </a:solidFill>
                <a:latin typeface="Calibri" pitchFamily="34" charset="0"/>
              </a:rPr>
              <a:t>Multi-byte fields are little-endian</a:t>
            </a:r>
          </a:p>
        </p:txBody>
      </p:sp>
      <p:sp>
        <p:nvSpPr>
          <p:cNvPr id="8" name="TableEyebrow">
            <a:extLst>
              <a:ext uri="{FF2B5EF4-FFF2-40B4-BE49-F238E27FC236}">
                <a16:creationId xmlns:a16="http://schemas.microsoft.com/office/drawing/2014/main" id="{7E5D13E2-1354-4CEB-BDEE-454765C80F19}"/>
              </a:ext>
            </a:extLst>
          </p:cNvPr>
          <p:cNvSpPr txBox="1"/>
          <p:nvPr/>
        </p:nvSpPr>
        <p:spPr>
          <a:xfrm>
            <a:off x="4494628" y="1079500"/>
            <a:ext cx="7073900" cy="2540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CONTROL TABLE — IMPLEMENTED</a:t>
            </a:r>
          </a:p>
        </p:txBody>
      </p:sp>
      <p:graphicFrame>
        <p:nvGraphicFramePr>
          <p:cNvPr id="10" name="CompareTable">
            <a:extLst>
              <a:ext uri="{FF2B5EF4-FFF2-40B4-BE49-F238E27FC236}">
                <a16:creationId xmlns:a16="http://schemas.microsoft.com/office/drawing/2014/main" id="{9440023E-3667-4AD8-9283-284DCB4D212C}"/>
              </a:ext>
            </a:extLst>
          </p:cNvPr>
          <p:cNvGraphicFramePr>
            <a:graphicFrameLocks noGrp="1"/>
          </p:cNvGraphicFramePr>
          <p:nvPr>
            <p:extLst>
              <p:ext uri="{D42A27DB-BD31-4B8C-83A1-F6EECF244321}">
                <p14:modId xmlns:p14="http://schemas.microsoft.com/office/powerpoint/2010/main" val="1572894493"/>
              </p:ext>
            </p:extLst>
          </p:nvPr>
        </p:nvGraphicFramePr>
        <p:xfrm>
          <a:off x="4494628" y="1582615"/>
          <a:ext cx="7151272" cy="4195888"/>
        </p:xfrm>
        <a:graphic>
          <a:graphicData uri="http://schemas.openxmlformats.org/drawingml/2006/table">
            <a:tbl>
              <a:tblPr firstRow="1" bandRow="1">
                <a:tableStyleId>{5C22544A-7EE6-4342-B048-85BDC9FD1C3A}</a:tableStyleId>
              </a:tblPr>
              <a:tblGrid>
                <a:gridCol w="1540669">
                  <a:extLst>
                    <a:ext uri="{9D8B030D-6E8A-4147-A177-3AD203B41FA5}">
                      <a16:colId xmlns:a16="http://schemas.microsoft.com/office/drawing/2014/main" val="3347371507"/>
                    </a:ext>
                  </a:extLst>
                </a:gridCol>
                <a:gridCol w="2567782">
                  <a:extLst>
                    <a:ext uri="{9D8B030D-6E8A-4147-A177-3AD203B41FA5}">
                      <a16:colId xmlns:a16="http://schemas.microsoft.com/office/drawing/2014/main" val="2919370013"/>
                    </a:ext>
                  </a:extLst>
                </a:gridCol>
                <a:gridCol w="3042821">
                  <a:extLst>
                    <a:ext uri="{9D8B030D-6E8A-4147-A177-3AD203B41FA5}">
                      <a16:colId xmlns:a16="http://schemas.microsoft.com/office/drawing/2014/main" val="1569824111"/>
                    </a:ext>
                  </a:extLst>
                </a:gridCol>
              </a:tblGrid>
              <a:tr h="524486">
                <a:tc>
                  <a:txBody>
                    <a:bodyPr/>
                    <a:lstStyle/>
                    <a:p>
                      <a:pPr algn="ctr"/>
                      <a:r>
                        <a:rPr lang="en-IN" sz="1400" b="1" dirty="0">
                          <a:solidFill>
                            <a:srgbClr val="FFFFFF"/>
                          </a:solidFill>
                          <a:latin typeface="Calibri"/>
                          <a:ea typeface="Calibri"/>
                          <a:cs typeface="Calibri"/>
                        </a:rPr>
                        <a:t>Register</a:t>
                      </a:r>
                    </a:p>
                  </a:txBody>
                  <a:tcPr anchor="ctr">
                    <a:solidFill>
                      <a:srgbClr val="16223A"/>
                    </a:solidFill>
                  </a:tcPr>
                </a:tc>
                <a:tc>
                  <a:txBody>
                    <a:bodyPr/>
                    <a:lstStyle/>
                    <a:p>
                      <a:pPr algn="ctr"/>
                      <a:r>
                        <a:rPr lang="en-IN" sz="1400" b="1" dirty="0">
                          <a:solidFill>
                            <a:srgbClr val="FFFFFF"/>
                          </a:solidFill>
                          <a:latin typeface="Calibri"/>
                          <a:ea typeface="Calibri"/>
                          <a:cs typeface="Calibri"/>
                        </a:rPr>
                        <a:t>Addr</a:t>
                      </a:r>
                    </a:p>
                  </a:txBody>
                  <a:tcPr anchor="ctr">
                    <a:solidFill>
                      <a:srgbClr val="16223A"/>
                    </a:solidFill>
                  </a:tcPr>
                </a:tc>
                <a:tc>
                  <a:txBody>
                    <a:bodyPr/>
                    <a:lstStyle/>
                    <a:p>
                      <a:pPr algn="ctr"/>
                      <a:r>
                        <a:rPr lang="en-IN" sz="1400" b="1" dirty="0" err="1">
                          <a:solidFill>
                            <a:srgbClr val="FFFFFF"/>
                          </a:solidFill>
                          <a:latin typeface="Calibri"/>
                          <a:ea typeface="Calibri"/>
                          <a:cs typeface="Calibri"/>
                        </a:rPr>
                        <a:t>Width and meaning</a:t>
                      </a:r>
                    </a:p>
                  </a:txBody>
                  <a:tcPr anchor="ctr">
                    <a:solidFill>
                      <a:srgbClr val="0E96AC"/>
                    </a:solidFill>
                  </a:tcPr>
                </a:tc>
                <a:extLst>
                  <a:ext uri="{0D108BD9-81ED-4DB2-BD59-A6C34878D82A}">
                    <a16:rowId xmlns:a16="http://schemas.microsoft.com/office/drawing/2014/main" val="408524524"/>
                  </a:ext>
                </a:extLst>
              </a:tr>
              <a:tr h="524486">
                <a:tc>
                  <a:txBody>
                    <a:bodyPr/>
                    <a:lstStyle/>
                    <a:p>
                      <a:pPr algn="l"/>
                      <a:r>
                        <a:rPr lang="en-IN" sz="1400" b="0">
                          <a:solidFill>
                            <a:srgbClr val="16223A"/>
                          </a:solidFill>
                          <a:latin typeface="Calibri"/>
                          <a:ea typeface="Calibri"/>
                          <a:cs typeface="Calibri"/>
                        </a:rPr>
                        <a:t>ID</a:t>
                      </a:r>
                    </a:p>
                  </a:txBody>
                  <a:tcPr anchor="ctr">
                    <a:solidFill>
                      <a:srgbClr val="F4F6F9"/>
                    </a:solidFill>
                  </a:tcPr>
                </a:tc>
                <a:tc>
                  <a:txBody>
                    <a:bodyPr/>
                    <a:lstStyle/>
                    <a:p>
                      <a:pPr algn="l"/>
                      <a:r>
                        <a:rPr lang="en-IN" sz="1400" dirty="0" b="0">
                          <a:solidFill>
                            <a:srgbClr val="3A4658"/>
                          </a:solidFill>
                          <a:latin typeface="Calibri"/>
                          <a:ea typeface="Calibri"/>
                          <a:cs typeface="Calibri"/>
                        </a:rPr>
                        <a:t>5</a:t>
                      </a:r>
                    </a:p>
                  </a:txBody>
                  <a:tcPr anchor="ctr">
                    <a:solidFill>
                      <a:srgbClr val="FFFFFF"/>
                    </a:solidFill>
                  </a:tcPr>
                </a:tc>
                <a:tc>
                  <a:txBody>
                    <a:bodyPr/>
                    <a:lstStyle/>
                    <a:p>
                      <a:pPr algn="l"/>
                      <a:r>
                        <a:rPr lang="en-IN" sz="1400" b="0">
                          <a:solidFill>
                            <a:srgbClr val="16223A"/>
                          </a:solidFill>
                          <a:latin typeface="Calibri"/>
                          <a:ea typeface="Calibri"/>
                          <a:cs typeface="Calibri"/>
                        </a:rPr>
                        <a:t>1 byte, EEPROM — factory default 1</a:t>
                      </a:r>
                    </a:p>
                  </a:txBody>
                  <a:tcPr anchor="ctr">
                    <a:solidFill>
                      <a:srgbClr val="E6F4F6"/>
                    </a:solidFill>
                  </a:tcPr>
                </a:tc>
                <a:extLst>
                  <a:ext uri="{0D108BD9-81ED-4DB2-BD59-A6C34878D82A}">
                    <a16:rowId xmlns:a16="http://schemas.microsoft.com/office/drawing/2014/main" val="2149984924"/>
                  </a:ext>
                </a:extLst>
              </a:tr>
              <a:tr h="524486">
                <a:tc>
                  <a:txBody>
                    <a:bodyPr/>
                    <a:lstStyle/>
                    <a:p>
                      <a:pPr algn="l"/>
                      <a:r>
                        <a:rPr lang="en-IN" sz="1400" b="0">
                          <a:solidFill>
                            <a:srgbClr val="16223A"/>
                          </a:solidFill>
                          <a:latin typeface="Calibri"/>
                          <a:ea typeface="Calibri"/>
                          <a:cs typeface="Calibri"/>
                        </a:rPr>
                        <a:t>TORQUE_ENABLE</a:t>
                      </a:r>
                    </a:p>
                  </a:txBody>
                  <a:tcPr anchor="ctr">
                    <a:solidFill>
                      <a:srgbClr val="F4F6F9"/>
                    </a:solidFill>
                  </a:tcPr>
                </a:tc>
                <a:tc>
                  <a:txBody>
                    <a:bodyPr/>
                    <a:lstStyle/>
                    <a:p>
                      <a:pPr algn="l"/>
                      <a:r>
                        <a:rPr lang="en-IN" sz="1400" dirty="0" b="0">
                          <a:solidFill>
                            <a:srgbClr val="3A4658"/>
                          </a:solidFill>
                          <a:latin typeface="Calibri"/>
                          <a:ea typeface="Calibri"/>
                          <a:cs typeface="Calibri"/>
                        </a:rPr>
                        <a:t>40</a:t>
                      </a:r>
                    </a:p>
                  </a:txBody>
                  <a:tcPr anchor="ctr">
                    <a:solidFill>
                      <a:srgbClr val="FFFFFF"/>
                    </a:solidFill>
                  </a:tcPr>
                </a:tc>
                <a:tc>
                  <a:txBody>
                    <a:bodyPr/>
                    <a:lstStyle/>
                    <a:p>
                      <a:pPr algn="l"/>
                      <a:r>
                        <a:rPr lang="en-IN" sz="1400" dirty="0" b="0">
                          <a:solidFill>
                            <a:srgbClr val="16223A"/>
                          </a:solidFill>
                          <a:latin typeface="Calibri"/>
                          <a:ea typeface="Calibri"/>
                          <a:cs typeface="Calibri"/>
                        </a:rPr>
                        <a:t>1 byte  0 = off, 1 = on</a:t>
                      </a:r>
                    </a:p>
                  </a:txBody>
                  <a:tcPr anchor="ctr">
                    <a:solidFill>
                      <a:srgbClr val="E6F4F6"/>
                    </a:solidFill>
                  </a:tcPr>
                </a:tc>
                <a:extLst>
                  <a:ext uri="{0D108BD9-81ED-4DB2-BD59-A6C34878D82A}">
                    <a16:rowId xmlns:a16="http://schemas.microsoft.com/office/drawing/2014/main" val="2686798067"/>
                  </a:ext>
                </a:extLst>
              </a:tr>
              <a:tr h="524486">
                <a:tc>
                  <a:txBody>
                    <a:bodyPr/>
                    <a:lstStyle/>
                    <a:p>
                      <a:pPr algn="l"/>
                      <a:r>
                        <a:rPr lang="en-IN" sz="1400" b="0">
                          <a:solidFill>
                            <a:srgbClr val="16223A"/>
                          </a:solidFill>
                          <a:latin typeface="Calibri"/>
                          <a:ea typeface="Calibri"/>
                          <a:cs typeface="Calibri"/>
                        </a:rPr>
                        <a:t>GOAL_POSITION</a:t>
                      </a:r>
                    </a:p>
                  </a:txBody>
                  <a:tcPr anchor="ctr">
                    <a:solidFill>
                      <a:srgbClr val="F4F6F9"/>
                    </a:solidFill>
                  </a:tcPr>
                </a:tc>
                <a:tc>
                  <a:txBody>
                    <a:bodyPr/>
                    <a:lstStyle/>
                    <a:p>
                      <a:pPr algn="l"/>
                      <a:r>
                        <a:rPr lang="en-IN" sz="1400" dirty="0" b="0">
                          <a:solidFill>
                            <a:srgbClr val="3A4658"/>
                          </a:solidFill>
                          <a:latin typeface="Calibri"/>
                          <a:ea typeface="Calibri"/>
                          <a:cs typeface="Calibri"/>
                        </a:rPr>
                        <a:t>42</a:t>
                      </a:r>
                    </a:p>
                  </a:txBody>
                  <a:tcPr anchor="ctr">
                    <a:solidFill>
                      <a:srgbClr val="FFFFFF"/>
                    </a:solidFill>
                  </a:tcPr>
                </a:tc>
                <a:tc>
                  <a:txBody>
                    <a:bodyPr/>
                    <a:lstStyle/>
                    <a:p>
                      <a:pPr algn="l"/>
                      <a:r>
                        <a:rPr lang="en-IN" sz="1400" b="0">
                          <a:solidFill>
                            <a:srgbClr val="16223A"/>
                          </a:solidFill>
                          <a:latin typeface="Calibri"/>
                          <a:ea typeface="Calibri"/>
                          <a:cs typeface="Calibri"/>
                        </a:rPr>
                        <a:t>2 bytes, little-endian, 0–4095</a:t>
                      </a:r>
                    </a:p>
                  </a:txBody>
                  <a:tcPr anchor="ctr">
                    <a:solidFill>
                      <a:srgbClr val="E6F4F6"/>
                    </a:solidFill>
                  </a:tcPr>
                </a:tc>
                <a:extLst>
                  <a:ext uri="{0D108BD9-81ED-4DB2-BD59-A6C34878D82A}">
                    <a16:rowId xmlns:a16="http://schemas.microsoft.com/office/drawing/2014/main" val="3806473319"/>
                  </a:ext>
                </a:extLst>
              </a:tr>
              <a:tr h="524486">
                <a:tc>
                  <a:txBody>
                    <a:bodyPr/>
                    <a:lstStyle/>
                    <a:p>
                      <a:pPr algn="l"/>
                      <a:r>
                        <a:rPr lang="en-IN" sz="1400" b="0">
                          <a:solidFill>
                            <a:srgbClr val="16223A"/>
                          </a:solidFill>
                          <a:latin typeface="Calibri"/>
                          <a:ea typeface="Calibri"/>
                          <a:cs typeface="Calibri"/>
                        </a:rPr>
                        <a:t>GOAL_SPEED</a:t>
                      </a:r>
                    </a:p>
                  </a:txBody>
                  <a:tcPr anchor="ctr">
                    <a:solidFill>
                      <a:srgbClr val="F4F6F9"/>
                    </a:solidFill>
                  </a:tcPr>
                </a:tc>
                <a:tc>
                  <a:txBody>
                    <a:bodyPr/>
                    <a:lstStyle/>
                    <a:p>
                      <a:pPr algn="l"/>
                      <a:r>
                        <a:rPr lang="en-IN" sz="1400" dirty="0" b="0">
                          <a:solidFill>
                            <a:srgbClr val="3A4658"/>
                          </a:solidFill>
                          <a:latin typeface="Calibri"/>
                          <a:ea typeface="Calibri"/>
                          <a:cs typeface="Calibri"/>
                        </a:rPr>
                        <a:t>46</a:t>
                      </a:r>
                    </a:p>
                  </a:txBody>
                  <a:tcPr anchor="ctr">
                    <a:solidFill>
                      <a:srgbClr val="FFFFFF"/>
                    </a:solidFill>
                  </a:tcPr>
                </a:tc>
                <a:tc>
                  <a:txBody>
                    <a:bodyPr/>
                    <a:lstStyle/>
                    <a:p>
                      <a:pPr algn="l"/>
                      <a:r>
                        <a:rPr lang="en-IN" sz="1400" dirty="0" b="0">
                          <a:solidFill>
                            <a:srgbClr val="16223A"/>
                          </a:solidFill>
                          <a:latin typeface="Calibri"/>
                          <a:ea typeface="Calibri"/>
                          <a:cs typeface="Calibri"/>
                        </a:rPr>
                        <a:t>2 bytes, steps per second</a:t>
                      </a:r>
                    </a:p>
                  </a:txBody>
                  <a:tcPr anchor="ctr">
                    <a:solidFill>
                      <a:srgbClr val="E6F4F6"/>
                    </a:solidFill>
                  </a:tcPr>
                </a:tc>
                <a:extLst>
                  <a:ext uri="{0D108BD9-81ED-4DB2-BD59-A6C34878D82A}">
                    <a16:rowId xmlns:a16="http://schemas.microsoft.com/office/drawing/2014/main" val="4040244787"/>
                  </a:ext>
                </a:extLst>
              </a:tr>
              <a:tr h="524486">
                <a:tc>
                  <a:txBody>
                    <a:bodyPr/>
                    <a:lstStyle/>
                    <a:p>
                      <a:pPr algn="l"/>
                      <a:r>
                        <a:rPr lang="en-IN" sz="1400" b="0">
                          <a:solidFill>
                            <a:srgbClr val="16223A"/>
                          </a:solidFill>
                          <a:latin typeface="Calibri"/>
                          <a:ea typeface="Calibri"/>
                          <a:cs typeface="Calibri"/>
                        </a:rPr>
                        <a:t>LOCK</a:t>
                      </a:r>
                    </a:p>
                  </a:txBody>
                  <a:tcPr anchor="ctr">
                    <a:solidFill>
                      <a:srgbClr val="F4F6F9"/>
                    </a:solidFill>
                  </a:tcPr>
                </a:tc>
                <a:tc>
                  <a:txBody>
                    <a:bodyPr/>
                    <a:lstStyle/>
                    <a:p>
                      <a:pPr algn="l"/>
                      <a:r>
                        <a:rPr lang="en-IN" sz="1400" dirty="0" b="0">
                          <a:solidFill>
                            <a:srgbClr val="3A4658"/>
                          </a:solidFill>
                          <a:latin typeface="Calibri"/>
                          <a:ea typeface="Calibri"/>
                          <a:cs typeface="Calibri"/>
                        </a:rPr>
                        <a:t>55</a:t>
                      </a:r>
                    </a:p>
                  </a:txBody>
                  <a:tcPr anchor="ctr">
                    <a:solidFill>
                      <a:srgbClr val="FFFFFF"/>
                    </a:solidFill>
                  </a:tcPr>
                </a:tc>
                <a:tc>
                  <a:txBody>
                    <a:bodyPr/>
                    <a:lstStyle/>
                    <a:p>
                      <a:pPr algn="l"/>
                      <a:r>
                        <a:rPr lang="en-IN" sz="1400" dirty="0" b="0">
                          <a:solidFill>
                            <a:srgbClr val="16223A"/>
                          </a:solidFill>
                          <a:latin typeface="Calibri"/>
                          <a:ea typeface="Calibri"/>
                          <a:cs typeface="Calibri"/>
                        </a:rPr>
                        <a:t>1 byte, EEPROM write gate</a:t>
                      </a:r>
                    </a:p>
                  </a:txBody>
                  <a:tcPr anchor="ctr">
                    <a:solidFill>
                      <a:srgbClr val="E6F4F6"/>
                    </a:solidFill>
                  </a:tcPr>
                </a:tc>
                <a:extLst>
                  <a:ext uri="{0D108BD9-81ED-4DB2-BD59-A6C34878D82A}">
                    <a16:rowId xmlns:a16="http://schemas.microsoft.com/office/drawing/2014/main" val="2401347979"/>
                  </a:ext>
                </a:extLst>
              </a:tr>
              <a:tr h="524486">
                <a:tc>
                  <a:txBody>
                    <a:bodyPr/>
                    <a:lstStyle/>
                    <a:p>
                      <a:pPr algn="l"/>
                      <a:r>
                        <a:rPr lang="en-IN" sz="1400" b="0">
                          <a:solidFill>
                            <a:srgbClr val="16223A"/>
                          </a:solidFill>
                          <a:latin typeface="Calibri"/>
                          <a:ea typeface="Calibri"/>
                          <a:cs typeface="Calibri"/>
                        </a:rPr>
                        <a:t>PRESENT_POSITION</a:t>
                      </a:r>
                    </a:p>
                  </a:txBody>
                  <a:tcPr anchor="ctr">
                    <a:solidFill>
                      <a:srgbClr val="F4F6F9"/>
                    </a:solidFill>
                  </a:tcPr>
                </a:tc>
                <a:tc>
                  <a:txBody>
                    <a:bodyPr/>
                    <a:lstStyle/>
                    <a:p>
                      <a:pPr algn="l"/>
                      <a:r>
                        <a:rPr lang="en-IN" sz="1400" dirty="0" b="0">
                          <a:solidFill>
                            <a:srgbClr val="3A4658"/>
                          </a:solidFill>
                          <a:latin typeface="Calibri"/>
                          <a:ea typeface="Calibri"/>
                          <a:cs typeface="Calibri"/>
                        </a:rPr>
                        <a:t>56</a:t>
                      </a:r>
                    </a:p>
                  </a:txBody>
                  <a:tcPr anchor="ctr">
                    <a:solidFill>
                      <a:srgbClr val="FFFFFF"/>
                    </a:solidFill>
                  </a:tcPr>
                </a:tc>
                <a:tc>
                  <a:txBody>
                    <a:bodyPr/>
                    <a:lstStyle/>
                    <a:p>
                      <a:pPr algn="l"/>
                      <a:r>
                        <a:rPr lang="en-IN" sz="1400" dirty="0" b="0">
                          <a:solidFill>
                            <a:srgbClr val="16223A"/>
                          </a:solidFill>
                          <a:latin typeface="Calibri"/>
                          <a:ea typeface="Calibri"/>
                          <a:cs typeface="Calibri"/>
                        </a:rPr>
                        <a:t>2 bytes, centre = 2048</a:t>
                      </a:r>
                    </a:p>
                  </a:txBody>
                  <a:tcPr anchor="ctr">
                    <a:solidFill>
                      <a:srgbClr val="E6F4F6"/>
                    </a:solidFill>
                  </a:tcPr>
                </a:tc>
                <a:extLst>
                  <a:ext uri="{0D108BD9-81ED-4DB2-BD59-A6C34878D82A}">
                    <a16:rowId xmlns:a16="http://schemas.microsoft.com/office/drawing/2014/main" val="2339067859"/>
                  </a:ext>
                </a:extLst>
              </a:tr>
              <a:tr h="524486">
                <a:tc>
                  <a:txBody>
                    <a:bodyPr/>
                    <a:lstStyle/>
                    <a:p>
                      <a:pPr algn="l"/>
                      <a:r>
                        <a:rPr lang="en-IN" sz="1400" b="0" dirty="0">
                          <a:solidFill>
                            <a:srgbClr val="16223A"/>
                          </a:solidFill>
                          <a:latin typeface="Calibri"/>
                          <a:ea typeface="Calibri"/>
                          <a:cs typeface="Calibri"/>
                        </a:rPr>
                        <a:t>PRESENT_CURRENT</a:t>
                      </a:r>
                    </a:p>
                  </a:txBody>
                  <a:tcPr anchor="ctr">
                    <a:solidFill>
                      <a:srgbClr val="F4F6F9"/>
                    </a:solidFill>
                  </a:tcPr>
                </a:tc>
                <a:tc>
                  <a:txBody>
                    <a:bodyPr/>
                    <a:lstStyle/>
                    <a:p>
                      <a:pPr algn="l"/>
                      <a:r>
                        <a:rPr lang="en-IN" sz="1400" dirty="0" b="0">
                          <a:solidFill>
                            <a:srgbClr val="3A4658"/>
                          </a:solidFill>
                          <a:latin typeface="Calibri"/>
                          <a:ea typeface="Calibri"/>
                          <a:cs typeface="Calibri"/>
                        </a:rPr>
                        <a:t>69</a:t>
                      </a:r>
                    </a:p>
                  </a:txBody>
                  <a:tcPr anchor="ctr">
                    <a:solidFill>
                      <a:srgbClr val="FFFFFF"/>
                    </a:solidFill>
                  </a:tcPr>
                </a:tc>
                <a:tc>
                  <a:txBody>
                    <a:bodyPr/>
                    <a:lstStyle/>
                    <a:p>
                      <a:pPr algn="l"/>
                      <a:r>
                        <a:rPr lang="en-IN" sz="1400" dirty="0" b="0">
                          <a:solidFill>
                            <a:srgbClr val="16223A"/>
                          </a:solidFill>
                          <a:latin typeface="Calibri"/>
                          <a:ea typeface="Calibri"/>
                          <a:cs typeface="Calibri"/>
                        </a:rPr>
                        <a:t>2 bytes, bit15 = sign, 6.5 mA/count</a:t>
                      </a:r>
                    </a:p>
                  </a:txBody>
                  <a:tcPr anchor="ctr">
                    <a:solidFill>
                      <a:srgbClr val="E6F4F6"/>
                    </a:solidFill>
                  </a:tcPr>
                </a:tc>
                <a:extLst>
                  <a:ext uri="{0D108BD9-81ED-4DB2-BD59-A6C34878D82A}">
                    <a16:rowId xmlns:a16="http://schemas.microsoft.com/office/drawing/2014/main" val="1084950083"/>
                  </a:ext>
                </a:extLst>
              </a:tr>
            </a:tbl>
          </a:graphicData>
        </a:graphic>
      </p:graphicFrame>
      <p:pic>
        <p:nvPicPr>
          <p:cNvPr id="9" name="Picture 8">
            <a:extLst>
              <a:ext uri="{FF2B5EF4-FFF2-40B4-BE49-F238E27FC236}">
                <a16:creationId xmlns:a16="http://schemas.microsoft.com/office/drawing/2014/main" id="{62BB27E5-1A94-7525-BF59-74EF6B337C81}"/>
              </a:ext>
            </a:extLst>
          </p:cNvPr>
          <p:cNvPicPr>
            <a:picLocks noChangeAspect="1"/>
          </p:cNvPicPr>
          <p:nvPr/>
        </p:nvPicPr>
        <p:blipFill>
          <a:blip r:embed="rId2"/>
          <a:stretch>
            <a:fillRect/>
          </a:stretch>
        </p:blipFill>
        <p:spPr>
          <a:xfrm>
            <a:off x="5968999" y="5866228"/>
            <a:ext cx="1676791" cy="915572"/>
          </a:xfrm>
          <a:prstGeom prst="rect">
            <a:avLst/>
          </a:prstGeom>
        </p:spPr>
      </p:pic>
      <p:pic>
        <p:nvPicPr>
          <p:cNvPr id="11" name="Picture 10">
            <a:extLst>
              <a:ext uri="{FF2B5EF4-FFF2-40B4-BE49-F238E27FC236}">
                <a16:creationId xmlns:a16="http://schemas.microsoft.com/office/drawing/2014/main" id="{C8D52D7D-EF94-EEFF-57BE-DFBE3ED682EB}"/>
              </a:ext>
            </a:extLst>
          </p:cNvPr>
          <p:cNvPicPr>
            <a:picLocks noChangeAspect="1"/>
          </p:cNvPicPr>
          <p:nvPr/>
        </p:nvPicPr>
        <p:blipFill>
          <a:blip r:embed="rId3"/>
          <a:stretch>
            <a:fillRect/>
          </a:stretch>
        </p:blipFill>
        <p:spPr>
          <a:xfrm>
            <a:off x="8932985" y="5765902"/>
            <a:ext cx="1485105" cy="1015898"/>
          </a:xfrm>
          <a:prstGeom prst="rect">
            <a:avLst/>
          </a:prstGeom>
        </p:spPr>
      </p:pic>
    </p:spTree>
    <p:extLst>
      <p:ext uri="{BB962C8B-B14F-4D97-AF65-F5344CB8AC3E}">
        <p14:creationId xmlns:p14="http://schemas.microsoft.com/office/powerpoint/2010/main" val="4284226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100" name="bg_top"/>
          <p:cNvSpPr>
            <a:spLocks noGrp="1"/>
          </p:cNvSpPr>
          <p:nvPr/>
        </p:nvSpPr>
        <p:spPr>
          <a:xfrm>
            <a:off x="0" y="0"/>
            <a:ext cx="12192000" cy="1397000"/>
          </a:xfrm>
          <a:prstGeom prst="rect">
            <a:avLst/>
          </a:prstGeom>
          <a:solidFill>
            <a:srgbClr val="F4F6F9"/>
          </a:solidFill>
          <a:ln>
            <a:noFill/>
          </a:ln>
        </p:spPr>
        <p:txBody>
          <a:bodyPr/>
          <a:lstStyle/>
          <a:p>
            <a:endParaRPr lang="en-US"/>
          </a:p>
        </p:txBody>
      </p:sp>
      <p:sp>
        <p:nvSpPr>
          <p:cNvPr id="101" name="bg_body"/>
          <p:cNvSpPr>
            <a:spLocks noGrp="1"/>
          </p:cNvSpPr>
          <p:nvPr/>
        </p:nvSpPr>
        <p:spPr>
          <a:xfrm>
            <a:off x="0" y="1397000"/>
            <a:ext cx="12192000" cy="5461000"/>
          </a:xfrm>
          <a:prstGeom prst="rect">
            <a:avLst/>
          </a:prstGeom>
          <a:solidFill>
            <a:srgbClr val="FFFFFF"/>
          </a:solidFill>
          <a:ln>
            <a:noFill/>
          </a:ln>
        </p:spPr>
        <p:txBody>
          <a:bodyPr/>
          <a:lstStyle/>
          <a:p>
            <a:endParaRPr lang="en-US"/>
          </a:p>
        </p:txBody>
      </p:sp>
      <p:sp>
        <p:nvSpPr>
          <p:cNvPr id="102" name="accent_bar"/>
          <p:cNvSpPr>
            <a:spLocks noGrp="1"/>
          </p:cNvSpPr>
          <p:nvPr/>
        </p:nvSpPr>
        <p:spPr>
          <a:xfrm>
            <a:off x="0" y="0"/>
            <a:ext cx="12192000" cy="63500"/>
          </a:xfrm>
          <a:prstGeom prst="rect">
            <a:avLst/>
          </a:prstGeom>
          <a:solidFill>
            <a:srgbClr val="0E96AC"/>
          </a:solidFill>
          <a:ln>
            <a:noFill/>
          </a:ln>
        </p:spPr>
        <p:txBody>
          <a:bodyPr/>
          <a:lstStyle/>
          <a:p>
            <a:endParaRPr lang="en-US"/>
          </a:p>
        </p:txBody>
      </p:sp>
      <p:sp>
        <p:nvSpPr>
          <p:cNvPr id="103" name="subtitle"/>
          <p:cNvSpPr txBox="1">
            <a:spLocks noGrp="1"/>
          </p:cNvSpPr>
          <p:nvPr/>
        </p:nvSpPr>
        <p:spPr>
          <a:xfrm>
            <a:off x="546100" y="177800"/>
            <a:ext cx="8636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CAD EVOLUTION</a:t>
            </a:r>
          </a:p>
        </p:txBody>
      </p:sp>
      <p:sp>
        <p:nvSpPr>
          <p:cNvPr id="104" name="title"/>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Segment Design v4 → v5 → v6</a:t>
            </a:r>
          </a:p>
        </p:txBody>
      </p:sp>
      <p:sp>
        <p:nvSpPr>
          <p:cNvPr id="105" name="divider"/>
          <p:cNvSpPr>
            <a:spLocks noGrp="1"/>
          </p:cNvSpPr>
          <p:nvPr/>
        </p:nvSpPr>
        <p:spPr>
          <a:xfrm>
            <a:off x="546100" y="1320800"/>
            <a:ext cx="11099800" cy="25400"/>
          </a:xfrm>
          <a:prstGeom prst="rect">
            <a:avLst/>
          </a:prstGeom>
          <a:solidFill>
            <a:srgbClr val="0E96AC"/>
          </a:solidFill>
          <a:ln>
            <a:noFill/>
          </a:ln>
        </p:spPr>
        <p:txBody>
          <a:bodyPr/>
          <a:lstStyle/>
          <a:p>
            <a:endParaRPr lang="en-US"/>
          </a:p>
        </p:txBody>
      </p:sp>
      <p:sp>
        <p:nvSpPr>
          <p:cNvPr id="110" name="s1_bg"/>
          <p:cNvSpPr>
            <a:spLocks noGrp="1"/>
          </p:cNvSpPr>
          <p:nvPr/>
        </p:nvSpPr>
        <p:spPr>
          <a:xfrm>
            <a:off x="546100" y="1447800"/>
            <a:ext cx="11099800" cy="711200"/>
          </a:xfrm>
          <a:prstGeom prst="roundRect">
            <a:avLst>
              <a:gd name="adj" fmla="val 12000"/>
            </a:avLst>
          </a:prstGeom>
          <a:solidFill>
            <a:srgbClr val="EBF8FA"/>
          </a:solidFill>
          <a:ln>
            <a:noFill/>
          </a:ln>
        </p:spPr>
        <p:txBody>
          <a:bodyPr/>
          <a:lstStyle/>
          <a:p>
            <a:endParaRPr lang="en-US"/>
          </a:p>
        </p:txBody>
      </p:sp>
      <p:sp>
        <p:nvSpPr>
          <p:cNvPr id="111" name="s1_accent"/>
          <p:cNvSpPr>
            <a:spLocks noGrp="1"/>
          </p:cNvSpPr>
          <p:nvPr/>
        </p:nvSpPr>
        <p:spPr>
          <a:xfrm>
            <a:off x="546100" y="1447800"/>
            <a:ext cx="63500" cy="711200"/>
          </a:xfrm>
          <a:prstGeom prst="rect">
            <a:avLst/>
          </a:prstGeom>
          <a:solidFill>
            <a:srgbClr val="0E96AC"/>
          </a:solidFill>
          <a:ln>
            <a:noFill/>
          </a:ln>
        </p:spPr>
        <p:txBody>
          <a:bodyPr/>
          <a:lstStyle/>
          <a:p>
            <a:endParaRPr lang="en-US"/>
          </a:p>
        </p:txBody>
      </p:sp>
      <p:sp>
        <p:nvSpPr>
          <p:cNvPr id="112" name="s1_text"/>
          <p:cNvSpPr txBox="1">
            <a:spLocks noGrp="1"/>
          </p:cNvSpPr>
          <p:nvPr/>
        </p:nvSpPr>
        <p:spPr>
          <a:xfrm>
            <a:off x="736600" y="1473200"/>
            <a:ext cx="10795000" cy="660400"/>
          </a:xfrm>
          <a:prstGeom prst="rect">
            <a:avLst/>
          </a:prstGeom>
          <a:noFill/>
          <a:ln>
            <a:noFill/>
          </a:ln>
        </p:spPr>
        <p:txBody>
          <a:bodyPr anchor="ctr">
            <a:normAutofit lnSpcReduction="10000"/>
          </a:bodyPr>
          <a:lstStyle/>
          <a:p>
            <a:pPr marL="0" indent="0">
              <a:buNone/>
            </a:pPr>
            <a:r>
              <a:rPr lang="en-IN" sz="1300" b="1" dirty="0">
                <a:solidFill>
                  <a:srgbClr val="16223A"/>
                </a:solidFill>
                <a:latin typeface="Calibri"/>
              </a:rPr>
              <a:t>Design Strategy: the segment is a parametric CadQuery model, not a hand-drawn solid, so every dimension traces to a named constant and the model refuses to export if its own assumptions stop holding. v6 is the design of record; its three fixes were found by measuring the earlier versions rather than looking at them.</a:t>
            </a:r>
          </a:p>
        </p:txBody>
      </p:sp>
      <p:sp>
        <p:nvSpPr>
          <p:cNvPr id="120" name="card0_bg"/>
          <p:cNvSpPr>
            <a:spLocks noGrp="1"/>
          </p:cNvSpPr>
          <p:nvPr/>
        </p:nvSpPr>
        <p:spPr>
          <a:xfrm>
            <a:off x="546100" y="2260600"/>
            <a:ext cx="3568700" cy="1714500"/>
          </a:xfrm>
          <a:prstGeom prst="roundRect">
            <a:avLst>
              <a:gd name="adj" fmla="val 10000"/>
            </a:avLst>
          </a:prstGeom>
          <a:solidFill>
            <a:srgbClr val="F0FBF4"/>
          </a:solidFill>
          <a:ln w="15000">
            <a:solidFill>
              <a:srgbClr val="1E7A3E"/>
            </a:solidFill>
          </a:ln>
        </p:spPr>
        <p:txBody>
          <a:bodyPr/>
          <a:lstStyle/>
          <a:p>
            <a:endParaRPr lang="en-US"/>
          </a:p>
        </p:txBody>
      </p:sp>
      <p:sp>
        <p:nvSpPr>
          <p:cNvPr id="121" name="card0_hdr"/>
          <p:cNvSpPr>
            <a:spLocks noGrp="1"/>
          </p:cNvSpPr>
          <p:nvPr/>
        </p:nvSpPr>
        <p:spPr>
          <a:xfrm>
            <a:off x="546100" y="2260600"/>
            <a:ext cx="3568700" cy="330200"/>
          </a:xfrm>
          <a:prstGeom prst="rect">
            <a:avLst/>
          </a:prstGeom>
          <a:solidFill>
            <a:srgbClr val="1E7A3E"/>
          </a:solidFill>
          <a:ln>
            <a:noFill/>
          </a:ln>
        </p:spPr>
        <p:txBody>
          <a:bodyPr/>
          <a:lstStyle/>
          <a:p>
            <a:endParaRPr lang="en-US"/>
          </a:p>
        </p:txBody>
      </p:sp>
      <p:sp>
        <p:nvSpPr>
          <p:cNvPr id="130" name="card1_bg"/>
          <p:cNvSpPr>
            <a:spLocks noGrp="1"/>
          </p:cNvSpPr>
          <p:nvPr/>
        </p:nvSpPr>
        <p:spPr>
          <a:xfrm>
            <a:off x="4305300" y="2260600"/>
            <a:ext cx="3568700" cy="1714500"/>
          </a:xfrm>
          <a:prstGeom prst="roundRect">
            <a:avLst>
              <a:gd name="adj" fmla="val 10000"/>
            </a:avLst>
          </a:prstGeom>
          <a:solidFill>
            <a:srgbClr val="FEF9EE"/>
          </a:solidFill>
          <a:ln w="15000">
            <a:solidFill>
              <a:srgbClr val="B45309"/>
            </a:solidFill>
          </a:ln>
        </p:spPr>
        <p:txBody>
          <a:bodyPr/>
          <a:lstStyle/>
          <a:p>
            <a:endParaRPr lang="en-US"/>
          </a:p>
        </p:txBody>
      </p:sp>
      <p:sp>
        <p:nvSpPr>
          <p:cNvPr id="131" name="card1_hdr"/>
          <p:cNvSpPr>
            <a:spLocks noGrp="1"/>
          </p:cNvSpPr>
          <p:nvPr/>
        </p:nvSpPr>
        <p:spPr>
          <a:xfrm>
            <a:off x="4305300" y="2260600"/>
            <a:ext cx="3568700" cy="330200"/>
          </a:xfrm>
          <a:prstGeom prst="rect">
            <a:avLst/>
          </a:prstGeom>
          <a:solidFill>
            <a:srgbClr val="B45309"/>
          </a:solidFill>
          <a:ln>
            <a:noFill/>
          </a:ln>
        </p:spPr>
        <p:txBody>
          <a:bodyPr/>
          <a:lstStyle/>
          <a:p>
            <a:endParaRPr lang="en-US"/>
          </a:p>
        </p:txBody>
      </p:sp>
      <p:sp>
        <p:nvSpPr>
          <p:cNvPr id="140" name="card2_bg"/>
          <p:cNvSpPr>
            <a:spLocks noGrp="1"/>
          </p:cNvSpPr>
          <p:nvPr/>
        </p:nvSpPr>
        <p:spPr>
          <a:xfrm>
            <a:off x="8064500" y="2260600"/>
            <a:ext cx="3568700" cy="1714500"/>
          </a:xfrm>
          <a:prstGeom prst="roundRect">
            <a:avLst>
              <a:gd name="adj" fmla="val 10000"/>
            </a:avLst>
          </a:prstGeom>
          <a:solidFill>
            <a:srgbClr val="EEF3FC"/>
          </a:solidFill>
          <a:ln w="15000">
            <a:solidFill>
              <a:srgbClr val="1A4A8A"/>
            </a:solidFill>
          </a:ln>
        </p:spPr>
        <p:txBody>
          <a:bodyPr/>
          <a:lstStyle/>
          <a:p>
            <a:endParaRPr lang="en-US"/>
          </a:p>
        </p:txBody>
      </p:sp>
      <p:sp>
        <p:nvSpPr>
          <p:cNvPr id="141" name="card2_hdr"/>
          <p:cNvSpPr>
            <a:spLocks noGrp="1"/>
          </p:cNvSpPr>
          <p:nvPr/>
        </p:nvSpPr>
        <p:spPr>
          <a:xfrm>
            <a:off x="8064500" y="2260600"/>
            <a:ext cx="3568700" cy="330200"/>
          </a:xfrm>
          <a:prstGeom prst="rect">
            <a:avLst/>
          </a:prstGeom>
          <a:solidFill>
            <a:srgbClr val="1A4A8A"/>
          </a:solidFill>
          <a:ln>
            <a:noFill/>
          </a:ln>
        </p:spPr>
        <p:txBody>
          <a:bodyPr/>
          <a:lstStyle/>
          <a:p>
            <a:endParaRPr lang="en-US"/>
          </a:p>
        </p:txBody>
      </p:sp>
      <p:sp>
        <p:nvSpPr>
          <p:cNvPr id="124" name="card0_hdr_fix"/>
          <p:cNvSpPr>
            <a:spLocks noGrp="1"/>
          </p:cNvSpPr>
          <p:nvPr/>
        </p:nvSpPr>
        <p:spPr>
          <a:xfrm>
            <a:off x="546100" y="2413000"/>
            <a:ext cx="3568700" cy="177800"/>
          </a:xfrm>
          <a:prstGeom prst="rect">
            <a:avLst/>
          </a:prstGeom>
          <a:solidFill>
            <a:srgbClr val="1E7A3E"/>
          </a:solidFill>
          <a:ln>
            <a:noFill/>
          </a:ln>
        </p:spPr>
        <p:txBody>
          <a:bodyPr/>
          <a:lstStyle/>
          <a:p>
            <a:endParaRPr lang="en-US"/>
          </a:p>
        </p:txBody>
      </p:sp>
      <p:sp>
        <p:nvSpPr>
          <p:cNvPr id="134" name="card1_hdr_fix"/>
          <p:cNvSpPr>
            <a:spLocks noGrp="1"/>
          </p:cNvSpPr>
          <p:nvPr/>
        </p:nvSpPr>
        <p:spPr>
          <a:xfrm>
            <a:off x="4305300" y="2413000"/>
            <a:ext cx="3568700" cy="177800"/>
          </a:xfrm>
          <a:prstGeom prst="rect">
            <a:avLst/>
          </a:prstGeom>
          <a:solidFill>
            <a:srgbClr val="B45309"/>
          </a:solidFill>
          <a:ln>
            <a:noFill/>
          </a:ln>
        </p:spPr>
        <p:txBody>
          <a:bodyPr/>
          <a:lstStyle/>
          <a:p>
            <a:endParaRPr lang="en-US"/>
          </a:p>
        </p:txBody>
      </p:sp>
      <p:sp>
        <p:nvSpPr>
          <p:cNvPr id="144" name="card2_hdr_fix"/>
          <p:cNvSpPr>
            <a:spLocks noGrp="1"/>
          </p:cNvSpPr>
          <p:nvPr/>
        </p:nvSpPr>
        <p:spPr>
          <a:xfrm>
            <a:off x="8064500" y="2413000"/>
            <a:ext cx="3568700" cy="177800"/>
          </a:xfrm>
          <a:prstGeom prst="rect">
            <a:avLst/>
          </a:prstGeom>
          <a:solidFill>
            <a:srgbClr val="1A4A8A"/>
          </a:solidFill>
          <a:ln>
            <a:noFill/>
          </a:ln>
        </p:spPr>
        <p:txBody>
          <a:bodyPr/>
          <a:lstStyle/>
          <a:p>
            <a:endParaRPr lang="en-US"/>
          </a:p>
        </p:txBody>
      </p:sp>
      <p:sp>
        <p:nvSpPr>
          <p:cNvPr id="125" name="card0_title"/>
          <p:cNvSpPr txBox="1">
            <a:spLocks noGrp="1"/>
          </p:cNvSpPr>
          <p:nvPr/>
        </p:nvSpPr>
        <p:spPr>
          <a:xfrm>
            <a:off x="6477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V4 — BASELINE</a:t>
            </a:r>
          </a:p>
        </p:txBody>
      </p:sp>
      <p:sp>
        <p:nvSpPr>
          <p:cNvPr id="135" name="card1_title"/>
          <p:cNvSpPr txBox="1">
            <a:spLocks noGrp="1"/>
          </p:cNvSpPr>
          <p:nvPr/>
        </p:nvSpPr>
        <p:spPr>
          <a:xfrm>
            <a:off x="44069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V5 — SUPERSEDED</a:t>
            </a:r>
          </a:p>
        </p:txBody>
      </p:sp>
      <p:sp>
        <p:nvSpPr>
          <p:cNvPr id="145" name="card2_title"/>
          <p:cNvSpPr txBox="1">
            <a:spLocks noGrp="1"/>
          </p:cNvSpPr>
          <p:nvPr/>
        </p:nvSpPr>
        <p:spPr>
          <a:xfrm>
            <a:off x="81661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V6 — DESIGN OF RECORD</a:t>
            </a:r>
          </a:p>
        </p:txBody>
      </p:sp>
      <p:sp>
        <p:nvSpPr>
          <p:cNvPr id="160" name="card0_items"/>
          <p:cNvSpPr txBox="1">
            <a:spLocks noGrp="1"/>
          </p:cNvSpPr>
          <p:nvPr/>
        </p:nvSpPr>
        <p:spPr>
          <a:xfrm>
            <a:off x="647700" y="2641600"/>
            <a:ext cx="3365500" cy="1282700"/>
          </a:xfrm>
          <a:prstGeom prst="rect">
            <a:avLst/>
          </a:prstGeom>
          <a:noFill/>
          <a:ln>
            <a:noFill/>
          </a:ln>
        </p:spPr>
        <p:txBody>
          <a:bodyPr anchor="t">
            <a:normAutofit/>
          </a:bodyPr>
          <a:lstStyle/>
          <a:p>
            <a:pPr marL="180000" indent="-180000">
              <a:buFont typeface="Arial"/>
              <a:buChar char="•"/>
            </a:pPr>
            <a:r>
              <a:rPr lang="en-IN" sz="1200" dirty="0">
                <a:solidFill>
                  <a:srgbClr val="1E4620"/>
                </a:solidFill>
                <a:latin typeface="Calibri"/>
              </a:rPr>
              <a:t>First parametric segment</a:t>
            </a:r>
          </a:p>
          <a:p>
            <a:pPr marL="180000" indent="-180000">
              <a:buFont typeface="Arial"/>
              <a:buChar char="•"/>
            </a:pPr>
            <a:r>
              <a:rPr lang="en-IN" sz="1200" dirty="0">
                <a:solidFill>
                  <a:srgbClr val="1E4620"/>
                </a:solidFill>
                <a:latin typeface="Calibri"/>
              </a:rPr>
              <a:t>58 mm joint-to-joint pitch</a:t>
            </a:r>
          </a:p>
          <a:p>
            <a:pPr marL="180000" indent="-180000">
              <a:buFont typeface="Arial"/>
              <a:buChar char="•"/>
            </a:pPr>
            <a:r>
              <a:rPr lang="en-IN" sz="1200" dirty="0">
                <a:solidFill>
                  <a:srgbClr val="1E4620"/>
                </a:solidFill>
                <a:latin typeface="Calibri"/>
              </a:rPr>
              <a:t>Ground contact never measured</a:t>
            </a:r>
          </a:p>
          <a:p>
            <a:pPr marL="180000" indent="-180000">
              <a:buFont typeface="Arial"/>
              <a:buChar char="•"/>
            </a:pPr>
            <a:r>
              <a:rPr lang="en-IN" sz="1200" dirty="0">
                <a:solidFill>
                  <a:srgbClr val="1E4620"/>
                </a:solidFill>
                <a:latin typeface="Calibri"/>
              </a:rPr>
              <a:t>Superseded, still printable</a:t>
            </a:r>
          </a:p>
        </p:txBody>
      </p:sp>
      <p:sp>
        <p:nvSpPr>
          <p:cNvPr id="161" name="card1_items"/>
          <p:cNvSpPr txBox="1">
            <a:spLocks noGrp="1"/>
          </p:cNvSpPr>
          <p:nvPr/>
        </p:nvSpPr>
        <p:spPr>
          <a:xfrm>
            <a:off x="44069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Widened yoke rectangle</a:t>
            </a:r>
          </a:p>
          <a:p>
            <a:pPr marL="180000" indent="-180000">
              <a:buFont typeface="Arial"/>
              <a:buChar char="•"/>
            </a:pPr>
            <a:r>
              <a:rPr lang="en-IN" sz="1000" dirty="0">
                <a:solidFill>
                  <a:srgbClr val="374151"/>
                </a:solidFill>
                <a:latin typeface="Calibri"/>
              </a:rPr>
              <a:t>Early sidewall bug fixed</a:t>
            </a:r>
          </a:p>
          <a:p>
            <a:pPr marL="180000" indent="-180000">
              <a:buFont typeface="Arial"/>
              <a:buChar char="•"/>
            </a:pPr>
            <a:r>
              <a:rPr lang="en-IN" sz="1000" dirty="0">
                <a:solidFill>
                  <a:srgbClr val="374151"/>
                </a:solidFill>
                <a:latin typeface="Calibri"/>
              </a:rPr>
              <a:t>Shares v4's bounding box</a:t>
            </a:r>
          </a:p>
          <a:p>
            <a:pPr marL="180000" indent="-180000">
              <a:buFont typeface="Arial"/>
              <a:buChar char="•"/>
            </a:pPr>
            <a:r>
              <a:rPr lang="en-IN" sz="1000" dirty="0">
                <a:solidFill>
                  <a:srgbClr val="374151"/>
                </a:solidFill>
                <a:latin typeface="Calibri"/>
              </a:rPr>
              <a:t>Dimensional error — do not print</a:t>
            </a:r>
          </a:p>
        </p:txBody>
      </p:sp>
      <p:sp>
        <p:nvSpPr>
          <p:cNvPr id="162" name="card2_items"/>
          <p:cNvSpPr txBox="1">
            <a:spLocks noGrp="1"/>
          </p:cNvSpPr>
          <p:nvPr/>
        </p:nvSpPr>
        <p:spPr>
          <a:xfrm>
            <a:off x="81661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Belly scales now touch ground</a:t>
            </a:r>
          </a:p>
          <a:p>
            <a:pPr marL="180000" indent="-180000">
              <a:buFont typeface="Arial"/>
              <a:buChar char="•"/>
            </a:pPr>
            <a:r>
              <a:rPr lang="en-IN" sz="1000" dirty="0">
                <a:solidFill>
                  <a:srgbClr val="374151"/>
                </a:solidFill>
                <a:latin typeface="Calibri"/>
              </a:rPr>
              <a:t>Scales reoriented for undulation</a:t>
            </a:r>
          </a:p>
          <a:p>
            <a:pPr marL="180000" indent="-180000">
              <a:buFont typeface="Arial"/>
              <a:buChar char="•"/>
            </a:pPr>
            <a:r>
              <a:rPr lang="en-IN" sz="1000" dirty="0">
                <a:solidFill>
                  <a:srgbClr val="374151"/>
                </a:solidFill>
                <a:latin typeface="Calibri"/>
              </a:rPr>
              <a:t>Positive M2 motor retention</a:t>
            </a:r>
          </a:p>
          <a:p>
            <a:pPr marL="180000" indent="-180000">
              <a:buFont typeface="Arial"/>
              <a:buChar char="•"/>
            </a:pPr>
            <a:r>
              <a:rPr lang="en-IN" sz="1000" dirty="0">
                <a:solidFill>
                  <a:srgbClr val="374151"/>
                </a:solidFill>
                <a:latin typeface="Calibri"/>
              </a:rPr>
              <a:t>Self-check asserts all three</a:t>
            </a:r>
          </a:p>
        </p:txBody>
      </p:sp>
      <p:sp>
        <p:nvSpPr>
          <p:cNvPr id="200" name="s3_label"/>
          <p:cNvSpPr txBox="1">
            <a:spLocks noGrp="1"/>
          </p:cNvSpPr>
          <p:nvPr/>
        </p:nvSpPr>
        <p:spPr>
          <a:xfrm>
            <a:off x="546100" y="4089400"/>
            <a:ext cx="6350000" cy="228600"/>
          </a:xfrm>
          <a:prstGeom prst="rect">
            <a:avLst/>
          </a:prstGeom>
          <a:noFill/>
          <a:ln>
            <a:noFill/>
          </a:ln>
        </p:spPr>
        <p:txBody>
          <a:bodyPr anchor="t">
            <a:normAutofit/>
          </a:bodyPr>
          <a:lstStyle/>
          <a:p>
            <a:pPr marL="0" indent="0">
              <a:buNone/>
            </a:pPr>
            <a:r>
              <a:rPr lang="en-IN" sz="900" b="1" kern="0" spc="200" dirty="0">
                <a:solidFill>
                  <a:srgbClr val="0E96AC"/>
                </a:solidFill>
                <a:latin typeface="Calibri"/>
              </a:rPr>
              <a:t>FABRICATION PIPELINE</a:t>
            </a:r>
          </a:p>
        </p:txBody>
      </p:sp>
      <p:sp>
        <p:nvSpPr>
          <p:cNvPr id="300" name="conn0"/>
          <p:cNvSpPr>
            <a:spLocks noGrp="1"/>
          </p:cNvSpPr>
          <p:nvPr/>
        </p:nvSpPr>
        <p:spPr>
          <a:xfrm>
            <a:off x="1028700" y="4432300"/>
            <a:ext cx="965200" cy="63500"/>
          </a:xfrm>
          <a:prstGeom prst="rect">
            <a:avLst/>
          </a:prstGeom>
          <a:solidFill>
            <a:srgbClr val="1E7A3E"/>
          </a:solidFill>
          <a:ln>
            <a:noFill/>
          </a:ln>
        </p:spPr>
        <p:txBody>
          <a:bodyPr/>
          <a:lstStyle/>
          <a:p>
            <a:endParaRPr lang="en-US"/>
          </a:p>
        </p:txBody>
      </p:sp>
      <p:sp>
        <p:nvSpPr>
          <p:cNvPr id="310" name="step0_circle"/>
          <p:cNvSpPr>
            <a:spLocks noGrp="1"/>
          </p:cNvSpPr>
          <p:nvPr/>
        </p:nvSpPr>
        <p:spPr>
          <a:xfrm>
            <a:off x="774700" y="4241800"/>
            <a:ext cx="457200" cy="457200"/>
          </a:xfrm>
          <a:prstGeom prst="roundRect">
            <a:avLst>
              <a:gd name="adj" fmla="val 50000"/>
            </a:avLst>
          </a:prstGeom>
          <a:solidFill>
            <a:srgbClr val="1F9D55"/>
          </a:solidFill>
          <a:ln>
            <a:noFill/>
          </a:ln>
        </p:spPr>
        <p:txBody>
          <a:bodyPr/>
          <a:lstStyle/>
          <a:p>
            <a:endParaRPr lang="en-US"/>
          </a:p>
        </p:txBody>
      </p:sp>
      <p:sp>
        <p:nvSpPr>
          <p:cNvPr id="320" name="step0_icon"/>
          <p:cNvSpPr txBox="1">
            <a:spLocks noGrp="1"/>
          </p:cNvSpPr>
          <p:nvPr/>
        </p:nvSpPr>
        <p:spPr>
          <a:xfrm>
            <a:off x="774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0" name="step0_label"/>
          <p:cNvSpPr txBox="1">
            <a:spLocks noGrp="1"/>
          </p:cNvSpPr>
          <p:nvPr/>
        </p:nvSpPr>
        <p:spPr>
          <a:xfrm>
            <a:off x="546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Parametric
model</a:t>
            </a:r>
          </a:p>
        </p:txBody>
      </p:sp>
      <p:sp>
        <p:nvSpPr>
          <p:cNvPr id="301" name="conn1"/>
          <p:cNvSpPr>
            <a:spLocks noGrp="1"/>
          </p:cNvSpPr>
          <p:nvPr/>
        </p:nvSpPr>
        <p:spPr>
          <a:xfrm>
            <a:off x="2501900" y="4432300"/>
            <a:ext cx="965200" cy="63500"/>
          </a:xfrm>
          <a:prstGeom prst="rect">
            <a:avLst/>
          </a:prstGeom>
          <a:solidFill>
            <a:srgbClr val="1E7A3E"/>
          </a:solidFill>
          <a:ln>
            <a:noFill/>
          </a:ln>
        </p:spPr>
        <p:txBody>
          <a:bodyPr/>
          <a:lstStyle/>
          <a:p>
            <a:endParaRPr lang="en-US"/>
          </a:p>
        </p:txBody>
      </p:sp>
      <p:sp>
        <p:nvSpPr>
          <p:cNvPr id="311" name="step1_circle"/>
          <p:cNvSpPr>
            <a:spLocks noGrp="1"/>
          </p:cNvSpPr>
          <p:nvPr/>
        </p:nvSpPr>
        <p:spPr>
          <a:xfrm>
            <a:off x="2247900" y="4241800"/>
            <a:ext cx="457200" cy="457200"/>
          </a:xfrm>
          <a:prstGeom prst="roundRect">
            <a:avLst>
              <a:gd name="adj" fmla="val 50000"/>
            </a:avLst>
          </a:prstGeom>
          <a:solidFill>
            <a:srgbClr val="1F9D55"/>
          </a:solidFill>
          <a:ln>
            <a:noFill/>
          </a:ln>
        </p:spPr>
        <p:txBody>
          <a:bodyPr/>
          <a:lstStyle/>
          <a:p>
            <a:endParaRPr lang="en-US"/>
          </a:p>
        </p:txBody>
      </p:sp>
      <p:sp>
        <p:nvSpPr>
          <p:cNvPr id="321" name="step1_icon"/>
          <p:cNvSpPr txBox="1">
            <a:spLocks noGrp="1"/>
          </p:cNvSpPr>
          <p:nvPr/>
        </p:nvSpPr>
        <p:spPr>
          <a:xfrm>
            <a:off x="2247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1" name="step1_label"/>
          <p:cNvSpPr txBox="1">
            <a:spLocks noGrp="1"/>
          </p:cNvSpPr>
          <p:nvPr/>
        </p:nvSpPr>
        <p:spPr>
          <a:xfrm>
            <a:off x="2019300" y="4737100"/>
            <a:ext cx="914400" cy="457200"/>
          </a:xfrm>
          <a:prstGeom prst="rect">
            <a:avLst/>
          </a:prstGeom>
          <a:noFill/>
          <a:ln>
            <a:noFill/>
          </a:ln>
        </p:spPr>
        <p:txBody>
          <a:bodyPr anchor="t">
            <a:normAutofit fontScale="70000" lnSpcReduction="20000"/>
          </a:bodyPr>
          <a:lstStyle/>
          <a:p>
            <a:pPr algn="ctr">
              <a:buNone/>
            </a:pPr>
            <a:r>
              <a:rPr lang="en-IN" sz="1400" dirty="0">
                <a:solidFill>
                  <a:srgbClr val="374151"/>
                </a:solidFill>
                <a:latin typeface="Calibri"/>
              </a:rPr>
              <a:t>Self-check
passes</a:t>
            </a:r>
          </a:p>
        </p:txBody>
      </p:sp>
      <p:sp>
        <p:nvSpPr>
          <p:cNvPr id="302" name="conn2"/>
          <p:cNvSpPr>
            <a:spLocks noGrp="1"/>
          </p:cNvSpPr>
          <p:nvPr/>
        </p:nvSpPr>
        <p:spPr>
          <a:xfrm>
            <a:off x="3975100" y="4432300"/>
            <a:ext cx="965200" cy="63500"/>
          </a:xfrm>
          <a:prstGeom prst="rect">
            <a:avLst/>
          </a:prstGeom>
          <a:solidFill>
            <a:srgbClr val="1E7A3E"/>
          </a:solidFill>
          <a:ln>
            <a:noFill/>
          </a:ln>
        </p:spPr>
        <p:txBody>
          <a:bodyPr/>
          <a:lstStyle/>
          <a:p>
            <a:endParaRPr lang="en-US"/>
          </a:p>
        </p:txBody>
      </p:sp>
      <p:sp>
        <p:nvSpPr>
          <p:cNvPr id="312" name="step2_circle"/>
          <p:cNvSpPr>
            <a:spLocks noGrp="1"/>
          </p:cNvSpPr>
          <p:nvPr/>
        </p:nvSpPr>
        <p:spPr>
          <a:xfrm>
            <a:off x="3721100" y="4241800"/>
            <a:ext cx="457200" cy="457200"/>
          </a:xfrm>
          <a:prstGeom prst="roundRect">
            <a:avLst>
              <a:gd name="adj" fmla="val 50000"/>
            </a:avLst>
          </a:prstGeom>
          <a:solidFill>
            <a:srgbClr val="1E6FD6"/>
          </a:solidFill>
          <a:ln>
            <a:noFill/>
          </a:ln>
        </p:spPr>
        <p:txBody>
          <a:bodyPr/>
          <a:lstStyle/>
          <a:p>
            <a:endParaRPr lang="en-US"/>
          </a:p>
        </p:txBody>
      </p:sp>
      <p:sp>
        <p:nvSpPr>
          <p:cNvPr id="322" name="step2_icon"/>
          <p:cNvSpPr txBox="1">
            <a:spLocks noGrp="1"/>
          </p:cNvSpPr>
          <p:nvPr/>
        </p:nvSpPr>
        <p:spPr>
          <a:xfrm>
            <a:off x="37211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2" name="step2_label"/>
          <p:cNvSpPr txBox="1">
            <a:spLocks noGrp="1"/>
          </p:cNvSpPr>
          <p:nvPr/>
        </p:nvSpPr>
        <p:spPr>
          <a:xfrm>
            <a:off x="34925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Probe
ST3215 STEP</a:t>
            </a:r>
          </a:p>
        </p:txBody>
      </p:sp>
      <p:sp>
        <p:nvSpPr>
          <p:cNvPr id="303" name="conn3"/>
          <p:cNvSpPr>
            <a:spLocks noGrp="1"/>
          </p:cNvSpPr>
          <p:nvPr/>
        </p:nvSpPr>
        <p:spPr>
          <a:xfrm>
            <a:off x="5448300" y="4432300"/>
            <a:ext cx="965200" cy="63500"/>
          </a:xfrm>
          <a:prstGeom prst="rect">
            <a:avLst/>
          </a:prstGeom>
          <a:solidFill>
            <a:srgbClr val="1E7A3E"/>
          </a:solidFill>
          <a:ln>
            <a:noFill/>
          </a:ln>
        </p:spPr>
        <p:txBody>
          <a:bodyPr/>
          <a:lstStyle/>
          <a:p>
            <a:endParaRPr lang="en-US"/>
          </a:p>
        </p:txBody>
      </p:sp>
      <p:sp>
        <p:nvSpPr>
          <p:cNvPr id="313" name="step3_circle"/>
          <p:cNvSpPr>
            <a:spLocks noGrp="1"/>
          </p:cNvSpPr>
          <p:nvPr/>
        </p:nvSpPr>
        <p:spPr>
          <a:xfrm>
            <a:off x="5194300" y="4241800"/>
            <a:ext cx="457200" cy="457200"/>
          </a:xfrm>
          <a:prstGeom prst="roundRect">
            <a:avLst>
              <a:gd name="adj" fmla="val 50000"/>
            </a:avLst>
          </a:prstGeom>
          <a:solidFill>
            <a:srgbClr val="E8821E"/>
          </a:solidFill>
          <a:ln>
            <a:noFill/>
          </a:ln>
        </p:spPr>
        <p:txBody>
          <a:bodyPr/>
          <a:lstStyle/>
          <a:p>
            <a:endParaRPr lang="en-US"/>
          </a:p>
        </p:txBody>
      </p:sp>
      <p:sp>
        <p:nvSpPr>
          <p:cNvPr id="323" name="step3_icon"/>
          <p:cNvSpPr txBox="1">
            <a:spLocks noGrp="1"/>
          </p:cNvSpPr>
          <p:nvPr/>
        </p:nvSpPr>
        <p:spPr>
          <a:xfrm>
            <a:off x="51943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3" name="step3_label"/>
          <p:cNvSpPr txBox="1">
            <a:spLocks noGrp="1"/>
          </p:cNvSpPr>
          <p:nvPr/>
        </p:nvSpPr>
        <p:spPr>
          <a:xfrm>
            <a:off x="49657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Print one
segment</a:t>
            </a:r>
          </a:p>
        </p:txBody>
      </p:sp>
      <p:sp>
        <p:nvSpPr>
          <p:cNvPr id="304" name="conn4"/>
          <p:cNvSpPr>
            <a:spLocks noGrp="1"/>
          </p:cNvSpPr>
          <p:nvPr/>
        </p:nvSpPr>
        <p:spPr>
          <a:xfrm>
            <a:off x="6921500" y="4432300"/>
            <a:ext cx="965200" cy="63500"/>
          </a:xfrm>
          <a:prstGeom prst="rect">
            <a:avLst/>
          </a:prstGeom>
          <a:solidFill>
            <a:srgbClr val="1E7A3E"/>
          </a:solidFill>
          <a:ln>
            <a:noFill/>
          </a:ln>
        </p:spPr>
        <p:txBody>
          <a:bodyPr/>
          <a:lstStyle/>
          <a:p>
            <a:endParaRPr lang="en-US"/>
          </a:p>
        </p:txBody>
      </p:sp>
      <p:sp>
        <p:nvSpPr>
          <p:cNvPr id="314" name="step4_circle"/>
          <p:cNvSpPr>
            <a:spLocks noGrp="1"/>
          </p:cNvSpPr>
          <p:nvPr/>
        </p:nvSpPr>
        <p:spPr>
          <a:xfrm>
            <a:off x="6667500" y="4241800"/>
            <a:ext cx="457200" cy="457200"/>
          </a:xfrm>
          <a:prstGeom prst="roundRect">
            <a:avLst>
              <a:gd name="adj" fmla="val 50000"/>
            </a:avLst>
          </a:prstGeom>
          <a:solidFill>
            <a:srgbClr val="E8821E"/>
          </a:solidFill>
          <a:ln>
            <a:noFill/>
          </a:ln>
        </p:spPr>
        <p:txBody>
          <a:bodyPr/>
          <a:lstStyle/>
          <a:p>
            <a:endParaRPr lang="en-US"/>
          </a:p>
        </p:txBody>
      </p:sp>
      <p:sp>
        <p:nvSpPr>
          <p:cNvPr id="324" name="step4_icon"/>
          <p:cNvSpPr txBox="1">
            <a:spLocks noGrp="1"/>
          </p:cNvSpPr>
          <p:nvPr/>
        </p:nvSpPr>
        <p:spPr>
          <a:xfrm>
            <a:off x="66675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4" name="step4_label"/>
          <p:cNvSpPr txBox="1">
            <a:spLocks noGrp="1"/>
          </p:cNvSpPr>
          <p:nvPr/>
        </p:nvSpPr>
        <p:spPr>
          <a:xfrm>
            <a:off x="64389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Measure
friction</a:t>
            </a:r>
          </a:p>
        </p:txBody>
      </p:sp>
      <p:sp>
        <p:nvSpPr>
          <p:cNvPr id="305" name="conn5"/>
          <p:cNvSpPr>
            <a:spLocks noGrp="1"/>
          </p:cNvSpPr>
          <p:nvPr/>
        </p:nvSpPr>
        <p:spPr>
          <a:xfrm>
            <a:off x="8394700" y="4432300"/>
            <a:ext cx="965200" cy="63500"/>
          </a:xfrm>
          <a:prstGeom prst="rect">
            <a:avLst/>
          </a:prstGeom>
          <a:solidFill>
            <a:srgbClr val="CBD5E1"/>
          </a:solidFill>
          <a:ln>
            <a:noFill/>
          </a:ln>
        </p:spPr>
        <p:txBody>
          <a:bodyPr/>
          <a:lstStyle/>
          <a:p>
            <a:endParaRPr lang="en-US"/>
          </a:p>
        </p:txBody>
      </p:sp>
      <p:sp>
        <p:nvSpPr>
          <p:cNvPr id="315" name="step5_circle"/>
          <p:cNvSpPr>
            <a:spLocks noGrp="1"/>
          </p:cNvSpPr>
          <p:nvPr/>
        </p:nvSpPr>
        <p:spPr>
          <a:xfrm>
            <a:off x="8140700" y="4241800"/>
            <a:ext cx="457200" cy="457200"/>
          </a:xfrm>
          <a:prstGeom prst="roundRect">
            <a:avLst>
              <a:gd name="adj" fmla="val 50000"/>
            </a:avLst>
          </a:prstGeom>
          <a:solidFill>
            <a:srgbClr val="E8821E"/>
          </a:solidFill>
          <a:ln>
            <a:noFill/>
          </a:ln>
        </p:spPr>
        <p:txBody>
          <a:bodyPr/>
          <a:lstStyle/>
          <a:p>
            <a:endParaRPr lang="en-US"/>
          </a:p>
        </p:txBody>
      </p:sp>
      <p:sp>
        <p:nvSpPr>
          <p:cNvPr id="325" name="step5_icon"/>
          <p:cNvSpPr txBox="1">
            <a:spLocks noGrp="1"/>
          </p:cNvSpPr>
          <p:nvPr/>
        </p:nvSpPr>
        <p:spPr>
          <a:xfrm>
            <a:off x="8140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5" name="step5_label"/>
          <p:cNvSpPr txBox="1">
            <a:spLocks noGrp="1"/>
          </p:cNvSpPr>
          <p:nvPr/>
        </p:nvSpPr>
        <p:spPr>
          <a:xfrm>
            <a:off x="7912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Print
remaining 10</a:t>
            </a:r>
          </a:p>
        </p:txBody>
      </p:sp>
      <p:sp>
        <p:nvSpPr>
          <p:cNvPr id="345" name="step5_status"/>
          <p:cNvSpPr txBox="1">
            <a:spLocks noGrp="1"/>
          </p:cNvSpPr>
          <p:nvPr/>
        </p:nvSpPr>
        <p:spPr>
          <a:xfrm>
            <a:off x="78613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D97706"/>
                </a:solidFill>
                <a:latin typeface="Calibri"/>
              </a:rPr>
              <a:t>Upcoming</a:t>
            </a:r>
          </a:p>
        </p:txBody>
      </p:sp>
      <p:sp>
        <p:nvSpPr>
          <p:cNvPr id="316" name="step6_circle"/>
          <p:cNvSpPr>
            <a:spLocks noGrp="1"/>
          </p:cNvSpPr>
          <p:nvPr/>
        </p:nvSpPr>
        <p:spPr>
          <a:xfrm>
            <a:off x="9613900" y="4241800"/>
            <a:ext cx="457200" cy="457200"/>
          </a:xfrm>
          <a:prstGeom prst="roundRect">
            <a:avLst>
              <a:gd name="adj" fmla="val 50000"/>
            </a:avLst>
          </a:prstGeom>
          <a:solidFill>
            <a:srgbClr val="E8821E"/>
          </a:solidFill>
          <a:ln>
            <a:noFill/>
          </a:ln>
        </p:spPr>
        <p:txBody>
          <a:bodyPr/>
          <a:lstStyle/>
          <a:p>
            <a:endParaRPr lang="en-US"/>
          </a:p>
        </p:txBody>
      </p:sp>
      <p:sp>
        <p:nvSpPr>
          <p:cNvPr id="326" name="step6_icon"/>
          <p:cNvSpPr txBox="1">
            <a:spLocks noGrp="1"/>
          </p:cNvSpPr>
          <p:nvPr/>
        </p:nvSpPr>
        <p:spPr>
          <a:xfrm>
            <a:off x="9613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6" name="step6_label"/>
          <p:cNvSpPr txBox="1">
            <a:spLocks noGrp="1"/>
          </p:cNvSpPr>
          <p:nvPr/>
        </p:nvSpPr>
        <p:spPr>
          <a:xfrm>
            <a:off x="9385300" y="4737100"/>
            <a:ext cx="914400" cy="457200"/>
          </a:xfrm>
          <a:prstGeom prst="rect">
            <a:avLst/>
          </a:prstGeom>
          <a:noFill/>
          <a:ln>
            <a:noFill/>
          </a:ln>
        </p:spPr>
        <p:txBody>
          <a:bodyPr anchor="t">
            <a:normAutofit fontScale="77500" lnSpcReduction="20000"/>
          </a:bodyPr>
          <a:lstStyle/>
          <a:p>
            <a:pPr algn="ctr">
              <a:buNone/>
            </a:pPr>
            <a:r>
              <a:rPr lang="en-IN" sz="1400" dirty="0">
                <a:solidFill>
                  <a:srgbClr val="374151"/>
                </a:solidFill>
                <a:latin typeface="Calibri"/>
              </a:rPr>
              <a:t>Chain
assembly</a:t>
            </a:r>
          </a:p>
        </p:txBody>
      </p:sp>
      <p:sp>
        <p:nvSpPr>
          <p:cNvPr id="346" name="step6_status"/>
          <p:cNvSpPr txBox="1">
            <a:spLocks noGrp="1"/>
          </p:cNvSpPr>
          <p:nvPr/>
        </p:nvSpPr>
        <p:spPr>
          <a:xfrm>
            <a:off x="93345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6B7280"/>
                </a:solidFill>
                <a:latin typeface="Calibri"/>
              </a:rPr>
              <a:t>Upcoming</a:t>
            </a:r>
          </a:p>
        </p:txBody>
      </p:sp>
      <p:sp>
        <p:nvSpPr>
          <p:cNvPr id="400" name="achieve_bg"/>
          <p:cNvSpPr>
            <a:spLocks noGrp="1"/>
          </p:cNvSpPr>
          <p:nvPr/>
        </p:nvSpPr>
        <p:spPr>
          <a:xfrm>
            <a:off x="546100" y="5270500"/>
            <a:ext cx="11099800" cy="838200"/>
          </a:xfrm>
          <a:prstGeom prst="roundRect">
            <a:avLst>
              <a:gd name="adj" fmla="val 10000"/>
            </a:avLst>
          </a:prstGeom>
          <a:solidFill>
            <a:srgbClr val="EBF8FA"/>
          </a:solidFill>
          <a:ln w="15000">
            <a:solidFill>
              <a:srgbClr val="0E96AC"/>
            </a:solidFill>
          </a:ln>
        </p:spPr>
        <p:txBody>
          <a:bodyPr/>
          <a:lstStyle/>
          <a:p>
            <a:endParaRPr lang="en-US"/>
          </a:p>
        </p:txBody>
      </p:sp>
      <p:sp>
        <p:nvSpPr>
          <p:cNvPr id="401" name="achieve_accent"/>
          <p:cNvSpPr>
            <a:spLocks noGrp="1"/>
          </p:cNvSpPr>
          <p:nvPr/>
        </p:nvSpPr>
        <p:spPr>
          <a:xfrm>
            <a:off x="546100" y="5270500"/>
            <a:ext cx="76200" cy="838200"/>
          </a:xfrm>
          <a:prstGeom prst="rect">
            <a:avLst/>
          </a:prstGeom>
          <a:solidFill>
            <a:srgbClr val="0E96AC"/>
          </a:solidFill>
          <a:ln>
            <a:noFill/>
          </a:ln>
        </p:spPr>
        <p:txBody>
          <a:bodyPr/>
          <a:lstStyle/>
          <a:p>
            <a:endParaRPr lang="en-US"/>
          </a:p>
        </p:txBody>
      </p:sp>
      <p:sp>
        <p:nvSpPr>
          <p:cNvPr id="402" name="achieve_star"/>
          <p:cNvSpPr txBox="1">
            <a:spLocks noGrp="1"/>
          </p:cNvSpPr>
          <p:nvPr/>
        </p:nvSpPr>
        <p:spPr>
          <a:xfrm>
            <a:off x="660400" y="5270500"/>
            <a:ext cx="355600" cy="838200"/>
          </a:xfrm>
          <a:prstGeom prst="rect">
            <a:avLst/>
          </a:prstGeom>
          <a:noFill/>
          <a:ln>
            <a:noFill/>
          </a:ln>
        </p:spPr>
        <p:txBody>
          <a:bodyPr anchor="ctr">
            <a:normAutofit/>
          </a:bodyPr>
          <a:lstStyle/>
          <a:p>
            <a:pPr algn="ctr">
              <a:buNone/>
            </a:pPr>
            <a:r>
              <a:rPr lang="en-US" sz="1600" dirty="0">
                <a:solidFill>
                  <a:srgbClr val="0E96AC"/>
                </a:solidFill>
                <a:latin typeface="Calibri"/>
              </a:rPr>
              <a:t>★</a:t>
            </a:r>
          </a:p>
        </p:txBody>
      </p:sp>
      <p:sp>
        <p:nvSpPr>
          <p:cNvPr id="403" name="achieve_text"/>
          <p:cNvSpPr txBox="1">
            <a:spLocks noGrp="1"/>
          </p:cNvSpPr>
          <p:nvPr/>
        </p:nvSpPr>
        <p:spPr>
          <a:xfrm>
            <a:off x="1041400" y="5295900"/>
            <a:ext cx="10515600" cy="787400"/>
          </a:xfrm>
          <a:prstGeom prst="rect">
            <a:avLst/>
          </a:prstGeom>
          <a:noFill/>
          <a:ln>
            <a:noFill/>
          </a:ln>
        </p:spPr>
        <p:txBody>
          <a:bodyPr anchor="ctr">
            <a:normAutofit/>
          </a:bodyPr>
          <a:lstStyle/>
          <a:p>
            <a:pPr marL="0" indent="0">
              <a:buNone/>
            </a:pPr>
            <a:r>
              <a:rPr lang="en-IN" sz="1100" b="1" dirty="0">
                <a:solidFill>
                  <a:srgbClr val="16223A"/>
                </a:solidFill>
                <a:latin typeface="Calibri"/>
              </a:rPr>
              <a:t>Key Achievement: v6 caught three defects that v4 and v5 shared — the bottom plate sat 0.45 mm below the belly scales so 94% of ground contact was the one surface never meant to touch; the scales resisted the wrong axis for lateral undulation; and the motor had no positive retention at all.</a:t>
            </a:r>
          </a:p>
        </p:txBody>
      </p:sp>
    </p:spTree>
    <p:extLst>
      <p:ext uri="{BB962C8B-B14F-4D97-AF65-F5344CB8AC3E}">
        <p14:creationId xmlns:p14="http://schemas.microsoft.com/office/powerpoint/2010/main" val="41449805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eftCard">
            <a:extLst>
              <a:ext uri="{FF2B5EF4-FFF2-40B4-BE49-F238E27FC236}">
                <a16:creationId xmlns:a16="http://schemas.microsoft.com/office/drawing/2014/main" id="{0056E78F-92D5-4262-AAF1-277172916451}"/>
              </a:ext>
            </a:extLst>
          </p:cNvPr>
          <p:cNvSpPr/>
          <p:nvPr/>
        </p:nvSpPr>
        <p:spPr>
          <a:xfrm>
            <a:off x="5461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RightCard">
            <a:extLst>
              <a:ext uri="{FF2B5EF4-FFF2-40B4-BE49-F238E27FC236}">
                <a16:creationId xmlns:a16="http://schemas.microsoft.com/office/drawing/2014/main" id="{24DBE37A-9E70-4159-95DD-2B494C422BC7}"/>
              </a:ext>
            </a:extLst>
          </p:cNvPr>
          <p:cNvSpPr/>
          <p:nvPr/>
        </p:nvSpPr>
        <p:spPr>
          <a:xfrm>
            <a:off x="63119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LearnCard">
            <a:extLst>
              <a:ext uri="{FF2B5EF4-FFF2-40B4-BE49-F238E27FC236}">
                <a16:creationId xmlns:a16="http://schemas.microsoft.com/office/drawing/2014/main" id="{945938B6-711B-47B7-94C3-12F7938EAA96}"/>
              </a:ext>
            </a:extLst>
          </p:cNvPr>
          <p:cNvSpPr/>
          <p:nvPr/>
        </p:nvSpPr>
        <p:spPr>
          <a:xfrm>
            <a:off x="546100" y="3657600"/>
            <a:ext cx="5334000" cy="27432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DecCard">
            <a:extLst>
              <a:ext uri="{FF2B5EF4-FFF2-40B4-BE49-F238E27FC236}">
                <a16:creationId xmlns:a16="http://schemas.microsoft.com/office/drawing/2014/main" id="{769BC5B9-3C4D-4227-8B3B-8FACD1E290E0}"/>
              </a:ext>
            </a:extLst>
          </p:cNvPr>
          <p:cNvSpPr/>
          <p:nvPr/>
        </p:nvSpPr>
        <p:spPr>
          <a:xfrm>
            <a:off x="6311900" y="3657600"/>
            <a:ext cx="5334000" cy="2743200"/>
          </a:xfrm>
          <a:prstGeom prst="round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EyebrowB">
            <a:extLst>
              <a:ext uri="{FF2B5EF4-FFF2-40B4-BE49-F238E27FC236}">
                <a16:creationId xmlns:a16="http://schemas.microsoft.com/office/drawing/2014/main" id="{0132597A-8662-4681-BE67-71F52E66C72F}"/>
              </a:ext>
            </a:extLst>
          </p:cNvPr>
          <p:cNvSpPr txBox="1"/>
          <p:nvPr/>
        </p:nvSpPr>
        <p:spPr>
          <a:xfrm>
            <a:off x="546100" y="381000"/>
            <a:ext cx="10414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STRUCTURE &amp; LOAD PATH</a:t>
            </a:r>
          </a:p>
        </p:txBody>
      </p:sp>
      <p:sp>
        <p:nvSpPr>
          <p:cNvPr id="7" name="TitleB">
            <a:extLst>
              <a:ext uri="{FF2B5EF4-FFF2-40B4-BE49-F238E27FC236}">
                <a16:creationId xmlns:a16="http://schemas.microsoft.com/office/drawing/2014/main" id="{46AB9848-941D-4FEF-BEB1-1414EB9FBE78}"/>
              </a:ext>
            </a:extLst>
          </p:cNvPr>
          <p:cNvSpPr txBox="1"/>
          <p:nvPr/>
        </p:nvSpPr>
        <p:spPr>
          <a:xfrm>
            <a:off x="533400" y="635000"/>
            <a:ext cx="11049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v6 Load Path &amp; Positive Motor Retention</a:t>
            </a:r>
          </a:p>
        </p:txBody>
      </p:sp>
      <p:sp>
        <p:nvSpPr>
          <p:cNvPr id="8" name="ServoGlyphBody">
            <a:extLst>
              <a:ext uri="{FF2B5EF4-FFF2-40B4-BE49-F238E27FC236}">
                <a16:creationId xmlns:a16="http://schemas.microsoft.com/office/drawing/2014/main" id="{8A03D9A3-2075-450B-B675-A74D30FE9A88}"/>
              </a:ext>
            </a:extLst>
          </p:cNvPr>
          <p:cNvSpPr/>
          <p:nvPr/>
        </p:nvSpPr>
        <p:spPr>
          <a:xfrm>
            <a:off x="762000" y="1498600"/>
            <a:ext cx="304800" cy="228600"/>
          </a:xfrm>
          <a:prstGeom prst="roundRect">
            <a:avLst/>
          </a:prstGeom>
          <a:solidFill>
            <a:srgbClr val="5A647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9" name="ServoGlyphHorn">
            <a:extLst>
              <a:ext uri="{FF2B5EF4-FFF2-40B4-BE49-F238E27FC236}">
                <a16:creationId xmlns:a16="http://schemas.microsoft.com/office/drawing/2014/main" id="{DB2656A8-5200-4995-950C-8E582F0047DC}"/>
              </a:ext>
            </a:extLst>
          </p:cNvPr>
          <p:cNvSpPr/>
          <p:nvPr/>
        </p:nvSpPr>
        <p:spPr>
          <a:xfrm>
            <a:off x="850900" y="1435100"/>
            <a:ext cx="127000" cy="114300"/>
          </a:xfrm>
          <a:prstGeom prst="ellipse">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 name="LeftTitle">
            <a:extLst>
              <a:ext uri="{FF2B5EF4-FFF2-40B4-BE49-F238E27FC236}">
                <a16:creationId xmlns:a16="http://schemas.microsoft.com/office/drawing/2014/main" id="{F5221BA7-BF56-4458-9848-3FCF2A8E96ED}"/>
              </a:ext>
            </a:extLst>
          </p:cNvPr>
          <p:cNvSpPr txBox="1"/>
          <p:nvPr/>
        </p:nvSpPr>
        <p:spPr>
          <a:xfrm>
            <a:off x="1168400" y="1473200"/>
            <a:ext cx="4572000" cy="279400"/>
          </a:xfrm>
          <a:prstGeom prst="rect">
            <a:avLst/>
          </a:prstGeom>
          <a:noFill/>
        </p:spPr>
        <p:txBody>
          <a:bodyPr vertOverflow="overflow" vert="horz" wrap="square" rtlCol="0" anchor="t" anchorCtr="0">
            <a:noAutofit/>
          </a:bodyPr>
          <a:lstStyle/>
          <a:p>
            <a:pPr marL="0" indent="0">
              <a:buNone/>
            </a:pPr>
            <a:r>
              <a:rPr lang="en-US" sz="1350" b="1" dirty="0">
                <a:solidFill>
                  <a:srgbClr val="16223A"/>
                </a:solidFill>
                <a:latin typeface="Calibri" pitchFamily="34" charset="0"/>
              </a:rPr>
              <a:t>v4 / v5 — Motor Lifts Straight Out</a:t>
            </a:r>
          </a:p>
        </p:txBody>
      </p:sp>
      <p:sp>
        <p:nvSpPr>
          <p:cNvPr id="11" name="CtrlL">
            <a:extLst>
              <a:ext uri="{FF2B5EF4-FFF2-40B4-BE49-F238E27FC236}">
                <a16:creationId xmlns:a16="http://schemas.microsoft.com/office/drawing/2014/main" id="{E0569885-D4FA-4DD4-9A3F-1E29F3533E47}"/>
              </a:ext>
            </a:extLst>
          </p:cNvPr>
          <p:cNvSpPr/>
          <p:nvPr/>
        </p:nvSpPr>
        <p:spPr>
          <a:xfrm>
            <a:off x="800100" y="2184400"/>
            <a:ext cx="1066800" cy="6858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Horn</a:t>
            </a:r>
          </a:p>
        </p:txBody>
      </p:sp>
      <p:sp>
        <p:nvSpPr>
          <p:cNvPr id="12" name="BusV">
            <a:extLst>
              <a:ext uri="{FF2B5EF4-FFF2-40B4-BE49-F238E27FC236}">
                <a16:creationId xmlns:a16="http://schemas.microsoft.com/office/drawing/2014/main" id="{02527D18-7BCF-41AE-AD08-927C1540483A}"/>
              </a:ext>
            </a:extLst>
          </p:cNvPr>
          <p:cNvSpPr/>
          <p:nvPr/>
        </p:nvSpPr>
        <p:spPr>
          <a:xfrm>
            <a:off x="1905000" y="2032000"/>
            <a:ext cx="38100" cy="9906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3" name="CtrlBus">
            <a:extLst>
              <a:ext uri="{FF2B5EF4-FFF2-40B4-BE49-F238E27FC236}">
                <a16:creationId xmlns:a16="http://schemas.microsoft.com/office/drawing/2014/main" id="{1CE24EE8-02CD-44D4-B87F-12FCB67D908F}"/>
              </a:ext>
            </a:extLst>
          </p:cNvPr>
          <p:cNvSpPr/>
          <p:nvPr/>
        </p:nvSpPr>
        <p:spPr>
          <a:xfrm>
            <a:off x="1866900" y="2527300"/>
            <a:ext cx="762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Stub0">
            <a:extLst>
              <a:ext uri="{FF2B5EF4-FFF2-40B4-BE49-F238E27FC236}">
                <a16:creationId xmlns:a16="http://schemas.microsoft.com/office/drawing/2014/main" id="{A9C20F89-A278-4DB5-8A0F-545E206D3B94}"/>
              </a:ext>
            </a:extLst>
          </p:cNvPr>
          <p:cNvSpPr/>
          <p:nvPr/>
        </p:nvSpPr>
        <p:spPr>
          <a:xfrm>
            <a:off x="1943100" y="20193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5" name="Servo0">
            <a:extLst>
              <a:ext uri="{FF2B5EF4-FFF2-40B4-BE49-F238E27FC236}">
                <a16:creationId xmlns:a16="http://schemas.microsoft.com/office/drawing/2014/main" id="{FE0E4700-8C3C-42D9-84F1-E6C73B1DD53A}"/>
              </a:ext>
            </a:extLst>
          </p:cNvPr>
          <p:cNvSpPr/>
          <p:nvPr/>
        </p:nvSpPr>
        <p:spPr>
          <a:xfrm>
            <a:off x="3810000" y="19050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Slip-fit 0.4 mm</a:t>
            </a:r>
          </a:p>
        </p:txBody>
      </p:sp>
      <p:sp>
        <p:nvSpPr>
          <p:cNvPr id="16" name="Stub1">
            <a:extLst>
              <a:ext uri="{FF2B5EF4-FFF2-40B4-BE49-F238E27FC236}">
                <a16:creationId xmlns:a16="http://schemas.microsoft.com/office/drawing/2014/main" id="{814852D2-A9D9-48F2-88CF-C20F3BDEBC7E}"/>
              </a:ext>
            </a:extLst>
          </p:cNvPr>
          <p:cNvSpPr/>
          <p:nvPr/>
        </p:nvSpPr>
        <p:spPr>
          <a:xfrm>
            <a:off x="1943100" y="23495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Servo1">
            <a:extLst>
              <a:ext uri="{FF2B5EF4-FFF2-40B4-BE49-F238E27FC236}">
                <a16:creationId xmlns:a16="http://schemas.microsoft.com/office/drawing/2014/main" id="{CAEAB1FD-0CEA-4D2C-AEF7-0FF176392BDC}"/>
              </a:ext>
            </a:extLst>
          </p:cNvPr>
          <p:cNvSpPr/>
          <p:nvPr/>
        </p:nvSpPr>
        <p:spPr>
          <a:xfrm>
            <a:off x="3810000" y="22352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Open at top</a:t>
            </a:r>
          </a:p>
        </p:txBody>
      </p:sp>
      <p:sp>
        <p:nvSpPr>
          <p:cNvPr id="18" name="Stub2">
            <a:extLst>
              <a:ext uri="{FF2B5EF4-FFF2-40B4-BE49-F238E27FC236}">
                <a16:creationId xmlns:a16="http://schemas.microsoft.com/office/drawing/2014/main" id="{EB319E6F-F90C-43F4-9030-6DB43A605F2E}"/>
              </a:ext>
            </a:extLst>
          </p:cNvPr>
          <p:cNvSpPr/>
          <p:nvPr/>
        </p:nvSpPr>
        <p:spPr>
          <a:xfrm>
            <a:off x="1943100" y="26797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9" name="Servo2">
            <a:extLst>
              <a:ext uri="{FF2B5EF4-FFF2-40B4-BE49-F238E27FC236}">
                <a16:creationId xmlns:a16="http://schemas.microsoft.com/office/drawing/2014/main" id="{76E772AE-A541-49C3-B4C3-B05CCE714E7C}"/>
              </a:ext>
            </a:extLst>
          </p:cNvPr>
          <p:cNvSpPr/>
          <p:nvPr/>
        </p:nvSpPr>
        <p:spPr>
          <a:xfrm>
            <a:off x="3810000" y="25654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Lightening windows</a:t>
            </a:r>
          </a:p>
        </p:txBody>
      </p:sp>
      <p:sp>
        <p:nvSpPr>
          <p:cNvPr id="20" name="Stub3">
            <a:extLst>
              <a:ext uri="{FF2B5EF4-FFF2-40B4-BE49-F238E27FC236}">
                <a16:creationId xmlns:a16="http://schemas.microsoft.com/office/drawing/2014/main" id="{B02FBDF1-8D37-4D56-8B5D-B0C727AEC152}"/>
              </a:ext>
            </a:extLst>
          </p:cNvPr>
          <p:cNvSpPr/>
          <p:nvPr/>
        </p:nvSpPr>
        <p:spPr>
          <a:xfrm>
            <a:off x="1943100" y="30099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1" name="Servo3">
            <a:extLst>
              <a:ext uri="{FF2B5EF4-FFF2-40B4-BE49-F238E27FC236}">
                <a16:creationId xmlns:a16="http://schemas.microsoft.com/office/drawing/2014/main" id="{77B767ED-463D-48E9-99C3-6473A23AD437}"/>
              </a:ext>
            </a:extLst>
          </p:cNvPr>
          <p:cNvSpPr/>
          <p:nvPr/>
        </p:nvSpPr>
        <p:spPr>
          <a:xfrm>
            <a:off x="3810000" y="28956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~1 mm rear wall</a:t>
            </a:r>
          </a:p>
        </p:txBody>
      </p:sp>
      <p:sp>
        <p:nvSpPr>
          <p:cNvPr id="22" name="LeftCap">
            <a:extLst>
              <a:ext uri="{FF2B5EF4-FFF2-40B4-BE49-F238E27FC236}">
                <a16:creationId xmlns:a16="http://schemas.microsoft.com/office/drawing/2014/main" id="{9EC08625-1DD4-4DAA-8C00-FBCBF71DFEB5}"/>
              </a:ext>
            </a:extLst>
          </p:cNvPr>
          <p:cNvSpPr txBox="1"/>
          <p:nvPr/>
        </p:nvSpPr>
        <p:spPr>
          <a:xfrm>
            <a:off x="762000" y="3238500"/>
            <a:ext cx="5080000" cy="402336"/>
          </a:xfrm>
          <a:prstGeom prst="rect">
            <a:avLst/>
          </a:prstGeom>
          <a:noFill/>
        </p:spPr>
        <p:txBody>
          <a:bodyPr vertOverflow="overflow" vert="horz" wrap="square" rtlCol="0" anchor="t" anchorCtr="0">
            <a:noAutofit/>
          </a:bodyPr>
          <a:lstStyle/>
          <a:p>
            <a:pPr marL="0" indent="0">
              <a:buNone/>
            </a:pPr>
            <a:r>
              <a:rPr lang="en-US" sz="1000" dirty="0">
                <a:solidFill>
                  <a:srgbClr val="3A4658"/>
                </a:solidFill>
                <a:latin typeface="Calibri" pitchFamily="34" charset="0"/>
              </a:rPr>
              <a:t>The motor sits in an open pocket with no fastener. Nothing resists it lifting out.</a:t>
            </a:r>
          </a:p>
        </p:txBody>
      </p:sp>
      <p:sp>
        <p:nvSpPr>
          <p:cNvPr id="23" name="XLGlyphBody">
            <a:extLst>
              <a:ext uri="{FF2B5EF4-FFF2-40B4-BE49-F238E27FC236}">
                <a16:creationId xmlns:a16="http://schemas.microsoft.com/office/drawing/2014/main" id="{C8E18AD2-F4A3-40BC-87F2-BED483297313}"/>
              </a:ext>
            </a:extLst>
          </p:cNvPr>
          <p:cNvSpPr/>
          <p:nvPr/>
        </p:nvSpPr>
        <p:spPr>
          <a:xfrm>
            <a:off x="6527800" y="1473200"/>
            <a:ext cx="254000" cy="254000"/>
          </a:xfrm>
          <a:prstGeom prst="round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4" name="XLGlyphHorn">
            <a:extLst>
              <a:ext uri="{FF2B5EF4-FFF2-40B4-BE49-F238E27FC236}">
                <a16:creationId xmlns:a16="http://schemas.microsoft.com/office/drawing/2014/main" id="{7FC80302-C31A-4BBF-A9FA-3633069FB1AC}"/>
              </a:ext>
            </a:extLst>
          </p:cNvPr>
          <p:cNvSpPr/>
          <p:nvPr/>
        </p:nvSpPr>
        <p:spPr>
          <a:xfrm>
            <a:off x="6604000" y="1549400"/>
            <a:ext cx="101600" cy="101600"/>
          </a:xfrm>
          <a:prstGeom prst="ellipse">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5" name="RightTitle">
            <a:extLst>
              <a:ext uri="{FF2B5EF4-FFF2-40B4-BE49-F238E27FC236}">
                <a16:creationId xmlns:a16="http://schemas.microsoft.com/office/drawing/2014/main" id="{4455D221-E0A3-42F1-BA92-A0B9855B4D16}"/>
              </a:ext>
            </a:extLst>
          </p:cNvPr>
          <p:cNvSpPr txBox="1"/>
          <p:nvPr/>
        </p:nvSpPr>
        <p:spPr>
          <a:xfrm>
            <a:off x="6883400" y="1473200"/>
            <a:ext cx="4699000" cy="279400"/>
          </a:xfrm>
          <a:prstGeom prst="rect">
            <a:avLst/>
          </a:prstGeom>
          <a:noFill/>
        </p:spPr>
        <p:txBody>
          <a:bodyPr vertOverflow="overflow" vert="horz" wrap="square" rtlCol="0" anchor="t" anchorCtr="0">
            <a:noAutofit/>
          </a:bodyPr>
          <a:lstStyle/>
          <a:p>
            <a:pPr marL="0" indent="0">
              <a:buNone/>
            </a:pPr>
            <a:r>
              <a:rPr lang="en-US" sz="1350" b="1" dirty="0">
                <a:solidFill>
                  <a:srgbClr val="0E96AC"/>
                </a:solidFill>
                <a:latin typeface="Calibri" pitchFamily="34" charset="0"/>
              </a:rPr>
              <a:t>v6 — Captured in a Closed Cradle</a:t>
            </a:r>
          </a:p>
        </p:txBody>
      </p:sp>
      <p:sp>
        <p:nvSpPr>
          <p:cNvPr id="26" name="CtrlR">
            <a:extLst>
              <a:ext uri="{FF2B5EF4-FFF2-40B4-BE49-F238E27FC236}">
                <a16:creationId xmlns:a16="http://schemas.microsoft.com/office/drawing/2014/main" id="{93A5EAD7-35C9-42DC-A970-DE541959CA8C}"/>
              </a:ext>
            </a:extLst>
          </p:cNvPr>
          <p:cNvSpPr/>
          <p:nvPr/>
        </p:nvSpPr>
        <p:spPr>
          <a:xfrm>
            <a:off x="6502400" y="2438400"/>
            <a:ext cx="736600" cy="5842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Horn</a:t>
            </a:r>
          </a:p>
        </p:txBody>
      </p:sp>
      <p:sp>
        <p:nvSpPr>
          <p:cNvPr id="27" name="M0">
            <a:extLst>
              <a:ext uri="{FF2B5EF4-FFF2-40B4-BE49-F238E27FC236}">
                <a16:creationId xmlns:a16="http://schemas.microsoft.com/office/drawing/2014/main" id="{4CB46D67-A245-439A-902D-801546B8D4D1}"/>
              </a:ext>
            </a:extLst>
          </p:cNvPr>
          <p:cNvSpPr/>
          <p:nvPr/>
        </p:nvSpPr>
        <p:spPr>
          <a:xfrm>
            <a:off x="75692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M2</a:t>
            </a:r>
          </a:p>
        </p:txBody>
      </p:sp>
      <p:sp>
        <p:nvSpPr>
          <p:cNvPr id="28" name="M1">
            <a:extLst>
              <a:ext uri="{FF2B5EF4-FFF2-40B4-BE49-F238E27FC236}">
                <a16:creationId xmlns:a16="http://schemas.microsoft.com/office/drawing/2014/main" id="{45FEF653-99C3-4FEF-B454-B3E087841AE7}"/>
              </a:ext>
            </a:extLst>
          </p:cNvPr>
          <p:cNvSpPr/>
          <p:nvPr/>
        </p:nvSpPr>
        <p:spPr>
          <a:xfrm>
            <a:off x="85598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M2</a:t>
            </a:r>
          </a:p>
        </p:txBody>
      </p:sp>
      <p:sp>
        <p:nvSpPr>
          <p:cNvPr id="29" name="M2">
            <a:extLst>
              <a:ext uri="{FF2B5EF4-FFF2-40B4-BE49-F238E27FC236}">
                <a16:creationId xmlns:a16="http://schemas.microsoft.com/office/drawing/2014/main" id="{A74F96EC-B6BB-422E-8C35-E10D91EB265A}"/>
              </a:ext>
            </a:extLst>
          </p:cNvPr>
          <p:cNvSpPr/>
          <p:nvPr/>
        </p:nvSpPr>
        <p:spPr>
          <a:xfrm>
            <a:off x="95504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M2</a:t>
            </a:r>
          </a:p>
        </p:txBody>
      </p:sp>
      <p:sp>
        <p:nvSpPr>
          <p:cNvPr id="30" name="M3">
            <a:extLst>
              <a:ext uri="{FF2B5EF4-FFF2-40B4-BE49-F238E27FC236}">
                <a16:creationId xmlns:a16="http://schemas.microsoft.com/office/drawing/2014/main" id="{A9620D07-EC3B-42BC-9AE1-D164B351DF4C}"/>
              </a:ext>
            </a:extLst>
          </p:cNvPr>
          <p:cNvSpPr/>
          <p:nvPr/>
        </p:nvSpPr>
        <p:spPr>
          <a:xfrm>
            <a:off x="105410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M2</a:t>
            </a:r>
          </a:p>
        </p:txBody>
      </p:sp>
      <p:sp>
        <p:nvSpPr>
          <p:cNvPr id="31" name="Arr0">
            <a:extLst>
              <a:ext uri="{FF2B5EF4-FFF2-40B4-BE49-F238E27FC236}">
                <a16:creationId xmlns:a16="http://schemas.microsoft.com/office/drawing/2014/main" id="{854A53CA-17C5-4CFF-ADCF-E59608ACE438}"/>
              </a:ext>
            </a:extLst>
          </p:cNvPr>
          <p:cNvSpPr/>
          <p:nvPr/>
        </p:nvSpPr>
        <p:spPr>
          <a:xfrm>
            <a:off x="72644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2" name="Arr1">
            <a:extLst>
              <a:ext uri="{FF2B5EF4-FFF2-40B4-BE49-F238E27FC236}">
                <a16:creationId xmlns:a16="http://schemas.microsoft.com/office/drawing/2014/main" id="{011F0A9F-950A-45D7-A79A-BADB16577606}"/>
              </a:ext>
            </a:extLst>
          </p:cNvPr>
          <p:cNvSpPr/>
          <p:nvPr/>
        </p:nvSpPr>
        <p:spPr>
          <a:xfrm>
            <a:off x="82550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3" name="Arr2">
            <a:extLst>
              <a:ext uri="{FF2B5EF4-FFF2-40B4-BE49-F238E27FC236}">
                <a16:creationId xmlns:a16="http://schemas.microsoft.com/office/drawing/2014/main" id="{65FD6BA2-FF5F-400F-8B69-726189B56862}"/>
              </a:ext>
            </a:extLst>
          </p:cNvPr>
          <p:cNvSpPr/>
          <p:nvPr/>
        </p:nvSpPr>
        <p:spPr>
          <a:xfrm>
            <a:off x="92456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4" name="Arr3">
            <a:extLst>
              <a:ext uri="{FF2B5EF4-FFF2-40B4-BE49-F238E27FC236}">
                <a16:creationId xmlns:a16="http://schemas.microsoft.com/office/drawing/2014/main" id="{EF0861AC-0B95-4D77-BA3A-39B94625355C}"/>
              </a:ext>
            </a:extLst>
          </p:cNvPr>
          <p:cNvSpPr/>
          <p:nvPr/>
        </p:nvSpPr>
        <p:spPr>
          <a:xfrm>
            <a:off x="102362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ightCap">
            <a:extLst>
              <a:ext uri="{FF2B5EF4-FFF2-40B4-BE49-F238E27FC236}">
                <a16:creationId xmlns:a16="http://schemas.microsoft.com/office/drawing/2014/main" id="{1D352562-1583-4A2A-8FB0-A5F8D6FC580A}"/>
              </a:ext>
            </a:extLst>
          </p:cNvPr>
          <p:cNvSpPr txBox="1"/>
          <p:nvPr/>
        </p:nvSpPr>
        <p:spPr>
          <a:xfrm>
            <a:off x="6527800" y="3251200"/>
            <a:ext cx="5080000" cy="402336"/>
          </a:xfrm>
          <a:prstGeom prst="rect">
            <a:avLst/>
          </a:prstGeom>
          <a:noFill/>
        </p:spPr>
        <p:txBody>
          <a:bodyPr vertOverflow="overflow" vert="horz" wrap="square" rtlCol="0" anchor="t" anchorCtr="0">
            <a:noAutofit/>
          </a:bodyPr>
          <a:lstStyle/>
          <a:p>
            <a:pPr marL="0" indent="0">
              <a:buNone/>
            </a:pPr>
            <a:r>
              <a:rPr lang="en-US" sz="1000" dirty="0">
                <a:solidFill>
                  <a:srgbClr val="3A4658"/>
                </a:solidFill>
                <a:latin typeface="Calibri" pitchFamily="34" charset="0"/>
              </a:rPr>
              <a:t>Four M2 screws capture the motor against a closed cradle wall.</a:t>
            </a:r>
          </a:p>
        </p:txBody>
      </p:sp>
      <p:sp>
        <p:nvSpPr>
          <p:cNvPr id="36" name="LearnEye">
            <a:extLst>
              <a:ext uri="{FF2B5EF4-FFF2-40B4-BE49-F238E27FC236}">
                <a16:creationId xmlns:a16="http://schemas.microsoft.com/office/drawing/2014/main" id="{A968E41C-DC93-4198-90D6-3BE8A1F7B0D1}"/>
              </a:ext>
            </a:extLst>
          </p:cNvPr>
          <p:cNvSpPr txBox="1"/>
          <p:nvPr/>
        </p:nvSpPr>
        <p:spPr>
          <a:xfrm>
            <a:off x="762000" y="3810000"/>
            <a:ext cx="49022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LOAD PATH</a:t>
            </a:r>
          </a:p>
        </p:txBody>
      </p:sp>
      <p:sp>
        <p:nvSpPr>
          <p:cNvPr id="37" name="LearnBul">
            <a:extLst>
              <a:ext uri="{FF2B5EF4-FFF2-40B4-BE49-F238E27FC236}">
                <a16:creationId xmlns:a16="http://schemas.microsoft.com/office/drawing/2014/main" id="{D174C345-5C6B-4F4C-B12D-913378F38B4A}"/>
              </a:ext>
            </a:extLst>
          </p:cNvPr>
          <p:cNvSpPr txBox="1"/>
          <p:nvPr/>
        </p:nvSpPr>
        <p:spPr>
          <a:xfrm>
            <a:off x="762000" y="4114800"/>
            <a:ext cx="4902200" cy="2159000"/>
          </a:xfrm>
          <a:prstGeom prst="rect">
            <a:avLst/>
          </a:prstGeom>
          <a:noFill/>
        </p:spPr>
        <p:txBody>
          <a:bodyPr vertOverflow="overflow" vert="horz" wrap="square" rtlCol="0" anchor="t" anchorCtr="0">
            <a:noAutofit/>
          </a:bodyPr>
          <a:lstStyle/>
          <a:p>
            <a:pPr marL="200000" indent="-200000">
              <a:spcBef>
                <a:spcPts val="600"/>
              </a:spcBef>
              <a:buClr>
                <a:srgbClr val="0E96AC"/>
              </a:buClr>
              <a:buFont typeface="Arial"/>
              <a:buChar char="•"/>
            </a:pPr>
            <a:r>
              <a:rPr lang="en-US" sz="1400" dirty="0">
                <a:solidFill>
                  <a:srgbClr val="16223A"/>
                </a:solidFill>
                <a:latin typeface="Calibri" pitchFamily="34" charset="0"/>
              </a:rPr>
              <a:t>Horn face transfers joint torque to the next segment</a:t>
            </a:r>
          </a:p>
          <a:p>
            <a:pPr marL="200000" indent="-200000">
              <a:spcBef>
                <a:spcPts val="600"/>
              </a:spcBef>
              <a:buClr>
                <a:srgbClr val="0E96AC"/>
              </a:buClr>
              <a:buFont typeface="Arial"/>
              <a:buChar char="•"/>
            </a:pPr>
            <a:r>
              <a:rPr lang="en-US" sz="1400" dirty="0">
                <a:solidFill>
                  <a:srgbClr val="16223A"/>
                </a:solidFill>
                <a:latin typeface="Calibri" pitchFamily="34" charset="0"/>
              </a:rPr>
              <a:t>F623ZZ flange bearing on the horn-opposite side</a:t>
            </a:r>
          </a:p>
          <a:p>
            <a:pPr marL="200000" indent="-200000">
              <a:spcBef>
                <a:spcPts val="600"/>
              </a:spcBef>
              <a:buClr>
                <a:srgbClr val="0E96AC"/>
              </a:buClr>
              <a:buFont typeface="Arial"/>
              <a:buChar char="•"/>
            </a:pPr>
            <a:r>
              <a:rPr lang="en-US" sz="1400" dirty="0">
                <a:solidFill>
                  <a:srgbClr val="16223A"/>
                </a:solidFill>
                <a:latin typeface="Calibri" pitchFamily="34" charset="0"/>
              </a:rPr>
              <a:t>Bearing carries radial load off the motor shaft</a:t>
            </a:r>
          </a:p>
          <a:p>
            <a:pPr marL="200000" indent="-200000">
              <a:spcBef>
                <a:spcPts val="600"/>
              </a:spcBef>
              <a:buClr>
                <a:srgbClr val="0E96AC"/>
              </a:buClr>
              <a:buFont typeface="Arial"/>
              <a:buChar char="•"/>
            </a:pPr>
            <a:r>
              <a:rPr lang="en-US" sz="1400" dirty="0">
                <a:solidFill>
                  <a:srgbClr val="16223A"/>
                </a:solidFill>
                <a:latin typeface="Calibri" pitchFamily="34" charset="0"/>
              </a:rPr>
              <a:t>14 mm bolt circle, 4 × M2 blind holes each face</a:t>
            </a:r>
          </a:p>
          <a:p>
            <a:pPr marL="200000" indent="-200000">
              <a:spcBef>
                <a:spcPts val="600"/>
              </a:spcBef>
              <a:buClr>
                <a:srgbClr val="0E96AC"/>
              </a:buClr>
              <a:buFont typeface="Arial"/>
              <a:buChar char="•"/>
            </a:pPr>
            <a:r>
              <a:rPr lang="en-US" sz="1400" dirty="0">
                <a:solidFill>
                  <a:srgbClr val="16223A"/>
                </a:solidFill>
                <a:latin typeface="Calibri" pitchFamily="34" charset="0"/>
              </a:rPr>
              <a:t>Closed cradle wall reacts motor reaction torque</a:t>
            </a:r>
          </a:p>
        </p:txBody>
      </p:sp>
      <p:sp>
        <p:nvSpPr>
          <p:cNvPr id="38" name="DecEye">
            <a:extLst>
              <a:ext uri="{FF2B5EF4-FFF2-40B4-BE49-F238E27FC236}">
                <a16:creationId xmlns:a16="http://schemas.microsoft.com/office/drawing/2014/main" id="{760A87DD-1FD4-4129-AFBF-9525367131E6}"/>
              </a:ext>
            </a:extLst>
          </p:cNvPr>
          <p:cNvSpPr txBox="1"/>
          <p:nvPr/>
        </p:nvSpPr>
        <p:spPr>
          <a:xfrm>
            <a:off x="6565900" y="3835400"/>
            <a:ext cx="48260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RETENTION — RESOLVED IN V6</a:t>
            </a:r>
          </a:p>
        </p:txBody>
      </p:sp>
      <p:sp>
        <p:nvSpPr>
          <p:cNvPr id="39" name="DecTitle">
            <a:extLst>
              <a:ext uri="{FF2B5EF4-FFF2-40B4-BE49-F238E27FC236}">
                <a16:creationId xmlns:a16="http://schemas.microsoft.com/office/drawing/2014/main" id="{C7311885-27E4-43E5-B854-ED56274278BD}"/>
              </a:ext>
            </a:extLst>
          </p:cNvPr>
          <p:cNvSpPr txBox="1"/>
          <p:nvPr/>
        </p:nvSpPr>
        <p:spPr>
          <a:xfrm>
            <a:off x="6565900" y="4102100"/>
            <a:ext cx="4826000" cy="431800"/>
          </a:xfrm>
          <a:prstGeom prst="rect">
            <a:avLst/>
          </a:prstGeom>
          <a:noFill/>
        </p:spPr>
        <p:txBody>
          <a:bodyPr vertOverflow="overflow" vert="horz" wrap="square" rtlCol="0" anchor="t" anchorCtr="0">
            <a:noAutofit/>
          </a:bodyPr>
          <a:lstStyle/>
          <a:p>
            <a:pPr marL="0" indent="0">
              <a:buNone/>
            </a:pPr>
            <a:r>
              <a:rPr lang="en-US" sz="2200" b="1" dirty="0">
                <a:solidFill>
                  <a:srgbClr val="FFFFFF"/>
                </a:solidFill>
                <a:latin typeface="Calibri" pitchFamily="34" charset="0"/>
              </a:rPr>
              <a:t>Four M2 screws through a closed cradle</a:t>
            </a:r>
          </a:p>
        </p:txBody>
      </p:sp>
      <p:sp>
        <p:nvSpPr>
          <p:cNvPr id="40" name="DecReason">
            <a:extLst>
              <a:ext uri="{FF2B5EF4-FFF2-40B4-BE49-F238E27FC236}">
                <a16:creationId xmlns:a16="http://schemas.microsoft.com/office/drawing/2014/main" id="{1D6D8D35-098D-49CE-A5B5-D938206E0D70}"/>
              </a:ext>
            </a:extLst>
          </p:cNvPr>
          <p:cNvSpPr txBox="1"/>
          <p:nvPr/>
        </p:nvSpPr>
        <p:spPr>
          <a:xfrm>
            <a:off x="6565900" y="4597400"/>
            <a:ext cx="4826000" cy="1676400"/>
          </a:xfrm>
          <a:prstGeom prst="rect">
            <a:avLst/>
          </a:prstGeom>
          <a:noFill/>
        </p:spPr>
        <p:txBody>
          <a:bodyPr vertOverflow="overflow" vert="horz" wrap="square" rtlCol="0" anchor="t" anchorCtr="0">
            <a:noAutofit/>
          </a:bodyPr>
          <a:lstStyle/>
          <a:p>
            <a:pPr marL="0" indent="0">
              <a:lnSpc>
                <a:spcPct val="112000"/>
              </a:lnSpc>
              <a:buNone/>
            </a:pPr>
            <a:r>
              <a:rPr lang="en-US" sz="1400" dirty="0">
                <a:solidFill>
                  <a:srgbClr val="D6DEE8"/>
                </a:solidFill>
                <a:latin typeface="Calibri" pitchFamily="34" charset="0"/>
              </a:rPr>
              <a:t>v4 and v5 relied on an interference fit alone. Under repeated gait loading that is a slow failure: the pocket wears, the motor rocks, and joint backlash grows. v6 adds positive fastening and restores the sidewall the lightening windows removed.</a:t>
            </a:r>
          </a:p>
        </p:txBody>
      </p:sp>
    </p:spTree>
    <p:extLst>
      <p:ext uri="{BB962C8B-B14F-4D97-AF65-F5344CB8AC3E}">
        <p14:creationId xmlns:p14="http://schemas.microsoft.com/office/powerpoint/2010/main" val="5049174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eftCard">
            <a:extLst>
              <a:ext uri="{FF2B5EF4-FFF2-40B4-BE49-F238E27FC236}">
                <a16:creationId xmlns:a16="http://schemas.microsoft.com/office/drawing/2014/main" id="{0056E78F-92D5-4262-AAF1-277172916451}"/>
              </a:ext>
            </a:extLst>
          </p:cNvPr>
          <p:cNvSpPr/>
          <p:nvPr/>
        </p:nvSpPr>
        <p:spPr>
          <a:xfrm>
            <a:off x="5461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RightCard">
            <a:extLst>
              <a:ext uri="{FF2B5EF4-FFF2-40B4-BE49-F238E27FC236}">
                <a16:creationId xmlns:a16="http://schemas.microsoft.com/office/drawing/2014/main" id="{24DBE37A-9E70-4159-95DD-2B494C422BC7}"/>
              </a:ext>
            </a:extLst>
          </p:cNvPr>
          <p:cNvSpPr/>
          <p:nvPr/>
        </p:nvSpPr>
        <p:spPr>
          <a:xfrm>
            <a:off x="63119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LearnCard">
            <a:extLst>
              <a:ext uri="{FF2B5EF4-FFF2-40B4-BE49-F238E27FC236}">
                <a16:creationId xmlns:a16="http://schemas.microsoft.com/office/drawing/2014/main" id="{945938B6-711B-47B7-94C3-12F7938EAA96}"/>
              </a:ext>
            </a:extLst>
          </p:cNvPr>
          <p:cNvSpPr/>
          <p:nvPr/>
        </p:nvSpPr>
        <p:spPr>
          <a:xfrm>
            <a:off x="546100" y="3657600"/>
            <a:ext cx="5334000" cy="27432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DecCard">
            <a:extLst>
              <a:ext uri="{FF2B5EF4-FFF2-40B4-BE49-F238E27FC236}">
                <a16:creationId xmlns:a16="http://schemas.microsoft.com/office/drawing/2014/main" id="{769BC5B9-3C4D-4227-8B3B-8FACD1E290E0}"/>
              </a:ext>
            </a:extLst>
          </p:cNvPr>
          <p:cNvSpPr/>
          <p:nvPr/>
        </p:nvSpPr>
        <p:spPr>
          <a:xfrm>
            <a:off x="6311900" y="3657600"/>
            <a:ext cx="5334000" cy="2743200"/>
          </a:xfrm>
          <a:prstGeom prst="round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EyebrowB">
            <a:extLst>
              <a:ext uri="{FF2B5EF4-FFF2-40B4-BE49-F238E27FC236}">
                <a16:creationId xmlns:a16="http://schemas.microsoft.com/office/drawing/2014/main" id="{0132597A-8662-4681-BE67-71F52E66C72F}"/>
              </a:ext>
            </a:extLst>
          </p:cNvPr>
          <p:cNvSpPr txBox="1"/>
          <p:nvPr/>
        </p:nvSpPr>
        <p:spPr>
          <a:xfrm>
            <a:off x="546100" y="381000"/>
            <a:ext cx="10414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FRICTION, KEELS &amp; TORQUE</a:t>
            </a:r>
          </a:p>
        </p:txBody>
      </p:sp>
      <p:sp>
        <p:nvSpPr>
          <p:cNvPr id="7" name="TitleB">
            <a:extLst>
              <a:ext uri="{FF2B5EF4-FFF2-40B4-BE49-F238E27FC236}">
                <a16:creationId xmlns:a16="http://schemas.microsoft.com/office/drawing/2014/main" id="{46AB9848-941D-4FEF-BEB1-1414EB9FBE78}"/>
              </a:ext>
            </a:extLst>
          </p:cNvPr>
          <p:cNvSpPr txBox="1"/>
          <p:nvPr/>
        </p:nvSpPr>
        <p:spPr>
          <a:xfrm>
            <a:off x="533400" y="635000"/>
            <a:ext cx="11049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Why v6 Can Actually Move — Friction &amp; Torque Budget</a:t>
            </a:r>
          </a:p>
        </p:txBody>
      </p:sp>
      <p:sp>
        <p:nvSpPr>
          <p:cNvPr id="8" name="ServoGlyphBody">
            <a:extLst>
              <a:ext uri="{FF2B5EF4-FFF2-40B4-BE49-F238E27FC236}">
                <a16:creationId xmlns:a16="http://schemas.microsoft.com/office/drawing/2014/main" id="{8A03D9A3-2075-450B-B675-A74D30FE9A88}"/>
              </a:ext>
            </a:extLst>
          </p:cNvPr>
          <p:cNvSpPr/>
          <p:nvPr/>
        </p:nvSpPr>
        <p:spPr>
          <a:xfrm>
            <a:off x="762000" y="1498600"/>
            <a:ext cx="304800" cy="228600"/>
          </a:xfrm>
          <a:prstGeom prst="roundRect">
            <a:avLst/>
          </a:prstGeom>
          <a:solidFill>
            <a:srgbClr val="5A647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9" name="ServoGlyphHorn">
            <a:extLst>
              <a:ext uri="{FF2B5EF4-FFF2-40B4-BE49-F238E27FC236}">
                <a16:creationId xmlns:a16="http://schemas.microsoft.com/office/drawing/2014/main" id="{DB2656A8-5200-4995-950C-8E582F0047DC}"/>
              </a:ext>
            </a:extLst>
          </p:cNvPr>
          <p:cNvSpPr/>
          <p:nvPr/>
        </p:nvSpPr>
        <p:spPr>
          <a:xfrm>
            <a:off x="850900" y="1435100"/>
            <a:ext cx="127000" cy="114300"/>
          </a:xfrm>
          <a:prstGeom prst="ellipse">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 name="LeftTitle">
            <a:extLst>
              <a:ext uri="{FF2B5EF4-FFF2-40B4-BE49-F238E27FC236}">
                <a16:creationId xmlns:a16="http://schemas.microsoft.com/office/drawing/2014/main" id="{F5221BA7-BF56-4458-9848-3FCF2A8E96ED}"/>
              </a:ext>
            </a:extLst>
          </p:cNvPr>
          <p:cNvSpPr txBox="1"/>
          <p:nvPr/>
        </p:nvSpPr>
        <p:spPr>
          <a:xfrm>
            <a:off x="1168400" y="1473200"/>
            <a:ext cx="4572000" cy="279400"/>
          </a:xfrm>
          <a:prstGeom prst="rect">
            <a:avLst/>
          </a:prstGeom>
          <a:noFill/>
        </p:spPr>
        <p:txBody>
          <a:bodyPr vertOverflow="overflow" vert="horz" wrap="square" rtlCol="0" anchor="t" anchorCtr="0">
            <a:noAutofit/>
          </a:bodyPr>
          <a:lstStyle/>
          <a:p>
            <a:pPr marL="0" indent="0">
              <a:buNone/>
            </a:pPr>
            <a:r>
              <a:rPr lang="en-US" sz="1350" b="1" dirty="0">
                <a:solidFill>
                  <a:srgbClr val="16223A"/>
                </a:solidFill>
                <a:latin typeface="Calibri" pitchFamily="34" charset="0"/>
              </a:rPr>
              <a:t>v4 / v5 — Scales Never Touched Ground</a:t>
            </a:r>
          </a:p>
        </p:txBody>
      </p:sp>
      <p:sp>
        <p:nvSpPr>
          <p:cNvPr id="11" name="CtrlL">
            <a:extLst>
              <a:ext uri="{FF2B5EF4-FFF2-40B4-BE49-F238E27FC236}">
                <a16:creationId xmlns:a16="http://schemas.microsoft.com/office/drawing/2014/main" id="{E0569885-D4FA-4DD4-9A3F-1E29F3533E47}"/>
              </a:ext>
            </a:extLst>
          </p:cNvPr>
          <p:cNvSpPr/>
          <p:nvPr/>
        </p:nvSpPr>
        <p:spPr>
          <a:xfrm>
            <a:off x="800100" y="2184400"/>
            <a:ext cx="1066800" cy="6858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Belly</a:t>
            </a:r>
          </a:p>
        </p:txBody>
      </p:sp>
      <p:sp>
        <p:nvSpPr>
          <p:cNvPr id="12" name="BusV">
            <a:extLst>
              <a:ext uri="{FF2B5EF4-FFF2-40B4-BE49-F238E27FC236}">
                <a16:creationId xmlns:a16="http://schemas.microsoft.com/office/drawing/2014/main" id="{02527D18-7BCF-41AE-AD08-927C1540483A}"/>
              </a:ext>
            </a:extLst>
          </p:cNvPr>
          <p:cNvSpPr/>
          <p:nvPr/>
        </p:nvSpPr>
        <p:spPr>
          <a:xfrm>
            <a:off x="1905000" y="2032000"/>
            <a:ext cx="38100" cy="9906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3" name="CtrlBus">
            <a:extLst>
              <a:ext uri="{FF2B5EF4-FFF2-40B4-BE49-F238E27FC236}">
                <a16:creationId xmlns:a16="http://schemas.microsoft.com/office/drawing/2014/main" id="{1CE24EE8-02CD-44D4-B87F-12FCB67D908F}"/>
              </a:ext>
            </a:extLst>
          </p:cNvPr>
          <p:cNvSpPr/>
          <p:nvPr/>
        </p:nvSpPr>
        <p:spPr>
          <a:xfrm>
            <a:off x="1866900" y="2527300"/>
            <a:ext cx="762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Stub0">
            <a:extLst>
              <a:ext uri="{FF2B5EF4-FFF2-40B4-BE49-F238E27FC236}">
                <a16:creationId xmlns:a16="http://schemas.microsoft.com/office/drawing/2014/main" id="{A9C20F89-A278-4DB5-8A0F-545E206D3B94}"/>
              </a:ext>
            </a:extLst>
          </p:cNvPr>
          <p:cNvSpPr/>
          <p:nvPr/>
        </p:nvSpPr>
        <p:spPr>
          <a:xfrm>
            <a:off x="1943100" y="20193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5" name="Servo0">
            <a:extLst>
              <a:ext uri="{FF2B5EF4-FFF2-40B4-BE49-F238E27FC236}">
                <a16:creationId xmlns:a16="http://schemas.microsoft.com/office/drawing/2014/main" id="{FE0E4700-8C3C-42D9-84F1-E6C73B1DD53A}"/>
              </a:ext>
            </a:extLst>
          </p:cNvPr>
          <p:cNvSpPr/>
          <p:nvPr/>
        </p:nvSpPr>
        <p:spPr>
          <a:xfrm>
            <a:off x="3810000" y="19050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Plate at −3.45 mm</a:t>
            </a:r>
          </a:p>
        </p:txBody>
      </p:sp>
      <p:sp>
        <p:nvSpPr>
          <p:cNvPr id="16" name="Stub1">
            <a:extLst>
              <a:ext uri="{FF2B5EF4-FFF2-40B4-BE49-F238E27FC236}">
                <a16:creationId xmlns:a16="http://schemas.microsoft.com/office/drawing/2014/main" id="{814852D2-A9D9-48F2-88CF-C20F3BDEBC7E}"/>
              </a:ext>
            </a:extLst>
          </p:cNvPr>
          <p:cNvSpPr/>
          <p:nvPr/>
        </p:nvSpPr>
        <p:spPr>
          <a:xfrm>
            <a:off x="1943100" y="23495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Servo1">
            <a:extLst>
              <a:ext uri="{FF2B5EF4-FFF2-40B4-BE49-F238E27FC236}">
                <a16:creationId xmlns:a16="http://schemas.microsoft.com/office/drawing/2014/main" id="{CAEAB1FD-0CEA-4D2C-AEF7-0FF176392BDC}"/>
              </a:ext>
            </a:extLst>
          </p:cNvPr>
          <p:cNvSpPr/>
          <p:nvPr/>
        </p:nvSpPr>
        <p:spPr>
          <a:xfrm>
            <a:off x="3810000" y="22352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Scales at −3.00 mm</a:t>
            </a:r>
          </a:p>
        </p:txBody>
      </p:sp>
      <p:sp>
        <p:nvSpPr>
          <p:cNvPr id="18" name="Stub2">
            <a:extLst>
              <a:ext uri="{FF2B5EF4-FFF2-40B4-BE49-F238E27FC236}">
                <a16:creationId xmlns:a16="http://schemas.microsoft.com/office/drawing/2014/main" id="{EB319E6F-F90C-43F4-9030-6DB43A605F2E}"/>
              </a:ext>
            </a:extLst>
          </p:cNvPr>
          <p:cNvSpPr/>
          <p:nvPr/>
        </p:nvSpPr>
        <p:spPr>
          <a:xfrm>
            <a:off x="1943100" y="26797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9" name="Servo2">
            <a:extLst>
              <a:ext uri="{FF2B5EF4-FFF2-40B4-BE49-F238E27FC236}">
                <a16:creationId xmlns:a16="http://schemas.microsoft.com/office/drawing/2014/main" id="{76E772AE-A541-49C3-B4C3-B05CCE714E7C}"/>
              </a:ext>
            </a:extLst>
          </p:cNvPr>
          <p:cNvSpPr/>
          <p:nvPr/>
        </p:nvSpPr>
        <p:spPr>
          <a:xfrm>
            <a:off x="3810000" y="25654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Plate 1006 mm²</a:t>
            </a:r>
          </a:p>
        </p:txBody>
      </p:sp>
      <p:sp>
        <p:nvSpPr>
          <p:cNvPr id="20" name="Stub3">
            <a:extLst>
              <a:ext uri="{FF2B5EF4-FFF2-40B4-BE49-F238E27FC236}">
                <a16:creationId xmlns:a16="http://schemas.microsoft.com/office/drawing/2014/main" id="{B02FBDF1-8D37-4D56-8B5D-B0C727AEC152}"/>
              </a:ext>
            </a:extLst>
          </p:cNvPr>
          <p:cNvSpPr/>
          <p:nvPr/>
        </p:nvSpPr>
        <p:spPr>
          <a:xfrm>
            <a:off x="1943100" y="30099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1" name="Servo3">
            <a:extLst>
              <a:ext uri="{FF2B5EF4-FFF2-40B4-BE49-F238E27FC236}">
                <a16:creationId xmlns:a16="http://schemas.microsoft.com/office/drawing/2014/main" id="{77B767ED-463D-48E9-99C3-6473A23AD437}"/>
              </a:ext>
            </a:extLst>
          </p:cNvPr>
          <p:cNvSpPr/>
          <p:nvPr/>
        </p:nvSpPr>
        <p:spPr>
          <a:xfrm>
            <a:off x="3810000" y="28956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Scales 66 mm²</a:t>
            </a:r>
          </a:p>
        </p:txBody>
      </p:sp>
      <p:sp>
        <p:nvSpPr>
          <p:cNvPr id="22" name="LeftCap">
            <a:extLst>
              <a:ext uri="{FF2B5EF4-FFF2-40B4-BE49-F238E27FC236}">
                <a16:creationId xmlns:a16="http://schemas.microsoft.com/office/drawing/2014/main" id="{9EC08625-1DD4-4DAA-8C00-FBCBF71DFEB5}"/>
              </a:ext>
            </a:extLst>
          </p:cNvPr>
          <p:cNvSpPr txBox="1"/>
          <p:nvPr/>
        </p:nvSpPr>
        <p:spPr>
          <a:xfrm>
            <a:off x="762000" y="3238500"/>
            <a:ext cx="5080000" cy="402336"/>
          </a:xfrm>
          <a:prstGeom prst="rect">
            <a:avLst/>
          </a:prstGeom>
          <a:noFill/>
        </p:spPr>
        <p:txBody>
          <a:bodyPr vertOverflow="overflow" vert="horz" wrap="square" rtlCol="0" anchor="t" anchorCtr="0">
            <a:noAutofit/>
          </a:bodyPr>
          <a:lstStyle/>
          <a:p>
            <a:pPr marL="0" indent="0">
              <a:buNone/>
            </a:pPr>
            <a:r>
              <a:rPr lang="en-US" sz="1000" dirty="0">
                <a:solidFill>
                  <a:srgbClr val="3A4658"/>
                </a:solidFill>
                <a:latin typeface="Calibri" pitchFamily="34" charset="0"/>
              </a:rPr>
              <a:t>The plate hung 0.45 mm below the scales — 94% of ground contact was the one surface never meant to touch.</a:t>
            </a:r>
          </a:p>
        </p:txBody>
      </p:sp>
      <p:sp>
        <p:nvSpPr>
          <p:cNvPr id="23" name="XLGlyphBody">
            <a:extLst>
              <a:ext uri="{FF2B5EF4-FFF2-40B4-BE49-F238E27FC236}">
                <a16:creationId xmlns:a16="http://schemas.microsoft.com/office/drawing/2014/main" id="{C8E18AD2-F4A3-40BC-87F2-BED483297313}"/>
              </a:ext>
            </a:extLst>
          </p:cNvPr>
          <p:cNvSpPr/>
          <p:nvPr/>
        </p:nvSpPr>
        <p:spPr>
          <a:xfrm>
            <a:off x="6527800" y="1473200"/>
            <a:ext cx="254000" cy="254000"/>
          </a:xfrm>
          <a:prstGeom prst="round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4" name="XLGlyphHorn">
            <a:extLst>
              <a:ext uri="{FF2B5EF4-FFF2-40B4-BE49-F238E27FC236}">
                <a16:creationId xmlns:a16="http://schemas.microsoft.com/office/drawing/2014/main" id="{7FC80302-C31A-4BBF-A9FA-3633069FB1AC}"/>
              </a:ext>
            </a:extLst>
          </p:cNvPr>
          <p:cNvSpPr/>
          <p:nvPr/>
        </p:nvSpPr>
        <p:spPr>
          <a:xfrm>
            <a:off x="6604000" y="1549400"/>
            <a:ext cx="101600" cy="101600"/>
          </a:xfrm>
          <a:prstGeom prst="ellipse">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5" name="RightTitle">
            <a:extLst>
              <a:ext uri="{FF2B5EF4-FFF2-40B4-BE49-F238E27FC236}">
                <a16:creationId xmlns:a16="http://schemas.microsoft.com/office/drawing/2014/main" id="{4455D221-E0A3-42F1-BA92-A0B9855B4D16}"/>
              </a:ext>
            </a:extLst>
          </p:cNvPr>
          <p:cNvSpPr txBox="1"/>
          <p:nvPr/>
        </p:nvSpPr>
        <p:spPr>
          <a:xfrm>
            <a:off x="6883400" y="1473200"/>
            <a:ext cx="4699000" cy="279400"/>
          </a:xfrm>
          <a:prstGeom prst="rect">
            <a:avLst/>
          </a:prstGeom>
          <a:noFill/>
        </p:spPr>
        <p:txBody>
          <a:bodyPr vertOverflow="overflow" vert="horz" wrap="square" rtlCol="0" anchor="t" anchorCtr="0">
            <a:noAutofit/>
          </a:bodyPr>
          <a:lstStyle/>
          <a:p>
            <a:pPr marL="0" indent="0">
              <a:buNone/>
            </a:pPr>
            <a:r>
              <a:rPr lang="en-US" sz="1350" b="1" dirty="0">
                <a:solidFill>
                  <a:srgbClr val="0E96AC"/>
                </a:solidFill>
                <a:latin typeface="Calibri" pitchFamily="34" charset="0"/>
              </a:rPr>
              <a:t>v6 — Keels Carry the Robot</a:t>
            </a:r>
          </a:p>
        </p:txBody>
      </p:sp>
      <p:sp>
        <p:nvSpPr>
          <p:cNvPr id="26" name="CtrlR">
            <a:extLst>
              <a:ext uri="{FF2B5EF4-FFF2-40B4-BE49-F238E27FC236}">
                <a16:creationId xmlns:a16="http://schemas.microsoft.com/office/drawing/2014/main" id="{93A5EAD7-35C9-42DC-A970-DE541959CA8C}"/>
              </a:ext>
            </a:extLst>
          </p:cNvPr>
          <p:cNvSpPr/>
          <p:nvPr/>
        </p:nvSpPr>
        <p:spPr>
          <a:xfrm>
            <a:off x="6502400" y="2438400"/>
            <a:ext cx="736600" cy="5842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Belly</a:t>
            </a:r>
          </a:p>
        </p:txBody>
      </p:sp>
      <p:sp>
        <p:nvSpPr>
          <p:cNvPr id="27" name="M0">
            <a:extLst>
              <a:ext uri="{FF2B5EF4-FFF2-40B4-BE49-F238E27FC236}">
                <a16:creationId xmlns:a16="http://schemas.microsoft.com/office/drawing/2014/main" id="{4CB46D67-A245-439A-902D-801546B8D4D1}"/>
              </a:ext>
            </a:extLst>
          </p:cNvPr>
          <p:cNvSpPr/>
          <p:nvPr/>
        </p:nvSpPr>
        <p:spPr>
          <a:xfrm>
            <a:off x="75692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Grip</a:t>
            </a:r>
          </a:p>
        </p:txBody>
      </p:sp>
      <p:sp>
        <p:nvSpPr>
          <p:cNvPr id="28" name="M1">
            <a:extLst>
              <a:ext uri="{FF2B5EF4-FFF2-40B4-BE49-F238E27FC236}">
                <a16:creationId xmlns:a16="http://schemas.microsoft.com/office/drawing/2014/main" id="{45FEF653-99C3-4FEF-B454-B3E087841AE7}"/>
              </a:ext>
            </a:extLst>
          </p:cNvPr>
          <p:cNvSpPr/>
          <p:nvPr/>
        </p:nvSpPr>
        <p:spPr>
          <a:xfrm>
            <a:off x="85598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Slide</a:t>
            </a:r>
          </a:p>
        </p:txBody>
      </p:sp>
      <p:sp>
        <p:nvSpPr>
          <p:cNvPr id="29" name="M2">
            <a:extLst>
              <a:ext uri="{FF2B5EF4-FFF2-40B4-BE49-F238E27FC236}">
                <a16:creationId xmlns:a16="http://schemas.microsoft.com/office/drawing/2014/main" id="{A74F96EC-B6BB-422E-8C35-E10D91EB265A}"/>
              </a:ext>
            </a:extLst>
          </p:cNvPr>
          <p:cNvSpPr/>
          <p:nvPr/>
        </p:nvSpPr>
        <p:spPr>
          <a:xfrm>
            <a:off x="95504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Grip</a:t>
            </a:r>
          </a:p>
        </p:txBody>
      </p:sp>
      <p:sp>
        <p:nvSpPr>
          <p:cNvPr id="30" name="M3">
            <a:extLst>
              <a:ext uri="{FF2B5EF4-FFF2-40B4-BE49-F238E27FC236}">
                <a16:creationId xmlns:a16="http://schemas.microsoft.com/office/drawing/2014/main" id="{A9620D07-EC3B-42BC-9AE1-D164B351DF4C}"/>
              </a:ext>
            </a:extLst>
          </p:cNvPr>
          <p:cNvSpPr/>
          <p:nvPr/>
        </p:nvSpPr>
        <p:spPr>
          <a:xfrm>
            <a:off x="105410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Slide</a:t>
            </a:r>
          </a:p>
        </p:txBody>
      </p:sp>
      <p:sp>
        <p:nvSpPr>
          <p:cNvPr id="31" name="Arr0">
            <a:extLst>
              <a:ext uri="{FF2B5EF4-FFF2-40B4-BE49-F238E27FC236}">
                <a16:creationId xmlns:a16="http://schemas.microsoft.com/office/drawing/2014/main" id="{854A53CA-17C5-4CFF-ADCF-E59608ACE438}"/>
              </a:ext>
            </a:extLst>
          </p:cNvPr>
          <p:cNvSpPr/>
          <p:nvPr/>
        </p:nvSpPr>
        <p:spPr>
          <a:xfrm>
            <a:off x="72644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2" name="Arr1">
            <a:extLst>
              <a:ext uri="{FF2B5EF4-FFF2-40B4-BE49-F238E27FC236}">
                <a16:creationId xmlns:a16="http://schemas.microsoft.com/office/drawing/2014/main" id="{011F0A9F-950A-45D7-A79A-BADB16577606}"/>
              </a:ext>
            </a:extLst>
          </p:cNvPr>
          <p:cNvSpPr/>
          <p:nvPr/>
        </p:nvSpPr>
        <p:spPr>
          <a:xfrm>
            <a:off x="82550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3" name="Arr2">
            <a:extLst>
              <a:ext uri="{FF2B5EF4-FFF2-40B4-BE49-F238E27FC236}">
                <a16:creationId xmlns:a16="http://schemas.microsoft.com/office/drawing/2014/main" id="{65FD6BA2-FF5F-400F-8B69-726189B56862}"/>
              </a:ext>
            </a:extLst>
          </p:cNvPr>
          <p:cNvSpPr/>
          <p:nvPr/>
        </p:nvSpPr>
        <p:spPr>
          <a:xfrm>
            <a:off x="92456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4" name="Arr3">
            <a:extLst>
              <a:ext uri="{FF2B5EF4-FFF2-40B4-BE49-F238E27FC236}">
                <a16:creationId xmlns:a16="http://schemas.microsoft.com/office/drawing/2014/main" id="{EF0861AC-0B95-4D77-BA3A-39B94625355C}"/>
              </a:ext>
            </a:extLst>
          </p:cNvPr>
          <p:cNvSpPr/>
          <p:nvPr/>
        </p:nvSpPr>
        <p:spPr>
          <a:xfrm>
            <a:off x="102362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ightCap">
            <a:extLst>
              <a:ext uri="{FF2B5EF4-FFF2-40B4-BE49-F238E27FC236}">
                <a16:creationId xmlns:a16="http://schemas.microsoft.com/office/drawing/2014/main" id="{1D352562-1583-4A2A-8FB0-A5F8D6FC580A}"/>
              </a:ext>
            </a:extLst>
          </p:cNvPr>
          <p:cNvSpPr txBox="1"/>
          <p:nvPr/>
        </p:nvSpPr>
        <p:spPr>
          <a:xfrm>
            <a:off x="6527800" y="3251200"/>
            <a:ext cx="5080000" cy="402336"/>
          </a:xfrm>
          <a:prstGeom prst="rect">
            <a:avLst/>
          </a:prstGeom>
          <a:noFill/>
        </p:spPr>
        <p:txBody>
          <a:bodyPr vertOverflow="overflow" vert="horz" wrap="square" rtlCol="0" anchor="t" anchorCtr="0">
            <a:noAutofit/>
          </a:bodyPr>
          <a:lstStyle/>
          <a:p>
            <a:pPr marL="0" indent="0">
              <a:buNone/>
            </a:pPr>
            <a:r>
              <a:rPr lang="en-US" sz="1000" dirty="0">
                <a:solidFill>
                  <a:srgbClr val="3A4658"/>
                </a:solidFill>
                <a:latin typeface="Calibri" pitchFamily="34" charset="0"/>
              </a:rPr>
              <a:t>Scales swept along the body: grip across it, slide along it — the asymmetry lateral undulation requires.</a:t>
            </a:r>
          </a:p>
        </p:txBody>
      </p:sp>
      <p:sp>
        <p:nvSpPr>
          <p:cNvPr id="36" name="LearnEye">
            <a:extLst>
              <a:ext uri="{FF2B5EF4-FFF2-40B4-BE49-F238E27FC236}">
                <a16:creationId xmlns:a16="http://schemas.microsoft.com/office/drawing/2014/main" id="{A968E41C-DC93-4198-90D6-3BE8A1F7B0D1}"/>
              </a:ext>
            </a:extLst>
          </p:cNvPr>
          <p:cNvSpPr txBox="1"/>
          <p:nvPr/>
        </p:nvSpPr>
        <p:spPr>
          <a:xfrm>
            <a:off x="762000" y="3810000"/>
            <a:ext cx="49022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TORQUE BUDGET</a:t>
            </a:r>
          </a:p>
        </p:txBody>
      </p:sp>
      <p:sp>
        <p:nvSpPr>
          <p:cNvPr id="37" name="LearnBul">
            <a:extLst>
              <a:ext uri="{FF2B5EF4-FFF2-40B4-BE49-F238E27FC236}">
                <a16:creationId xmlns:a16="http://schemas.microsoft.com/office/drawing/2014/main" id="{D174C345-5C6B-4F4C-B12D-913378F38B4A}"/>
              </a:ext>
            </a:extLst>
          </p:cNvPr>
          <p:cNvSpPr txBox="1"/>
          <p:nvPr/>
        </p:nvSpPr>
        <p:spPr>
          <a:xfrm>
            <a:off x="762000" y="4114800"/>
            <a:ext cx="4902200" cy="2159000"/>
          </a:xfrm>
          <a:prstGeom prst="rect">
            <a:avLst/>
          </a:prstGeom>
          <a:noFill/>
        </p:spPr>
        <p:txBody>
          <a:bodyPr vertOverflow="overflow" vert="horz" wrap="square" rtlCol="0" anchor="t" anchorCtr="0">
            <a:noAutofit/>
          </a:bodyPr>
          <a:lstStyle/>
          <a:p>
            <a:pPr marL="200000" indent="-200000">
              <a:spcBef>
                <a:spcPts val="600"/>
              </a:spcBef>
              <a:buClr>
                <a:srgbClr val="0E96AC"/>
              </a:buClr>
              <a:buFont typeface="Arial"/>
              <a:buChar char="•"/>
            </a:pPr>
            <a:r>
              <a:rPr lang="en-US" sz="1400" dirty="0">
                <a:solidFill>
                  <a:srgbClr val="16223A"/>
                </a:solidFill>
                <a:latin typeface="Calibri" pitchFamily="34" charset="0"/>
              </a:rPr>
              <a:t>ST3215 stall torque 2.94 N·m at 12 V</a:t>
            </a:r>
          </a:p>
          <a:p>
            <a:pPr marL="200000" indent="-200000">
              <a:spcBef>
                <a:spcPts val="600"/>
              </a:spcBef>
              <a:buClr>
                <a:srgbClr val="0E96AC"/>
              </a:buClr>
              <a:buFont typeface="Arial"/>
              <a:buChar char="•"/>
            </a:pPr>
            <a:r>
              <a:rPr lang="en-US" sz="1400" dirty="0">
                <a:solidFill>
                  <a:srgbClr val="16223A"/>
                </a:solidFill>
                <a:latin typeface="Calibri" pitchFamily="34" charset="0"/>
              </a:rPr>
              <a:t>XL330 was 0.52 N·m — 5.7× less</a:t>
            </a:r>
          </a:p>
          <a:p>
            <a:pPr marL="200000" indent="-200000">
              <a:spcBef>
                <a:spcPts val="600"/>
              </a:spcBef>
              <a:buClr>
                <a:srgbClr val="0E96AC"/>
              </a:buClr>
              <a:buFont typeface="Arial"/>
              <a:buChar char="•"/>
            </a:pPr>
            <a:r>
              <a:rPr lang="en-US" sz="1400" dirty="0">
                <a:solidFill>
                  <a:srgbClr val="16223A"/>
                </a:solidFill>
                <a:latin typeface="Calibri" pitchFamily="34" charset="0"/>
              </a:rPr>
              <a:t>10 joints, 58 mm pitch, ~580 mm body</a:t>
            </a:r>
          </a:p>
          <a:p>
            <a:pPr marL="200000" indent="-200000">
              <a:spcBef>
                <a:spcPts val="600"/>
              </a:spcBef>
              <a:buClr>
                <a:srgbClr val="0E96AC"/>
              </a:buClr>
              <a:buFont typeface="Arial"/>
              <a:buChar char="•"/>
            </a:pPr>
            <a:r>
              <a:rPr lang="en-US" sz="1400" dirty="0">
                <a:solidFill>
                  <a:srgbClr val="16223A"/>
                </a:solidFill>
                <a:latin typeface="Calibri" pitchFamily="34" charset="0"/>
              </a:rPr>
              <a:t>Head pod adds ≈ 0.02 N·m — under 1% of budget</a:t>
            </a:r>
          </a:p>
          <a:p>
            <a:pPr marL="200000" indent="-200000">
              <a:spcBef>
                <a:spcPts val="600"/>
              </a:spcBef>
              <a:buClr>
                <a:srgbClr val="0E96AC"/>
              </a:buClr>
              <a:buFont typeface="Arial"/>
              <a:buChar char="•"/>
            </a:pPr>
            <a:r>
              <a:rPr lang="en-US" sz="1400" dirty="0">
                <a:solidFill>
                  <a:srgbClr val="16223A"/>
                </a:solidFill>
                <a:latin typeface="Calibri" pitchFamily="34" charset="0"/>
              </a:rPr>
              <a:t>Torque is no longer the binding constraint</a:t>
            </a:r>
          </a:p>
        </p:txBody>
      </p:sp>
      <p:sp>
        <p:nvSpPr>
          <p:cNvPr id="38" name="DecEye">
            <a:extLst>
              <a:ext uri="{FF2B5EF4-FFF2-40B4-BE49-F238E27FC236}">
                <a16:creationId xmlns:a16="http://schemas.microsoft.com/office/drawing/2014/main" id="{760A87DD-1FD4-4129-AFBF-9525367131E6}"/>
              </a:ext>
            </a:extLst>
          </p:cNvPr>
          <p:cNvSpPr txBox="1"/>
          <p:nvPr/>
        </p:nvSpPr>
        <p:spPr>
          <a:xfrm>
            <a:off x="6565900" y="3835400"/>
            <a:ext cx="48260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THE REMAINING UNKNOWN</a:t>
            </a:r>
          </a:p>
        </p:txBody>
      </p:sp>
      <p:sp>
        <p:nvSpPr>
          <p:cNvPr id="39" name="DecTitle">
            <a:extLst>
              <a:ext uri="{FF2B5EF4-FFF2-40B4-BE49-F238E27FC236}">
                <a16:creationId xmlns:a16="http://schemas.microsoft.com/office/drawing/2014/main" id="{C7311885-27E4-43E5-B854-ED56274278BD}"/>
              </a:ext>
            </a:extLst>
          </p:cNvPr>
          <p:cNvSpPr txBox="1"/>
          <p:nvPr/>
        </p:nvSpPr>
        <p:spPr>
          <a:xfrm>
            <a:off x="6565900" y="4102100"/>
            <a:ext cx="4826000" cy="431800"/>
          </a:xfrm>
          <a:prstGeom prst="rect">
            <a:avLst/>
          </a:prstGeom>
          <a:noFill/>
        </p:spPr>
        <p:txBody>
          <a:bodyPr vertOverflow="overflow" vert="horz" wrap="square" rtlCol="0" anchor="t" anchorCtr="0">
            <a:noAutofit/>
          </a:bodyPr>
          <a:lstStyle/>
          <a:p>
            <a:pPr marL="0" indent="0">
              <a:buNone/>
            </a:pPr>
            <a:r>
              <a:rPr lang="en-US" sz="2200" b="1" dirty="0">
                <a:solidFill>
                  <a:srgbClr val="FFFFFF"/>
                </a:solidFill>
                <a:latin typeface="Calibri" pitchFamily="34" charset="0"/>
              </a:rPr>
              <a:t>Anisotropic friction ratio is unmeasured</a:t>
            </a:r>
          </a:p>
        </p:txBody>
      </p:sp>
      <p:sp>
        <p:nvSpPr>
          <p:cNvPr id="40" name="DecReason">
            <a:extLst>
              <a:ext uri="{FF2B5EF4-FFF2-40B4-BE49-F238E27FC236}">
                <a16:creationId xmlns:a16="http://schemas.microsoft.com/office/drawing/2014/main" id="{1D6D8D35-098D-49CE-A5B5-D938206E0D70}"/>
              </a:ext>
            </a:extLst>
          </p:cNvPr>
          <p:cNvSpPr txBox="1"/>
          <p:nvPr/>
        </p:nvSpPr>
        <p:spPr>
          <a:xfrm>
            <a:off x="6565900" y="4597400"/>
            <a:ext cx="4826000" cy="1676400"/>
          </a:xfrm>
          <a:prstGeom prst="rect">
            <a:avLst/>
          </a:prstGeom>
          <a:noFill/>
        </p:spPr>
        <p:txBody>
          <a:bodyPr vertOverflow="overflow" vert="horz" wrap="square" rtlCol="0" anchor="t" anchorCtr="0">
            <a:noAutofit/>
          </a:bodyPr>
          <a:lstStyle/>
          <a:p>
            <a:pPr marL="0" indent="0">
              <a:lnSpc>
                <a:spcPct val="112000"/>
              </a:lnSpc>
              <a:buNone/>
            </a:pPr>
            <a:r>
              <a:rPr lang="en-US" sz="1400" dirty="0">
                <a:solidFill>
                  <a:srgbClr val="D6DEE8"/>
                </a:solidFill>
                <a:latin typeface="Calibri" pitchFamily="34" charset="0"/>
              </a:rPr>
              <a:t>Every locomotion claim in this deck assumes the belly grips across the body and slides along it. That ratio has never been measured on a printed part. Printing one v6 segment and measuring fore/aft versus lateral friction is the single highest-value next experiment.</a:t>
            </a:r>
          </a:p>
        </p:txBody>
      </p:sp>
    </p:spTree>
    <p:extLst>
      <p:ext uri="{BB962C8B-B14F-4D97-AF65-F5344CB8AC3E}">
        <p14:creationId xmlns:p14="http://schemas.microsoft.com/office/powerpoint/2010/main" val="5049174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400" name="PwrBlock"/>
          <p:cNvSpPr/>
          <p:nvPr/>
        </p:nvSpPr>
        <p:spPr>
          <a:xfrm>
            <a:off x="635000" y="1143000"/>
            <a:ext cx="3683000" cy="609600"/>
          </a:xfrm>
          <a:prstGeom prst="rect">
            <a:avLst/>
          </a:prstGeom>
          <a:solidFill>
            <a:srgbClr val="E8F5EE"/>
          </a:solidFill>
          <a:ln w="19050">
            <a:solidFill>
              <a:srgbClr val="2E8A5A"/>
            </a:solidFill>
          </a:ln>
        </p:spPr>
        <p:txBody>
          <a:bodyPr/>
          <a:lstStyle/>
          <a:p>
            <a:endParaRPr/>
          </a:p>
        </p:txBody>
      </p:sp>
      <p:sp>
        <p:nvSpPr>
          <p:cNvPr id="401" name="PwrLabel"/>
          <p:cNvSpPr/>
          <p:nvPr/>
        </p:nvSpPr>
        <p:spPr>
          <a:xfrm>
            <a:off x="635000" y="1143000"/>
            <a:ext cx="3683000" cy="609600"/>
          </a:xfrm>
          <a:prstGeom prst="rect">
            <a:avLst/>
          </a:prstGeom>
          <a:noFill/>
          <a:ln>
            <a:noFill/>
          </a:ln>
        </p:spPr>
        <p:txBody>
          <a:bodyPr wrap="square" rtlCol="0" anchor="ctr"/>
          <a:lstStyle/>
          <a:p>
            <a:pPr marL="0" indent="0" algn="ctr">
              <a:buNone/>
            </a:pPr>
            <a:r>
              <a:rPr lang="en-US" sz="1100" b="1" dirty="0">
                <a:solidFill>
                  <a:srgbClr val="1A7A4A"/>
                </a:solidFill>
                <a:latin typeface="Calibri" pitchFamily="34" charset="0"/>
              </a:rPr>
              <a:t>3S LiPo 1800 mAh   —   20.0 Wh</a:t>
            </a:r>
          </a:p>
        </p:txBody>
      </p:sp>
      <p:sp>
        <p:nvSpPr>
          <p:cNvPr id="402" name="Arr1"/>
          <p:cNvSpPr/>
          <p:nvPr/>
        </p:nvSpPr>
        <p:spPr>
          <a:xfrm>
            <a:off x="2463800" y="1752600"/>
            <a:ext cx="25400" cy="203200"/>
          </a:xfrm>
          <a:prstGeom prst="rect">
            <a:avLst/>
          </a:prstGeom>
          <a:solidFill>
            <a:srgbClr val="4A6080"/>
          </a:solidFill>
          <a:ln>
            <a:noFill/>
          </a:ln>
        </p:spPr>
        <p:txBody>
          <a:bodyPr/>
          <a:lstStyle/>
          <a:p>
            <a:endParaRPr/>
          </a:p>
        </p:txBody>
      </p:sp>
      <p:sp>
        <p:nvSpPr>
          <p:cNvPr id="403" name="ArrH1"/>
          <p:cNvSpPr/>
          <p:nvPr/>
        </p:nvSpPr>
        <p:spPr>
          <a:xfrm flipV="1">
            <a:off x="2413000" y="1879600"/>
            <a:ext cx="127000" cy="101600"/>
          </a:xfrm>
          <a:prstGeom prst="triangle">
            <a:avLst/>
          </a:prstGeom>
          <a:solidFill>
            <a:srgbClr val="4A6080"/>
          </a:solidFill>
          <a:ln>
            <a:noFill/>
          </a:ln>
        </p:spPr>
        <p:txBody>
          <a:bodyPr/>
          <a:lstStyle/>
          <a:p>
            <a:endParaRPr/>
          </a:p>
        </p:txBody>
      </p:sp>
      <p:sp>
        <p:nvSpPr>
          <p:cNvPr id="404" name="RPiBlock"/>
          <p:cNvSpPr/>
          <p:nvPr/>
        </p:nvSpPr>
        <p:spPr>
          <a:xfrm>
            <a:off x="635000" y="1981200"/>
            <a:ext cx="3683000" cy="609600"/>
          </a:xfrm>
          <a:prstGeom prst="rect">
            <a:avLst/>
          </a:prstGeom>
          <a:solidFill>
            <a:srgbClr val="E8F5EE"/>
          </a:solidFill>
          <a:ln w="25400">
            <a:solidFill>
              <a:srgbClr val="2E8A5A"/>
            </a:solidFill>
          </a:ln>
        </p:spPr>
        <p:txBody>
          <a:bodyPr/>
          <a:lstStyle/>
          <a:p>
            <a:endParaRPr/>
          </a:p>
        </p:txBody>
      </p:sp>
      <p:sp>
        <p:nvSpPr>
          <p:cNvPr id="405" name="RPiLabel"/>
          <p:cNvSpPr/>
          <p:nvPr/>
        </p:nvSpPr>
        <p:spPr>
          <a:xfrm>
            <a:off x="635000" y="1981200"/>
            <a:ext cx="3683000" cy="609600"/>
          </a:xfrm>
          <a:prstGeom prst="rect">
            <a:avLst/>
          </a:prstGeom>
          <a:noFill/>
          <a:ln>
            <a:noFill/>
          </a:ln>
        </p:spPr>
        <p:txBody>
          <a:bodyPr wrap="square" rtlCol="0" anchor="ctr"/>
          <a:lstStyle/>
          <a:p>
            <a:pPr marL="0" indent="0" algn="ctr">
              <a:buNone/>
            </a:pPr>
            <a:r>
              <a:rPr lang="en-US" sz="1050" b="1" dirty="0">
                <a:solidFill>
                  <a:srgbClr val="1A7A4A"/>
                </a:solidFill>
                <a:latin typeface="Calibri" pitchFamily="34" charset="0"/>
              </a:rPr>
              <a:t>Inline fuse  +  XT60 loop key   [NOT YET HELD]</a:t>
            </a:r>
          </a:p>
        </p:txBody>
      </p:sp>
      <p:sp>
        <p:nvSpPr>
          <p:cNvPr id="406" name="Arr2"/>
          <p:cNvSpPr/>
          <p:nvPr/>
        </p:nvSpPr>
        <p:spPr>
          <a:xfrm>
            <a:off x="2463800" y="2590800"/>
            <a:ext cx="25400" cy="203200"/>
          </a:xfrm>
          <a:prstGeom prst="rect">
            <a:avLst/>
          </a:prstGeom>
          <a:solidFill>
            <a:srgbClr val="4A6080"/>
          </a:solidFill>
          <a:ln>
            <a:noFill/>
          </a:ln>
        </p:spPr>
        <p:txBody>
          <a:bodyPr/>
          <a:lstStyle/>
          <a:p>
            <a:endParaRPr/>
          </a:p>
        </p:txBody>
      </p:sp>
      <p:sp>
        <p:nvSpPr>
          <p:cNvPr id="407" name="ArrH2"/>
          <p:cNvSpPr/>
          <p:nvPr/>
        </p:nvSpPr>
        <p:spPr>
          <a:xfrm flipV="1">
            <a:off x="2413000" y="2717800"/>
            <a:ext cx="127000" cy="101600"/>
          </a:xfrm>
          <a:prstGeom prst="triangle">
            <a:avLst/>
          </a:prstGeom>
          <a:solidFill>
            <a:srgbClr val="4A6080"/>
          </a:solidFill>
          <a:ln>
            <a:noFill/>
          </a:ln>
        </p:spPr>
        <p:txBody>
          <a:bodyPr/>
          <a:lstStyle/>
          <a:p>
            <a:endParaRPr/>
          </a:p>
        </p:txBody>
      </p:sp>
      <p:sp>
        <p:nvSpPr>
          <p:cNvPr id="408" name="CommBlock"/>
          <p:cNvSpPr/>
          <p:nvPr/>
        </p:nvSpPr>
        <p:spPr>
          <a:xfrm>
            <a:off x="635000" y="2819400"/>
            <a:ext cx="3683000" cy="609600"/>
          </a:xfrm>
          <a:prstGeom prst="rect">
            <a:avLst/>
          </a:prstGeom>
          <a:solidFill>
            <a:srgbClr val="E8F0FA"/>
          </a:solidFill>
          <a:ln w="19050">
            <a:solidFill>
              <a:srgbClr val="2563A8"/>
            </a:solidFill>
          </a:ln>
        </p:spPr>
        <p:txBody>
          <a:bodyPr/>
          <a:lstStyle/>
          <a:p>
            <a:endParaRPr/>
          </a:p>
        </p:txBody>
      </p:sp>
      <p:sp>
        <p:nvSpPr>
          <p:cNvPr id="409" name="CommLabel"/>
          <p:cNvSpPr/>
          <p:nvPr/>
        </p:nvSpPr>
        <p:spPr>
          <a:xfrm>
            <a:off x="635000" y="28194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1000 µF bulk capacitor   [NOT YET HELD]</a:t>
            </a:r>
          </a:p>
        </p:txBody>
      </p:sp>
      <p:sp>
        <p:nvSpPr>
          <p:cNvPr id="410" name="Arr3"/>
          <p:cNvSpPr/>
          <p:nvPr/>
        </p:nvSpPr>
        <p:spPr>
          <a:xfrm>
            <a:off x="2463800" y="3429000"/>
            <a:ext cx="25400" cy="203200"/>
          </a:xfrm>
          <a:prstGeom prst="rect">
            <a:avLst/>
          </a:prstGeom>
          <a:solidFill>
            <a:srgbClr val="4A6080"/>
          </a:solidFill>
          <a:ln>
            <a:noFill/>
          </a:ln>
        </p:spPr>
        <p:txBody>
          <a:bodyPr/>
          <a:lstStyle/>
          <a:p>
            <a:endParaRPr/>
          </a:p>
        </p:txBody>
      </p:sp>
      <p:sp>
        <p:nvSpPr>
          <p:cNvPr id="411" name="ArrH3"/>
          <p:cNvSpPr/>
          <p:nvPr/>
        </p:nvSpPr>
        <p:spPr>
          <a:xfrm flipV="1">
            <a:off x="2413000" y="3556000"/>
            <a:ext cx="127000" cy="101600"/>
          </a:xfrm>
          <a:prstGeom prst="triangle">
            <a:avLst/>
          </a:prstGeom>
          <a:solidFill>
            <a:srgbClr val="4A6080"/>
          </a:solidFill>
          <a:ln>
            <a:noFill/>
          </a:ln>
        </p:spPr>
        <p:txBody>
          <a:bodyPr/>
          <a:lstStyle/>
          <a:p>
            <a:endParaRPr/>
          </a:p>
        </p:txBody>
      </p:sp>
      <p:sp>
        <p:nvSpPr>
          <p:cNvPr id="412" name="DynBlock"/>
          <p:cNvSpPr/>
          <p:nvPr/>
        </p:nvSpPr>
        <p:spPr>
          <a:xfrm>
            <a:off x="635000" y="3657600"/>
            <a:ext cx="3683000" cy="609600"/>
          </a:xfrm>
          <a:prstGeom prst="rect">
            <a:avLst/>
          </a:prstGeom>
          <a:solidFill>
            <a:srgbClr val="E8F0FA"/>
          </a:solidFill>
          <a:ln w="19050">
            <a:solidFill>
              <a:srgbClr val="2563A8"/>
            </a:solidFill>
          </a:ln>
        </p:spPr>
        <p:txBody>
          <a:bodyPr/>
          <a:lstStyle/>
          <a:p>
            <a:endParaRPr/>
          </a:p>
        </p:txBody>
      </p:sp>
      <p:sp>
        <p:nvSpPr>
          <p:cNvPr id="413" name="DynLabel"/>
          <p:cNvSpPr/>
          <p:nvPr/>
        </p:nvSpPr>
        <p:spPr>
          <a:xfrm>
            <a:off x="635000" y="3657600"/>
            <a:ext cx="3683000" cy="609600"/>
          </a:xfrm>
          <a:prstGeom prst="rect">
            <a:avLst/>
          </a:prstGeom>
          <a:noFill/>
          <a:ln>
            <a:noFill/>
          </a:ln>
        </p:spPr>
        <p:txBody>
          <a:bodyPr wrap="square" rtlCol="0" anchor="ctr"/>
          <a:lstStyle/>
          <a:p>
            <a:pPr marL="0" indent="0" algn="ctr">
              <a:buNone/>
            </a:pPr>
            <a:r>
              <a:rPr lang="en-US" sz="1050" b="1" dirty="0">
                <a:solidFill>
                  <a:srgbClr val="1A5C8A"/>
                </a:solidFill>
                <a:latin typeface="Calibri" pitchFamily="34" charset="0"/>
              </a:rPr>
              <a:t>Waveshare Driver VIN   (6 – 12 V)</a:t>
            </a:r>
          </a:p>
        </p:txBody>
      </p:sp>
      <p:sp>
        <p:nvSpPr>
          <p:cNvPr id="414" name="Arr4"/>
          <p:cNvSpPr/>
          <p:nvPr/>
        </p:nvSpPr>
        <p:spPr>
          <a:xfrm>
            <a:off x="2463800" y="4267200"/>
            <a:ext cx="25400" cy="203200"/>
          </a:xfrm>
          <a:prstGeom prst="rect">
            <a:avLst/>
          </a:prstGeom>
          <a:solidFill>
            <a:srgbClr val="4A6080"/>
          </a:solidFill>
          <a:ln>
            <a:noFill/>
          </a:ln>
        </p:spPr>
        <p:txBody>
          <a:bodyPr/>
          <a:lstStyle/>
          <a:p>
            <a:endParaRPr/>
          </a:p>
        </p:txBody>
      </p:sp>
      <p:sp>
        <p:nvSpPr>
          <p:cNvPr id="415" name="ArrH4"/>
          <p:cNvSpPr/>
          <p:nvPr/>
        </p:nvSpPr>
        <p:spPr>
          <a:xfrm flipV="1">
            <a:off x="2413000" y="4394200"/>
            <a:ext cx="127000" cy="101600"/>
          </a:xfrm>
          <a:prstGeom prst="triangle">
            <a:avLst/>
          </a:prstGeom>
          <a:solidFill>
            <a:srgbClr val="4A6080"/>
          </a:solidFill>
          <a:ln>
            <a:noFill/>
          </a:ln>
        </p:spPr>
        <p:txBody>
          <a:bodyPr/>
          <a:lstStyle/>
          <a:p>
            <a:endParaRPr/>
          </a:p>
        </p:txBody>
      </p:sp>
      <p:sp>
        <p:nvSpPr>
          <p:cNvPr id="416" name="RobBlock"/>
          <p:cNvSpPr/>
          <p:nvPr/>
        </p:nvSpPr>
        <p:spPr>
          <a:xfrm>
            <a:off x="635000" y="4495800"/>
            <a:ext cx="3683000" cy="609600"/>
          </a:xfrm>
          <a:prstGeom prst="rect">
            <a:avLst/>
          </a:prstGeom>
          <a:solidFill>
            <a:srgbClr val="E8F0FA"/>
          </a:solidFill>
          <a:ln w="19050">
            <a:solidFill>
              <a:srgbClr val="2563A8"/>
            </a:solidFill>
          </a:ln>
        </p:spPr>
        <p:txBody>
          <a:bodyPr/>
          <a:lstStyle/>
          <a:p>
            <a:endParaRPr/>
          </a:p>
        </p:txBody>
      </p:sp>
      <p:sp>
        <p:nvSpPr>
          <p:cNvPr id="417" name="RobLabel"/>
          <p:cNvSpPr/>
          <p:nvPr/>
        </p:nvSpPr>
        <p:spPr>
          <a:xfrm>
            <a:off x="635000" y="4495800"/>
            <a:ext cx="3683000" cy="609600"/>
          </a:xfrm>
          <a:prstGeom prst="rect">
            <a:avLst/>
          </a:prstGeom>
          <a:noFill/>
          <a:ln>
            <a:noFill/>
          </a:ln>
        </p:spPr>
        <p:txBody>
          <a:bodyPr wrap="square" rtlCol="0" anchor="ctr"/>
          <a:lstStyle/>
          <a:p>
            <a:pPr marL="0" indent="0" algn="ctr">
              <a:buNone/>
            </a:pPr>
            <a:r>
              <a:rPr lang="en-US" sz="1000" b="1" dirty="0">
                <a:solidFill>
                  <a:srgbClr val="1A5C8A"/>
                </a:solidFill>
                <a:latin typeface="Calibri" pitchFamily="34" charset="0"/>
              </a:rPr>
              <a:t>10 × ST3215   —   27 A worst-case stall</a:t>
            </a:r>
          </a:p>
        </p:txBody>
      </p:sp>
      <p:sp>
        <p:nvSpPr>
          <p:cNvPr id="420" name="CABlock"/>
          <p:cNvSpPr/>
          <p:nvPr/>
        </p:nvSpPr>
        <p:spPr>
          <a:xfrm>
            <a:off x="4826000" y="2019300"/>
            <a:ext cx="2159000" cy="533400"/>
          </a:xfrm>
          <a:prstGeom prst="rect">
            <a:avLst/>
          </a:prstGeom>
          <a:solidFill>
            <a:srgbClr val="E8F5EE"/>
          </a:solidFill>
          <a:ln w="19050">
            <a:solidFill>
              <a:srgbClr val="2E8A5A"/>
            </a:solidFill>
          </a:ln>
        </p:spPr>
        <p:txBody>
          <a:bodyPr/>
          <a:lstStyle/>
          <a:p>
            <a:endParaRPr/>
          </a:p>
        </p:txBody>
      </p:sp>
      <p:sp>
        <p:nvSpPr>
          <p:cNvPr id="421" name="CALabel"/>
          <p:cNvSpPr/>
          <p:nvPr/>
        </p:nvSpPr>
        <p:spPr>
          <a:xfrm>
            <a:off x="4826000" y="2019300"/>
            <a:ext cx="2159000" cy="533400"/>
          </a:xfrm>
          <a:prstGeom prst="rect">
            <a:avLst/>
          </a:prstGeom>
          <a:noFill/>
          <a:ln>
            <a:noFill/>
          </a:ln>
        </p:spPr>
        <p:txBody>
          <a:bodyPr wrap="square" rtlCol="0" anchor="ctr"/>
          <a:lstStyle/>
          <a:p>
            <a:pPr marL="0" indent="0" algn="ctr">
              <a:buNone/>
            </a:pPr>
            <a:r>
              <a:rPr lang="en-US" sz="1000" b="1" dirty="0">
                <a:solidFill>
                  <a:srgbClr val="1A7A4A"/>
                </a:solidFill>
                <a:latin typeface="Calibri" pitchFamily="34" charset="0"/>
              </a:rPr>
              <a:t>≈ 22 min at 4 A</a:t>
            </a:r>
          </a:p>
        </p:txBody>
      </p:sp>
      <p:sp>
        <p:nvSpPr>
          <p:cNvPr id="422" name="HConn1"/>
          <p:cNvSpPr/>
          <p:nvPr/>
        </p:nvSpPr>
        <p:spPr>
          <a:xfrm>
            <a:off x="4318000" y="2273300"/>
            <a:ext cx="508000" cy="25400"/>
          </a:xfrm>
          <a:prstGeom prst="rect">
            <a:avLst/>
          </a:prstGeom>
          <a:solidFill>
            <a:srgbClr val="4A6080"/>
          </a:solidFill>
          <a:ln>
            <a:noFill/>
          </a:ln>
        </p:spPr>
        <p:txBody>
          <a:bodyPr/>
          <a:lstStyle/>
          <a:p>
            <a:endParaRPr/>
          </a:p>
        </p:txBody>
      </p:sp>
      <p:sp>
        <p:nvSpPr>
          <p:cNvPr id="451" name="SensorBox"/>
          <p:cNvSpPr/>
          <p:nvPr/>
        </p:nvSpPr>
        <p:spPr>
          <a:xfrm>
            <a:off x="7620000" y="1308100"/>
            <a:ext cx="2362200" cy="533400"/>
          </a:xfrm>
          <a:prstGeom prst="rect">
            <a:avLst/>
          </a:prstGeom>
          <a:solidFill>
            <a:srgbClr val="EAEEF4"/>
          </a:solidFill>
          <a:ln w="19050">
            <a:solidFill>
              <a:srgbClr val="8A96A8"/>
            </a:solidFill>
            <a:prstDash val="dash"/>
          </a:ln>
        </p:spPr>
        <p:txBody>
          <a:bodyPr/>
          <a:lstStyle/>
          <a:p>
            <a:endParaRPr/>
          </a:p>
        </p:txBody>
      </p:sp>
      <p:sp>
        <p:nvSpPr>
          <p:cNvPr id="452" name="SensorLabel"/>
          <p:cNvSpPr/>
          <p:nvPr/>
        </p:nvSpPr>
        <p:spPr>
          <a:xfrm>
            <a:off x="7620000" y="13081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Mean Well LRS-100-5  (5 V, 20 A)</a:t>
            </a:r>
          </a:p>
        </p:txBody>
      </p:sp>
      <p:sp>
        <p:nvSpPr>
          <p:cNvPr id="453" name="CamBox"/>
          <p:cNvSpPr/>
          <p:nvPr/>
        </p:nvSpPr>
        <p:spPr>
          <a:xfrm>
            <a:off x="7620000" y="1968500"/>
            <a:ext cx="2362200" cy="533400"/>
          </a:xfrm>
          <a:prstGeom prst="rect">
            <a:avLst/>
          </a:prstGeom>
          <a:solidFill>
            <a:srgbClr val="EAEEF4"/>
          </a:solidFill>
          <a:ln w="19050">
            <a:solidFill>
              <a:srgbClr val="8A96A8"/>
            </a:solidFill>
            <a:prstDash val="dash"/>
          </a:ln>
        </p:spPr>
        <p:txBody>
          <a:bodyPr/>
          <a:lstStyle/>
          <a:p>
            <a:endParaRPr/>
          </a:p>
        </p:txBody>
      </p:sp>
      <p:sp>
        <p:nvSpPr>
          <p:cNvPr id="454" name="CamLabel"/>
          <p:cNvSpPr/>
          <p:nvPr/>
        </p:nvSpPr>
        <p:spPr>
          <a:xfrm>
            <a:off x="7620000" y="19685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12 V 2 A supply  —  ID assignment</a:t>
            </a:r>
          </a:p>
        </p:txBody>
      </p:sp>
      <p:sp>
        <p:nvSpPr>
          <p:cNvPr id="455" name="WirelessBox"/>
          <p:cNvSpPr/>
          <p:nvPr/>
        </p:nvSpPr>
        <p:spPr>
          <a:xfrm>
            <a:off x="7620000" y="2628900"/>
            <a:ext cx="2362200" cy="533400"/>
          </a:xfrm>
          <a:prstGeom prst="rect">
            <a:avLst/>
          </a:prstGeom>
          <a:solidFill>
            <a:srgbClr val="EAEEF4"/>
          </a:solidFill>
          <a:ln w="19050">
            <a:solidFill>
              <a:srgbClr val="8A96A8"/>
            </a:solidFill>
            <a:prstDash val="dash"/>
          </a:ln>
        </p:spPr>
        <p:txBody>
          <a:bodyPr/>
          <a:lstStyle/>
          <a:p>
            <a:endParaRPr/>
          </a:p>
        </p:txBody>
      </p:sp>
      <p:sp>
        <p:nvSpPr>
          <p:cNvPr id="456" name="WirelessLabel"/>
          <p:cNvSpPr/>
          <p:nvPr/>
        </p:nvSpPr>
        <p:spPr>
          <a:xfrm>
            <a:off x="7620000" y="2628900"/>
            <a:ext cx="2362200" cy="533400"/>
          </a:xfrm>
          <a:prstGeom prst="rect">
            <a:avLst/>
          </a:prstGeom>
          <a:noFill/>
          <a:ln>
            <a:noFill/>
          </a:ln>
        </p:spPr>
        <p:txBody>
          <a:bodyPr wrap="square" rtlCol="0" anchor="ctr"/>
          <a:lstStyle/>
          <a:p>
            <a:pPr marL="0" indent="0" algn="ctr">
              <a:buNone/>
            </a:pPr>
            <a:r>
              <a:rPr lang="en-US" sz="1050" b="0" dirty="0">
                <a:solidFill>
                  <a:srgbClr val="2C3E52"/>
                </a:solidFill>
                <a:latin typeface="Calibri" pitchFamily="34" charset="0"/>
              </a:rPr>
              <a:t>XL6009 boost  —  one servo only</a:t>
            </a:r>
          </a:p>
        </p:txBody>
      </p:sp>
      <p:sp>
        <p:nvSpPr>
          <p:cNvPr id="460" name="FutConn1"/>
          <p:cNvSpPr/>
          <p:nvPr/>
        </p:nvSpPr>
        <p:spPr>
          <a:xfrm>
            <a:off x="4318000" y="3111500"/>
            <a:ext cx="3302000" cy="25400"/>
          </a:xfrm>
          <a:prstGeom prst="rect">
            <a:avLst/>
          </a:prstGeom>
          <a:solidFill>
            <a:srgbClr val="9AACBE"/>
          </a:solidFill>
          <a:ln>
            <a:noFill/>
          </a:ln>
        </p:spPr>
        <p:txBody>
          <a:bodyPr/>
          <a:lstStyle/>
          <a:p>
            <a:endParaRPr/>
          </a:p>
        </p:txBody>
      </p:sp>
      <p:sp>
        <p:nvSpPr>
          <p:cNvPr id="470" name="LegHeader"/>
          <p:cNvSpPr/>
          <p:nvPr/>
        </p:nvSpPr>
        <p:spPr>
          <a:xfrm>
            <a:off x="7620000" y="4546600"/>
            <a:ext cx="2286000" cy="203200"/>
          </a:xfrm>
          <a:prstGeom prst="rect">
            <a:avLst/>
          </a:prstGeom>
          <a:noFill/>
          <a:ln>
            <a:noFill/>
          </a:ln>
        </p:spPr>
        <p:txBody>
          <a:bodyPr wrap="square" rtlCol="0" anchor="ctr"/>
          <a:lstStyle/>
          <a:p>
            <a:pPr marL="0" indent="0" algn="l">
              <a:buNone/>
            </a:pPr>
            <a:r>
              <a:rPr lang="en-US" sz="1000" b="1" dirty="0">
                <a:solidFill>
                  <a:srgbClr val="334860"/>
                </a:solidFill>
                <a:latin typeface="Calibri" pitchFamily="34" charset="0"/>
              </a:rPr>
              <a:t>LEGEND</a:t>
            </a:r>
          </a:p>
        </p:txBody>
      </p:sp>
      <p:sp>
        <p:nvSpPr>
          <p:cNvPr id="471" name="LegGreen"/>
          <p:cNvSpPr/>
          <p:nvPr/>
        </p:nvSpPr>
        <p:spPr>
          <a:xfrm>
            <a:off x="7620000" y="4775200"/>
            <a:ext cx="177800" cy="177800"/>
          </a:xfrm>
          <a:prstGeom prst="rect">
            <a:avLst/>
          </a:prstGeom>
          <a:solidFill>
            <a:srgbClr val="E8F5EE"/>
          </a:solidFill>
          <a:ln w="12700">
            <a:solidFill>
              <a:srgbClr val="2E8A5A"/>
            </a:solidFill>
          </a:ln>
        </p:spPr>
        <p:txBody>
          <a:bodyPr/>
          <a:lstStyle/>
          <a:p>
            <a:endParaRPr/>
          </a:p>
        </p:txBody>
      </p:sp>
      <p:sp>
        <p:nvSpPr>
          <p:cNvPr id="472" name="LegGreenTxt"/>
          <p:cNvSpPr/>
          <p:nvPr/>
        </p:nvSpPr>
        <p:spPr>
          <a:xfrm>
            <a:off x="7848600" y="47498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Implemented</a:t>
            </a:r>
          </a:p>
        </p:txBody>
      </p:sp>
      <p:sp>
        <p:nvSpPr>
          <p:cNvPr id="473" name="LegBlue"/>
          <p:cNvSpPr/>
          <p:nvPr/>
        </p:nvSpPr>
        <p:spPr>
          <a:xfrm>
            <a:off x="7620000" y="5003800"/>
            <a:ext cx="177800" cy="177800"/>
          </a:xfrm>
          <a:prstGeom prst="rect">
            <a:avLst/>
          </a:prstGeom>
          <a:solidFill>
            <a:srgbClr val="E8F0FA"/>
          </a:solidFill>
          <a:ln w="12700">
            <a:solidFill>
              <a:srgbClr val="2563A8"/>
            </a:solidFill>
          </a:ln>
        </p:spPr>
        <p:txBody>
          <a:bodyPr/>
          <a:lstStyle/>
          <a:p>
            <a:endParaRPr/>
          </a:p>
        </p:txBody>
      </p:sp>
      <p:sp>
        <p:nvSpPr>
          <p:cNvPr id="474" name="LegBlueTxt"/>
          <p:cNvSpPr/>
          <p:nvPr/>
        </p:nvSpPr>
        <p:spPr>
          <a:xfrm>
            <a:off x="7848600" y="4978400"/>
            <a:ext cx="2032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In Progress</a:t>
            </a:r>
          </a:p>
        </p:txBody>
      </p:sp>
      <p:sp>
        <p:nvSpPr>
          <p:cNvPr id="475" name="LegGrey"/>
          <p:cNvSpPr/>
          <p:nvPr/>
        </p:nvSpPr>
        <p:spPr>
          <a:xfrm>
            <a:off x="7620000" y="5232400"/>
            <a:ext cx="177800" cy="177800"/>
          </a:xfrm>
          <a:prstGeom prst="rect">
            <a:avLst/>
          </a:prstGeom>
          <a:noFill/>
          <a:ln w="19050">
            <a:solidFill>
              <a:srgbClr val="8A96A8"/>
            </a:solidFill>
            <a:prstDash val="dash"/>
          </a:ln>
        </p:spPr>
        <p:txBody>
          <a:bodyPr/>
          <a:lstStyle/>
          <a:p>
            <a:endParaRPr/>
          </a:p>
        </p:txBody>
      </p:sp>
      <p:sp>
        <p:nvSpPr>
          <p:cNvPr id="476" name="LegGreyTxt"/>
          <p:cNvSpPr/>
          <p:nvPr/>
        </p:nvSpPr>
        <p:spPr>
          <a:xfrm>
            <a:off x="7848600" y="5207000"/>
            <a:ext cx="2159000" cy="203200"/>
          </a:xfrm>
          <a:prstGeom prst="rect">
            <a:avLst/>
          </a:prstGeom>
          <a:noFill/>
          <a:ln>
            <a:noFill/>
          </a:ln>
        </p:spPr>
        <p:txBody>
          <a:bodyPr wrap="square" rtlCol="0" anchor="ctr"/>
          <a:lstStyle/>
          <a:p>
            <a:pPr marL="0" indent="0" algn="l">
              <a:buNone/>
            </a:pPr>
            <a:r>
              <a:rPr lang="en-US" sz="1000" dirty="0">
                <a:solidFill>
                  <a:srgbClr val="334860"/>
                </a:solidFill>
                <a:latin typeface="Calibri" pitchFamily="34" charset="0"/>
              </a:rPr>
              <a:t>Planned Future Work</a:t>
            </a:r>
          </a:p>
        </p:txBody>
      </p:sp>
      <p:sp>
        <p:nvSpPr>
          <p:cNvPr id="480" name="SepLine"/>
          <p:cNvSpPr/>
          <p:nvPr/>
        </p:nvSpPr>
        <p:spPr>
          <a:xfrm>
            <a:off x="558800" y="5511800"/>
            <a:ext cx="11049000" cy="12700"/>
          </a:xfrm>
          <a:prstGeom prst="rect">
            <a:avLst/>
          </a:prstGeom>
          <a:solidFill>
            <a:srgbClr val="DDE5EF"/>
          </a:solidFill>
          <a:ln>
            <a:noFill/>
          </a:ln>
        </p:spPr>
        <p:txBody>
          <a:bodyPr/>
          <a:lstStyle/>
          <a:p>
            <a:endParaRPr/>
          </a:p>
        </p:txBody>
      </p:sp>
      <p:sp>
        <p:nvSpPr>
          <p:cNvPr id="481" name="StatHead"/>
          <p:cNvSpPr/>
          <p:nvPr/>
        </p:nvSpPr>
        <p:spPr>
          <a:xfrm>
            <a:off x="558800" y="5588000"/>
            <a:ext cx="4318000" cy="203200"/>
          </a:xfrm>
          <a:prstGeom prst="rect">
            <a:avLst/>
          </a:prstGeom>
          <a:noFill/>
          <a:ln>
            <a:noFill/>
          </a:ln>
        </p:spPr>
        <p:txBody>
          <a:bodyPr wrap="square" rtlCol="0" anchor="ctr"/>
          <a:lstStyle/>
          <a:p>
            <a:pPr marL="0" indent="0" algn="l">
              <a:buNone/>
            </a:pPr>
            <a:r>
              <a:rPr lang="en-US" sz="1150" b="1" dirty="0">
                <a:solidFill>
                  <a:srgbClr val="16223A"/>
                </a:solidFill>
                <a:latin typeface="Calibri" pitchFamily="34" charset="0"/>
              </a:rPr>
              <a:t>Power Status &amp; Open Risks</a:t>
            </a:r>
          </a:p>
        </p:txBody>
      </p:sp>
      <p:sp>
        <p:nvSpPr>
          <p:cNvPr id="490" name="Dot0"/>
          <p:cNvSpPr/>
          <p:nvPr/>
        </p:nvSpPr>
        <p:spPr>
          <a:xfrm>
            <a:off x="558800" y="5892800"/>
            <a:ext cx="101600" cy="101600"/>
          </a:xfrm>
          <a:prstGeom prst="rect">
            <a:avLst/>
          </a:prstGeom>
          <a:solidFill>
            <a:srgbClr val="1A7A4A"/>
          </a:solidFill>
          <a:ln>
            <a:noFill/>
          </a:ln>
        </p:spPr>
        <p:txBody>
          <a:bodyPr/>
          <a:lstStyle/>
          <a:p>
            <a:endParaRPr/>
          </a:p>
        </p:txBody>
      </p:sp>
      <p:sp>
        <p:nvSpPr>
          <p:cNvPr id="491" name="StatItem0"/>
          <p:cNvSpPr/>
          <p:nvPr/>
        </p:nvSpPr>
        <p:spPr>
          <a:xfrm>
            <a:off x="698500" y="5842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LiPo sits inside the servo range — no conversion needed</a:t>
            </a:r>
          </a:p>
        </p:txBody>
      </p:sp>
      <p:sp>
        <p:nvSpPr>
          <p:cNvPr id="494" name="Dot1"/>
          <p:cNvSpPr/>
          <p:nvPr/>
        </p:nvSpPr>
        <p:spPr>
          <a:xfrm>
            <a:off x="558800" y="6146800"/>
            <a:ext cx="101600" cy="101600"/>
          </a:xfrm>
          <a:prstGeom prst="rect">
            <a:avLst/>
          </a:prstGeom>
          <a:solidFill>
            <a:srgbClr val="1A7A4A"/>
          </a:solidFill>
          <a:ln>
            <a:noFill/>
          </a:ln>
        </p:spPr>
        <p:txBody>
          <a:bodyPr/>
          <a:lstStyle/>
          <a:p>
            <a:endParaRPr/>
          </a:p>
        </p:txBody>
      </p:sp>
      <p:sp>
        <p:nvSpPr>
          <p:cNvPr id="495" name="StatItem1"/>
          <p:cNvSpPr/>
          <p:nvPr/>
        </p:nvSpPr>
        <p:spPr>
          <a:xfrm>
            <a:off x="698500" y="6096000"/>
            <a:ext cx="5080000" cy="203200"/>
          </a:xfrm>
          <a:prstGeom prst="rect">
            <a:avLst/>
          </a:prstGeom>
          <a:noFill/>
          <a:ln>
            <a:noFill/>
          </a:ln>
        </p:spPr>
        <p:txBody>
          <a:bodyPr wrap="square" rtlCol="0" anchor="ctr"/>
          <a:lstStyle/>
          <a:p>
            <a:pPr marL="0" indent="0" algn="l">
              <a:buNone/>
            </a:pPr>
            <a:r>
              <a:rPr lang="en-US" sz="1100" dirty="0">
                <a:solidFill>
                  <a:srgbClr val="1A7A4A"/>
                </a:solidFill>
                <a:latin typeface="Calibri" pitchFamily="34" charset="0"/>
              </a:rPr>
              <a:t>Driver is rated 6–12 V; a full 3S pack is 12.6 V</a:t>
            </a:r>
          </a:p>
        </p:txBody>
      </p:sp>
      <p:sp>
        <p:nvSpPr>
          <p:cNvPr id="498" name="Dot2_0"/>
          <p:cNvSpPr/>
          <p:nvPr/>
        </p:nvSpPr>
        <p:spPr>
          <a:xfrm>
            <a:off x="6223000" y="5892800"/>
            <a:ext cx="101600" cy="101600"/>
          </a:xfrm>
          <a:prstGeom prst="rect">
            <a:avLst/>
          </a:prstGeom>
          <a:solidFill>
            <a:srgbClr val="1A5C8A"/>
          </a:solidFill>
          <a:ln>
            <a:noFill/>
          </a:ln>
        </p:spPr>
        <p:txBody>
          <a:bodyPr/>
          <a:lstStyle/>
          <a:p>
            <a:endParaRPr/>
          </a:p>
        </p:txBody>
      </p:sp>
      <p:sp>
        <p:nvSpPr>
          <p:cNvPr id="499" name="StatItem2_0"/>
          <p:cNvSpPr/>
          <p:nvPr/>
        </p:nvSpPr>
        <p:spPr>
          <a:xfrm>
            <a:off x="6375400" y="5842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Fuse, BMS and loop key are not yet in inventory</a:t>
            </a:r>
          </a:p>
        </p:txBody>
      </p:sp>
      <p:sp>
        <p:nvSpPr>
          <p:cNvPr id="502" name="Dot2_1"/>
          <p:cNvSpPr/>
          <p:nvPr/>
        </p:nvSpPr>
        <p:spPr>
          <a:xfrm>
            <a:off x="6223000" y="6146800"/>
            <a:ext cx="101600" cy="101600"/>
          </a:xfrm>
          <a:prstGeom prst="rect">
            <a:avLst/>
          </a:prstGeom>
          <a:solidFill>
            <a:srgbClr val="1A5C8A"/>
          </a:solidFill>
          <a:ln>
            <a:noFill/>
          </a:ln>
        </p:spPr>
        <p:txBody>
          <a:bodyPr/>
          <a:lstStyle/>
          <a:p>
            <a:endParaRPr/>
          </a:p>
        </p:txBody>
      </p:sp>
      <p:sp>
        <p:nvSpPr>
          <p:cNvPr id="503" name="StatItem2_1"/>
          <p:cNvSpPr/>
          <p:nvPr/>
        </p:nvSpPr>
        <p:spPr>
          <a:xfrm>
            <a:off x="6375400" y="6096000"/>
            <a:ext cx="5334000" cy="203200"/>
          </a:xfrm>
          <a:prstGeom prst="rect">
            <a:avLst/>
          </a:prstGeom>
          <a:noFill/>
          <a:ln>
            <a:noFill/>
          </a:ln>
        </p:spPr>
        <p:txBody>
          <a:bodyPr wrap="square" rtlCol="0" anchor="ctr"/>
          <a:lstStyle/>
          <a:p>
            <a:pPr marL="0" indent="0" algn="l">
              <a:buNone/>
            </a:pPr>
            <a:r>
              <a:rPr lang="en-US" sz="1100" dirty="0">
                <a:solidFill>
                  <a:srgbClr val="1A5C8A"/>
                </a:solidFill>
                <a:latin typeface="Calibri" pitchFamily="34" charset="0"/>
              </a:rPr>
              <a:t>LiPo C-rating unverified — sets the real current ceiling</a:t>
            </a:r>
          </a:p>
        </p:txBody>
      </p:sp>
      <p:sp>
        <p:nvSpPr>
          <p:cNvPr id="2" name="Text 0"/>
          <p:cNvSpPr/>
          <p:nvPr/>
        </p:nvSpPr>
        <p:spPr>
          <a:xfrm>
            <a:off x="533400" y="127000"/>
            <a:ext cx="6350000" cy="17780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ELECTRICAL &amp; POWER ARCHITECTURE</a:t>
            </a:r>
            <a:endParaRPr lang="en-US" sz="1200" dirty="0"/>
          </a:p>
        </p:txBody>
      </p:sp>
      <p:sp>
        <p:nvSpPr>
          <p:cNvPr id="3" name="Text 1"/>
          <p:cNvSpPr/>
          <p:nvPr/>
        </p:nvSpPr>
        <p:spPr>
          <a:xfrm>
            <a:off x="533400" y="330200"/>
            <a:ext cx="6858000" cy="457200"/>
          </a:xfrm>
          <a:prstGeom prst="rect">
            <a:avLst/>
          </a:prstGeom>
          <a:noFill/>
          <a:ln/>
        </p:spPr>
        <p:txBody>
          <a:bodyPr wrap="square" lIns="0" tIns="0" rIns="0" bIns="0" rtlCol="0" anchor="ctr"/>
          <a:lstStyle/>
          <a:p>
            <a:pPr marL="0" indent="0">
              <a:buNone/>
            </a:pPr>
            <a:r>
              <a:rPr lang="en-US" sz="2600" b="1" dirty="0">
                <a:solidFill>
                  <a:srgbClr val="16223A"/>
                </a:solidFill>
                <a:latin typeface="Calibri" pitchFamily="34" charset="0"/>
                <a:ea typeface="Calibri" pitchFamily="34" charset="-122"/>
                <a:cs typeface="Calibri" pitchFamily="34" charset="-120"/>
              </a:rPr>
              <a:t>Field and Bench Power Paths</a:t>
            </a:r>
            <a:endParaRPr lang="en-US" sz="2600" dirty="0"/>
          </a:p>
        </p:txBody>
      </p:sp>
      <p:sp>
        <p:nvSpPr>
          <p:cNvPr id="10" name="Text 8"/>
          <p:cNvSpPr/>
          <p:nvPr/>
        </p:nvSpPr>
        <p:spPr>
          <a:xfrm>
            <a:off x="533400" y="812800"/>
            <a:ext cx="8128000" cy="203200"/>
          </a:xfrm>
          <a:prstGeom prst="rect">
            <a:avLst/>
          </a:prstGeom>
          <a:noFill/>
          <a:ln/>
        </p:spPr>
        <p:txBody>
          <a:bodyPr wrap="square" lIns="0" tIns="0" rIns="0" bIns="0" rtlCol="0" anchor="ctr"/>
          <a:lstStyle/>
          <a:p>
            <a:pPr marL="0" indent="0">
              <a:buNone/>
            </a:pPr>
            <a:r>
              <a:rPr lang="en-US" sz="1150" b="1" dirty="0">
                <a:solidFill>
                  <a:srgbClr val="12A678"/>
                </a:solidFill>
                <a:latin typeface="Calibri" pitchFamily="34" charset="0"/>
                <a:ea typeface="Calibri" pitchFamily="34" charset="-122"/>
                <a:cs typeface="Calibri" pitchFamily="34" charset="-120"/>
              </a:rPr>
              <a:t>Robot rail resolved    ·    No DC conversion needed    ·    Protection hardware outstanding</a:t>
            </a:r>
            <a:endParaRPr lang="en-US" sz="1150" dirty="0"/>
          </a:p>
        </p:txBody>
      </p:sp>
      <p:sp>
        <p:nvSpPr>
          <p:cNvPr id="450" name="FutHeader"/>
          <p:cNvSpPr/>
          <p:nvPr/>
        </p:nvSpPr>
        <p:spPr>
          <a:xfrm>
            <a:off x="7620000" y="1117600"/>
            <a:ext cx="2362200" cy="177800"/>
          </a:xfrm>
          <a:prstGeom prst="rect">
            <a:avLst/>
          </a:prstGeom>
          <a:noFill/>
          <a:ln>
            <a:noFill/>
          </a:ln>
        </p:spPr>
        <p:txBody>
          <a:bodyPr wrap="square" rtlCol="0" anchor="ctr"/>
          <a:lstStyle/>
          <a:p>
            <a:pPr marL="0" indent="0" algn="l">
              <a:buNone/>
            </a:pPr>
            <a:r>
              <a:rPr lang="en-US" sz="900" b="1" dirty="0">
                <a:solidFill>
                  <a:srgbClr val="9A6520"/>
                </a:solidFill>
                <a:latin typeface="Calibri" pitchFamily="34" charset="0"/>
              </a:rPr>
              <a:t>BENCH PATH (TETHERED)</a:t>
            </a:r>
          </a:p>
        </p:txBody>
      </p:sp>
      <p:sp>
        <p:nvSpPr>
          <p:cNvPr id="600" name="AccentLine"/>
          <p:cNvSpPr/>
          <p:nvPr/>
        </p:nvSpPr>
        <p:spPr>
          <a:xfrm>
            <a:off x="533400" y="304800"/>
            <a:ext cx="11074400" cy="12700"/>
          </a:xfrm>
          <a:prstGeom prst="rect">
            <a:avLst/>
          </a:prstGeom>
          <a:solidFill>
            <a:srgbClr val="0E96AC"/>
          </a:solidFill>
          <a:ln>
            <a:noFill/>
          </a:ln>
        </p:spPr>
        <p:txBody>
          <a:bodyPr/>
          <a:lstStyle/>
          <a:p>
            <a:endParaRPr/>
          </a:p>
        </p:txBody>
      </p:sp>
    </p:spTree>
    <p:extLst>
      <p:ext uri="{BB962C8B-B14F-4D97-AF65-F5344CB8AC3E}">
        <p14:creationId xmlns:p14="http://schemas.microsoft.com/office/powerpoint/2010/main" val="34145846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SAFETY ARCHITECTURE &amp; CRITICAL GAPS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Five Protection Parts the Robot Does Not Yet Have</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1" name="Shape 9"/>
          <p:cNvSpPr/>
          <p:nvPr/>
        </p:nvSpPr>
        <p:spPr>
          <a:xfrm>
            <a:off x="822960" y="1901952"/>
            <a:ext cx="713232" cy="713232"/>
          </a:xfrm>
          <a:prstGeom prst="ellipse">
            <a:avLst/>
          </a:prstGeom>
          <a:solidFill>
            <a:srgbClr val="E8821E"/>
          </a:solidFill>
          <a:ln/>
        </p:spPr>
      </p:sp>
      <p:pic>
        <p:nvPicPr>
          <p:cNvPr id="12" name="Image 0" descr="preencoded.png"/>
          <p:cNvPicPr>
            <a:picLocks noChangeAspect="1"/>
          </p:cNvPicPr>
          <p:nvPr/>
        </p:nvPicPr>
        <p:blipFill>
          <a:blip r:embed="rId3"/>
          <a:stretch>
            <a:fillRect/>
          </a:stretch>
        </p:blipFill>
        <p:spPr>
          <a:xfrm>
            <a:off x="1001268" y="2080260"/>
            <a:ext cx="356616" cy="356616"/>
          </a:xfrm>
          <a:prstGeom prst="rect">
            <a:avLst/>
          </a:prstGeom>
        </p:spPr>
      </p:pic>
      <p:pic>
        <p:nvPicPr>
          <p:cNvPr id="13" name="Image 1" descr="preencoded.png"/>
          <p:cNvPicPr>
            <a:picLocks noChangeAspect="1"/>
          </p:cNvPicPr>
          <p:nvPr/>
        </p:nvPicPr>
        <p:blipFill>
          <a:blip r:embed="rId4"/>
          <a:stretch>
            <a:fillRect/>
          </a:stretch>
        </p:blipFill>
        <p:spPr>
          <a:xfrm>
            <a:off x="3511296" y="1901952"/>
            <a:ext cx="310896" cy="310896"/>
          </a:xfrm>
          <a:prstGeom prst="rect">
            <a:avLst/>
          </a:prstGeom>
        </p:spPr>
      </p:pic>
      <p:sp>
        <p:nvSpPr>
          <p:cNvPr id="14" name="Text 10"/>
          <p:cNvSpPr/>
          <p:nvPr/>
        </p:nvSpPr>
        <p:spPr>
          <a:xfrm>
            <a:off x="822960"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Inline fuse — MISSING</a:t>
            </a:r>
            <a:endParaRPr lang="en-US" sz="1500" dirty="0"/>
          </a:p>
        </p:txBody>
      </p:sp>
      <p:sp>
        <p:nvSpPr>
          <p:cNvPr id="15" name="Text 11"/>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Nothing limits fault current on a 27 A-capable pack.</a:t>
            </a:r>
            <a:endParaRPr lang="en-US" sz="1150" dirty="0"/>
          </a:p>
        </p:txBody>
      </p:sp>
      <p:sp>
        <p:nvSpPr>
          <p:cNvPr id="16" name="Shape 12"/>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7" name="Shape 13"/>
          <p:cNvSpPr/>
          <p:nvPr/>
        </p:nvSpPr>
        <p:spPr>
          <a:xfrm>
            <a:off x="4645152" y="1901952"/>
            <a:ext cx="713232" cy="713232"/>
          </a:xfrm>
          <a:prstGeom prst="ellipse">
            <a:avLst/>
          </a:prstGeom>
          <a:solidFill>
            <a:srgbClr val="E8821E"/>
          </a:solidFill>
          <a:ln/>
        </p:spPr>
      </p:sp>
      <p:pic>
        <p:nvPicPr>
          <p:cNvPr id="18" name="Image 2" descr="preencoded.png"/>
          <p:cNvPicPr>
            <a:picLocks noChangeAspect="1"/>
          </p:cNvPicPr>
          <p:nvPr/>
        </p:nvPicPr>
        <p:blipFill>
          <a:blip r:embed="rId5"/>
          <a:stretch>
            <a:fillRect/>
          </a:stretch>
        </p:blipFill>
        <p:spPr>
          <a:xfrm>
            <a:off x="4823460" y="2080260"/>
            <a:ext cx="356616" cy="356616"/>
          </a:xfrm>
          <a:prstGeom prst="rect">
            <a:avLst/>
          </a:prstGeom>
        </p:spPr>
      </p:pic>
      <p:pic>
        <p:nvPicPr>
          <p:cNvPr id="19" name="Image 3" descr="preencoded.png"/>
          <p:cNvPicPr>
            <a:picLocks noChangeAspect="1"/>
          </p:cNvPicPr>
          <p:nvPr/>
        </p:nvPicPr>
        <p:blipFill>
          <a:blip r:embed="rId4"/>
          <a:stretch>
            <a:fillRect/>
          </a:stretch>
        </p:blipFill>
        <p:spPr>
          <a:xfrm>
            <a:off x="7333488" y="1901952"/>
            <a:ext cx="310896" cy="310896"/>
          </a:xfrm>
          <a:prstGeom prst="rect">
            <a:avLst/>
          </a:prstGeom>
        </p:spPr>
      </p:pic>
      <p:sp>
        <p:nvSpPr>
          <p:cNvPr id="20" name="Text 14"/>
          <p:cNvSpPr/>
          <p:nvPr/>
        </p:nvSpPr>
        <p:spPr>
          <a:xfrm>
            <a:off x="4645152"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Loop-key disconnect — MISSING</a:t>
            </a:r>
            <a:endParaRPr lang="en-US" sz="1500" dirty="0"/>
          </a:p>
        </p:txBody>
      </p:sp>
      <p:sp>
        <p:nvSpPr>
          <p:cNvPr id="21" name="Text 15"/>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No safe way to isolate the battery from the bus.</a:t>
            </a:r>
            <a:endParaRPr lang="en-US" sz="1150" dirty="0"/>
          </a:p>
        </p:txBody>
      </p:sp>
      <p:sp>
        <p:nvSpPr>
          <p:cNvPr id="22" name="Shape 16"/>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3" name="Shape 17"/>
          <p:cNvSpPr/>
          <p:nvPr/>
        </p:nvSpPr>
        <p:spPr>
          <a:xfrm>
            <a:off x="8467344" y="1901952"/>
            <a:ext cx="713232" cy="713232"/>
          </a:xfrm>
          <a:prstGeom prst="ellipse">
            <a:avLst/>
          </a:prstGeom>
          <a:solidFill>
            <a:srgbClr val="E8821E"/>
          </a:solidFill>
          <a:ln/>
        </p:spPr>
      </p:sp>
      <p:pic>
        <p:nvPicPr>
          <p:cNvPr id="24" name="Image 4" descr="preencoded.png"/>
          <p:cNvPicPr>
            <a:picLocks noChangeAspect="1"/>
          </p:cNvPicPr>
          <p:nvPr/>
        </p:nvPicPr>
        <p:blipFill>
          <a:blip r:embed="rId6"/>
          <a:stretch>
            <a:fillRect/>
          </a:stretch>
        </p:blipFill>
        <p:spPr>
          <a:xfrm>
            <a:off x="8645652" y="2080260"/>
            <a:ext cx="356616" cy="356616"/>
          </a:xfrm>
          <a:prstGeom prst="rect">
            <a:avLst/>
          </a:prstGeom>
        </p:spPr>
      </p:pic>
      <p:pic>
        <p:nvPicPr>
          <p:cNvPr id="25" name="Image 5" descr="preencoded.png"/>
          <p:cNvPicPr>
            <a:picLocks noChangeAspect="1"/>
          </p:cNvPicPr>
          <p:nvPr/>
        </p:nvPicPr>
        <p:blipFill>
          <a:blip r:embed="rId4"/>
          <a:stretch>
            <a:fillRect/>
          </a:stretch>
        </p:blipFill>
        <p:spPr>
          <a:xfrm>
            <a:off x="11155680" y="1901952"/>
            <a:ext cx="310896" cy="310896"/>
          </a:xfrm>
          <a:prstGeom prst="rect">
            <a:avLst/>
          </a:prstGeom>
        </p:spPr>
      </p:pic>
      <p:sp>
        <p:nvSpPr>
          <p:cNvPr id="26" name="Text 18"/>
          <p:cNvSpPr/>
          <p:nvPr/>
        </p:nvSpPr>
        <p:spPr>
          <a:xfrm>
            <a:off x="8467344"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LiPo alarm / BMS — MISSING</a:t>
            </a:r>
            <a:endParaRPr lang="en-US" sz="1500" dirty="0"/>
          </a:p>
        </p:txBody>
      </p:sp>
      <p:sp>
        <p:nvSpPr>
          <p:cNvPr id="27" name="Text 19"/>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No cell-level undervoltage protection below 3.0 V.</a:t>
            </a:r>
            <a:endParaRPr lang="en-US" sz="1150" dirty="0"/>
          </a:p>
        </p:txBody>
      </p:sp>
      <p:sp>
        <p:nvSpPr>
          <p:cNvPr id="28" name="Shape 20"/>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9" name="Shape 21"/>
          <p:cNvSpPr/>
          <p:nvPr/>
        </p:nvSpPr>
        <p:spPr>
          <a:xfrm>
            <a:off x="822960" y="4151376"/>
            <a:ext cx="713232" cy="713232"/>
          </a:xfrm>
          <a:prstGeom prst="ellipse">
            <a:avLst/>
          </a:prstGeom>
          <a:solidFill>
            <a:srgbClr val="E8821E"/>
          </a:solidFill>
          <a:ln/>
        </p:spPr>
      </p:sp>
      <p:pic>
        <p:nvPicPr>
          <p:cNvPr id="30" name="Image 6" descr="preencoded.png"/>
          <p:cNvPicPr>
            <a:picLocks noChangeAspect="1"/>
          </p:cNvPicPr>
          <p:nvPr/>
        </p:nvPicPr>
        <p:blipFill>
          <a:blip r:embed="rId7"/>
          <a:stretch>
            <a:fillRect/>
          </a:stretch>
        </p:blipFill>
        <p:spPr>
          <a:xfrm>
            <a:off x="1001268" y="4329684"/>
            <a:ext cx="356616" cy="356616"/>
          </a:xfrm>
          <a:prstGeom prst="rect">
            <a:avLst/>
          </a:prstGeom>
        </p:spPr>
      </p:pic>
      <p:pic>
        <p:nvPicPr>
          <p:cNvPr id="31" name="Image 7" descr="preencoded.png"/>
          <p:cNvPicPr>
            <a:picLocks noChangeAspect="1"/>
          </p:cNvPicPr>
          <p:nvPr/>
        </p:nvPicPr>
        <p:blipFill>
          <a:blip r:embed="rId4"/>
          <a:stretch>
            <a:fillRect/>
          </a:stretch>
        </p:blipFill>
        <p:spPr>
          <a:xfrm>
            <a:off x="3511296" y="4151376"/>
            <a:ext cx="310896" cy="310896"/>
          </a:xfrm>
          <a:prstGeom prst="rect">
            <a:avLst/>
          </a:prstGeom>
        </p:spPr>
      </p:pic>
      <p:sp>
        <p:nvSpPr>
          <p:cNvPr id="32" name="Text 22"/>
          <p:cNvSpPr/>
          <p:nvPr/>
        </p:nvSpPr>
        <p:spPr>
          <a:xfrm>
            <a:off x="822960"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Bulk capacitor — MISSING</a:t>
            </a:r>
            <a:endParaRPr lang="en-US" sz="1500" dirty="0"/>
          </a:p>
        </p:txBody>
      </p:sp>
      <p:sp>
        <p:nvSpPr>
          <p:cNvPr id="33" name="Text 23"/>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Servo inrush transients reach the driver unsuppressed.</a:t>
            </a:r>
            <a:endParaRPr lang="en-US" sz="1150" dirty="0"/>
          </a:p>
        </p:txBody>
      </p:sp>
      <p:sp>
        <p:nvSpPr>
          <p:cNvPr id="34" name="Shape 24"/>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35" name="Shape 25"/>
          <p:cNvSpPr/>
          <p:nvPr/>
        </p:nvSpPr>
        <p:spPr>
          <a:xfrm>
            <a:off x="4645152" y="4151376"/>
            <a:ext cx="713232" cy="713232"/>
          </a:xfrm>
          <a:prstGeom prst="ellipse">
            <a:avLst/>
          </a:prstGeom>
          <a:solidFill>
            <a:srgbClr val="E8821E"/>
          </a:solidFill>
          <a:ln/>
        </p:spPr>
      </p:sp>
      <p:pic>
        <p:nvPicPr>
          <p:cNvPr id="36" name="Image 8" descr="preencoded.png"/>
          <p:cNvPicPr>
            <a:picLocks noChangeAspect="1"/>
          </p:cNvPicPr>
          <p:nvPr/>
        </p:nvPicPr>
        <p:blipFill>
          <a:blip r:embed="rId8"/>
          <a:stretch>
            <a:fillRect/>
          </a:stretch>
        </p:blipFill>
        <p:spPr>
          <a:xfrm>
            <a:off x="4823460" y="4329684"/>
            <a:ext cx="356616" cy="356616"/>
          </a:xfrm>
          <a:prstGeom prst="rect">
            <a:avLst/>
          </a:prstGeom>
        </p:spPr>
      </p:pic>
      <p:pic>
        <p:nvPicPr>
          <p:cNvPr id="37" name="Image 9" descr="preencoded.png"/>
          <p:cNvPicPr>
            <a:picLocks noChangeAspect="1"/>
          </p:cNvPicPr>
          <p:nvPr/>
        </p:nvPicPr>
        <p:blipFill>
          <a:blip r:embed="rId4"/>
          <a:stretch>
            <a:fillRect/>
          </a:stretch>
        </p:blipFill>
        <p:spPr>
          <a:xfrm>
            <a:off x="7333488" y="4151376"/>
            <a:ext cx="310896" cy="310896"/>
          </a:xfrm>
          <a:prstGeom prst="rect">
            <a:avLst/>
          </a:prstGeom>
        </p:spPr>
      </p:pic>
      <p:sp>
        <p:nvSpPr>
          <p:cNvPr id="38" name="Text 26"/>
          <p:cNvSpPr/>
          <p:nvPr/>
        </p:nvSpPr>
        <p:spPr>
          <a:xfrm>
            <a:off x="4645152"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Balance charger &amp; bag — MISSING</a:t>
            </a:r>
            <a:endParaRPr lang="en-US" sz="1500" dirty="0"/>
          </a:p>
        </p:txBody>
      </p:sp>
      <p:sp>
        <p:nvSpPr>
          <p:cNvPr id="39" name="Text 27"/>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No safe charge, balance or storage path for the pack.</a:t>
            </a:r>
            <a:endParaRPr lang="en-US" sz="1150" dirty="0"/>
          </a:p>
        </p:txBody>
      </p:sp>
      <p:sp>
        <p:nvSpPr>
          <p:cNvPr id="40" name="Shape 28"/>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41" name="Shape 29"/>
          <p:cNvSpPr/>
          <p:nvPr/>
        </p:nvSpPr>
        <p:spPr>
          <a:xfrm>
            <a:off x="8467344" y="4151376"/>
            <a:ext cx="713232" cy="713232"/>
          </a:xfrm>
          <a:prstGeom prst="ellipse">
            <a:avLst/>
          </a:prstGeom>
          <a:solidFill>
            <a:srgbClr val="1F9D55"/>
          </a:solidFill>
          <a:ln/>
        </p:spPr>
      </p:sp>
      <p:pic>
        <p:nvPicPr>
          <p:cNvPr id="42" name="Image 10" descr="preencoded.png"/>
          <p:cNvPicPr>
            <a:picLocks noChangeAspect="1"/>
          </p:cNvPicPr>
          <p:nvPr/>
        </p:nvPicPr>
        <p:blipFill>
          <a:blip r:embed="rId9"/>
          <a:stretch>
            <a:fillRect/>
          </a:stretch>
        </p:blipFill>
        <p:spPr>
          <a:xfrm>
            <a:off x="8645652" y="4329684"/>
            <a:ext cx="356616" cy="356616"/>
          </a:xfrm>
          <a:prstGeom prst="rect">
            <a:avLst/>
          </a:prstGeom>
        </p:spPr>
      </p:pic>
      <p:pic>
        <p:nvPicPr>
          <p:cNvPr id="43" name="Image 11" descr="preencoded.png"/>
          <p:cNvPicPr>
            <a:picLocks noChangeAspect="1"/>
          </p:cNvPicPr>
          <p:nvPr/>
        </p:nvPicPr>
        <p:blipFill>
          <a:blip r:embed="rId4"/>
          <a:stretch>
            <a:fillRect/>
          </a:stretch>
        </p:blipFill>
        <p:spPr>
          <a:xfrm>
            <a:off x="11155680" y="4151376"/>
            <a:ext cx="310896" cy="310896"/>
          </a:xfrm>
          <a:prstGeom prst="rect">
            <a:avLst/>
          </a:prstGeom>
        </p:spPr>
      </p:pic>
      <p:sp>
        <p:nvSpPr>
          <p:cNvPr id="44" name="Text 30"/>
          <p:cNvSpPr/>
          <p:nvPr/>
        </p:nvSpPr>
        <p:spPr>
          <a:xfrm>
            <a:off x="8467344"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Current-stall limit — IN FIRMWARE</a:t>
            </a:r>
            <a:endParaRPr lang="en-US" sz="1500" dirty="0"/>
          </a:p>
        </p:txBody>
      </p:sp>
      <p:sp>
        <p:nvSpPr>
          <p:cNvPr id="45" name="Text 31"/>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Software torque cap works, but is not a fuse.</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LeftCard">
            <a:extLst>
              <a:ext uri="{FF2B5EF4-FFF2-40B4-BE49-F238E27FC236}">
                <a16:creationId xmlns:a16="http://schemas.microsoft.com/office/drawing/2014/main" id="{0056E78F-92D5-4262-AAF1-277172916451}"/>
              </a:ext>
            </a:extLst>
          </p:cNvPr>
          <p:cNvSpPr/>
          <p:nvPr/>
        </p:nvSpPr>
        <p:spPr>
          <a:xfrm>
            <a:off x="5461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 name="RightCard">
            <a:extLst>
              <a:ext uri="{FF2B5EF4-FFF2-40B4-BE49-F238E27FC236}">
                <a16:creationId xmlns:a16="http://schemas.microsoft.com/office/drawing/2014/main" id="{24DBE37A-9E70-4159-95DD-2B494C422BC7}"/>
              </a:ext>
            </a:extLst>
          </p:cNvPr>
          <p:cNvSpPr/>
          <p:nvPr/>
        </p:nvSpPr>
        <p:spPr>
          <a:xfrm>
            <a:off x="6311900" y="1422400"/>
            <a:ext cx="5334000" cy="21336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4" name="LearnCard">
            <a:extLst>
              <a:ext uri="{FF2B5EF4-FFF2-40B4-BE49-F238E27FC236}">
                <a16:creationId xmlns:a16="http://schemas.microsoft.com/office/drawing/2014/main" id="{945938B6-711B-47B7-94C3-12F7938EAA96}"/>
              </a:ext>
            </a:extLst>
          </p:cNvPr>
          <p:cNvSpPr/>
          <p:nvPr/>
        </p:nvSpPr>
        <p:spPr>
          <a:xfrm>
            <a:off x="546100" y="3657600"/>
            <a:ext cx="5334000" cy="2743200"/>
          </a:xfrm>
          <a:prstGeom prst="roundRect">
            <a:avLst/>
          </a:prstGeom>
          <a:solidFill>
            <a:srgbClr val="FFFFFF"/>
          </a:solidFill>
          <a:ln w="12700" cap="flat" cmpd="sng" algn="ctr">
            <a:solidFill>
              <a:srgbClr val="E2E8F0"/>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5" name="DecCard">
            <a:extLst>
              <a:ext uri="{FF2B5EF4-FFF2-40B4-BE49-F238E27FC236}">
                <a16:creationId xmlns:a16="http://schemas.microsoft.com/office/drawing/2014/main" id="{769BC5B9-3C4D-4227-8B3B-8FACD1E290E0}"/>
              </a:ext>
            </a:extLst>
          </p:cNvPr>
          <p:cNvSpPr/>
          <p:nvPr/>
        </p:nvSpPr>
        <p:spPr>
          <a:xfrm>
            <a:off x="6311900" y="3657600"/>
            <a:ext cx="5334000" cy="2743200"/>
          </a:xfrm>
          <a:prstGeom prst="round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 name="EyebrowB">
            <a:extLst>
              <a:ext uri="{FF2B5EF4-FFF2-40B4-BE49-F238E27FC236}">
                <a16:creationId xmlns:a16="http://schemas.microsoft.com/office/drawing/2014/main" id="{0132597A-8662-4681-BE67-71F52E66C72F}"/>
              </a:ext>
            </a:extLst>
          </p:cNvPr>
          <p:cNvSpPr txBox="1"/>
          <p:nvPr/>
        </p:nvSpPr>
        <p:spPr>
          <a:xfrm>
            <a:off x="546100" y="381000"/>
            <a:ext cx="10414000" cy="279400"/>
          </a:xfrm>
          <a:prstGeom prst="rect">
            <a:avLst/>
          </a:prstGeom>
          <a:noFill/>
        </p:spPr>
        <p:txBody>
          <a:bodyPr vertOverflow="overflow" vert="horz" wrap="square" rtlCol="0" anchor="t" anchorCtr="0">
            <a:noAutofit/>
          </a:bodyPr>
          <a:lstStyle/>
          <a:p>
            <a:pPr marL="0" indent="0">
              <a:buNone/>
            </a:pPr>
            <a:r>
              <a:rPr lang="en-US" sz="1200" b="1" spc="300" dirty="0">
                <a:solidFill>
                  <a:srgbClr val="0E96AC"/>
                </a:solidFill>
                <a:latin typeface="Calibri" pitchFamily="34" charset="0"/>
              </a:rPr>
              <a:t>GAIT &amp; OBSTACLE RESPONSE</a:t>
            </a:r>
          </a:p>
        </p:txBody>
      </p:sp>
      <p:sp>
        <p:nvSpPr>
          <p:cNvPr id="7" name="TitleB">
            <a:extLst>
              <a:ext uri="{FF2B5EF4-FFF2-40B4-BE49-F238E27FC236}">
                <a16:creationId xmlns:a16="http://schemas.microsoft.com/office/drawing/2014/main" id="{46AB9848-941D-4FEF-BEB1-1414EB9FBE78}"/>
              </a:ext>
            </a:extLst>
          </p:cNvPr>
          <p:cNvSpPr txBox="1"/>
          <p:nvPr/>
        </p:nvSpPr>
        <p:spPr>
          <a:xfrm>
            <a:off x="533400" y="635000"/>
            <a:ext cx="11049000" cy="609600"/>
          </a:xfrm>
          <a:prstGeom prst="rect">
            <a:avLst/>
          </a:prstGeom>
          <a:noFill/>
        </p:spPr>
        <p:txBody>
          <a:bodyPr vertOverflow="overflow" vert="horz" wrap="square" rtlCol="0" anchor="t" anchorCtr="0">
            <a:noAutofit/>
          </a:bodyPr>
          <a:lstStyle/>
          <a:p>
            <a:pPr marL="0" indent="0">
              <a:buNone/>
            </a:pPr>
            <a:r>
              <a:rPr lang="en-US" sz="3000" b="1" dirty="0">
                <a:solidFill>
                  <a:srgbClr val="16223A"/>
                </a:solidFill>
                <a:latin typeface="Calibri" pitchFamily="34" charset="0"/>
              </a:rPr>
              <a:t>Gait Generation and the Evasion State Machine</a:t>
            </a:r>
          </a:p>
        </p:txBody>
      </p:sp>
      <p:sp>
        <p:nvSpPr>
          <p:cNvPr id="8" name="ServoGlyphBody">
            <a:extLst>
              <a:ext uri="{FF2B5EF4-FFF2-40B4-BE49-F238E27FC236}">
                <a16:creationId xmlns:a16="http://schemas.microsoft.com/office/drawing/2014/main" id="{8A03D9A3-2075-450B-B675-A74D30FE9A88}"/>
              </a:ext>
            </a:extLst>
          </p:cNvPr>
          <p:cNvSpPr/>
          <p:nvPr/>
        </p:nvSpPr>
        <p:spPr>
          <a:xfrm>
            <a:off x="762000" y="1498600"/>
            <a:ext cx="304800" cy="228600"/>
          </a:xfrm>
          <a:prstGeom prst="roundRect">
            <a:avLst/>
          </a:prstGeom>
          <a:solidFill>
            <a:srgbClr val="5A6473"/>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9" name="ServoGlyphHorn">
            <a:extLst>
              <a:ext uri="{FF2B5EF4-FFF2-40B4-BE49-F238E27FC236}">
                <a16:creationId xmlns:a16="http://schemas.microsoft.com/office/drawing/2014/main" id="{DB2656A8-5200-4995-950C-8E582F0047DC}"/>
              </a:ext>
            </a:extLst>
          </p:cNvPr>
          <p:cNvSpPr/>
          <p:nvPr/>
        </p:nvSpPr>
        <p:spPr>
          <a:xfrm>
            <a:off x="850900" y="1435100"/>
            <a:ext cx="127000" cy="114300"/>
          </a:xfrm>
          <a:prstGeom prst="ellipse">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0" name="LeftTitle">
            <a:extLst>
              <a:ext uri="{FF2B5EF4-FFF2-40B4-BE49-F238E27FC236}">
                <a16:creationId xmlns:a16="http://schemas.microsoft.com/office/drawing/2014/main" id="{F5221BA7-BF56-4458-9848-3FCF2A8E96ED}"/>
              </a:ext>
            </a:extLst>
          </p:cNvPr>
          <p:cNvSpPr txBox="1"/>
          <p:nvPr/>
        </p:nvSpPr>
        <p:spPr>
          <a:xfrm>
            <a:off x="1168400" y="1473200"/>
            <a:ext cx="4572000" cy="279400"/>
          </a:xfrm>
          <a:prstGeom prst="rect">
            <a:avLst/>
          </a:prstGeom>
          <a:noFill/>
        </p:spPr>
        <p:txBody>
          <a:bodyPr vertOverflow="overflow" vert="horz" wrap="square" rtlCol="0" anchor="t" anchorCtr="0">
            <a:noAutofit/>
          </a:bodyPr>
          <a:lstStyle/>
          <a:p>
            <a:pPr marL="0" indent="0">
              <a:buNone/>
            </a:pPr>
            <a:r>
              <a:rPr lang="en-US" sz="1350" b="1" dirty="0">
                <a:solidFill>
                  <a:srgbClr val="16223A"/>
                </a:solidFill>
                <a:latin typeface="Calibri" pitchFamily="34" charset="0"/>
              </a:rPr>
              <a:t>Lateral Undulation — Travelling Wave</a:t>
            </a:r>
          </a:p>
        </p:txBody>
      </p:sp>
      <p:sp>
        <p:nvSpPr>
          <p:cNvPr id="11" name="CtrlL">
            <a:extLst>
              <a:ext uri="{FF2B5EF4-FFF2-40B4-BE49-F238E27FC236}">
                <a16:creationId xmlns:a16="http://schemas.microsoft.com/office/drawing/2014/main" id="{E0569885-D4FA-4DD4-9A3F-1E29F3533E47}"/>
              </a:ext>
            </a:extLst>
          </p:cNvPr>
          <p:cNvSpPr/>
          <p:nvPr/>
        </p:nvSpPr>
        <p:spPr>
          <a:xfrm>
            <a:off x="800100" y="2184400"/>
            <a:ext cx="1066800" cy="6858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CPG</a:t>
            </a:r>
          </a:p>
        </p:txBody>
      </p:sp>
      <p:sp>
        <p:nvSpPr>
          <p:cNvPr id="12" name="BusV">
            <a:extLst>
              <a:ext uri="{FF2B5EF4-FFF2-40B4-BE49-F238E27FC236}">
                <a16:creationId xmlns:a16="http://schemas.microsoft.com/office/drawing/2014/main" id="{02527D18-7BCF-41AE-AD08-927C1540483A}"/>
              </a:ext>
            </a:extLst>
          </p:cNvPr>
          <p:cNvSpPr/>
          <p:nvPr/>
        </p:nvSpPr>
        <p:spPr>
          <a:xfrm>
            <a:off x="1905000" y="2032000"/>
            <a:ext cx="38100" cy="9906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3" name="CtrlBus">
            <a:extLst>
              <a:ext uri="{FF2B5EF4-FFF2-40B4-BE49-F238E27FC236}">
                <a16:creationId xmlns:a16="http://schemas.microsoft.com/office/drawing/2014/main" id="{1CE24EE8-02CD-44D4-B87F-12FCB67D908F}"/>
              </a:ext>
            </a:extLst>
          </p:cNvPr>
          <p:cNvSpPr/>
          <p:nvPr/>
        </p:nvSpPr>
        <p:spPr>
          <a:xfrm>
            <a:off x="1866900" y="2527300"/>
            <a:ext cx="762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4" name="Stub0">
            <a:extLst>
              <a:ext uri="{FF2B5EF4-FFF2-40B4-BE49-F238E27FC236}">
                <a16:creationId xmlns:a16="http://schemas.microsoft.com/office/drawing/2014/main" id="{A9C20F89-A278-4DB5-8A0F-545E206D3B94}"/>
              </a:ext>
            </a:extLst>
          </p:cNvPr>
          <p:cNvSpPr/>
          <p:nvPr/>
        </p:nvSpPr>
        <p:spPr>
          <a:xfrm>
            <a:off x="1943100" y="20193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5" name="Servo0">
            <a:extLst>
              <a:ext uri="{FF2B5EF4-FFF2-40B4-BE49-F238E27FC236}">
                <a16:creationId xmlns:a16="http://schemas.microsoft.com/office/drawing/2014/main" id="{FE0E4700-8C3C-42D9-84F1-E6C73B1DD53A}"/>
              </a:ext>
            </a:extLst>
          </p:cNvPr>
          <p:cNvSpPr/>
          <p:nvPr/>
        </p:nvSpPr>
        <p:spPr>
          <a:xfrm>
            <a:off x="3810000" y="19050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Joint 1   φ = 0°</a:t>
            </a:r>
          </a:p>
        </p:txBody>
      </p:sp>
      <p:sp>
        <p:nvSpPr>
          <p:cNvPr id="16" name="Stub1">
            <a:extLst>
              <a:ext uri="{FF2B5EF4-FFF2-40B4-BE49-F238E27FC236}">
                <a16:creationId xmlns:a16="http://schemas.microsoft.com/office/drawing/2014/main" id="{814852D2-A9D9-48F2-88CF-C20F3BDEBC7E}"/>
              </a:ext>
            </a:extLst>
          </p:cNvPr>
          <p:cNvSpPr/>
          <p:nvPr/>
        </p:nvSpPr>
        <p:spPr>
          <a:xfrm>
            <a:off x="1943100" y="23495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7" name="Servo1">
            <a:extLst>
              <a:ext uri="{FF2B5EF4-FFF2-40B4-BE49-F238E27FC236}">
                <a16:creationId xmlns:a16="http://schemas.microsoft.com/office/drawing/2014/main" id="{CAEAB1FD-0CEA-4D2C-AEF7-0FF176392BDC}"/>
              </a:ext>
            </a:extLst>
          </p:cNvPr>
          <p:cNvSpPr/>
          <p:nvPr/>
        </p:nvSpPr>
        <p:spPr>
          <a:xfrm>
            <a:off x="3810000" y="22352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Joint 2   φ = 72°</a:t>
            </a:r>
          </a:p>
        </p:txBody>
      </p:sp>
      <p:sp>
        <p:nvSpPr>
          <p:cNvPr id="18" name="Stub2">
            <a:extLst>
              <a:ext uri="{FF2B5EF4-FFF2-40B4-BE49-F238E27FC236}">
                <a16:creationId xmlns:a16="http://schemas.microsoft.com/office/drawing/2014/main" id="{EB319E6F-F90C-43F4-9030-6DB43A605F2E}"/>
              </a:ext>
            </a:extLst>
          </p:cNvPr>
          <p:cNvSpPr/>
          <p:nvPr/>
        </p:nvSpPr>
        <p:spPr>
          <a:xfrm>
            <a:off x="1943100" y="26797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19" name="Servo2">
            <a:extLst>
              <a:ext uri="{FF2B5EF4-FFF2-40B4-BE49-F238E27FC236}">
                <a16:creationId xmlns:a16="http://schemas.microsoft.com/office/drawing/2014/main" id="{76E772AE-A541-49C3-B4C3-B05CCE714E7C}"/>
              </a:ext>
            </a:extLst>
          </p:cNvPr>
          <p:cNvSpPr/>
          <p:nvPr/>
        </p:nvSpPr>
        <p:spPr>
          <a:xfrm>
            <a:off x="3810000" y="25654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Joint 3   φ = 144°</a:t>
            </a:r>
          </a:p>
        </p:txBody>
      </p:sp>
      <p:sp>
        <p:nvSpPr>
          <p:cNvPr id="20" name="Stub3">
            <a:extLst>
              <a:ext uri="{FF2B5EF4-FFF2-40B4-BE49-F238E27FC236}">
                <a16:creationId xmlns:a16="http://schemas.microsoft.com/office/drawing/2014/main" id="{B02FBDF1-8D37-4D56-8B5D-B0C727AEC152}"/>
              </a:ext>
            </a:extLst>
          </p:cNvPr>
          <p:cNvSpPr/>
          <p:nvPr/>
        </p:nvSpPr>
        <p:spPr>
          <a:xfrm>
            <a:off x="1943100" y="3009900"/>
            <a:ext cx="1866900" cy="38100"/>
          </a:xfrm>
          <a:prstGeom prst="rect">
            <a:avLst/>
          </a:prstGeom>
          <a:solidFill>
            <a:srgbClr val="9AA6B6"/>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1" name="Servo3">
            <a:extLst>
              <a:ext uri="{FF2B5EF4-FFF2-40B4-BE49-F238E27FC236}">
                <a16:creationId xmlns:a16="http://schemas.microsoft.com/office/drawing/2014/main" id="{77B767ED-463D-48E9-99C3-6473A23AD437}"/>
              </a:ext>
            </a:extLst>
          </p:cNvPr>
          <p:cNvSpPr/>
          <p:nvPr/>
        </p:nvSpPr>
        <p:spPr>
          <a:xfrm>
            <a:off x="3810000" y="2895600"/>
            <a:ext cx="1524000" cy="254000"/>
          </a:xfrm>
          <a:prstGeom prst="rect">
            <a:avLst/>
          </a:prstGeom>
          <a:solidFill>
            <a:srgbClr val="EEF1F5"/>
          </a:solidFill>
          <a:ln w="12700" cap="flat" cmpd="sng" algn="ctr">
            <a:solidFill>
              <a:srgbClr val="D7DEE8"/>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16223A"/>
                </a:solidFill>
                <a:latin typeface="Calibri"/>
                <a:ea typeface="Calibri"/>
                <a:cs typeface="Calibri"/>
              </a:rPr>
              <a:t>Joint 4   φ = 216°</a:t>
            </a:r>
          </a:p>
        </p:txBody>
      </p:sp>
      <p:sp>
        <p:nvSpPr>
          <p:cNvPr id="22" name="LeftCap">
            <a:extLst>
              <a:ext uri="{FF2B5EF4-FFF2-40B4-BE49-F238E27FC236}">
                <a16:creationId xmlns:a16="http://schemas.microsoft.com/office/drawing/2014/main" id="{9EC08625-1DD4-4DAA-8C00-FBCBF71DFEB5}"/>
              </a:ext>
            </a:extLst>
          </p:cNvPr>
          <p:cNvSpPr txBox="1"/>
          <p:nvPr/>
        </p:nvSpPr>
        <p:spPr>
          <a:xfrm>
            <a:off x="762000" y="3238500"/>
            <a:ext cx="5080000" cy="402336"/>
          </a:xfrm>
          <a:prstGeom prst="rect">
            <a:avLst/>
          </a:prstGeom>
          <a:noFill/>
        </p:spPr>
        <p:txBody>
          <a:bodyPr vertOverflow="overflow" vert="horz" wrap="square" rtlCol="0" anchor="t" anchorCtr="0">
            <a:noAutofit/>
          </a:bodyPr>
          <a:lstStyle/>
          <a:p>
            <a:pPr marL="0" indent="0">
              <a:buNone/>
            </a:pPr>
            <a:r>
              <a:rPr lang="en-US" sz="1000" dirty="0">
                <a:solidFill>
                  <a:srgbClr val="3A4658"/>
                </a:solidFill>
                <a:latin typeface="Calibri" pitchFamily="34" charset="0"/>
              </a:rPr>
              <a:t>A serpenoid phase offset propagates down the chain at 50 Hz; amplitude 400 ticks ≈ 35°.</a:t>
            </a:r>
          </a:p>
        </p:txBody>
      </p:sp>
      <p:sp>
        <p:nvSpPr>
          <p:cNvPr id="23" name="XLGlyphBody">
            <a:extLst>
              <a:ext uri="{FF2B5EF4-FFF2-40B4-BE49-F238E27FC236}">
                <a16:creationId xmlns:a16="http://schemas.microsoft.com/office/drawing/2014/main" id="{C8E18AD2-F4A3-40BC-87F2-BED483297313}"/>
              </a:ext>
            </a:extLst>
          </p:cNvPr>
          <p:cNvSpPr/>
          <p:nvPr/>
        </p:nvSpPr>
        <p:spPr>
          <a:xfrm>
            <a:off x="6527800" y="1473200"/>
            <a:ext cx="254000" cy="254000"/>
          </a:xfrm>
          <a:prstGeom prst="roundRect">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4" name="XLGlyphHorn">
            <a:extLst>
              <a:ext uri="{FF2B5EF4-FFF2-40B4-BE49-F238E27FC236}">
                <a16:creationId xmlns:a16="http://schemas.microsoft.com/office/drawing/2014/main" id="{7FC80302-C31A-4BBF-A9FA-3633069FB1AC}"/>
              </a:ext>
            </a:extLst>
          </p:cNvPr>
          <p:cNvSpPr/>
          <p:nvPr/>
        </p:nvSpPr>
        <p:spPr>
          <a:xfrm>
            <a:off x="6604000" y="1549400"/>
            <a:ext cx="101600" cy="101600"/>
          </a:xfrm>
          <a:prstGeom prst="ellipse">
            <a:avLst/>
          </a:prstGeom>
          <a:solidFill>
            <a:srgbClr val="FFFFFF"/>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25" name="RightTitle">
            <a:extLst>
              <a:ext uri="{FF2B5EF4-FFF2-40B4-BE49-F238E27FC236}">
                <a16:creationId xmlns:a16="http://schemas.microsoft.com/office/drawing/2014/main" id="{4455D221-E0A3-42F1-BA92-A0B9855B4D16}"/>
              </a:ext>
            </a:extLst>
          </p:cNvPr>
          <p:cNvSpPr txBox="1"/>
          <p:nvPr/>
        </p:nvSpPr>
        <p:spPr>
          <a:xfrm>
            <a:off x="6883400" y="1473200"/>
            <a:ext cx="4699000" cy="279400"/>
          </a:xfrm>
          <a:prstGeom prst="rect">
            <a:avLst/>
          </a:prstGeom>
          <a:noFill/>
        </p:spPr>
        <p:txBody>
          <a:bodyPr vertOverflow="overflow" vert="horz" wrap="square" rtlCol="0" anchor="t" anchorCtr="0">
            <a:noAutofit/>
          </a:bodyPr>
          <a:lstStyle/>
          <a:p>
            <a:pPr marL="0" indent="0">
              <a:buNone/>
            </a:pPr>
            <a:r>
              <a:rPr lang="en-US" sz="1350" b="1" dirty="0">
                <a:solidFill>
                  <a:srgbClr val="0E96AC"/>
                </a:solidFill>
                <a:latin typeface="Calibri" pitchFamily="34" charset="0"/>
              </a:rPr>
              <a:t>Evasion Finite State Machine</a:t>
            </a:r>
          </a:p>
        </p:txBody>
      </p:sp>
      <p:sp>
        <p:nvSpPr>
          <p:cNvPr id="26" name="CtrlR">
            <a:extLst>
              <a:ext uri="{FF2B5EF4-FFF2-40B4-BE49-F238E27FC236}">
                <a16:creationId xmlns:a16="http://schemas.microsoft.com/office/drawing/2014/main" id="{93A5EAD7-35C9-42DC-A970-DE541959CA8C}"/>
              </a:ext>
            </a:extLst>
          </p:cNvPr>
          <p:cNvSpPr/>
          <p:nvPr/>
        </p:nvSpPr>
        <p:spPr>
          <a:xfrm>
            <a:off x="6502400" y="2438400"/>
            <a:ext cx="736600" cy="584200"/>
          </a:xfrm>
          <a:prstGeom prst="rect">
            <a:avLst/>
          </a:prstGeom>
          <a:solidFill>
            <a:srgbClr val="16223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200" b="1">
                <a:solidFill>
                  <a:srgbClr val="FFFFFF"/>
                </a:solidFill>
                <a:latin typeface="Calibri"/>
                <a:ea typeface="Calibri"/>
                <a:cs typeface="Calibri"/>
              </a:rPr>
              <a:t>FSM</a:t>
            </a:r>
          </a:p>
        </p:txBody>
      </p:sp>
      <p:sp>
        <p:nvSpPr>
          <p:cNvPr id="27" name="M0">
            <a:extLst>
              <a:ext uri="{FF2B5EF4-FFF2-40B4-BE49-F238E27FC236}">
                <a16:creationId xmlns:a16="http://schemas.microsoft.com/office/drawing/2014/main" id="{4CB46D67-A245-439A-902D-801546B8D4D1}"/>
              </a:ext>
            </a:extLst>
          </p:cNvPr>
          <p:cNvSpPr/>
          <p:nvPr/>
        </p:nvSpPr>
        <p:spPr>
          <a:xfrm>
            <a:off x="75692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RUN</a:t>
            </a:r>
          </a:p>
        </p:txBody>
      </p:sp>
      <p:sp>
        <p:nvSpPr>
          <p:cNvPr id="28" name="M1">
            <a:extLst>
              <a:ext uri="{FF2B5EF4-FFF2-40B4-BE49-F238E27FC236}">
                <a16:creationId xmlns:a16="http://schemas.microsoft.com/office/drawing/2014/main" id="{45FEF653-99C3-4FEF-B454-B3E087841AE7}"/>
              </a:ext>
            </a:extLst>
          </p:cNvPr>
          <p:cNvSpPr/>
          <p:nvPr/>
        </p:nvSpPr>
        <p:spPr>
          <a:xfrm>
            <a:off x="85598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STALL</a:t>
            </a:r>
          </a:p>
        </p:txBody>
      </p:sp>
      <p:sp>
        <p:nvSpPr>
          <p:cNvPr id="29" name="M2">
            <a:extLst>
              <a:ext uri="{FF2B5EF4-FFF2-40B4-BE49-F238E27FC236}">
                <a16:creationId xmlns:a16="http://schemas.microsoft.com/office/drawing/2014/main" id="{A74F96EC-B6BB-422E-8C35-E10D91EB265A}"/>
              </a:ext>
            </a:extLst>
          </p:cNvPr>
          <p:cNvSpPr/>
          <p:nvPr/>
        </p:nvSpPr>
        <p:spPr>
          <a:xfrm>
            <a:off x="95504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BACK</a:t>
            </a:r>
          </a:p>
        </p:txBody>
      </p:sp>
      <p:sp>
        <p:nvSpPr>
          <p:cNvPr id="30" name="M3">
            <a:extLst>
              <a:ext uri="{FF2B5EF4-FFF2-40B4-BE49-F238E27FC236}">
                <a16:creationId xmlns:a16="http://schemas.microsoft.com/office/drawing/2014/main" id="{A9620D07-EC3B-42BC-9AE1-D164B351DF4C}"/>
              </a:ext>
            </a:extLst>
          </p:cNvPr>
          <p:cNvSpPr/>
          <p:nvPr/>
        </p:nvSpPr>
        <p:spPr>
          <a:xfrm>
            <a:off x="10541000" y="2438400"/>
            <a:ext cx="660400" cy="584200"/>
          </a:xfrm>
          <a:prstGeom prst="roundRect">
            <a:avLst/>
          </a:prstGeom>
          <a:solidFill>
            <a:srgbClr val="E6F4F6"/>
          </a:solidFill>
          <a:ln w="12700" cap="flat" cmpd="sng" algn="ctr">
            <a:solidFill>
              <a:srgbClr val="0E96AC"/>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IN" sz="1300" b="1">
                <a:solidFill>
                  <a:srgbClr val="16223A"/>
                </a:solidFill>
                <a:latin typeface="Calibri"/>
                <a:ea typeface="Calibri"/>
                <a:cs typeface="Calibri"/>
              </a:rPr>
              <a:t>TURN</a:t>
            </a:r>
          </a:p>
        </p:txBody>
      </p:sp>
      <p:sp>
        <p:nvSpPr>
          <p:cNvPr id="31" name="Arr0">
            <a:extLst>
              <a:ext uri="{FF2B5EF4-FFF2-40B4-BE49-F238E27FC236}">
                <a16:creationId xmlns:a16="http://schemas.microsoft.com/office/drawing/2014/main" id="{854A53CA-17C5-4CFF-ADCF-E59608ACE438}"/>
              </a:ext>
            </a:extLst>
          </p:cNvPr>
          <p:cNvSpPr/>
          <p:nvPr/>
        </p:nvSpPr>
        <p:spPr>
          <a:xfrm>
            <a:off x="72644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2" name="Arr1">
            <a:extLst>
              <a:ext uri="{FF2B5EF4-FFF2-40B4-BE49-F238E27FC236}">
                <a16:creationId xmlns:a16="http://schemas.microsoft.com/office/drawing/2014/main" id="{011F0A9F-950A-45D7-A79A-BADB16577606}"/>
              </a:ext>
            </a:extLst>
          </p:cNvPr>
          <p:cNvSpPr/>
          <p:nvPr/>
        </p:nvSpPr>
        <p:spPr>
          <a:xfrm>
            <a:off x="82550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3" name="Arr2">
            <a:extLst>
              <a:ext uri="{FF2B5EF4-FFF2-40B4-BE49-F238E27FC236}">
                <a16:creationId xmlns:a16="http://schemas.microsoft.com/office/drawing/2014/main" id="{65FD6BA2-FF5F-400F-8B69-726189B56862}"/>
              </a:ext>
            </a:extLst>
          </p:cNvPr>
          <p:cNvSpPr/>
          <p:nvPr/>
        </p:nvSpPr>
        <p:spPr>
          <a:xfrm>
            <a:off x="92456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4" name="Arr3">
            <a:extLst>
              <a:ext uri="{FF2B5EF4-FFF2-40B4-BE49-F238E27FC236}">
                <a16:creationId xmlns:a16="http://schemas.microsoft.com/office/drawing/2014/main" id="{EF0861AC-0B95-4D77-BA3A-39B94625355C}"/>
              </a:ext>
            </a:extLst>
          </p:cNvPr>
          <p:cNvSpPr/>
          <p:nvPr/>
        </p:nvSpPr>
        <p:spPr>
          <a:xfrm>
            <a:off x="10236200" y="2641600"/>
            <a:ext cx="279400" cy="203200"/>
          </a:xfrm>
          <a:prstGeom prst="rightArrow">
            <a:avLst/>
          </a:prstGeom>
          <a:solidFill>
            <a:srgbClr val="0E96AC"/>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35" name="RightCap">
            <a:extLst>
              <a:ext uri="{FF2B5EF4-FFF2-40B4-BE49-F238E27FC236}">
                <a16:creationId xmlns:a16="http://schemas.microsoft.com/office/drawing/2014/main" id="{1D352562-1583-4A2A-8FB0-A5F8D6FC580A}"/>
              </a:ext>
            </a:extLst>
          </p:cNvPr>
          <p:cNvSpPr txBox="1"/>
          <p:nvPr/>
        </p:nvSpPr>
        <p:spPr>
          <a:xfrm>
            <a:off x="6527800" y="3251200"/>
            <a:ext cx="5080000" cy="402336"/>
          </a:xfrm>
          <a:prstGeom prst="rect">
            <a:avLst/>
          </a:prstGeom>
          <a:noFill/>
        </p:spPr>
        <p:txBody>
          <a:bodyPr vertOverflow="overflow" vert="horz" wrap="square" rtlCol="0" anchor="t" anchorCtr="0">
            <a:noAutofit/>
          </a:bodyPr>
          <a:lstStyle/>
          <a:p>
            <a:pPr marL="0" indent="0">
              <a:buNone/>
            </a:pPr>
            <a:r>
              <a:rPr lang="en-US" sz="1000" dirty="0">
                <a:solidFill>
                  <a:srgbClr val="3A4658"/>
                </a:solidFill>
                <a:latin typeface="Calibri" pitchFamily="34" charset="0"/>
              </a:rPr>
              <a:t>A sustained current rise trips STALL; the robot reverses, turns away, then resumes.</a:t>
            </a:r>
          </a:p>
        </p:txBody>
      </p:sp>
      <p:sp>
        <p:nvSpPr>
          <p:cNvPr id="36" name="LearnEye">
            <a:extLst>
              <a:ext uri="{FF2B5EF4-FFF2-40B4-BE49-F238E27FC236}">
                <a16:creationId xmlns:a16="http://schemas.microsoft.com/office/drawing/2014/main" id="{A968E41C-DC93-4198-90D6-3BE8A1F7B0D1}"/>
              </a:ext>
            </a:extLst>
          </p:cNvPr>
          <p:cNvSpPr txBox="1"/>
          <p:nvPr/>
        </p:nvSpPr>
        <p:spPr>
          <a:xfrm>
            <a:off x="762000" y="3810000"/>
            <a:ext cx="49022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GAIT PARAMETERS</a:t>
            </a:r>
          </a:p>
        </p:txBody>
      </p:sp>
      <p:sp>
        <p:nvSpPr>
          <p:cNvPr id="37" name="LearnBul">
            <a:extLst>
              <a:ext uri="{FF2B5EF4-FFF2-40B4-BE49-F238E27FC236}">
                <a16:creationId xmlns:a16="http://schemas.microsoft.com/office/drawing/2014/main" id="{D174C345-5C6B-4F4C-B12D-913378F38B4A}"/>
              </a:ext>
            </a:extLst>
          </p:cNvPr>
          <p:cNvSpPr txBox="1"/>
          <p:nvPr/>
        </p:nvSpPr>
        <p:spPr>
          <a:xfrm>
            <a:off x="762000" y="4114800"/>
            <a:ext cx="4902200" cy="2159000"/>
          </a:xfrm>
          <a:prstGeom prst="rect">
            <a:avLst/>
          </a:prstGeom>
          <a:noFill/>
        </p:spPr>
        <p:txBody>
          <a:bodyPr vertOverflow="overflow" vert="horz" wrap="square" rtlCol="0" anchor="t" anchorCtr="0">
            <a:noAutofit/>
          </a:bodyPr>
          <a:lstStyle/>
          <a:p>
            <a:pPr marL="200000" indent="-200000">
              <a:spcBef>
                <a:spcPts val="600"/>
              </a:spcBef>
              <a:buClr>
                <a:srgbClr val="0E96AC"/>
              </a:buClr>
              <a:buFont typeface="Arial"/>
              <a:buChar char="•"/>
            </a:pPr>
            <a:r>
              <a:rPr lang="en-US" sz="1400" dirty="0">
                <a:solidFill>
                  <a:srgbClr val="16223A"/>
                </a:solidFill>
                <a:latin typeface="Calibri" pitchFamily="34" charset="0"/>
              </a:rPr>
              <a:t>Control loop 50 Hz</a:t>
            </a:r>
          </a:p>
          <a:p>
            <a:pPr marL="200000" indent="-200000">
              <a:spcBef>
                <a:spcPts val="600"/>
              </a:spcBef>
              <a:buClr>
                <a:srgbClr val="0E96AC"/>
              </a:buClr>
              <a:buFont typeface="Arial"/>
              <a:buChar char="•"/>
            </a:pPr>
            <a:r>
              <a:rPr lang="en-US" sz="1400" dirty="0">
                <a:solidFill>
                  <a:srgbClr val="16223A"/>
                </a:solidFill>
                <a:latin typeface="Calibri" pitchFamily="34" charset="0"/>
              </a:rPr>
              <a:t>Amplitude 400 encoder ticks ≈ 35°</a:t>
            </a:r>
          </a:p>
          <a:p>
            <a:pPr marL="200000" indent="-200000">
              <a:spcBef>
                <a:spcPts val="600"/>
              </a:spcBef>
              <a:buClr>
                <a:srgbClr val="0E96AC"/>
              </a:buClr>
              <a:buFont typeface="Arial"/>
              <a:buChar char="•"/>
            </a:pPr>
            <a:r>
              <a:rPr lang="en-US" sz="1400" dirty="0">
                <a:solidFill>
                  <a:srgbClr val="16223A"/>
                </a:solidFill>
                <a:latin typeface="Calibri" pitchFamily="34" charset="0"/>
              </a:rPr>
              <a:t>Phase offset 72° per joint, 10 joints</a:t>
            </a:r>
          </a:p>
          <a:p>
            <a:pPr marL="200000" indent="-200000">
              <a:spcBef>
                <a:spcPts val="600"/>
              </a:spcBef>
              <a:buClr>
                <a:srgbClr val="0E96AC"/>
              </a:buClr>
              <a:buFont typeface="Arial"/>
              <a:buChar char="•"/>
            </a:pPr>
            <a:r>
              <a:rPr lang="en-US" sz="1400" dirty="0">
                <a:solidFill>
                  <a:srgbClr val="16223A"/>
                </a:solidFill>
                <a:latin typeface="Calibri" pitchFamily="34" charset="0"/>
              </a:rPr>
              <a:t>Goal position written as a sync payload</a:t>
            </a:r>
          </a:p>
          <a:p>
            <a:pPr marL="200000" indent="-200000">
              <a:spcBef>
                <a:spcPts val="600"/>
              </a:spcBef>
              <a:buClr>
                <a:srgbClr val="0E96AC"/>
              </a:buClr>
              <a:buFont typeface="Arial"/>
              <a:buChar char="•"/>
            </a:pPr>
            <a:r>
              <a:rPr lang="en-US" sz="1400" dirty="0">
                <a:solidFill>
                  <a:srgbClr val="16223A"/>
                </a:solidFill>
                <a:latin typeface="Calibri" pitchFamily="34" charset="0"/>
              </a:rPr>
              <a:t>Gait continues if the IMU is absent</a:t>
            </a:r>
          </a:p>
        </p:txBody>
      </p:sp>
      <p:sp>
        <p:nvSpPr>
          <p:cNvPr id="38" name="DecEye">
            <a:extLst>
              <a:ext uri="{FF2B5EF4-FFF2-40B4-BE49-F238E27FC236}">
                <a16:creationId xmlns:a16="http://schemas.microsoft.com/office/drawing/2014/main" id="{760A87DD-1FD4-4129-AFBF-9525367131E6}"/>
              </a:ext>
            </a:extLst>
          </p:cNvPr>
          <p:cNvSpPr txBox="1"/>
          <p:nvPr/>
        </p:nvSpPr>
        <p:spPr>
          <a:xfrm>
            <a:off x="6565900" y="3835400"/>
            <a:ext cx="4826000" cy="228600"/>
          </a:xfrm>
          <a:prstGeom prst="rect">
            <a:avLst/>
          </a:prstGeom>
          <a:noFill/>
        </p:spPr>
        <p:txBody>
          <a:bodyPr vertOverflow="overflow" vert="horz" wrap="square" rtlCol="0" anchor="t" anchorCtr="0">
            <a:noAutofit/>
          </a:bodyPr>
          <a:lstStyle/>
          <a:p>
            <a:pPr marL="0" indent="0">
              <a:buNone/>
            </a:pPr>
            <a:r>
              <a:rPr lang="en-US" sz="1100" b="1" spc="200" dirty="0">
                <a:solidFill>
                  <a:srgbClr val="0E96AC"/>
                </a:solidFill>
                <a:latin typeface="Calibri" pitchFamily="34" charset="0"/>
              </a:rPr>
              <a:t>OBSTACLE DETECTION</a:t>
            </a:r>
          </a:p>
        </p:txBody>
      </p:sp>
      <p:sp>
        <p:nvSpPr>
          <p:cNvPr id="39" name="DecTitle">
            <a:extLst>
              <a:ext uri="{FF2B5EF4-FFF2-40B4-BE49-F238E27FC236}">
                <a16:creationId xmlns:a16="http://schemas.microsoft.com/office/drawing/2014/main" id="{C7311885-27E4-43E5-B854-ED56274278BD}"/>
              </a:ext>
            </a:extLst>
          </p:cNvPr>
          <p:cNvSpPr txBox="1"/>
          <p:nvPr/>
        </p:nvSpPr>
        <p:spPr>
          <a:xfrm>
            <a:off x="6565900" y="4102100"/>
            <a:ext cx="4826000" cy="431800"/>
          </a:xfrm>
          <a:prstGeom prst="rect">
            <a:avLst/>
          </a:prstGeom>
          <a:noFill/>
        </p:spPr>
        <p:txBody>
          <a:bodyPr vertOverflow="overflow" vert="horz" wrap="square" rtlCol="0" anchor="t" anchorCtr="0">
            <a:noAutofit/>
          </a:bodyPr>
          <a:lstStyle/>
          <a:p>
            <a:pPr marL="0" indent="0">
              <a:buNone/>
            </a:pPr>
            <a:r>
              <a:rPr lang="en-US" sz="2200" b="1" dirty="0">
                <a:solidFill>
                  <a:srgbClr val="FFFFFF"/>
                </a:solidFill>
                <a:latin typeface="Calibri" pitchFamily="34" charset="0"/>
              </a:rPr>
              <a:t>Proprioceptive — no external sensor</a:t>
            </a:r>
          </a:p>
        </p:txBody>
      </p:sp>
      <p:sp>
        <p:nvSpPr>
          <p:cNvPr id="40" name="DecReason">
            <a:extLst>
              <a:ext uri="{FF2B5EF4-FFF2-40B4-BE49-F238E27FC236}">
                <a16:creationId xmlns:a16="http://schemas.microsoft.com/office/drawing/2014/main" id="{1D6D8D35-098D-49CE-A5B5-D938206E0D70}"/>
              </a:ext>
            </a:extLst>
          </p:cNvPr>
          <p:cNvSpPr txBox="1"/>
          <p:nvPr/>
        </p:nvSpPr>
        <p:spPr>
          <a:xfrm>
            <a:off x="6565900" y="4597400"/>
            <a:ext cx="4826000" cy="1676400"/>
          </a:xfrm>
          <a:prstGeom prst="rect">
            <a:avLst/>
          </a:prstGeom>
          <a:noFill/>
        </p:spPr>
        <p:txBody>
          <a:bodyPr vertOverflow="overflow" vert="horz" wrap="square" rtlCol="0" anchor="t" anchorCtr="0">
            <a:noAutofit/>
          </a:bodyPr>
          <a:lstStyle/>
          <a:p>
            <a:pPr marL="0" indent="0">
              <a:lnSpc>
                <a:spcPct val="112000"/>
              </a:lnSpc>
              <a:buNone/>
            </a:pPr>
            <a:r>
              <a:rPr lang="en-US" sz="1400" dirty="0">
                <a:solidFill>
                  <a:srgbClr val="D6DEE8"/>
                </a:solidFill>
                <a:latin typeface="Calibri" pitchFamily="34" charset="0"/>
              </a:rPr>
              <a:t>Collision is inferred from PRESENT_CURRENT at address 69 rather than a rangefinder. The threshold is still a placeholder at 1200 mA and must be calibrated against a measured free-run and stall current before it can be trusted.</a:t>
            </a:r>
          </a:p>
        </p:txBody>
      </p:sp>
    </p:spTree>
    <p:extLst>
      <p:ext uri="{BB962C8B-B14F-4D97-AF65-F5344CB8AC3E}">
        <p14:creationId xmlns:p14="http://schemas.microsoft.com/office/powerpoint/2010/main" val="50491747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VERIFICATION &amp; MOCK-MODE RESULTS</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What Has Been Proven Without Hardware</a:t>
            </a:r>
            <a:endParaRPr lang="en-US" sz="3000" dirty="0"/>
          </a:p>
        </p:txBody>
      </p:sp>
      <p:sp>
        <p:nvSpPr>
          <p:cNvPr id="10" name="Shape 8"/>
          <p:cNvSpPr/>
          <p:nvPr/>
        </p:nvSpPr>
        <p:spPr>
          <a:xfrm>
            <a:off x="548640"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1" name="Shape 9"/>
          <p:cNvSpPr/>
          <p:nvPr/>
        </p:nvSpPr>
        <p:spPr>
          <a:xfrm>
            <a:off x="822960" y="1901952"/>
            <a:ext cx="713232" cy="713232"/>
          </a:xfrm>
          <a:prstGeom prst="ellipse">
            <a:avLst/>
          </a:prstGeom>
          <a:solidFill>
            <a:srgbClr val="1F9D55"/>
          </a:solidFill>
          <a:ln/>
        </p:spPr>
      </p:sp>
      <p:pic>
        <p:nvPicPr>
          <p:cNvPr id="12" name="Image 0" descr="preencoded.png"/>
          <p:cNvPicPr>
            <a:picLocks noChangeAspect="1"/>
          </p:cNvPicPr>
          <p:nvPr/>
        </p:nvPicPr>
        <p:blipFill>
          <a:blip r:embed="rId3"/>
          <a:stretch>
            <a:fillRect/>
          </a:stretch>
        </p:blipFill>
        <p:spPr>
          <a:xfrm>
            <a:off x="1001268" y="2080260"/>
            <a:ext cx="356616" cy="356616"/>
          </a:xfrm>
          <a:prstGeom prst="rect">
            <a:avLst/>
          </a:prstGeom>
        </p:spPr>
      </p:pic>
      <p:pic>
        <p:nvPicPr>
          <p:cNvPr id="13" name="Image 1" descr="preencoded.png"/>
          <p:cNvPicPr>
            <a:picLocks noChangeAspect="1"/>
          </p:cNvPicPr>
          <p:nvPr/>
        </p:nvPicPr>
        <p:blipFill>
          <a:blip r:embed="rId4"/>
          <a:stretch>
            <a:fillRect/>
          </a:stretch>
        </p:blipFill>
        <p:spPr>
          <a:xfrm>
            <a:off x="3511296" y="1901952"/>
            <a:ext cx="310896" cy="310896"/>
          </a:xfrm>
          <a:prstGeom prst="rect">
            <a:avLst/>
          </a:prstGeom>
        </p:spPr>
      </p:pic>
      <p:sp>
        <p:nvSpPr>
          <p:cNvPr id="14" name="Text 10"/>
          <p:cNvSpPr/>
          <p:nvPr/>
        </p:nvSpPr>
        <p:spPr>
          <a:xfrm>
            <a:off x="822960"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v6 CAD self-check</a:t>
            </a:r>
            <a:endParaRPr lang="en-US" sz="1500" dirty="0"/>
          </a:p>
        </p:txBody>
      </p:sp>
      <p:sp>
        <p:nvSpPr>
          <p:cNvPr id="15" name="Text 11"/>
          <p:cNvSpPr/>
          <p:nvPr/>
        </p:nvSpPr>
        <p:spPr>
          <a:xfrm>
            <a:off x="822960"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Model refuses to export if its assumptions break.</a:t>
            </a:r>
            <a:endParaRPr lang="en-US" sz="1150" dirty="0"/>
          </a:p>
        </p:txBody>
      </p:sp>
      <p:sp>
        <p:nvSpPr>
          <p:cNvPr id="16" name="Shape 12"/>
          <p:cNvSpPr/>
          <p:nvPr/>
        </p:nvSpPr>
        <p:spPr>
          <a:xfrm>
            <a:off x="4370832"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17" name="Shape 13"/>
          <p:cNvSpPr/>
          <p:nvPr/>
        </p:nvSpPr>
        <p:spPr>
          <a:xfrm>
            <a:off x="4645152" y="1901952"/>
            <a:ext cx="713232" cy="713232"/>
          </a:xfrm>
          <a:prstGeom prst="ellipse">
            <a:avLst/>
          </a:prstGeom>
          <a:solidFill>
            <a:srgbClr val="1F9D55"/>
          </a:solidFill>
          <a:ln/>
        </p:spPr>
      </p:sp>
      <p:pic>
        <p:nvPicPr>
          <p:cNvPr id="18" name="Image 2" descr="preencoded.png"/>
          <p:cNvPicPr>
            <a:picLocks noChangeAspect="1"/>
          </p:cNvPicPr>
          <p:nvPr/>
        </p:nvPicPr>
        <p:blipFill>
          <a:blip r:embed="rId5"/>
          <a:stretch>
            <a:fillRect/>
          </a:stretch>
        </p:blipFill>
        <p:spPr>
          <a:xfrm>
            <a:off x="4823460" y="2080260"/>
            <a:ext cx="356616" cy="356616"/>
          </a:xfrm>
          <a:prstGeom prst="rect">
            <a:avLst/>
          </a:prstGeom>
        </p:spPr>
      </p:pic>
      <p:pic>
        <p:nvPicPr>
          <p:cNvPr id="19" name="Image 3" descr="preencoded.png"/>
          <p:cNvPicPr>
            <a:picLocks noChangeAspect="1"/>
          </p:cNvPicPr>
          <p:nvPr/>
        </p:nvPicPr>
        <p:blipFill>
          <a:blip r:embed="rId4"/>
          <a:stretch>
            <a:fillRect/>
          </a:stretch>
        </p:blipFill>
        <p:spPr>
          <a:xfrm>
            <a:off x="7333488" y="1901952"/>
            <a:ext cx="310896" cy="310896"/>
          </a:xfrm>
          <a:prstGeom prst="rect">
            <a:avLst/>
          </a:prstGeom>
        </p:spPr>
      </p:pic>
      <p:sp>
        <p:nvSpPr>
          <p:cNvPr id="20" name="Text 14"/>
          <p:cNvSpPr/>
          <p:nvPr/>
        </p:nvSpPr>
        <p:spPr>
          <a:xfrm>
            <a:off x="4645152"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Mock mode — SURGE_MOCK=1</a:t>
            </a:r>
            <a:endParaRPr lang="en-US" sz="1500" dirty="0"/>
          </a:p>
        </p:txBody>
      </p:sp>
      <p:sp>
        <p:nvSpPr>
          <p:cNvPr id="21" name="Text 15"/>
          <p:cNvSpPr/>
          <p:nvPr/>
        </p:nvSpPr>
        <p:spPr>
          <a:xfrm>
            <a:off x="4645152"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Full gait stack runs with no servos attached.</a:t>
            </a:r>
            <a:endParaRPr lang="en-US" sz="1150" dirty="0"/>
          </a:p>
        </p:txBody>
      </p:sp>
      <p:sp>
        <p:nvSpPr>
          <p:cNvPr id="22" name="Shape 16"/>
          <p:cNvSpPr/>
          <p:nvPr/>
        </p:nvSpPr>
        <p:spPr>
          <a:xfrm>
            <a:off x="8193024" y="1627632"/>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3" name="Shape 17"/>
          <p:cNvSpPr/>
          <p:nvPr/>
        </p:nvSpPr>
        <p:spPr>
          <a:xfrm>
            <a:off x="8467344" y="1901952"/>
            <a:ext cx="713232" cy="713232"/>
          </a:xfrm>
          <a:prstGeom prst="ellipse">
            <a:avLst/>
          </a:prstGeom>
          <a:solidFill>
            <a:srgbClr val="1F9D55"/>
          </a:solidFill>
          <a:ln/>
        </p:spPr>
      </p:sp>
      <p:pic>
        <p:nvPicPr>
          <p:cNvPr id="24" name="Image 4" descr="preencoded.png"/>
          <p:cNvPicPr>
            <a:picLocks noChangeAspect="1"/>
          </p:cNvPicPr>
          <p:nvPr/>
        </p:nvPicPr>
        <p:blipFill>
          <a:blip r:embed="rId6"/>
          <a:stretch>
            <a:fillRect/>
          </a:stretch>
        </p:blipFill>
        <p:spPr>
          <a:xfrm>
            <a:off x="8645652" y="2080260"/>
            <a:ext cx="356616" cy="356616"/>
          </a:xfrm>
          <a:prstGeom prst="rect">
            <a:avLst/>
          </a:prstGeom>
        </p:spPr>
      </p:pic>
      <p:pic>
        <p:nvPicPr>
          <p:cNvPr id="25" name="Image 5" descr="preencoded.png"/>
          <p:cNvPicPr>
            <a:picLocks noChangeAspect="1"/>
          </p:cNvPicPr>
          <p:nvPr/>
        </p:nvPicPr>
        <p:blipFill>
          <a:blip r:embed="rId4"/>
          <a:stretch>
            <a:fillRect/>
          </a:stretch>
        </p:blipFill>
        <p:spPr>
          <a:xfrm>
            <a:off x="11155680" y="1901952"/>
            <a:ext cx="310896" cy="310896"/>
          </a:xfrm>
          <a:prstGeom prst="rect">
            <a:avLst/>
          </a:prstGeom>
        </p:spPr>
      </p:pic>
      <p:sp>
        <p:nvSpPr>
          <p:cNvPr id="26" name="Text 18"/>
          <p:cNvSpPr/>
          <p:nvPr/>
        </p:nvSpPr>
        <p:spPr>
          <a:xfrm>
            <a:off x="8467344" y="2743200"/>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Wokwi simulation</a:t>
            </a:r>
            <a:endParaRPr lang="en-US" sz="1500" dirty="0"/>
          </a:p>
        </p:txBody>
      </p:sp>
      <p:sp>
        <p:nvSpPr>
          <p:cNvPr id="27" name="Text 19"/>
          <p:cNvSpPr/>
          <p:nvPr/>
        </p:nvSpPr>
        <p:spPr>
          <a:xfrm>
            <a:off x="8467344" y="3108960"/>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ESP32, servos, IMU and display validated virtually.</a:t>
            </a:r>
            <a:endParaRPr lang="en-US" sz="1150" dirty="0"/>
          </a:p>
        </p:txBody>
      </p:sp>
      <p:sp>
        <p:nvSpPr>
          <p:cNvPr id="28" name="Shape 20"/>
          <p:cNvSpPr/>
          <p:nvPr/>
        </p:nvSpPr>
        <p:spPr>
          <a:xfrm>
            <a:off x="548640"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29" name="Shape 21"/>
          <p:cNvSpPr/>
          <p:nvPr/>
        </p:nvSpPr>
        <p:spPr>
          <a:xfrm>
            <a:off x="822960" y="4151376"/>
            <a:ext cx="713232" cy="713232"/>
          </a:xfrm>
          <a:prstGeom prst="ellipse">
            <a:avLst/>
          </a:prstGeom>
          <a:solidFill>
            <a:srgbClr val="1F9D55"/>
          </a:solidFill>
          <a:ln/>
        </p:spPr>
      </p:sp>
      <p:pic>
        <p:nvPicPr>
          <p:cNvPr id="30" name="Image 6" descr="preencoded.png"/>
          <p:cNvPicPr>
            <a:picLocks noChangeAspect="1"/>
          </p:cNvPicPr>
          <p:nvPr/>
        </p:nvPicPr>
        <p:blipFill>
          <a:blip r:embed="rId7"/>
          <a:stretch>
            <a:fillRect/>
          </a:stretch>
        </p:blipFill>
        <p:spPr>
          <a:xfrm>
            <a:off x="1001268" y="4329684"/>
            <a:ext cx="356616" cy="356616"/>
          </a:xfrm>
          <a:prstGeom prst="rect">
            <a:avLst/>
          </a:prstGeom>
        </p:spPr>
      </p:pic>
      <p:pic>
        <p:nvPicPr>
          <p:cNvPr id="31" name="Image 7" descr="preencoded.png"/>
          <p:cNvPicPr>
            <a:picLocks noChangeAspect="1"/>
          </p:cNvPicPr>
          <p:nvPr/>
        </p:nvPicPr>
        <p:blipFill>
          <a:blip r:embed="rId4"/>
          <a:stretch>
            <a:fillRect/>
          </a:stretch>
        </p:blipFill>
        <p:spPr>
          <a:xfrm>
            <a:off x="3511296" y="4151376"/>
            <a:ext cx="310896" cy="310896"/>
          </a:xfrm>
          <a:prstGeom prst="rect">
            <a:avLst/>
          </a:prstGeom>
        </p:spPr>
      </p:pic>
      <p:sp>
        <p:nvSpPr>
          <p:cNvPr id="32" name="Text 22"/>
          <p:cNvSpPr/>
          <p:nvPr/>
        </p:nvSpPr>
        <p:spPr>
          <a:xfrm>
            <a:off x="822960"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PlatformIO — five targets</a:t>
            </a:r>
            <a:endParaRPr lang="en-US" sz="1500" dirty="0"/>
          </a:p>
        </p:txBody>
      </p:sp>
      <p:sp>
        <p:nvSpPr>
          <p:cNvPr id="33" name="Text 23"/>
          <p:cNvSpPr/>
          <p:nvPr/>
        </p:nvSpPr>
        <p:spPr>
          <a:xfrm>
            <a:off x="822960"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All firmware environments compile clean.</a:t>
            </a:r>
            <a:endParaRPr lang="en-US" sz="1150" dirty="0"/>
          </a:p>
        </p:txBody>
      </p:sp>
      <p:sp>
        <p:nvSpPr>
          <p:cNvPr id="34" name="Shape 24"/>
          <p:cNvSpPr/>
          <p:nvPr/>
        </p:nvSpPr>
        <p:spPr>
          <a:xfrm>
            <a:off x="4370832"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35" name="Shape 25"/>
          <p:cNvSpPr/>
          <p:nvPr/>
        </p:nvSpPr>
        <p:spPr>
          <a:xfrm>
            <a:off x="4645152" y="4151376"/>
            <a:ext cx="713232" cy="713232"/>
          </a:xfrm>
          <a:prstGeom prst="ellipse">
            <a:avLst/>
          </a:prstGeom>
          <a:solidFill>
            <a:srgbClr val="1F9D55"/>
          </a:solidFill>
          <a:ln/>
        </p:spPr>
      </p:sp>
      <p:pic>
        <p:nvPicPr>
          <p:cNvPr id="36" name="Image 8" descr="preencoded.png"/>
          <p:cNvPicPr>
            <a:picLocks noChangeAspect="1"/>
          </p:cNvPicPr>
          <p:nvPr/>
        </p:nvPicPr>
        <p:blipFill>
          <a:blip r:embed="rId8"/>
          <a:stretch>
            <a:fillRect/>
          </a:stretch>
        </p:blipFill>
        <p:spPr>
          <a:xfrm>
            <a:off x="4823460" y="4329684"/>
            <a:ext cx="356616" cy="356616"/>
          </a:xfrm>
          <a:prstGeom prst="rect">
            <a:avLst/>
          </a:prstGeom>
        </p:spPr>
      </p:pic>
      <p:pic>
        <p:nvPicPr>
          <p:cNvPr id="37" name="Image 9" descr="preencoded.png"/>
          <p:cNvPicPr>
            <a:picLocks noChangeAspect="1"/>
          </p:cNvPicPr>
          <p:nvPr/>
        </p:nvPicPr>
        <p:blipFill>
          <a:blip r:embed="rId4"/>
          <a:stretch>
            <a:fillRect/>
          </a:stretch>
        </p:blipFill>
        <p:spPr>
          <a:xfrm>
            <a:off x="7333488" y="4151376"/>
            <a:ext cx="310896" cy="310896"/>
          </a:xfrm>
          <a:prstGeom prst="rect">
            <a:avLst/>
          </a:prstGeom>
        </p:spPr>
      </p:pic>
      <p:sp>
        <p:nvSpPr>
          <p:cNvPr id="38" name="Text 26"/>
          <p:cNvSpPr/>
          <p:nvPr/>
        </p:nvSpPr>
        <p:spPr>
          <a:xfrm>
            <a:off x="4645152"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Broadcast smoke test</a:t>
            </a:r>
            <a:endParaRPr lang="en-US" sz="1500" dirty="0"/>
          </a:p>
        </p:txBody>
      </p:sp>
      <p:sp>
        <p:nvSpPr>
          <p:cNvPr id="39" name="Text 27"/>
          <p:cNvSpPr/>
          <p:nvPr/>
        </p:nvSpPr>
        <p:spPr>
          <a:xfrm>
            <a:off x="4645152"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Ten servos driven before any ID was assigned.</a:t>
            </a:r>
            <a:endParaRPr lang="en-US" sz="1150" dirty="0"/>
          </a:p>
        </p:txBody>
      </p:sp>
      <p:sp>
        <p:nvSpPr>
          <p:cNvPr id="40" name="Shape 28"/>
          <p:cNvSpPr/>
          <p:nvPr/>
        </p:nvSpPr>
        <p:spPr>
          <a:xfrm>
            <a:off x="8193024" y="3877056"/>
            <a:ext cx="3529584" cy="1993392"/>
          </a:xfrm>
          <a:prstGeom prst="roundRect">
            <a:avLst>
              <a:gd name="adj" fmla="val 4128"/>
            </a:avLst>
          </a:prstGeom>
          <a:solidFill>
            <a:srgbClr val="FFFFFF"/>
          </a:solidFill>
          <a:ln w="12700">
            <a:solidFill>
              <a:srgbClr val="E2E8F0"/>
            </a:solidFill>
            <a:prstDash val="solid"/>
          </a:ln>
          <a:effectLst>
            <a:outerShdw blurRad="88900" dist="25400" dir="5400000" algn="bl" rotWithShape="0">
              <a:srgbClr val="1A2440">
                <a:alpha val="10000"/>
              </a:srgbClr>
            </a:outerShdw>
          </a:effectLst>
        </p:spPr>
      </p:sp>
      <p:sp>
        <p:nvSpPr>
          <p:cNvPr id="41" name="Shape 29"/>
          <p:cNvSpPr/>
          <p:nvPr/>
        </p:nvSpPr>
        <p:spPr>
          <a:xfrm>
            <a:off x="8467344" y="4151376"/>
            <a:ext cx="713232" cy="713232"/>
          </a:xfrm>
          <a:prstGeom prst="ellipse">
            <a:avLst/>
          </a:prstGeom>
          <a:solidFill>
            <a:srgbClr val="E8821E"/>
          </a:solidFill>
          <a:ln/>
        </p:spPr>
      </p:sp>
      <p:pic>
        <p:nvPicPr>
          <p:cNvPr id="42" name="Image 10" descr="preencoded.png"/>
          <p:cNvPicPr>
            <a:picLocks noChangeAspect="1"/>
          </p:cNvPicPr>
          <p:nvPr/>
        </p:nvPicPr>
        <p:blipFill>
          <a:blip r:embed="rId9"/>
          <a:stretch>
            <a:fillRect/>
          </a:stretch>
        </p:blipFill>
        <p:spPr>
          <a:xfrm>
            <a:off x="8645652" y="4329684"/>
            <a:ext cx="356616" cy="356616"/>
          </a:xfrm>
          <a:prstGeom prst="rect">
            <a:avLst/>
          </a:prstGeom>
        </p:spPr>
      </p:pic>
      <p:pic>
        <p:nvPicPr>
          <p:cNvPr id="43" name="Image 11" descr="preencoded.png"/>
          <p:cNvPicPr>
            <a:picLocks noChangeAspect="1"/>
          </p:cNvPicPr>
          <p:nvPr/>
        </p:nvPicPr>
        <p:blipFill>
          <a:blip r:embed="rId4"/>
          <a:stretch>
            <a:fillRect/>
          </a:stretch>
        </p:blipFill>
        <p:spPr>
          <a:xfrm>
            <a:off x="11155680" y="4151376"/>
            <a:ext cx="310896" cy="310896"/>
          </a:xfrm>
          <a:prstGeom prst="rect">
            <a:avLst/>
          </a:prstGeom>
        </p:spPr>
      </p:pic>
      <p:sp>
        <p:nvSpPr>
          <p:cNvPr id="44" name="Text 30"/>
          <p:cNvSpPr/>
          <p:nvPr/>
        </p:nvSpPr>
        <p:spPr>
          <a:xfrm>
            <a:off x="8467344" y="4992624"/>
            <a:ext cx="3026664" cy="365760"/>
          </a:xfrm>
          <a:prstGeom prst="rect">
            <a:avLst/>
          </a:prstGeom>
          <a:noFill/>
          <a:ln/>
        </p:spPr>
        <p:txBody>
          <a:bodyPr wrap="square" lIns="0" tIns="0" rIns="0" bIns="0" rtlCol="0" anchor="ctr"/>
          <a:lstStyle/>
          <a:p>
            <a:pPr marL="0" indent="0">
              <a:buNone/>
            </a:pPr>
            <a:r>
              <a:rPr lang="en-US" sz="1500" b="1" dirty="0">
                <a:solidFill>
                  <a:srgbClr val="16223A"/>
                </a:solidFill>
                <a:latin typeface="Calibri" pitchFamily="34" charset="0"/>
                <a:ea typeface="Calibri" pitchFamily="34" charset="-122"/>
                <a:cs typeface="Calibri" pitchFamily="34" charset="-120"/>
              </a:rPr>
              <a:t>Hardware verification</a:t>
            </a:r>
            <a:endParaRPr lang="en-US" sz="1500" dirty="0"/>
          </a:p>
        </p:txBody>
      </p:sp>
      <p:sp>
        <p:nvSpPr>
          <p:cNvPr id="45" name="Text 31"/>
          <p:cNvSpPr/>
          <p:nvPr/>
        </p:nvSpPr>
        <p:spPr>
          <a:xfrm>
            <a:off x="8467344" y="5358384"/>
            <a:ext cx="3026664" cy="457200"/>
          </a:xfrm>
          <a:prstGeom prst="rect">
            <a:avLst/>
          </a:prstGeom>
          <a:noFill/>
          <a:ln/>
        </p:spPr>
        <p:txBody>
          <a:bodyPr wrap="square" lIns="0" tIns="0" rIns="0" bIns="0" rtlCol="0" anchor="ctr"/>
          <a:lstStyle/>
          <a:p>
            <a:pPr marL="0" indent="0">
              <a:lnSpc>
                <a:spcPct val="105000"/>
              </a:lnSpc>
              <a:buNone/>
            </a:pPr>
            <a:r>
              <a:rPr lang="en-US" sz="1150" dirty="0">
                <a:solidFill>
                  <a:srgbClr val="6B7890"/>
                </a:solidFill>
                <a:latin typeface="Calibri" pitchFamily="34" charset="0"/>
                <a:ea typeface="Calibri" pitchFamily="34" charset="-122"/>
                <a:cs typeface="Calibri" pitchFamily="34" charset="-120"/>
              </a:rPr>
              <a:t>Ping, stall calibration and gait still outstanding.</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100" name="bg_top"/>
          <p:cNvSpPr>
            <a:spLocks noGrp="1"/>
          </p:cNvSpPr>
          <p:nvPr/>
        </p:nvSpPr>
        <p:spPr>
          <a:xfrm>
            <a:off x="0" y="0"/>
            <a:ext cx="12192000" cy="1397000"/>
          </a:xfrm>
          <a:prstGeom prst="rect">
            <a:avLst/>
          </a:prstGeom>
          <a:solidFill>
            <a:srgbClr val="F4F6F9"/>
          </a:solidFill>
          <a:ln>
            <a:noFill/>
          </a:ln>
        </p:spPr>
        <p:txBody>
          <a:bodyPr/>
          <a:lstStyle/>
          <a:p>
            <a:endParaRPr lang="en-US"/>
          </a:p>
        </p:txBody>
      </p:sp>
      <p:sp>
        <p:nvSpPr>
          <p:cNvPr id="101" name="bg_body"/>
          <p:cNvSpPr>
            <a:spLocks noGrp="1"/>
          </p:cNvSpPr>
          <p:nvPr/>
        </p:nvSpPr>
        <p:spPr>
          <a:xfrm>
            <a:off x="0" y="1397000"/>
            <a:ext cx="12192000" cy="5461000"/>
          </a:xfrm>
          <a:prstGeom prst="rect">
            <a:avLst/>
          </a:prstGeom>
          <a:solidFill>
            <a:srgbClr val="FFFFFF"/>
          </a:solidFill>
          <a:ln>
            <a:noFill/>
          </a:ln>
        </p:spPr>
        <p:txBody>
          <a:bodyPr/>
          <a:lstStyle/>
          <a:p>
            <a:endParaRPr lang="en-US"/>
          </a:p>
        </p:txBody>
      </p:sp>
      <p:sp>
        <p:nvSpPr>
          <p:cNvPr id="102" name="accent_bar"/>
          <p:cNvSpPr>
            <a:spLocks noGrp="1"/>
          </p:cNvSpPr>
          <p:nvPr/>
        </p:nvSpPr>
        <p:spPr>
          <a:xfrm>
            <a:off x="0" y="0"/>
            <a:ext cx="12192000" cy="63500"/>
          </a:xfrm>
          <a:prstGeom prst="rect">
            <a:avLst/>
          </a:prstGeom>
          <a:solidFill>
            <a:srgbClr val="0E96AC"/>
          </a:solidFill>
          <a:ln>
            <a:noFill/>
          </a:ln>
        </p:spPr>
        <p:txBody>
          <a:bodyPr/>
          <a:lstStyle/>
          <a:p>
            <a:endParaRPr lang="en-US"/>
          </a:p>
        </p:txBody>
      </p:sp>
      <p:sp>
        <p:nvSpPr>
          <p:cNvPr id="103" name="subtitle"/>
          <p:cNvSpPr txBox="1">
            <a:spLocks noGrp="1"/>
          </p:cNvSpPr>
          <p:nvPr/>
        </p:nvSpPr>
        <p:spPr>
          <a:xfrm>
            <a:off x="546100" y="177800"/>
            <a:ext cx="8636000" cy="254000"/>
          </a:xfrm>
          <a:prstGeom prst="rect">
            <a:avLst/>
          </a:prstGeom>
          <a:noFill/>
          <a:ln>
            <a:noFill/>
          </a:ln>
        </p:spPr>
        <p:txBody>
          <a:bodyPr anchor="t">
            <a:normAutofit lnSpcReduction="10000"/>
          </a:bodyPr>
          <a:lstStyle/>
          <a:p>
            <a:pPr marL="0" indent="0">
              <a:buNone/>
            </a:pPr>
            <a:r>
              <a:rPr lang="en-IN" sz="1100" b="1" kern="0" spc="300" dirty="0">
                <a:solidFill>
                  <a:srgbClr val="0E96AC"/>
                </a:solidFill>
                <a:latin typeface="Calibri"/>
              </a:rPr>
              <a:t>INVENTORY, BUDGET &amp; PROCUREMENT GAPS</a:t>
            </a:r>
          </a:p>
        </p:txBody>
      </p:sp>
      <p:sp>
        <p:nvSpPr>
          <p:cNvPr id="104" name="title"/>
          <p:cNvSpPr txBox="1">
            <a:spLocks noGrp="1"/>
          </p:cNvSpPr>
          <p:nvPr/>
        </p:nvSpPr>
        <p:spPr>
          <a:xfrm>
            <a:off x="546100" y="406400"/>
            <a:ext cx="11049000" cy="660400"/>
          </a:xfrm>
          <a:prstGeom prst="rect">
            <a:avLst/>
          </a:prstGeom>
          <a:noFill/>
          <a:ln>
            <a:noFill/>
          </a:ln>
        </p:spPr>
        <p:txBody>
          <a:bodyPr anchor="t">
            <a:normAutofit/>
          </a:bodyPr>
          <a:lstStyle/>
          <a:p>
            <a:pPr marL="0" indent="0">
              <a:buNone/>
            </a:pPr>
            <a:r>
              <a:rPr lang="en-IN" sz="2800" b="1" dirty="0">
                <a:solidFill>
                  <a:srgbClr val="16223A"/>
                </a:solidFill>
                <a:latin typeface="Calibri"/>
              </a:rPr>
              <a:t>What We Hold, What We Still Need</a:t>
            </a:r>
          </a:p>
        </p:txBody>
      </p:sp>
      <p:sp>
        <p:nvSpPr>
          <p:cNvPr id="105" name="divider"/>
          <p:cNvSpPr>
            <a:spLocks noGrp="1"/>
          </p:cNvSpPr>
          <p:nvPr/>
        </p:nvSpPr>
        <p:spPr>
          <a:xfrm>
            <a:off x="546100" y="1320800"/>
            <a:ext cx="11099800" cy="25400"/>
          </a:xfrm>
          <a:prstGeom prst="rect">
            <a:avLst/>
          </a:prstGeom>
          <a:solidFill>
            <a:srgbClr val="0E96AC"/>
          </a:solidFill>
          <a:ln>
            <a:noFill/>
          </a:ln>
        </p:spPr>
        <p:txBody>
          <a:bodyPr/>
          <a:lstStyle/>
          <a:p>
            <a:endParaRPr lang="en-US"/>
          </a:p>
        </p:txBody>
      </p:sp>
      <p:sp>
        <p:nvSpPr>
          <p:cNvPr id="110" name="s1_bg"/>
          <p:cNvSpPr>
            <a:spLocks noGrp="1"/>
          </p:cNvSpPr>
          <p:nvPr/>
        </p:nvSpPr>
        <p:spPr>
          <a:xfrm>
            <a:off x="546100" y="1447800"/>
            <a:ext cx="11099800" cy="711200"/>
          </a:xfrm>
          <a:prstGeom prst="roundRect">
            <a:avLst>
              <a:gd name="adj" fmla="val 12000"/>
            </a:avLst>
          </a:prstGeom>
          <a:solidFill>
            <a:srgbClr val="EBF8FA"/>
          </a:solidFill>
          <a:ln>
            <a:noFill/>
          </a:ln>
        </p:spPr>
        <p:txBody>
          <a:bodyPr/>
          <a:lstStyle/>
          <a:p>
            <a:endParaRPr lang="en-US"/>
          </a:p>
        </p:txBody>
      </p:sp>
      <p:sp>
        <p:nvSpPr>
          <p:cNvPr id="111" name="s1_accent"/>
          <p:cNvSpPr>
            <a:spLocks noGrp="1"/>
          </p:cNvSpPr>
          <p:nvPr/>
        </p:nvSpPr>
        <p:spPr>
          <a:xfrm>
            <a:off x="546100" y="1447800"/>
            <a:ext cx="63500" cy="711200"/>
          </a:xfrm>
          <a:prstGeom prst="rect">
            <a:avLst/>
          </a:prstGeom>
          <a:solidFill>
            <a:srgbClr val="0E96AC"/>
          </a:solidFill>
          <a:ln>
            <a:noFill/>
          </a:ln>
        </p:spPr>
        <p:txBody>
          <a:bodyPr/>
          <a:lstStyle/>
          <a:p>
            <a:endParaRPr lang="en-US"/>
          </a:p>
        </p:txBody>
      </p:sp>
      <p:sp>
        <p:nvSpPr>
          <p:cNvPr id="112" name="s1_text"/>
          <p:cNvSpPr txBox="1">
            <a:spLocks noGrp="1"/>
          </p:cNvSpPr>
          <p:nvPr/>
        </p:nvSpPr>
        <p:spPr>
          <a:xfrm>
            <a:off x="736600" y="1473200"/>
            <a:ext cx="10795000" cy="660400"/>
          </a:xfrm>
          <a:prstGeom prst="rect">
            <a:avLst/>
          </a:prstGeom>
          <a:noFill/>
          <a:ln>
            <a:noFill/>
          </a:ln>
        </p:spPr>
        <p:txBody>
          <a:bodyPr anchor="ctr">
            <a:normAutofit lnSpcReduction="10000"/>
          </a:bodyPr>
          <a:lstStyle/>
          <a:p>
            <a:pPr marL="0" indent="0">
              <a:buNone/>
            </a:pPr>
            <a:r>
              <a:rPr lang="en-IN" sz="1300" b="1" dirty="0">
                <a:solidFill>
                  <a:srgbClr val="16223A"/>
                </a:solidFill>
                <a:latin typeface="Calibri"/>
              </a:rPr>
              <a:t>Budget Position: Gen 1 spend was approximately ₹33,760 of the ₹1,00,000 SURGE grant. Remaining procurement is estimated at ₹10,200 and is almost entirely consumables and safety hardware — the expensive actuator and compute line items are already held.</a:t>
            </a:r>
          </a:p>
        </p:txBody>
      </p:sp>
      <p:sp>
        <p:nvSpPr>
          <p:cNvPr id="120" name="card0_bg"/>
          <p:cNvSpPr>
            <a:spLocks noGrp="1"/>
          </p:cNvSpPr>
          <p:nvPr/>
        </p:nvSpPr>
        <p:spPr>
          <a:xfrm>
            <a:off x="546100" y="2260600"/>
            <a:ext cx="3568700" cy="1714500"/>
          </a:xfrm>
          <a:prstGeom prst="roundRect">
            <a:avLst>
              <a:gd name="adj" fmla="val 10000"/>
            </a:avLst>
          </a:prstGeom>
          <a:solidFill>
            <a:srgbClr val="F0FBF4"/>
          </a:solidFill>
          <a:ln w="15000">
            <a:solidFill>
              <a:srgbClr val="1E7A3E"/>
            </a:solidFill>
          </a:ln>
        </p:spPr>
        <p:txBody>
          <a:bodyPr/>
          <a:lstStyle/>
          <a:p>
            <a:endParaRPr lang="en-US"/>
          </a:p>
        </p:txBody>
      </p:sp>
      <p:sp>
        <p:nvSpPr>
          <p:cNvPr id="121" name="card0_hdr"/>
          <p:cNvSpPr>
            <a:spLocks noGrp="1"/>
          </p:cNvSpPr>
          <p:nvPr/>
        </p:nvSpPr>
        <p:spPr>
          <a:xfrm>
            <a:off x="546100" y="2260600"/>
            <a:ext cx="3568700" cy="330200"/>
          </a:xfrm>
          <a:prstGeom prst="rect">
            <a:avLst/>
          </a:prstGeom>
          <a:solidFill>
            <a:srgbClr val="1E7A3E"/>
          </a:solidFill>
          <a:ln>
            <a:noFill/>
          </a:ln>
        </p:spPr>
        <p:txBody>
          <a:bodyPr/>
          <a:lstStyle/>
          <a:p>
            <a:endParaRPr lang="en-US"/>
          </a:p>
        </p:txBody>
      </p:sp>
      <p:sp>
        <p:nvSpPr>
          <p:cNvPr id="130" name="card1_bg"/>
          <p:cNvSpPr>
            <a:spLocks noGrp="1"/>
          </p:cNvSpPr>
          <p:nvPr/>
        </p:nvSpPr>
        <p:spPr>
          <a:xfrm>
            <a:off x="4305300" y="2260600"/>
            <a:ext cx="3568700" cy="1714500"/>
          </a:xfrm>
          <a:prstGeom prst="roundRect">
            <a:avLst>
              <a:gd name="adj" fmla="val 10000"/>
            </a:avLst>
          </a:prstGeom>
          <a:solidFill>
            <a:srgbClr val="FEF9EE"/>
          </a:solidFill>
          <a:ln w="15000">
            <a:solidFill>
              <a:srgbClr val="B45309"/>
            </a:solidFill>
          </a:ln>
        </p:spPr>
        <p:txBody>
          <a:bodyPr/>
          <a:lstStyle/>
          <a:p>
            <a:endParaRPr lang="en-US"/>
          </a:p>
        </p:txBody>
      </p:sp>
      <p:sp>
        <p:nvSpPr>
          <p:cNvPr id="131" name="card1_hdr"/>
          <p:cNvSpPr>
            <a:spLocks noGrp="1"/>
          </p:cNvSpPr>
          <p:nvPr/>
        </p:nvSpPr>
        <p:spPr>
          <a:xfrm>
            <a:off x="4305300" y="2260600"/>
            <a:ext cx="3568700" cy="330200"/>
          </a:xfrm>
          <a:prstGeom prst="rect">
            <a:avLst/>
          </a:prstGeom>
          <a:solidFill>
            <a:srgbClr val="B45309"/>
          </a:solidFill>
          <a:ln>
            <a:noFill/>
          </a:ln>
        </p:spPr>
        <p:txBody>
          <a:bodyPr/>
          <a:lstStyle/>
          <a:p>
            <a:endParaRPr lang="en-US"/>
          </a:p>
        </p:txBody>
      </p:sp>
      <p:sp>
        <p:nvSpPr>
          <p:cNvPr id="140" name="card2_bg"/>
          <p:cNvSpPr>
            <a:spLocks noGrp="1"/>
          </p:cNvSpPr>
          <p:nvPr/>
        </p:nvSpPr>
        <p:spPr>
          <a:xfrm>
            <a:off x="8064500" y="2260600"/>
            <a:ext cx="3568700" cy="1714500"/>
          </a:xfrm>
          <a:prstGeom prst="roundRect">
            <a:avLst>
              <a:gd name="adj" fmla="val 10000"/>
            </a:avLst>
          </a:prstGeom>
          <a:solidFill>
            <a:srgbClr val="EEF3FC"/>
          </a:solidFill>
          <a:ln w="15000">
            <a:solidFill>
              <a:srgbClr val="1A4A8A"/>
            </a:solidFill>
          </a:ln>
        </p:spPr>
        <p:txBody>
          <a:bodyPr/>
          <a:lstStyle/>
          <a:p>
            <a:endParaRPr lang="en-US"/>
          </a:p>
        </p:txBody>
      </p:sp>
      <p:sp>
        <p:nvSpPr>
          <p:cNvPr id="141" name="card2_hdr"/>
          <p:cNvSpPr>
            <a:spLocks noGrp="1"/>
          </p:cNvSpPr>
          <p:nvPr/>
        </p:nvSpPr>
        <p:spPr>
          <a:xfrm>
            <a:off x="8064500" y="2260600"/>
            <a:ext cx="3568700" cy="330200"/>
          </a:xfrm>
          <a:prstGeom prst="rect">
            <a:avLst/>
          </a:prstGeom>
          <a:solidFill>
            <a:srgbClr val="1A4A8A"/>
          </a:solidFill>
          <a:ln>
            <a:noFill/>
          </a:ln>
        </p:spPr>
        <p:txBody>
          <a:bodyPr/>
          <a:lstStyle/>
          <a:p>
            <a:endParaRPr lang="en-US"/>
          </a:p>
        </p:txBody>
      </p:sp>
      <p:sp>
        <p:nvSpPr>
          <p:cNvPr id="124" name="card0_hdr_fix"/>
          <p:cNvSpPr>
            <a:spLocks noGrp="1"/>
          </p:cNvSpPr>
          <p:nvPr/>
        </p:nvSpPr>
        <p:spPr>
          <a:xfrm>
            <a:off x="546100" y="2413000"/>
            <a:ext cx="3568700" cy="177800"/>
          </a:xfrm>
          <a:prstGeom prst="rect">
            <a:avLst/>
          </a:prstGeom>
          <a:solidFill>
            <a:srgbClr val="1E7A3E"/>
          </a:solidFill>
          <a:ln>
            <a:noFill/>
          </a:ln>
        </p:spPr>
        <p:txBody>
          <a:bodyPr/>
          <a:lstStyle/>
          <a:p>
            <a:endParaRPr lang="en-US"/>
          </a:p>
        </p:txBody>
      </p:sp>
      <p:sp>
        <p:nvSpPr>
          <p:cNvPr id="134" name="card1_hdr_fix"/>
          <p:cNvSpPr>
            <a:spLocks noGrp="1"/>
          </p:cNvSpPr>
          <p:nvPr/>
        </p:nvSpPr>
        <p:spPr>
          <a:xfrm>
            <a:off x="4305300" y="2413000"/>
            <a:ext cx="3568700" cy="177800"/>
          </a:xfrm>
          <a:prstGeom prst="rect">
            <a:avLst/>
          </a:prstGeom>
          <a:solidFill>
            <a:srgbClr val="B45309"/>
          </a:solidFill>
          <a:ln>
            <a:noFill/>
          </a:ln>
        </p:spPr>
        <p:txBody>
          <a:bodyPr/>
          <a:lstStyle/>
          <a:p>
            <a:endParaRPr lang="en-US"/>
          </a:p>
        </p:txBody>
      </p:sp>
      <p:sp>
        <p:nvSpPr>
          <p:cNvPr id="144" name="card2_hdr_fix"/>
          <p:cNvSpPr>
            <a:spLocks noGrp="1"/>
          </p:cNvSpPr>
          <p:nvPr/>
        </p:nvSpPr>
        <p:spPr>
          <a:xfrm>
            <a:off x="8064500" y="2413000"/>
            <a:ext cx="3568700" cy="177800"/>
          </a:xfrm>
          <a:prstGeom prst="rect">
            <a:avLst/>
          </a:prstGeom>
          <a:solidFill>
            <a:srgbClr val="1A4A8A"/>
          </a:solidFill>
          <a:ln>
            <a:noFill/>
          </a:ln>
        </p:spPr>
        <p:txBody>
          <a:bodyPr/>
          <a:lstStyle/>
          <a:p>
            <a:endParaRPr lang="en-US"/>
          </a:p>
        </p:txBody>
      </p:sp>
      <p:sp>
        <p:nvSpPr>
          <p:cNvPr id="125" name="card0_title"/>
          <p:cNvSpPr txBox="1">
            <a:spLocks noGrp="1"/>
          </p:cNvSpPr>
          <p:nvPr/>
        </p:nvSpPr>
        <p:spPr>
          <a:xfrm>
            <a:off x="6477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IN HAND — 9 LINE ITEMS</a:t>
            </a:r>
          </a:p>
        </p:txBody>
      </p:sp>
      <p:sp>
        <p:nvSpPr>
          <p:cNvPr id="135" name="card1_title"/>
          <p:cNvSpPr txBox="1">
            <a:spLocks noGrp="1"/>
          </p:cNvSpPr>
          <p:nvPr/>
        </p:nvSpPr>
        <p:spPr>
          <a:xfrm>
            <a:off x="44069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MISSING — CRITICAL (SAFETY)</a:t>
            </a:r>
          </a:p>
        </p:txBody>
      </p:sp>
      <p:sp>
        <p:nvSpPr>
          <p:cNvPr id="145" name="card2_title"/>
          <p:cNvSpPr txBox="1">
            <a:spLocks noGrp="1"/>
          </p:cNvSpPr>
          <p:nvPr/>
        </p:nvSpPr>
        <p:spPr>
          <a:xfrm>
            <a:off x="8166100" y="2324100"/>
            <a:ext cx="3365500" cy="228600"/>
          </a:xfrm>
          <a:prstGeom prst="rect">
            <a:avLst/>
          </a:prstGeom>
          <a:noFill/>
          <a:ln>
            <a:noFill/>
          </a:ln>
        </p:spPr>
        <p:txBody>
          <a:bodyPr anchor="t">
            <a:normAutofit/>
          </a:bodyPr>
          <a:lstStyle/>
          <a:p>
            <a:pPr marL="0" indent="0">
              <a:buNone/>
            </a:pPr>
            <a:r>
              <a:rPr lang="en-IN" sz="900" b="1" spc="100" dirty="0">
                <a:solidFill>
                  <a:srgbClr val="FFFFFF"/>
                </a:solidFill>
                <a:latin typeface="Calibri"/>
              </a:rPr>
              <a:t>MISSING — HIGH PRIORITY</a:t>
            </a:r>
          </a:p>
        </p:txBody>
      </p:sp>
      <p:sp>
        <p:nvSpPr>
          <p:cNvPr id="160" name="card0_items"/>
          <p:cNvSpPr txBox="1">
            <a:spLocks noGrp="1"/>
          </p:cNvSpPr>
          <p:nvPr/>
        </p:nvSpPr>
        <p:spPr>
          <a:xfrm>
            <a:off x="647700" y="2641600"/>
            <a:ext cx="3365500" cy="1282700"/>
          </a:xfrm>
          <a:prstGeom prst="rect">
            <a:avLst/>
          </a:prstGeom>
          <a:noFill/>
          <a:ln>
            <a:noFill/>
          </a:ln>
        </p:spPr>
        <p:txBody>
          <a:bodyPr anchor="t">
            <a:normAutofit/>
          </a:bodyPr>
          <a:lstStyle/>
          <a:p>
            <a:pPr marL="180000" indent="-180000">
              <a:buFont typeface="Arial"/>
              <a:buChar char="•"/>
            </a:pPr>
            <a:r>
              <a:rPr lang="en-IN" sz="1200" dirty="0">
                <a:solidFill>
                  <a:srgbClr val="1E4620"/>
                </a:solidFill>
                <a:latin typeface="Calibri"/>
              </a:rPr>
              <a:t>10× Waveshare ST3215 servos</a:t>
            </a:r>
          </a:p>
          <a:p>
            <a:pPr marL="180000" indent="-180000">
              <a:buFont typeface="Arial"/>
              <a:buChar char="•"/>
            </a:pPr>
            <a:r>
              <a:rPr lang="en-IN" sz="1200" dirty="0">
                <a:solidFill>
                  <a:srgbClr val="1E4620"/>
                </a:solidFill>
                <a:latin typeface="Calibri"/>
              </a:rPr>
              <a:t>Waveshare driver with ESP32</a:t>
            </a:r>
          </a:p>
          <a:p>
            <a:pPr marL="180000" indent="-180000">
              <a:buFont typeface="Arial"/>
              <a:buChar char="•"/>
            </a:pPr>
            <a:r>
              <a:rPr lang="en-IN" sz="1200" dirty="0">
                <a:solidFill>
                  <a:srgbClr val="1E4620"/>
                </a:solidFill>
                <a:latin typeface="Calibri"/>
              </a:rPr>
              <a:t>ESP32 #2, Pi 5 8 GB, MPU6050</a:t>
            </a:r>
          </a:p>
          <a:p>
            <a:pPr marL="180000" indent="-180000">
              <a:buFont typeface="Arial"/>
              <a:buChar char="•"/>
            </a:pPr>
            <a:r>
              <a:rPr lang="en-IN" sz="1200" dirty="0">
                <a:solidFill>
                  <a:srgbClr val="1E4620"/>
                </a:solidFill>
                <a:latin typeface="Calibri"/>
              </a:rPr>
              <a:t>3S LiPo 1800 mAh, Mean Well 5 V</a:t>
            </a:r>
          </a:p>
          <a:p>
            <a:pPr marL="180000" indent="-180000">
              <a:buFont typeface="Arial"/>
              <a:buChar char="•"/>
            </a:pPr>
            <a:r>
              <a:rPr lang="en-IN" sz="1200" dirty="0">
                <a:solidFill>
                  <a:srgbClr val="1E4620"/>
                </a:solidFill>
                <a:latin typeface="Calibri"/>
              </a:rPr>
              <a:t>Camera Module 3, XL6009 boost</a:t>
            </a:r>
          </a:p>
        </p:txBody>
      </p:sp>
      <p:sp>
        <p:nvSpPr>
          <p:cNvPr id="161" name="card1_items"/>
          <p:cNvSpPr txBox="1">
            <a:spLocks noGrp="1"/>
          </p:cNvSpPr>
          <p:nvPr/>
        </p:nvSpPr>
        <p:spPr>
          <a:xfrm>
            <a:off x="44069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Inline fuse and holder</a:t>
            </a:r>
          </a:p>
          <a:p>
            <a:pPr marL="180000" indent="-180000">
              <a:buFont typeface="Arial"/>
              <a:buChar char="•"/>
            </a:pPr>
            <a:r>
              <a:rPr lang="en-IN" sz="1000" dirty="0">
                <a:solidFill>
                  <a:srgbClr val="374151"/>
                </a:solidFill>
                <a:latin typeface="Calibri"/>
              </a:rPr>
              <a:t>LiPo alarm / BMS module</a:t>
            </a:r>
          </a:p>
          <a:p>
            <a:pPr marL="180000" indent="-180000">
              <a:buFont typeface="Arial"/>
              <a:buChar char="•"/>
            </a:pPr>
            <a:r>
              <a:rPr lang="en-IN" sz="1000" dirty="0">
                <a:solidFill>
                  <a:srgbClr val="374151"/>
                </a:solidFill>
                <a:latin typeface="Calibri"/>
              </a:rPr>
              <a:t>XT60 loop-key disconnect</a:t>
            </a:r>
          </a:p>
          <a:p>
            <a:pPr marL="180000" indent="-180000">
              <a:buFont typeface="Arial"/>
              <a:buChar char="•"/>
            </a:pPr>
            <a:r>
              <a:rPr lang="en-IN" sz="1000" dirty="0">
                <a:solidFill>
                  <a:srgbClr val="374151"/>
                </a:solidFill>
                <a:latin typeface="Calibri"/>
              </a:rPr>
              <a:t>Without these the pack is unsafe</a:t>
            </a:r>
          </a:p>
        </p:txBody>
      </p:sp>
      <p:sp>
        <p:nvSpPr>
          <p:cNvPr id="162" name="card2_items"/>
          <p:cNvSpPr txBox="1">
            <a:spLocks noGrp="1"/>
          </p:cNvSpPr>
          <p:nvPr/>
        </p:nvSpPr>
        <p:spPr>
          <a:xfrm>
            <a:off x="8166100" y="2641600"/>
            <a:ext cx="3365500" cy="1282700"/>
          </a:xfrm>
          <a:prstGeom prst="rect">
            <a:avLst/>
          </a:prstGeom>
          <a:noFill/>
          <a:ln>
            <a:noFill/>
          </a:ln>
        </p:spPr>
        <p:txBody>
          <a:bodyPr anchor="t">
            <a:normAutofit/>
          </a:bodyPr>
          <a:lstStyle/>
          <a:p>
            <a:pPr marL="180000" indent="-180000">
              <a:buFont typeface="Arial"/>
              <a:buChar char="•"/>
            </a:pPr>
            <a:r>
              <a:rPr lang="en-IN" sz="1000" dirty="0">
                <a:solidFill>
                  <a:srgbClr val="374151"/>
                </a:solidFill>
                <a:latin typeface="Calibri"/>
              </a:rPr>
              <a:t>3S balance charger, storage bag</a:t>
            </a:r>
          </a:p>
          <a:p>
            <a:pPr marL="180000" indent="-180000">
              <a:buFont typeface="Arial"/>
              <a:buChar char="•"/>
            </a:pPr>
            <a:r>
              <a:rPr lang="en-IN" sz="1000" dirty="0">
                <a:solidFill>
                  <a:srgbClr val="374151"/>
                </a:solidFill>
                <a:latin typeface="Calibri"/>
              </a:rPr>
              <a:t>Servo daisy-chain cables ×12</a:t>
            </a:r>
          </a:p>
          <a:p>
            <a:pPr marL="180000" indent="-180000">
              <a:buFont typeface="Arial"/>
              <a:buChar char="•"/>
            </a:pPr>
            <a:r>
              <a:rPr lang="en-IN" sz="1000" dirty="0">
                <a:solidFill>
                  <a:srgbClr val="374151"/>
                </a:solidFill>
                <a:latin typeface="Calibri"/>
              </a:rPr>
              <a:t>F623ZZ bearings, M2 fasteners</a:t>
            </a:r>
          </a:p>
          <a:p>
            <a:pPr marL="180000" indent="-180000">
              <a:buFont typeface="Arial"/>
              <a:buChar char="•"/>
            </a:pPr>
            <a:r>
              <a:rPr lang="en-IN" sz="1000" dirty="0">
                <a:solidFill>
                  <a:srgbClr val="374151"/>
                </a:solidFill>
                <a:latin typeface="Calibri"/>
              </a:rPr>
              <a:t>PLA+ filament, TPU belly pads</a:t>
            </a:r>
          </a:p>
        </p:txBody>
      </p:sp>
      <p:sp>
        <p:nvSpPr>
          <p:cNvPr id="200" name="s3_label"/>
          <p:cNvSpPr txBox="1">
            <a:spLocks noGrp="1"/>
          </p:cNvSpPr>
          <p:nvPr/>
        </p:nvSpPr>
        <p:spPr>
          <a:xfrm>
            <a:off x="546100" y="4089400"/>
            <a:ext cx="6350000" cy="228600"/>
          </a:xfrm>
          <a:prstGeom prst="rect">
            <a:avLst/>
          </a:prstGeom>
          <a:noFill/>
          <a:ln>
            <a:noFill/>
          </a:ln>
        </p:spPr>
        <p:txBody>
          <a:bodyPr anchor="t">
            <a:normAutofit/>
          </a:bodyPr>
          <a:lstStyle/>
          <a:p>
            <a:pPr marL="0" indent="0">
              <a:buNone/>
            </a:pPr>
            <a:r>
              <a:rPr lang="en-IN" sz="900" b="1" kern="0" spc="200" dirty="0">
                <a:solidFill>
                  <a:srgbClr val="0E96AC"/>
                </a:solidFill>
                <a:latin typeface="Calibri"/>
              </a:rPr>
              <a:t>PROCUREMENT STATUS</a:t>
            </a:r>
          </a:p>
        </p:txBody>
      </p:sp>
      <p:sp>
        <p:nvSpPr>
          <p:cNvPr id="300" name="conn0"/>
          <p:cNvSpPr>
            <a:spLocks noGrp="1"/>
          </p:cNvSpPr>
          <p:nvPr/>
        </p:nvSpPr>
        <p:spPr>
          <a:xfrm>
            <a:off x="1028700" y="4432300"/>
            <a:ext cx="965200" cy="63500"/>
          </a:xfrm>
          <a:prstGeom prst="rect">
            <a:avLst/>
          </a:prstGeom>
          <a:solidFill>
            <a:srgbClr val="1E7A3E"/>
          </a:solidFill>
          <a:ln>
            <a:noFill/>
          </a:ln>
        </p:spPr>
        <p:txBody>
          <a:bodyPr/>
          <a:lstStyle/>
          <a:p>
            <a:endParaRPr lang="en-US"/>
          </a:p>
        </p:txBody>
      </p:sp>
      <p:sp>
        <p:nvSpPr>
          <p:cNvPr id="310" name="step0_circle"/>
          <p:cNvSpPr>
            <a:spLocks noGrp="1"/>
          </p:cNvSpPr>
          <p:nvPr/>
        </p:nvSpPr>
        <p:spPr>
          <a:xfrm>
            <a:off x="774700" y="4241800"/>
            <a:ext cx="457200" cy="457200"/>
          </a:xfrm>
          <a:prstGeom prst="roundRect">
            <a:avLst>
              <a:gd name="adj" fmla="val 50000"/>
            </a:avLst>
          </a:prstGeom>
          <a:solidFill>
            <a:srgbClr val="1F9D55"/>
          </a:solidFill>
          <a:ln>
            <a:noFill/>
          </a:ln>
        </p:spPr>
        <p:txBody>
          <a:bodyPr/>
          <a:lstStyle/>
          <a:p>
            <a:endParaRPr lang="en-US"/>
          </a:p>
        </p:txBody>
      </p:sp>
      <p:sp>
        <p:nvSpPr>
          <p:cNvPr id="320" name="step0_icon"/>
          <p:cNvSpPr txBox="1">
            <a:spLocks noGrp="1"/>
          </p:cNvSpPr>
          <p:nvPr/>
        </p:nvSpPr>
        <p:spPr>
          <a:xfrm>
            <a:off x="774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0" name="step0_label"/>
          <p:cNvSpPr txBox="1">
            <a:spLocks noGrp="1"/>
          </p:cNvSpPr>
          <p:nvPr/>
        </p:nvSpPr>
        <p:spPr>
          <a:xfrm>
            <a:off x="546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Actuators
received</a:t>
            </a:r>
          </a:p>
        </p:txBody>
      </p:sp>
      <p:sp>
        <p:nvSpPr>
          <p:cNvPr id="301" name="conn1"/>
          <p:cNvSpPr>
            <a:spLocks noGrp="1"/>
          </p:cNvSpPr>
          <p:nvPr/>
        </p:nvSpPr>
        <p:spPr>
          <a:xfrm>
            <a:off x="2501900" y="4432300"/>
            <a:ext cx="965200" cy="63500"/>
          </a:xfrm>
          <a:prstGeom prst="rect">
            <a:avLst/>
          </a:prstGeom>
          <a:solidFill>
            <a:srgbClr val="1E7A3E"/>
          </a:solidFill>
          <a:ln>
            <a:noFill/>
          </a:ln>
        </p:spPr>
        <p:txBody>
          <a:bodyPr/>
          <a:lstStyle/>
          <a:p>
            <a:endParaRPr lang="en-US"/>
          </a:p>
        </p:txBody>
      </p:sp>
      <p:sp>
        <p:nvSpPr>
          <p:cNvPr id="311" name="step1_circle"/>
          <p:cNvSpPr>
            <a:spLocks noGrp="1"/>
          </p:cNvSpPr>
          <p:nvPr/>
        </p:nvSpPr>
        <p:spPr>
          <a:xfrm>
            <a:off x="2247900" y="4241800"/>
            <a:ext cx="457200" cy="457200"/>
          </a:xfrm>
          <a:prstGeom prst="roundRect">
            <a:avLst>
              <a:gd name="adj" fmla="val 50000"/>
            </a:avLst>
          </a:prstGeom>
          <a:solidFill>
            <a:srgbClr val="1F9D55"/>
          </a:solidFill>
          <a:ln>
            <a:noFill/>
          </a:ln>
        </p:spPr>
        <p:txBody>
          <a:bodyPr/>
          <a:lstStyle/>
          <a:p>
            <a:endParaRPr lang="en-US"/>
          </a:p>
        </p:txBody>
      </p:sp>
      <p:sp>
        <p:nvSpPr>
          <p:cNvPr id="321" name="step1_icon"/>
          <p:cNvSpPr txBox="1">
            <a:spLocks noGrp="1"/>
          </p:cNvSpPr>
          <p:nvPr/>
        </p:nvSpPr>
        <p:spPr>
          <a:xfrm>
            <a:off x="2247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1" name="step1_label"/>
          <p:cNvSpPr txBox="1">
            <a:spLocks noGrp="1"/>
          </p:cNvSpPr>
          <p:nvPr/>
        </p:nvSpPr>
        <p:spPr>
          <a:xfrm>
            <a:off x="2019300" y="4737100"/>
            <a:ext cx="914400" cy="457200"/>
          </a:xfrm>
          <a:prstGeom prst="rect">
            <a:avLst/>
          </a:prstGeom>
          <a:noFill/>
          <a:ln>
            <a:noFill/>
          </a:ln>
        </p:spPr>
        <p:txBody>
          <a:bodyPr anchor="t">
            <a:normAutofit fontScale="70000" lnSpcReduction="20000"/>
          </a:bodyPr>
          <a:lstStyle/>
          <a:p>
            <a:pPr algn="ctr">
              <a:buNone/>
            </a:pPr>
            <a:r>
              <a:rPr lang="en-IN" sz="1400" dirty="0">
                <a:solidFill>
                  <a:srgbClr val="374151"/>
                </a:solidFill>
                <a:latin typeface="Calibri"/>
              </a:rPr>
              <a:t>Compute
received</a:t>
            </a:r>
          </a:p>
        </p:txBody>
      </p:sp>
      <p:sp>
        <p:nvSpPr>
          <p:cNvPr id="302" name="conn2"/>
          <p:cNvSpPr>
            <a:spLocks noGrp="1"/>
          </p:cNvSpPr>
          <p:nvPr/>
        </p:nvSpPr>
        <p:spPr>
          <a:xfrm>
            <a:off x="3975100" y="4432300"/>
            <a:ext cx="965200" cy="63500"/>
          </a:xfrm>
          <a:prstGeom prst="rect">
            <a:avLst/>
          </a:prstGeom>
          <a:solidFill>
            <a:srgbClr val="1E7A3E"/>
          </a:solidFill>
          <a:ln>
            <a:noFill/>
          </a:ln>
        </p:spPr>
        <p:txBody>
          <a:bodyPr/>
          <a:lstStyle/>
          <a:p>
            <a:endParaRPr lang="en-US"/>
          </a:p>
        </p:txBody>
      </p:sp>
      <p:sp>
        <p:nvSpPr>
          <p:cNvPr id="312" name="step2_circle"/>
          <p:cNvSpPr>
            <a:spLocks noGrp="1"/>
          </p:cNvSpPr>
          <p:nvPr/>
        </p:nvSpPr>
        <p:spPr>
          <a:xfrm>
            <a:off x="3721100" y="4241800"/>
            <a:ext cx="457200" cy="457200"/>
          </a:xfrm>
          <a:prstGeom prst="roundRect">
            <a:avLst>
              <a:gd name="adj" fmla="val 50000"/>
            </a:avLst>
          </a:prstGeom>
          <a:solidFill>
            <a:srgbClr val="1F9D55"/>
          </a:solidFill>
          <a:ln>
            <a:noFill/>
          </a:ln>
        </p:spPr>
        <p:txBody>
          <a:bodyPr/>
          <a:lstStyle/>
          <a:p>
            <a:endParaRPr lang="en-US"/>
          </a:p>
        </p:txBody>
      </p:sp>
      <p:sp>
        <p:nvSpPr>
          <p:cNvPr id="322" name="step2_icon"/>
          <p:cNvSpPr txBox="1">
            <a:spLocks noGrp="1"/>
          </p:cNvSpPr>
          <p:nvPr/>
        </p:nvSpPr>
        <p:spPr>
          <a:xfrm>
            <a:off x="37211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2" name="step2_label"/>
          <p:cNvSpPr txBox="1">
            <a:spLocks noGrp="1"/>
          </p:cNvSpPr>
          <p:nvPr/>
        </p:nvSpPr>
        <p:spPr>
          <a:xfrm>
            <a:off x="34925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Power
source held</a:t>
            </a:r>
          </a:p>
        </p:txBody>
      </p:sp>
      <p:sp>
        <p:nvSpPr>
          <p:cNvPr id="303" name="conn3"/>
          <p:cNvSpPr>
            <a:spLocks noGrp="1"/>
          </p:cNvSpPr>
          <p:nvPr/>
        </p:nvSpPr>
        <p:spPr>
          <a:xfrm>
            <a:off x="5448300" y="4432300"/>
            <a:ext cx="965200" cy="63500"/>
          </a:xfrm>
          <a:prstGeom prst="rect">
            <a:avLst/>
          </a:prstGeom>
          <a:solidFill>
            <a:srgbClr val="1E7A3E"/>
          </a:solidFill>
          <a:ln>
            <a:noFill/>
          </a:ln>
        </p:spPr>
        <p:txBody>
          <a:bodyPr/>
          <a:lstStyle/>
          <a:p>
            <a:endParaRPr lang="en-US"/>
          </a:p>
        </p:txBody>
      </p:sp>
      <p:sp>
        <p:nvSpPr>
          <p:cNvPr id="313" name="step3_circle"/>
          <p:cNvSpPr>
            <a:spLocks noGrp="1"/>
          </p:cNvSpPr>
          <p:nvPr/>
        </p:nvSpPr>
        <p:spPr>
          <a:xfrm>
            <a:off x="5194300" y="4241800"/>
            <a:ext cx="457200" cy="457200"/>
          </a:xfrm>
          <a:prstGeom prst="roundRect">
            <a:avLst>
              <a:gd name="adj" fmla="val 50000"/>
            </a:avLst>
          </a:prstGeom>
          <a:solidFill>
            <a:srgbClr val="1E6FD6"/>
          </a:solidFill>
          <a:ln>
            <a:noFill/>
          </a:ln>
        </p:spPr>
        <p:txBody>
          <a:bodyPr/>
          <a:lstStyle/>
          <a:p>
            <a:endParaRPr lang="en-US"/>
          </a:p>
        </p:txBody>
      </p:sp>
      <p:sp>
        <p:nvSpPr>
          <p:cNvPr id="323" name="step3_icon"/>
          <p:cNvSpPr txBox="1">
            <a:spLocks noGrp="1"/>
          </p:cNvSpPr>
          <p:nvPr/>
        </p:nvSpPr>
        <p:spPr>
          <a:xfrm>
            <a:off x="51943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3" name="step3_label"/>
          <p:cNvSpPr txBox="1">
            <a:spLocks noGrp="1"/>
          </p:cNvSpPr>
          <p:nvPr/>
        </p:nvSpPr>
        <p:spPr>
          <a:xfrm>
            <a:off x="49657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Safety
parts</a:t>
            </a:r>
          </a:p>
        </p:txBody>
      </p:sp>
      <p:sp>
        <p:nvSpPr>
          <p:cNvPr id="304" name="conn4"/>
          <p:cNvSpPr>
            <a:spLocks noGrp="1"/>
          </p:cNvSpPr>
          <p:nvPr/>
        </p:nvSpPr>
        <p:spPr>
          <a:xfrm>
            <a:off x="6921500" y="4432300"/>
            <a:ext cx="965200" cy="63500"/>
          </a:xfrm>
          <a:prstGeom prst="rect">
            <a:avLst/>
          </a:prstGeom>
          <a:solidFill>
            <a:srgbClr val="1E7A3E"/>
          </a:solidFill>
          <a:ln>
            <a:noFill/>
          </a:ln>
        </p:spPr>
        <p:txBody>
          <a:bodyPr/>
          <a:lstStyle/>
          <a:p>
            <a:endParaRPr lang="en-US"/>
          </a:p>
        </p:txBody>
      </p:sp>
      <p:sp>
        <p:nvSpPr>
          <p:cNvPr id="314" name="step4_circle"/>
          <p:cNvSpPr>
            <a:spLocks noGrp="1"/>
          </p:cNvSpPr>
          <p:nvPr/>
        </p:nvSpPr>
        <p:spPr>
          <a:xfrm>
            <a:off x="6667500" y="4241800"/>
            <a:ext cx="457200" cy="457200"/>
          </a:xfrm>
          <a:prstGeom prst="roundRect">
            <a:avLst>
              <a:gd name="adj" fmla="val 50000"/>
            </a:avLst>
          </a:prstGeom>
          <a:solidFill>
            <a:srgbClr val="E8821E"/>
          </a:solidFill>
          <a:ln>
            <a:noFill/>
          </a:ln>
        </p:spPr>
        <p:txBody>
          <a:bodyPr/>
          <a:lstStyle/>
          <a:p>
            <a:endParaRPr lang="en-US"/>
          </a:p>
        </p:txBody>
      </p:sp>
      <p:sp>
        <p:nvSpPr>
          <p:cNvPr id="324" name="step4_icon"/>
          <p:cNvSpPr txBox="1">
            <a:spLocks noGrp="1"/>
          </p:cNvSpPr>
          <p:nvPr/>
        </p:nvSpPr>
        <p:spPr>
          <a:xfrm>
            <a:off x="66675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4" name="step4_label"/>
          <p:cNvSpPr txBox="1">
            <a:spLocks noGrp="1"/>
          </p:cNvSpPr>
          <p:nvPr/>
        </p:nvSpPr>
        <p:spPr>
          <a:xfrm>
            <a:off x="6438900" y="4737100"/>
            <a:ext cx="914400" cy="457200"/>
          </a:xfrm>
          <a:prstGeom prst="rect">
            <a:avLst/>
          </a:prstGeom>
          <a:noFill/>
          <a:ln>
            <a:noFill/>
          </a:ln>
        </p:spPr>
        <p:txBody>
          <a:bodyPr anchor="t">
            <a:normAutofit fontScale="92500" lnSpcReduction="10000"/>
          </a:bodyPr>
          <a:lstStyle/>
          <a:p>
            <a:pPr algn="ctr">
              <a:buNone/>
            </a:pPr>
            <a:r>
              <a:rPr lang="en-IN" sz="1400" dirty="0">
                <a:solidFill>
                  <a:srgbClr val="374151"/>
                </a:solidFill>
                <a:latin typeface="Calibri"/>
              </a:rPr>
              <a:t>Fasteners
&amp; bearings</a:t>
            </a:r>
          </a:p>
        </p:txBody>
      </p:sp>
      <p:sp>
        <p:nvSpPr>
          <p:cNvPr id="305" name="conn5"/>
          <p:cNvSpPr>
            <a:spLocks noGrp="1"/>
          </p:cNvSpPr>
          <p:nvPr/>
        </p:nvSpPr>
        <p:spPr>
          <a:xfrm>
            <a:off x="8394700" y="4432300"/>
            <a:ext cx="965200" cy="63500"/>
          </a:xfrm>
          <a:prstGeom prst="rect">
            <a:avLst/>
          </a:prstGeom>
          <a:solidFill>
            <a:srgbClr val="CBD5E1"/>
          </a:solidFill>
          <a:ln>
            <a:noFill/>
          </a:ln>
        </p:spPr>
        <p:txBody>
          <a:bodyPr/>
          <a:lstStyle/>
          <a:p>
            <a:endParaRPr lang="en-US"/>
          </a:p>
        </p:txBody>
      </p:sp>
      <p:sp>
        <p:nvSpPr>
          <p:cNvPr id="315" name="step5_circle"/>
          <p:cNvSpPr>
            <a:spLocks noGrp="1"/>
          </p:cNvSpPr>
          <p:nvPr/>
        </p:nvSpPr>
        <p:spPr>
          <a:xfrm>
            <a:off x="8140700" y="4241800"/>
            <a:ext cx="457200" cy="457200"/>
          </a:xfrm>
          <a:prstGeom prst="roundRect">
            <a:avLst>
              <a:gd name="adj" fmla="val 50000"/>
            </a:avLst>
          </a:prstGeom>
          <a:solidFill>
            <a:srgbClr val="E8821E"/>
          </a:solidFill>
          <a:ln>
            <a:noFill/>
          </a:ln>
        </p:spPr>
        <p:txBody>
          <a:bodyPr/>
          <a:lstStyle/>
          <a:p>
            <a:endParaRPr lang="en-US"/>
          </a:p>
        </p:txBody>
      </p:sp>
      <p:sp>
        <p:nvSpPr>
          <p:cNvPr id="325" name="step5_icon"/>
          <p:cNvSpPr txBox="1">
            <a:spLocks noGrp="1"/>
          </p:cNvSpPr>
          <p:nvPr/>
        </p:nvSpPr>
        <p:spPr>
          <a:xfrm>
            <a:off x="81407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5" name="step5_label"/>
          <p:cNvSpPr txBox="1">
            <a:spLocks noGrp="1"/>
          </p:cNvSpPr>
          <p:nvPr/>
        </p:nvSpPr>
        <p:spPr>
          <a:xfrm>
            <a:off x="7912100" y="4737100"/>
            <a:ext cx="914400" cy="457200"/>
          </a:xfrm>
          <a:prstGeom prst="rect">
            <a:avLst/>
          </a:prstGeom>
          <a:noFill/>
          <a:ln>
            <a:noFill/>
          </a:ln>
        </p:spPr>
        <p:txBody>
          <a:bodyPr anchor="t">
            <a:normAutofit fontScale="85000" lnSpcReduction="10000"/>
          </a:bodyPr>
          <a:lstStyle/>
          <a:p>
            <a:pPr algn="ctr">
              <a:buNone/>
            </a:pPr>
            <a:r>
              <a:rPr lang="en-IN" sz="1400" dirty="0">
                <a:solidFill>
                  <a:srgbClr val="374151"/>
                </a:solidFill>
                <a:latin typeface="Calibri"/>
              </a:rPr>
              <a:t>Filament
&amp; pads</a:t>
            </a:r>
          </a:p>
        </p:txBody>
      </p:sp>
      <p:sp>
        <p:nvSpPr>
          <p:cNvPr id="345" name="step5_status"/>
          <p:cNvSpPr txBox="1">
            <a:spLocks noGrp="1"/>
          </p:cNvSpPr>
          <p:nvPr/>
        </p:nvSpPr>
        <p:spPr>
          <a:xfrm>
            <a:off x="78613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D97706"/>
                </a:solidFill>
                <a:latin typeface="Calibri"/>
              </a:rPr>
              <a:t>Upcoming</a:t>
            </a:r>
          </a:p>
        </p:txBody>
      </p:sp>
      <p:sp>
        <p:nvSpPr>
          <p:cNvPr id="316" name="step6_circle"/>
          <p:cNvSpPr>
            <a:spLocks noGrp="1"/>
          </p:cNvSpPr>
          <p:nvPr/>
        </p:nvSpPr>
        <p:spPr>
          <a:xfrm>
            <a:off x="9613900" y="4241800"/>
            <a:ext cx="457200" cy="457200"/>
          </a:xfrm>
          <a:prstGeom prst="roundRect">
            <a:avLst>
              <a:gd name="adj" fmla="val 50000"/>
            </a:avLst>
          </a:prstGeom>
          <a:solidFill>
            <a:srgbClr val="E8821E"/>
          </a:solidFill>
          <a:ln>
            <a:noFill/>
          </a:ln>
        </p:spPr>
        <p:txBody>
          <a:bodyPr/>
          <a:lstStyle/>
          <a:p>
            <a:endParaRPr lang="en-US"/>
          </a:p>
        </p:txBody>
      </p:sp>
      <p:sp>
        <p:nvSpPr>
          <p:cNvPr id="326" name="step6_icon"/>
          <p:cNvSpPr txBox="1">
            <a:spLocks noGrp="1"/>
          </p:cNvSpPr>
          <p:nvPr/>
        </p:nvSpPr>
        <p:spPr>
          <a:xfrm>
            <a:off x="9613900" y="4241800"/>
            <a:ext cx="457200" cy="457200"/>
          </a:xfrm>
          <a:prstGeom prst="rect">
            <a:avLst/>
          </a:prstGeom>
          <a:noFill/>
          <a:ln>
            <a:noFill/>
          </a:ln>
        </p:spPr>
        <p:txBody>
          <a:bodyPr anchor="ctr">
            <a:normAutofit/>
          </a:bodyPr>
          <a:lstStyle/>
          <a:p>
            <a:pPr algn="ctr">
              <a:buNone/>
            </a:pPr>
            <a:r>
              <a:rPr lang="en-US" sz="1000" b="1" dirty="0">
                <a:solidFill>
                  <a:srgbClr val="FFFFFF"/>
                </a:solidFill>
                <a:latin typeface="Calibri"/>
              </a:rPr>
              <a:t>→</a:t>
            </a:r>
          </a:p>
        </p:txBody>
      </p:sp>
      <p:sp>
        <p:nvSpPr>
          <p:cNvPr id="336" name="step6_label"/>
          <p:cNvSpPr txBox="1">
            <a:spLocks noGrp="1"/>
          </p:cNvSpPr>
          <p:nvPr/>
        </p:nvSpPr>
        <p:spPr>
          <a:xfrm>
            <a:off x="9385300" y="4737100"/>
            <a:ext cx="914400" cy="457200"/>
          </a:xfrm>
          <a:prstGeom prst="rect">
            <a:avLst/>
          </a:prstGeom>
          <a:noFill/>
          <a:ln>
            <a:noFill/>
          </a:ln>
        </p:spPr>
        <p:txBody>
          <a:bodyPr anchor="t">
            <a:normAutofit fontScale="77500" lnSpcReduction="20000"/>
          </a:bodyPr>
          <a:lstStyle/>
          <a:p>
            <a:pPr algn="ctr">
              <a:buNone/>
            </a:pPr>
            <a:r>
              <a:rPr lang="en-IN" sz="1400" dirty="0">
                <a:solidFill>
                  <a:srgbClr val="374151"/>
                </a:solidFill>
                <a:latin typeface="Calibri"/>
              </a:rPr>
              <a:t>Camera
for ESP32</a:t>
            </a:r>
          </a:p>
        </p:txBody>
      </p:sp>
      <p:sp>
        <p:nvSpPr>
          <p:cNvPr id="346" name="step6_status"/>
          <p:cNvSpPr txBox="1">
            <a:spLocks noGrp="1"/>
          </p:cNvSpPr>
          <p:nvPr/>
        </p:nvSpPr>
        <p:spPr>
          <a:xfrm>
            <a:off x="9334500" y="5092700"/>
            <a:ext cx="1016000" cy="203200"/>
          </a:xfrm>
          <a:prstGeom prst="rect">
            <a:avLst/>
          </a:prstGeom>
          <a:noFill/>
          <a:ln>
            <a:noFill/>
          </a:ln>
        </p:spPr>
        <p:txBody>
          <a:bodyPr anchor="t">
            <a:normAutofit fontScale="70000" lnSpcReduction="20000"/>
          </a:bodyPr>
          <a:lstStyle/>
          <a:p>
            <a:pPr algn="ctr">
              <a:buNone/>
            </a:pPr>
            <a:r>
              <a:rPr lang="en-IN" sz="1100" i="1" dirty="0">
                <a:solidFill>
                  <a:srgbClr val="6B7280"/>
                </a:solidFill>
                <a:latin typeface="Calibri"/>
              </a:rPr>
              <a:t>Upcoming</a:t>
            </a:r>
          </a:p>
        </p:txBody>
      </p:sp>
      <p:sp>
        <p:nvSpPr>
          <p:cNvPr id="400" name="achieve_bg"/>
          <p:cNvSpPr>
            <a:spLocks noGrp="1"/>
          </p:cNvSpPr>
          <p:nvPr/>
        </p:nvSpPr>
        <p:spPr>
          <a:xfrm>
            <a:off x="546100" y="5270500"/>
            <a:ext cx="11099800" cy="838200"/>
          </a:xfrm>
          <a:prstGeom prst="roundRect">
            <a:avLst>
              <a:gd name="adj" fmla="val 10000"/>
            </a:avLst>
          </a:prstGeom>
          <a:solidFill>
            <a:srgbClr val="EBF8FA"/>
          </a:solidFill>
          <a:ln w="15000">
            <a:solidFill>
              <a:srgbClr val="0E96AC"/>
            </a:solidFill>
          </a:ln>
        </p:spPr>
        <p:txBody>
          <a:bodyPr/>
          <a:lstStyle/>
          <a:p>
            <a:endParaRPr lang="en-US"/>
          </a:p>
        </p:txBody>
      </p:sp>
      <p:sp>
        <p:nvSpPr>
          <p:cNvPr id="401" name="achieve_accent"/>
          <p:cNvSpPr>
            <a:spLocks noGrp="1"/>
          </p:cNvSpPr>
          <p:nvPr/>
        </p:nvSpPr>
        <p:spPr>
          <a:xfrm>
            <a:off x="546100" y="5270500"/>
            <a:ext cx="76200" cy="838200"/>
          </a:xfrm>
          <a:prstGeom prst="rect">
            <a:avLst/>
          </a:prstGeom>
          <a:solidFill>
            <a:srgbClr val="0E96AC"/>
          </a:solidFill>
          <a:ln>
            <a:noFill/>
          </a:ln>
        </p:spPr>
        <p:txBody>
          <a:bodyPr/>
          <a:lstStyle/>
          <a:p>
            <a:endParaRPr lang="en-US"/>
          </a:p>
        </p:txBody>
      </p:sp>
      <p:sp>
        <p:nvSpPr>
          <p:cNvPr id="402" name="achieve_star"/>
          <p:cNvSpPr txBox="1">
            <a:spLocks noGrp="1"/>
          </p:cNvSpPr>
          <p:nvPr/>
        </p:nvSpPr>
        <p:spPr>
          <a:xfrm>
            <a:off x="660400" y="5270500"/>
            <a:ext cx="355600" cy="838200"/>
          </a:xfrm>
          <a:prstGeom prst="rect">
            <a:avLst/>
          </a:prstGeom>
          <a:noFill/>
          <a:ln>
            <a:noFill/>
          </a:ln>
        </p:spPr>
        <p:txBody>
          <a:bodyPr anchor="ctr">
            <a:normAutofit/>
          </a:bodyPr>
          <a:lstStyle/>
          <a:p>
            <a:pPr algn="ctr">
              <a:buNone/>
            </a:pPr>
            <a:r>
              <a:rPr lang="en-US" sz="1600" dirty="0">
                <a:solidFill>
                  <a:srgbClr val="0E96AC"/>
                </a:solidFill>
                <a:latin typeface="Calibri"/>
              </a:rPr>
              <a:t>★</a:t>
            </a:r>
          </a:p>
        </p:txBody>
      </p:sp>
      <p:sp>
        <p:nvSpPr>
          <p:cNvPr id="403" name="achieve_text"/>
          <p:cNvSpPr txBox="1">
            <a:spLocks noGrp="1"/>
          </p:cNvSpPr>
          <p:nvPr/>
        </p:nvSpPr>
        <p:spPr>
          <a:xfrm>
            <a:off x="1041400" y="5295900"/>
            <a:ext cx="10515600" cy="787400"/>
          </a:xfrm>
          <a:prstGeom prst="rect">
            <a:avLst/>
          </a:prstGeom>
          <a:noFill/>
          <a:ln>
            <a:noFill/>
          </a:ln>
        </p:spPr>
        <p:txBody>
          <a:bodyPr anchor="ctr">
            <a:normAutofit/>
          </a:bodyPr>
          <a:lstStyle/>
          <a:p>
            <a:pPr marL="0" indent="0">
              <a:buNone/>
            </a:pPr>
            <a:r>
              <a:rPr lang="en-IN" sz="1100" b="1" dirty="0">
                <a:solidFill>
                  <a:srgbClr val="16223A"/>
                </a:solidFill>
                <a:latin typeface="Calibri"/>
              </a:rPr>
              <a:t>Key Achievement: the actuator blocker that stalled Generation 1 is cleared — all ten servos, the driver board and the power source are in hand. Every remaining gap is a low-cost consumable, not a supply-chain risk.</a:t>
            </a:r>
          </a:p>
        </p:txBody>
      </p:sp>
    </p:spTree>
    <p:extLst>
      <p:ext uri="{BB962C8B-B14F-4D97-AF65-F5344CB8AC3E}">
        <p14:creationId xmlns:p14="http://schemas.microsoft.com/office/powerpoint/2010/main" val="4144980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lIns="0" tIns="0" rIns="0" bIns="0" rtlCol="0" anchor="ctr"/>
          <a:lstStyle/>
          <a:p>
            <a:pPr marL="0" indent="0">
              <a:buNone/>
            </a:pPr>
            <a:r>
              <a:rPr lang="en-US" sz="1200" b="1" kern="0" spc="300" dirty="0">
                <a:solidFill>
                  <a:srgbClr val="0E96AC"/>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530352" y="640080"/>
            <a:ext cx="9509760" cy="640080"/>
          </a:xfrm>
          <a:prstGeom prst="rect">
            <a:avLst/>
          </a:prstGeom>
          <a:noFill/>
          <a:ln/>
        </p:spPr>
        <p:txBody>
          <a:bodyPr wrap="square" lIns="0" tIns="0" rIns="0" bIns="0" rtlCol="0" anchor="ctr"/>
          <a:lstStyle/>
          <a:p>
            <a:pPr marL="0" indent="0">
              <a:buNone/>
            </a:pPr>
            <a:r>
              <a:rPr lang="en-US" sz="3000" b="1" dirty="0">
                <a:solidFill>
                  <a:srgbClr val="16223A"/>
                </a:solidFill>
                <a:latin typeface="Calibri" pitchFamily="34" charset="0"/>
                <a:ea typeface="Calibri" pitchFamily="34" charset="-122"/>
                <a:cs typeface="Calibri" pitchFamily="34" charset="-120"/>
              </a:rPr>
              <a:t>Path to Demonstration — Generation 2</a:t>
            </a:r>
            <a:endParaRPr lang="en-US" sz="3000" dirty="0"/>
          </a:p>
        </p:txBody>
      </p:sp>
      <p:sp>
        <p:nvSpPr>
          <p:cNvPr id="10" name="Shape 8"/>
          <p:cNvSpPr/>
          <p:nvPr/>
        </p:nvSpPr>
        <p:spPr>
          <a:xfrm>
            <a:off x="868680" y="3520440"/>
            <a:ext cx="10469880" cy="0"/>
          </a:xfrm>
          <a:prstGeom prst="line">
            <a:avLst/>
          </a:prstGeom>
          <a:noFill/>
          <a:ln w="38100">
            <a:solidFill>
              <a:srgbClr val="E2E8F0"/>
            </a:solidFill>
            <a:prstDash val="solid"/>
          </a:ln>
        </p:spPr>
      </p:sp>
      <p:sp>
        <p:nvSpPr>
          <p:cNvPr id="11" name="Shape 9"/>
          <p:cNvSpPr/>
          <p:nvPr/>
        </p:nvSpPr>
        <p:spPr>
          <a:xfrm>
            <a:off x="868680" y="3520440"/>
            <a:ext cx="1495697" cy="0"/>
          </a:xfrm>
          <a:prstGeom prst="line">
            <a:avLst/>
          </a:prstGeom>
          <a:noFill/>
          <a:ln w="38100">
            <a:solidFill>
              <a:srgbClr val="0E96AC"/>
            </a:solidFill>
            <a:prstDash val="solid"/>
          </a:ln>
        </p:spPr>
      </p:sp>
      <p:sp>
        <p:nvSpPr>
          <p:cNvPr id="12" name="Shape 10"/>
          <p:cNvSpPr/>
          <p:nvPr/>
        </p:nvSpPr>
        <p:spPr>
          <a:xfrm>
            <a:off x="868680" y="3063240"/>
            <a:ext cx="0" cy="457200"/>
          </a:xfrm>
          <a:prstGeom prst="line">
            <a:avLst/>
          </a:prstGeom>
          <a:noFill/>
          <a:ln w="15875">
            <a:solidFill>
              <a:srgbClr val="E2E8F0"/>
            </a:solidFill>
            <a:prstDash val="solid"/>
          </a:ln>
        </p:spPr>
      </p:sp>
      <p:sp>
        <p:nvSpPr>
          <p:cNvPr id="13" name="Shape 11"/>
          <p:cNvSpPr/>
          <p:nvPr/>
        </p:nvSpPr>
        <p:spPr>
          <a:xfrm>
            <a:off x="502920" y="2148840"/>
            <a:ext cx="1335024" cy="914400"/>
          </a:xfrm>
          <a:prstGeom prst="roundRect">
            <a:avLst>
              <a:gd name="adj" fmla="val 8000"/>
            </a:avLst>
          </a:prstGeom>
          <a:solidFill>
            <a:srgbClr val="FFFFFF"/>
          </a:solidFill>
          <a:ln w="15875">
            <a:solidFill>
              <a:srgbClr val="12A678"/>
            </a:solidFill>
            <a:prstDash val="solid"/>
          </a:ln>
          <a:effectLst>
            <a:outerShdw blurRad="63500" dist="25400" dir="5400000" algn="bl" rotWithShape="0">
              <a:srgbClr val="1A2440">
                <a:alpha val="8000"/>
              </a:srgbClr>
            </a:outerShdw>
          </a:effectLst>
        </p:spPr>
      </p:sp>
      <p:sp>
        <p:nvSpPr>
          <p:cNvPr id="14" name="Text 12"/>
          <p:cNvSpPr/>
          <p:nvPr/>
        </p:nvSpPr>
        <p:spPr>
          <a:xfrm>
            <a:off x="594360" y="2240280"/>
            <a:ext cx="1152144" cy="201168"/>
          </a:xfrm>
          <a:prstGeom prst="rect">
            <a:avLst/>
          </a:prstGeom>
          <a:noFill/>
          <a:ln/>
        </p:spPr>
        <p:txBody>
          <a:bodyPr wrap="square" lIns="0" tIns="0" rIns="0" bIns="0" rtlCol="0" anchor="ctr"/>
          <a:lstStyle/>
          <a:p>
            <a:pPr marL="0" indent="0">
              <a:buNone/>
            </a:pPr>
            <a:r>
              <a:rPr lang="en-US" sz="800" b="1" kern="0" spc="100" dirty="0">
                <a:solidFill>
                  <a:srgbClr val="12A678"/>
                </a:solidFill>
                <a:latin typeface="Calibri" pitchFamily="34" charset="0"/>
                <a:ea typeface="Calibri" pitchFamily="34" charset="-122"/>
                <a:cs typeface="Calibri" pitchFamily="34" charset="-120"/>
              </a:rPr>
              <a:t>PHASE 1</a:t>
            </a:r>
            <a:endParaRPr lang="en-US" sz="800" dirty="0"/>
          </a:p>
        </p:txBody>
      </p:sp>
      <p:sp>
        <p:nvSpPr>
          <p:cNvPr id="15" name="Text 13"/>
          <p:cNvSpPr/>
          <p:nvPr/>
        </p:nvSpPr>
        <p:spPr>
          <a:xfrm>
            <a:off x="594360"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Power Verification</a:t>
            </a:r>
            <a:endParaRPr lang="en-US" sz="1050" dirty="0"/>
          </a:p>
        </p:txBody>
      </p:sp>
      <p:sp>
        <p:nvSpPr>
          <p:cNvPr id="16" name="Text 14"/>
          <p:cNvSpPr/>
          <p:nvPr/>
        </p:nvSpPr>
        <p:spPr>
          <a:xfrm>
            <a:off x="594360" y="2825496"/>
            <a:ext cx="1152144" cy="182880"/>
          </a:xfrm>
          <a:prstGeom prst="rect">
            <a:avLst/>
          </a:prstGeom>
          <a:noFill/>
          <a:ln/>
        </p:spPr>
        <p:txBody>
          <a:bodyPr wrap="square" lIns="0" tIns="0" rIns="0" bIns="0" rtlCol="0" anchor="ctr"/>
          <a:lstStyle/>
          <a:p>
            <a:pPr marL="0" indent="0">
              <a:buNone/>
            </a:pPr>
            <a:r>
              <a:rPr lang="en-US" sz="800" b="1" dirty="0">
                <a:solidFill>
                  <a:srgbClr val="12A678"/>
                </a:solidFill>
                <a:latin typeface="Calibri" pitchFamily="34" charset="0"/>
                <a:ea typeface="Calibri" pitchFamily="34" charset="-122"/>
                <a:cs typeface="Calibri" pitchFamily="34" charset="-120"/>
              </a:rPr>
              <a:t>In progress</a:t>
            </a:r>
            <a:endParaRPr lang="en-US" sz="800" dirty="0"/>
          </a:p>
        </p:txBody>
      </p:sp>
      <p:sp>
        <p:nvSpPr>
          <p:cNvPr id="17" name="Shape 15"/>
          <p:cNvSpPr/>
          <p:nvPr/>
        </p:nvSpPr>
        <p:spPr>
          <a:xfrm>
            <a:off x="694944" y="3346704"/>
            <a:ext cx="347472" cy="347472"/>
          </a:xfrm>
          <a:prstGeom prst="ellipse">
            <a:avLst/>
          </a:prstGeom>
          <a:solidFill>
            <a:srgbClr val="1E6FD6"/>
          </a:solidFill>
          <a:ln w="31750">
            <a:solidFill>
              <a:srgbClr val="F6F8FB"/>
            </a:solidFill>
            <a:prstDash val="solid"/>
          </a:ln>
        </p:spPr>
      </p:sp>
      <p:sp>
        <p:nvSpPr>
          <p:cNvPr id="18" name="Text 16"/>
          <p:cNvSpPr/>
          <p:nvPr/>
        </p:nvSpPr>
        <p:spPr>
          <a:xfrm>
            <a:off x="69494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9" name="Shape 17"/>
          <p:cNvSpPr/>
          <p:nvPr/>
        </p:nvSpPr>
        <p:spPr>
          <a:xfrm>
            <a:off x="2364377" y="3520440"/>
            <a:ext cx="0" cy="457200"/>
          </a:xfrm>
          <a:prstGeom prst="line">
            <a:avLst/>
          </a:prstGeom>
          <a:noFill/>
          <a:ln w="15875">
            <a:solidFill>
              <a:srgbClr val="E2E8F0"/>
            </a:solidFill>
            <a:prstDash val="solid"/>
          </a:ln>
        </p:spPr>
      </p:sp>
      <p:sp>
        <p:nvSpPr>
          <p:cNvPr id="20" name="Shape 18"/>
          <p:cNvSpPr/>
          <p:nvPr/>
        </p:nvSpPr>
        <p:spPr>
          <a:xfrm>
            <a:off x="1696865" y="3977640"/>
            <a:ext cx="1335024" cy="914400"/>
          </a:xfrm>
          <a:prstGeom prst="roundRect">
            <a:avLst>
              <a:gd name="adj" fmla="val 8000"/>
            </a:avLst>
          </a:prstGeom>
          <a:solidFill>
            <a:srgbClr val="FFFFFF"/>
          </a:solidFill>
          <a:ln w="15875">
            <a:solidFill>
              <a:srgbClr val="E08A1E"/>
            </a:solidFill>
            <a:prstDash val="solid"/>
          </a:ln>
          <a:effectLst>
            <a:outerShdw blurRad="63500" dist="25400" dir="5400000" algn="bl" rotWithShape="0">
              <a:srgbClr val="1A2440">
                <a:alpha val="8000"/>
              </a:srgbClr>
            </a:outerShdw>
          </a:effectLst>
        </p:spPr>
      </p:sp>
      <p:sp>
        <p:nvSpPr>
          <p:cNvPr id="21" name="Text 19"/>
          <p:cNvSpPr/>
          <p:nvPr/>
        </p:nvSpPr>
        <p:spPr>
          <a:xfrm>
            <a:off x="1788305" y="4069080"/>
            <a:ext cx="1152144" cy="201168"/>
          </a:xfrm>
          <a:prstGeom prst="rect">
            <a:avLst/>
          </a:prstGeom>
          <a:noFill/>
          <a:ln/>
        </p:spPr>
        <p:txBody>
          <a:bodyPr wrap="square" lIns="0" tIns="0" rIns="0" bIns="0" rtlCol="0" anchor="ctr"/>
          <a:lstStyle/>
          <a:p>
            <a:pPr marL="0" indent="0">
              <a:buNone/>
            </a:pPr>
            <a:r>
              <a:rPr lang="en-US" sz="800" b="1" kern="0" spc="100" dirty="0">
                <a:solidFill>
                  <a:srgbClr val="E08A1E"/>
                </a:solidFill>
                <a:latin typeface="Calibri" pitchFamily="34" charset="0"/>
                <a:ea typeface="Calibri" pitchFamily="34" charset="-122"/>
                <a:cs typeface="Calibri" pitchFamily="34" charset="-120"/>
              </a:rPr>
              <a:t>PHASE 2</a:t>
            </a:r>
            <a:endParaRPr lang="en-US" sz="800" dirty="0"/>
          </a:p>
        </p:txBody>
      </p:sp>
      <p:sp>
        <p:nvSpPr>
          <p:cNvPr id="22" name="Text 20"/>
          <p:cNvSpPr/>
          <p:nvPr/>
        </p:nvSpPr>
        <p:spPr>
          <a:xfrm>
            <a:off x="1788305"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16223A"/>
                </a:solidFill>
                <a:latin typeface="Calibri" pitchFamily="34" charset="0"/>
                <a:ea typeface="Calibri" pitchFamily="34" charset="-122"/>
                <a:cs typeface="Calibri" pitchFamily="34" charset="-120"/>
              </a:rPr>
              <a:t>Servo Bring-Up</a:t>
            </a:r>
            <a:endParaRPr lang="en-US" sz="1050" dirty="0"/>
          </a:p>
        </p:txBody>
      </p:sp>
      <p:sp>
        <p:nvSpPr>
          <p:cNvPr id="23" name="Text 21"/>
          <p:cNvSpPr/>
          <p:nvPr/>
        </p:nvSpPr>
        <p:spPr>
          <a:xfrm>
            <a:off x="1788305" y="4654296"/>
            <a:ext cx="1152144" cy="182880"/>
          </a:xfrm>
          <a:prstGeom prst="rect">
            <a:avLst/>
          </a:prstGeom>
          <a:noFill/>
          <a:ln/>
        </p:spPr>
        <p:txBody>
          <a:bodyPr wrap="square" lIns="0" tIns="0" rIns="0" bIns="0" rtlCol="0" anchor="ctr"/>
          <a:lstStyle/>
          <a:p>
            <a:pPr marL="0" indent="0">
              <a:buNone/>
            </a:pPr>
            <a:r>
              <a:rPr lang="en-US" sz="800" b="1" dirty="0">
                <a:solidFill>
                  <a:srgbClr val="E08A1E"/>
                </a:solidFill>
                <a:latin typeface="Calibri" pitchFamily="34" charset="0"/>
                <a:ea typeface="Calibri" pitchFamily="34" charset="-122"/>
                <a:cs typeface="Calibri" pitchFamily="34" charset="-120"/>
              </a:rPr>
              <a:t>Up next</a:t>
            </a:r>
            <a:endParaRPr lang="en-US" sz="800" dirty="0"/>
          </a:p>
        </p:txBody>
      </p:sp>
      <p:sp>
        <p:nvSpPr>
          <p:cNvPr id="24" name="Shape 22"/>
          <p:cNvSpPr/>
          <p:nvPr/>
        </p:nvSpPr>
        <p:spPr>
          <a:xfrm>
            <a:off x="2190641" y="3346704"/>
            <a:ext cx="347472" cy="347472"/>
          </a:xfrm>
          <a:prstGeom prst="ellipse">
            <a:avLst/>
          </a:prstGeom>
          <a:solidFill>
            <a:srgbClr val="1E6FD6"/>
          </a:solidFill>
          <a:ln w="31750">
            <a:solidFill>
              <a:srgbClr val="F6F8FB"/>
            </a:solidFill>
            <a:prstDash val="solid"/>
          </a:ln>
        </p:spPr>
      </p:sp>
      <p:sp>
        <p:nvSpPr>
          <p:cNvPr id="25" name="Text 23"/>
          <p:cNvSpPr/>
          <p:nvPr/>
        </p:nvSpPr>
        <p:spPr>
          <a:xfrm>
            <a:off x="2190641"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6" name="Shape 24"/>
          <p:cNvSpPr/>
          <p:nvPr/>
        </p:nvSpPr>
        <p:spPr>
          <a:xfrm>
            <a:off x="3860074" y="3063240"/>
            <a:ext cx="0" cy="457200"/>
          </a:xfrm>
          <a:prstGeom prst="line">
            <a:avLst/>
          </a:prstGeom>
          <a:noFill/>
          <a:ln w="15875">
            <a:solidFill>
              <a:srgbClr val="E2E8F0"/>
            </a:solidFill>
            <a:prstDash val="solid"/>
          </a:ln>
        </p:spPr>
      </p:sp>
      <p:sp>
        <p:nvSpPr>
          <p:cNvPr id="27" name="Shape 25"/>
          <p:cNvSpPr/>
          <p:nvPr/>
        </p:nvSpPr>
        <p:spPr>
          <a:xfrm>
            <a:off x="3192562" y="2148840"/>
            <a:ext cx="1335024" cy="914400"/>
          </a:xfrm>
          <a:prstGeom prst="roundRect">
            <a:avLst>
              <a:gd name="adj" fmla="val 8000"/>
            </a:avLst>
          </a:prstGeom>
          <a:solidFill>
            <a:srgbClr val="FFFFFF"/>
          </a:solidFill>
          <a:ln w="15875">
            <a:solidFill>
              <a:srgbClr val="0E96AC"/>
            </a:solidFill>
            <a:prstDash val="solid"/>
          </a:ln>
          <a:effectLst>
            <a:outerShdw blurRad="63500" dist="25400" dir="5400000" algn="bl" rotWithShape="0">
              <a:srgbClr val="1A2440">
                <a:alpha val="8000"/>
              </a:srgbClr>
            </a:outerShdw>
          </a:effectLst>
        </p:spPr>
      </p:sp>
      <p:sp>
        <p:nvSpPr>
          <p:cNvPr id="28" name="Text 26"/>
          <p:cNvSpPr/>
          <p:nvPr/>
        </p:nvSpPr>
        <p:spPr>
          <a:xfrm>
            <a:off x="3284002" y="2240280"/>
            <a:ext cx="1152144" cy="201168"/>
          </a:xfrm>
          <a:prstGeom prst="rect">
            <a:avLst/>
          </a:prstGeom>
          <a:noFill/>
          <a:ln/>
        </p:spPr>
        <p:txBody>
          <a:bodyPr wrap="square" lIns="0" tIns="0" rIns="0" bIns="0" rtlCol="0" anchor="ctr"/>
          <a:lstStyle/>
          <a:p>
            <a:pPr marL="0" indent="0">
              <a:buNone/>
            </a:pPr>
            <a:r>
              <a:rPr lang="en-US" sz="800" b="1" kern="0" spc="100" dirty="0">
                <a:solidFill>
                  <a:srgbClr val="0E96AC"/>
                </a:solidFill>
                <a:latin typeface="Calibri" pitchFamily="34" charset="0"/>
                <a:ea typeface="Calibri" pitchFamily="34" charset="-122"/>
                <a:cs typeface="Calibri" pitchFamily="34" charset="-120"/>
              </a:rPr>
              <a:t>PHASE 3</a:t>
            </a:r>
            <a:endParaRPr lang="en-US" sz="800" dirty="0"/>
          </a:p>
        </p:txBody>
      </p:sp>
      <p:sp>
        <p:nvSpPr>
          <p:cNvPr id="29" name="Text 27"/>
          <p:cNvSpPr/>
          <p:nvPr/>
        </p:nvSpPr>
        <p:spPr>
          <a:xfrm>
            <a:off x="3284002"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3A4658"/>
                </a:solidFill>
                <a:latin typeface="Calibri" pitchFamily="34" charset="0"/>
                <a:ea typeface="Calibri" pitchFamily="34" charset="-122"/>
                <a:cs typeface="Calibri" pitchFamily="34" charset="-120"/>
              </a:rPr>
              <a:t>Segment Fabrication</a:t>
            </a:r>
            <a:endParaRPr lang="en-US" sz="1050" dirty="0"/>
          </a:p>
        </p:txBody>
      </p:sp>
      <p:sp>
        <p:nvSpPr>
          <p:cNvPr id="30" name="Text 28"/>
          <p:cNvSpPr/>
          <p:nvPr/>
        </p:nvSpPr>
        <p:spPr>
          <a:xfrm>
            <a:off x="3284002" y="2825496"/>
            <a:ext cx="1152144" cy="182880"/>
          </a:xfrm>
          <a:prstGeom prst="rect">
            <a:avLst/>
          </a:prstGeom>
          <a:noFill/>
          <a:ln/>
        </p:spPr>
        <p:txBody>
          <a:bodyPr wrap="square" lIns="0" tIns="0" rIns="0" bIns="0" rtlCol="0" anchor="ctr"/>
          <a:lstStyle/>
          <a:p>
            <a:pPr marL="0" indent="0">
              <a:buNone/>
            </a:pPr>
            <a:r>
              <a:rPr lang="en-US" sz="800" b="1" dirty="0">
                <a:solidFill>
                  <a:srgbClr val="0E96AC"/>
                </a:solidFill>
                <a:latin typeface="Calibri" pitchFamily="34" charset="0"/>
                <a:ea typeface="Calibri" pitchFamily="34" charset="-122"/>
                <a:cs typeface="Calibri" pitchFamily="34" charset="-120"/>
              </a:rPr>
              <a:t>Planned</a:t>
            </a:r>
            <a:endParaRPr lang="en-US" sz="800" dirty="0"/>
          </a:p>
        </p:txBody>
      </p:sp>
      <p:sp>
        <p:nvSpPr>
          <p:cNvPr id="31" name="Shape 29"/>
          <p:cNvSpPr/>
          <p:nvPr/>
        </p:nvSpPr>
        <p:spPr>
          <a:xfrm>
            <a:off x="3686338" y="3346704"/>
            <a:ext cx="347472" cy="347472"/>
          </a:xfrm>
          <a:prstGeom prst="ellipse">
            <a:avLst/>
          </a:prstGeom>
          <a:solidFill>
            <a:srgbClr val="E8821E"/>
          </a:solidFill>
          <a:ln w="31750">
            <a:solidFill>
              <a:srgbClr val="F6F8FB"/>
            </a:solidFill>
            <a:prstDash val="solid"/>
          </a:ln>
        </p:spPr>
      </p:sp>
      <p:sp>
        <p:nvSpPr>
          <p:cNvPr id="32" name="Text 30"/>
          <p:cNvSpPr/>
          <p:nvPr/>
        </p:nvSpPr>
        <p:spPr>
          <a:xfrm>
            <a:off x="3686338"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33" name="Shape 31"/>
          <p:cNvSpPr/>
          <p:nvPr/>
        </p:nvSpPr>
        <p:spPr>
          <a:xfrm>
            <a:off x="5355771" y="3520440"/>
            <a:ext cx="0" cy="457200"/>
          </a:xfrm>
          <a:prstGeom prst="line">
            <a:avLst/>
          </a:prstGeom>
          <a:noFill/>
          <a:ln w="15875">
            <a:solidFill>
              <a:srgbClr val="E2E8F0"/>
            </a:solidFill>
            <a:prstDash val="solid"/>
          </a:ln>
        </p:spPr>
      </p:sp>
      <p:sp>
        <p:nvSpPr>
          <p:cNvPr id="34" name="Shape 32"/>
          <p:cNvSpPr/>
          <p:nvPr/>
        </p:nvSpPr>
        <p:spPr>
          <a:xfrm>
            <a:off x="4688259"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35" name="Text 33"/>
          <p:cNvSpPr/>
          <p:nvPr/>
        </p:nvSpPr>
        <p:spPr>
          <a:xfrm>
            <a:off x="4779699"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4</a:t>
            </a:r>
            <a:endParaRPr lang="en-US" sz="800" dirty="0"/>
          </a:p>
        </p:txBody>
      </p:sp>
      <p:sp>
        <p:nvSpPr>
          <p:cNvPr id="36" name="Text 34"/>
          <p:cNvSpPr/>
          <p:nvPr/>
        </p:nvSpPr>
        <p:spPr>
          <a:xfrm>
            <a:off x="4779699"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Mechanical Assembly</a:t>
            </a:r>
            <a:endParaRPr lang="en-US" sz="1050" dirty="0"/>
          </a:p>
        </p:txBody>
      </p:sp>
      <p:sp>
        <p:nvSpPr>
          <p:cNvPr id="37" name="Shape 35"/>
          <p:cNvSpPr/>
          <p:nvPr/>
        </p:nvSpPr>
        <p:spPr>
          <a:xfrm>
            <a:off x="5182035" y="3346704"/>
            <a:ext cx="347472" cy="347472"/>
          </a:xfrm>
          <a:prstGeom prst="ellipse">
            <a:avLst/>
          </a:prstGeom>
          <a:solidFill>
            <a:srgbClr val="E8821E"/>
          </a:solidFill>
          <a:ln w="31750">
            <a:solidFill>
              <a:srgbClr val="F6F8FB"/>
            </a:solidFill>
            <a:prstDash val="solid"/>
          </a:ln>
        </p:spPr>
      </p:sp>
      <p:sp>
        <p:nvSpPr>
          <p:cNvPr id="38" name="Text 36"/>
          <p:cNvSpPr/>
          <p:nvPr/>
        </p:nvSpPr>
        <p:spPr>
          <a:xfrm>
            <a:off x="5182035"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39" name="Shape 37"/>
          <p:cNvSpPr/>
          <p:nvPr/>
        </p:nvSpPr>
        <p:spPr>
          <a:xfrm>
            <a:off x="6851469" y="3063240"/>
            <a:ext cx="0" cy="457200"/>
          </a:xfrm>
          <a:prstGeom prst="line">
            <a:avLst/>
          </a:prstGeom>
          <a:noFill/>
          <a:ln w="15875">
            <a:solidFill>
              <a:srgbClr val="E2E8F0"/>
            </a:solidFill>
            <a:prstDash val="solid"/>
          </a:ln>
        </p:spPr>
      </p:sp>
      <p:sp>
        <p:nvSpPr>
          <p:cNvPr id="40" name="Shape 38"/>
          <p:cNvSpPr/>
          <p:nvPr/>
        </p:nvSpPr>
        <p:spPr>
          <a:xfrm>
            <a:off x="6183957"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1" name="Text 39"/>
          <p:cNvSpPr/>
          <p:nvPr/>
        </p:nvSpPr>
        <p:spPr>
          <a:xfrm>
            <a:off x="6275397"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5</a:t>
            </a:r>
            <a:endParaRPr lang="en-US" sz="800" dirty="0"/>
          </a:p>
        </p:txBody>
      </p:sp>
      <p:sp>
        <p:nvSpPr>
          <p:cNvPr id="42" name="Text 40"/>
          <p:cNvSpPr/>
          <p:nvPr/>
        </p:nvSpPr>
        <p:spPr>
          <a:xfrm>
            <a:off x="6275397"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Field Integration</a:t>
            </a:r>
            <a:endParaRPr lang="en-US" sz="1050" dirty="0"/>
          </a:p>
        </p:txBody>
      </p:sp>
      <p:sp>
        <p:nvSpPr>
          <p:cNvPr id="43" name="Shape 41"/>
          <p:cNvSpPr/>
          <p:nvPr/>
        </p:nvSpPr>
        <p:spPr>
          <a:xfrm>
            <a:off x="6677733" y="3346704"/>
            <a:ext cx="347472" cy="347472"/>
          </a:xfrm>
          <a:prstGeom prst="ellipse">
            <a:avLst/>
          </a:prstGeom>
          <a:solidFill>
            <a:srgbClr val="E8821E"/>
          </a:solidFill>
          <a:ln w="31750">
            <a:solidFill>
              <a:srgbClr val="F6F8FB"/>
            </a:solidFill>
            <a:prstDash val="solid"/>
          </a:ln>
        </p:spPr>
      </p:sp>
      <p:sp>
        <p:nvSpPr>
          <p:cNvPr id="44" name="Text 42"/>
          <p:cNvSpPr/>
          <p:nvPr/>
        </p:nvSpPr>
        <p:spPr>
          <a:xfrm>
            <a:off x="6677733"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45" name="Shape 43"/>
          <p:cNvSpPr/>
          <p:nvPr/>
        </p:nvSpPr>
        <p:spPr>
          <a:xfrm>
            <a:off x="8347166" y="3520440"/>
            <a:ext cx="0" cy="457200"/>
          </a:xfrm>
          <a:prstGeom prst="line">
            <a:avLst/>
          </a:prstGeom>
          <a:noFill/>
          <a:ln w="15875">
            <a:solidFill>
              <a:srgbClr val="E2E8F0"/>
            </a:solidFill>
            <a:prstDash val="solid"/>
          </a:ln>
        </p:spPr>
      </p:sp>
      <p:sp>
        <p:nvSpPr>
          <p:cNvPr id="46" name="Shape 44"/>
          <p:cNvSpPr/>
          <p:nvPr/>
        </p:nvSpPr>
        <p:spPr>
          <a:xfrm>
            <a:off x="7679654"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47" name="Text 45"/>
          <p:cNvSpPr/>
          <p:nvPr/>
        </p:nvSpPr>
        <p:spPr>
          <a:xfrm>
            <a:off x="7771094"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6</a:t>
            </a:r>
            <a:endParaRPr lang="en-US" sz="800" dirty="0"/>
          </a:p>
        </p:txBody>
      </p:sp>
      <p:sp>
        <p:nvSpPr>
          <p:cNvPr id="48" name="Text 46"/>
          <p:cNvSpPr/>
          <p:nvPr/>
        </p:nvSpPr>
        <p:spPr>
          <a:xfrm>
            <a:off x="7771094"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Locomotion Trials</a:t>
            </a:r>
            <a:endParaRPr lang="en-US" sz="1050" dirty="0"/>
          </a:p>
        </p:txBody>
      </p:sp>
      <p:sp>
        <p:nvSpPr>
          <p:cNvPr id="49" name="Shape 47"/>
          <p:cNvSpPr/>
          <p:nvPr/>
        </p:nvSpPr>
        <p:spPr>
          <a:xfrm>
            <a:off x="8173430" y="3346704"/>
            <a:ext cx="347472" cy="347472"/>
          </a:xfrm>
          <a:prstGeom prst="ellipse">
            <a:avLst/>
          </a:prstGeom>
          <a:solidFill>
            <a:srgbClr val="E8821E"/>
          </a:solidFill>
          <a:ln w="31750">
            <a:solidFill>
              <a:srgbClr val="F6F8FB"/>
            </a:solidFill>
            <a:prstDash val="solid"/>
          </a:ln>
        </p:spPr>
      </p:sp>
      <p:sp>
        <p:nvSpPr>
          <p:cNvPr id="50" name="Text 48"/>
          <p:cNvSpPr/>
          <p:nvPr/>
        </p:nvSpPr>
        <p:spPr>
          <a:xfrm>
            <a:off x="8173430"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51" name="Shape 49"/>
          <p:cNvSpPr/>
          <p:nvPr/>
        </p:nvSpPr>
        <p:spPr>
          <a:xfrm>
            <a:off x="9842863" y="3063240"/>
            <a:ext cx="0" cy="457200"/>
          </a:xfrm>
          <a:prstGeom prst="line">
            <a:avLst/>
          </a:prstGeom>
          <a:noFill/>
          <a:ln w="15875">
            <a:solidFill>
              <a:srgbClr val="E2E8F0"/>
            </a:solidFill>
            <a:prstDash val="solid"/>
          </a:ln>
        </p:spPr>
      </p:sp>
      <p:sp>
        <p:nvSpPr>
          <p:cNvPr id="52" name="Shape 50"/>
          <p:cNvSpPr/>
          <p:nvPr/>
        </p:nvSpPr>
        <p:spPr>
          <a:xfrm>
            <a:off x="9175351" y="21488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3" name="Text 51"/>
          <p:cNvSpPr/>
          <p:nvPr/>
        </p:nvSpPr>
        <p:spPr>
          <a:xfrm>
            <a:off x="9266791" y="22402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7</a:t>
            </a:r>
            <a:endParaRPr lang="en-US" sz="800" dirty="0"/>
          </a:p>
        </p:txBody>
      </p:sp>
      <p:sp>
        <p:nvSpPr>
          <p:cNvPr id="54" name="Text 52"/>
          <p:cNvSpPr/>
          <p:nvPr/>
        </p:nvSpPr>
        <p:spPr>
          <a:xfrm>
            <a:off x="9266791" y="24414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Characterisation</a:t>
            </a:r>
            <a:endParaRPr lang="en-US" sz="1050" dirty="0"/>
          </a:p>
        </p:txBody>
      </p:sp>
      <p:sp>
        <p:nvSpPr>
          <p:cNvPr id="55" name="Shape 53"/>
          <p:cNvSpPr/>
          <p:nvPr/>
        </p:nvSpPr>
        <p:spPr>
          <a:xfrm>
            <a:off x="9669127" y="3346704"/>
            <a:ext cx="347472" cy="347472"/>
          </a:xfrm>
          <a:prstGeom prst="ellipse">
            <a:avLst/>
          </a:prstGeom>
          <a:solidFill>
            <a:srgbClr val="E8821E"/>
          </a:solidFill>
          <a:ln w="31750">
            <a:solidFill>
              <a:srgbClr val="F6F8FB"/>
            </a:solidFill>
            <a:prstDash val="solid"/>
          </a:ln>
        </p:spPr>
      </p:sp>
      <p:sp>
        <p:nvSpPr>
          <p:cNvPr id="56" name="Text 54"/>
          <p:cNvSpPr/>
          <p:nvPr/>
        </p:nvSpPr>
        <p:spPr>
          <a:xfrm>
            <a:off x="9669127"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57" name="Shape 55"/>
          <p:cNvSpPr/>
          <p:nvPr/>
        </p:nvSpPr>
        <p:spPr>
          <a:xfrm>
            <a:off x="11338560" y="3520440"/>
            <a:ext cx="0" cy="457200"/>
          </a:xfrm>
          <a:prstGeom prst="line">
            <a:avLst/>
          </a:prstGeom>
          <a:noFill/>
          <a:ln w="15875">
            <a:solidFill>
              <a:srgbClr val="E2E8F0"/>
            </a:solidFill>
            <a:prstDash val="solid"/>
          </a:ln>
        </p:spPr>
      </p:sp>
      <p:sp>
        <p:nvSpPr>
          <p:cNvPr id="58" name="Shape 56"/>
          <p:cNvSpPr/>
          <p:nvPr/>
        </p:nvSpPr>
        <p:spPr>
          <a:xfrm>
            <a:off x="10351008" y="3977640"/>
            <a:ext cx="1335024" cy="914400"/>
          </a:xfrm>
          <a:prstGeom prst="roundRect">
            <a:avLst>
              <a:gd name="adj" fmla="val 8000"/>
            </a:avLst>
          </a:prstGeom>
          <a:solidFill>
            <a:srgbClr val="FFFFFF"/>
          </a:solidFill>
          <a:ln w="12700">
            <a:solidFill>
              <a:srgbClr val="E2E8F0"/>
            </a:solidFill>
            <a:prstDash val="solid"/>
          </a:ln>
          <a:effectLst>
            <a:outerShdw blurRad="63500" dist="25400" dir="5400000" algn="bl" rotWithShape="0">
              <a:srgbClr val="1A2440">
                <a:alpha val="8000"/>
              </a:srgbClr>
            </a:outerShdw>
          </a:effectLst>
        </p:spPr>
      </p:sp>
      <p:sp>
        <p:nvSpPr>
          <p:cNvPr id="59" name="Text 57"/>
          <p:cNvSpPr/>
          <p:nvPr/>
        </p:nvSpPr>
        <p:spPr>
          <a:xfrm>
            <a:off x="10442448" y="4069080"/>
            <a:ext cx="1152144" cy="201168"/>
          </a:xfrm>
          <a:prstGeom prst="rect">
            <a:avLst/>
          </a:prstGeom>
          <a:noFill/>
          <a:ln/>
        </p:spPr>
        <p:txBody>
          <a:bodyPr wrap="square" lIns="0" tIns="0" rIns="0" bIns="0" rtlCol="0" anchor="ctr"/>
          <a:lstStyle/>
          <a:p>
            <a:pPr marL="0" indent="0">
              <a:buNone/>
            </a:pPr>
            <a:r>
              <a:rPr lang="en-US" sz="800" b="1" kern="0" spc="100" dirty="0">
                <a:solidFill>
                  <a:srgbClr val="6B7890"/>
                </a:solidFill>
                <a:latin typeface="Calibri" pitchFamily="34" charset="0"/>
                <a:ea typeface="Calibri" pitchFamily="34" charset="-122"/>
                <a:cs typeface="Calibri" pitchFamily="34" charset="-120"/>
              </a:rPr>
              <a:t>PHASE 8</a:t>
            </a:r>
            <a:endParaRPr lang="en-US" sz="800" dirty="0"/>
          </a:p>
        </p:txBody>
      </p:sp>
      <p:sp>
        <p:nvSpPr>
          <p:cNvPr id="60" name="Text 58"/>
          <p:cNvSpPr/>
          <p:nvPr/>
        </p:nvSpPr>
        <p:spPr>
          <a:xfrm>
            <a:off x="10442448" y="4270248"/>
            <a:ext cx="1152144" cy="457200"/>
          </a:xfrm>
          <a:prstGeom prst="rect">
            <a:avLst/>
          </a:prstGeom>
          <a:noFill/>
          <a:ln/>
        </p:spPr>
        <p:txBody>
          <a:bodyPr wrap="square" lIns="0" tIns="0" rIns="0" bIns="0" rtlCol="0" anchor="t"/>
          <a:lstStyle/>
          <a:p>
            <a:pPr marL="0" indent="0">
              <a:lnSpc>
                <a:spcPct val="92000"/>
              </a:lnSpc>
              <a:buNone/>
            </a:pPr>
            <a:r>
              <a:rPr lang="en-US" sz="1050" b="1" dirty="0">
                <a:solidFill>
                  <a:srgbClr val="6B7890"/>
                </a:solidFill>
                <a:latin typeface="Calibri" pitchFamily="34" charset="0"/>
                <a:ea typeface="Calibri" pitchFamily="34" charset="-122"/>
                <a:cs typeface="Calibri" pitchFamily="34" charset="-120"/>
              </a:rPr>
              <a:t>Final Demonstration</a:t>
            </a:r>
            <a:endParaRPr lang="en-US" sz="1050" dirty="0"/>
          </a:p>
        </p:txBody>
      </p:sp>
      <p:sp>
        <p:nvSpPr>
          <p:cNvPr id="61" name="Shape 59"/>
          <p:cNvSpPr/>
          <p:nvPr/>
        </p:nvSpPr>
        <p:spPr>
          <a:xfrm>
            <a:off x="11164824" y="3346704"/>
            <a:ext cx="347472" cy="347472"/>
          </a:xfrm>
          <a:prstGeom prst="ellipse">
            <a:avLst/>
          </a:prstGeom>
          <a:solidFill>
            <a:srgbClr val="E8821E"/>
          </a:solidFill>
          <a:ln w="31750">
            <a:solidFill>
              <a:srgbClr val="F6F8FB"/>
            </a:solidFill>
            <a:prstDash val="solid"/>
          </a:ln>
        </p:spPr>
      </p:sp>
      <p:sp>
        <p:nvSpPr>
          <p:cNvPr id="62" name="Text 60"/>
          <p:cNvSpPr/>
          <p:nvPr/>
        </p:nvSpPr>
        <p:spPr>
          <a:xfrm>
            <a:off x="11164824" y="3346704"/>
            <a:ext cx="347472" cy="347472"/>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
        <p:nvSpPr>
          <p:cNvPr id="63" name="Shape 61"/>
          <p:cNvSpPr/>
          <p:nvPr/>
        </p:nvSpPr>
        <p:spPr>
          <a:xfrm>
            <a:off x="502920" y="5394960"/>
            <a:ext cx="1691640" cy="457200"/>
          </a:xfrm>
          <a:prstGeom prst="roundRect">
            <a:avLst>
              <a:gd name="adj" fmla="val 50000"/>
            </a:avLst>
          </a:prstGeom>
          <a:solidFill>
            <a:srgbClr val="16223A"/>
          </a:solidFill>
          <a:ln/>
        </p:spPr>
      </p:sp>
      <p:sp>
        <p:nvSpPr>
          <p:cNvPr id="64" name="Text 62"/>
          <p:cNvSpPr/>
          <p:nvPr/>
        </p:nvSpPr>
        <p:spPr>
          <a:xfrm>
            <a:off x="502920" y="5394960"/>
            <a:ext cx="1691640" cy="457200"/>
          </a:xfrm>
          <a:prstGeom prst="rect">
            <a:avLst/>
          </a:prstGeom>
          <a:noFill/>
          <a:ln/>
        </p:spPr>
        <p:txBody>
          <a:bodyPr wrap="square" lIns="0" tIns="0" rIns="0" bIns="0" rtlCol="0" anchor="ctr"/>
          <a:lstStyle/>
          <a:p>
            <a:pPr marL="0" indent="0" algn="ctr">
              <a:buNone/>
            </a:pPr>
            <a:r>
              <a:rPr lang="en-US" sz="950" b="1" dirty="0">
                <a:solidFill>
                  <a:srgbClr val="2BD4E8"/>
                </a:solidFill>
                <a:latin typeface="Calibri" pitchFamily="34" charset="0"/>
                <a:ea typeface="Calibri" pitchFamily="34" charset="-122"/>
                <a:cs typeface="Calibri" pitchFamily="34" charset="-120"/>
              </a:rPr>
              <a:t>WE ARE HERE</a:t>
            </a:r>
            <a:endParaRPr lang="en-US" sz="950" dirty="0"/>
          </a:p>
        </p:txBody>
      </p:sp>
      <p:sp>
        <p:nvSpPr>
          <p:cNvPr id="65" name="SupersedeNote"/>
          <p:cNvSpPr txBox="1"/>
          <p:nvPr/>
        </p:nvSpPr>
        <p:spPr>
          <a:xfrm>
            <a:off x="530352" y="1316736"/>
            <a:ext cx="11128248" cy="274320"/>
          </a:xfrm>
          <a:prstGeom prst="rect">
            <a:avLst/>
          </a:prstGeom>
          <a:noFill/>
        </p:spPr>
        <p:txBody>
          <a:bodyPr wrap="square">
            <a:spAutoFit/>
          </a:bodyPr>
          <a:lstStyle/>
          <a:p>
            <a:r>
              <a:rPr sz="1000" i="1">
                <a:solidFill>
                  <a:srgbClr val="6B7890"/>
                </a:solidFill>
                <a:latin typeface="Calibri"/>
              </a:rPr>
              <a:t>Replaces the Generation 1 roadmap on slide 15, which was written around Dynamixel XL330 delivery and is now obsolete.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 Id="rId2" Type="http://schemas.microsoft.com/office/2011/relationships/webextension" Target="webextension2.xml"/><Relationship Id="rId3" Type="http://schemas.microsoft.com/office/2011/relationships/webextension" Target="webextension3.xml"/></Relationships>
</file>

<file path=ppt/webextensions/taskpanes.xml><?xml version="1.0" encoding="utf-8"?>
<wetp:taskpanes xmlns:wetp="http://schemas.microsoft.com/office/webextensions/taskpanes/2010/11">
  <wetp:taskpane dockstate="right" visibility="0" width="700" row="0">
    <wetp:webextensionref xmlns:r="http://schemas.openxmlformats.org/officeDocument/2006/relationships" r:id="rId1"/>
  </wetp:taskpane>
  <wetp:taskpane dockstate="right" visibility="0" width="700" row="2">
    <wetp:webextensionref xmlns:r="http://schemas.openxmlformats.org/officeDocument/2006/relationships" r:id="rId2"/>
  </wetp:taskpane>
  <wetp:taskpane dockstate="right" visibility="0" width="700" row="0">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7BAC171A-BA13-4D20-B9AF-0C30E18506C1}">
  <we:reference id="wa200010001" version="1.0.0.1" store="en-US" storeType="OMEX"/>
  <we:alternateReferences>
    <we:reference id="wa200010001" version="1.0.0.1" store="en-US" storeType="OMEX"/>
  </we:alternateReferences>
  <we:properties>
    <we:property name="claude.fileId" value="&quot;04626739-5839-4d70-8398-f326990042ea&quot;"/>
  </we:properties>
  <we:bindings/>
  <we:snapshot xmlns:r="http://schemas.openxmlformats.org/officeDocument/2006/relationships"/>
</we:webextension>
</file>

<file path=ppt/webextensions/webextension2.xml><?xml version="1.0" encoding="utf-8"?>
<we:webextension xmlns:we="http://schemas.microsoft.com/office/webextensions/webextension/2010/11" id="{A93CA139-346A-433A-B20E-75068D131751}">
  <we:reference id="wa200007130" version="1.0.0.1" store="en-IN" storeType="OMEX"/>
  <we:alternateReferences>
    <we:reference id="WA200007130" version="1.0.0.1" store="WA200007130"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EF3B140A-9BA4-4381-9C7B-C36695731FE9}">
  <we:reference id="wa200010725" version="1.0.0.1" store="en-US" storeType="OMEX"/>
  <we:alternateReferences>
    <we:reference id="wa200010725" version="1.0.0.1" store="wa20001072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607</TotalTime>
  <Words>1775</Words>
  <Application>Microsoft Office PowerPoint</Application>
  <PresentationFormat>Widescreen</PresentationFormat>
  <Paragraphs>400</Paragraphs>
  <Slides>15</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Snake Robot with Dynamixel Motors</dc:title>
  <dc:subject>PptxGenJS Presentation</dc:subject>
  <dc:creator>SURGE 090</dc:creator>
  <cp:lastModifiedBy>Shashank Jangir</cp:lastModifiedBy>
  <cp:revision>20</cp:revision>
  <dcterms:created xsi:type="dcterms:W3CDTF">2026-06-10T16:14:03Z</dcterms:created>
  <dcterms:modified xsi:type="dcterms:W3CDTF">2026-09-02T22:05:21Z</dcterms:modified>
</cp:coreProperties>
</file>