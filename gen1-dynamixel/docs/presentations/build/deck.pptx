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 id="314" r:id="rId15"/>
    <p:sldId id="323"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10"/>
  </p:normalViewPr>
  <p:slideViewPr>
    <p:cSldViewPr snapToGrid="0" snapToObjects="1">
      <p:cViewPr varScale="1">
        <p:scale>
          <a:sx n="68" d="100"/>
          <a:sy n="68" d="100"/>
        </p:scale>
        <p:origin x="24" y="7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bhaveshbanshiwal/Snake_SURG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jpeg"/><Relationship Id="rId4" Type="http://schemas.openxmlformats.org/officeDocument/2006/relationships/image" Target="../media/image21.pn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2.png"/><Relationship Id="rId10" Type="http://schemas.openxmlformats.org/officeDocument/2006/relationships/image" Target="../media/image31.jpg"/><Relationship Id="rId4" Type="http://schemas.openxmlformats.org/officeDocument/2006/relationships/image" Target="../media/image11.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5.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svg"/><Relationship Id="rId1" Type="http://schemas.openxmlformats.org/officeDocument/2006/relationships/slideLayout" Target="../slideLayouts/slideLayout1.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Progress Review (Design &amp; Development)</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fontScale="77500" lnSpcReduction="20000"/>
          </a:bodyPr>
          <a:lstStyle/>
          <a:p>
            <a:r>
              <a:rPr lang="en-US" sz="1000" u="sng" dirty="0">
                <a:solidFill>
                  <a:srgbClr val="FFFFFF"/>
                </a:solidFill>
                <a:latin typeface="Calibri" pitchFamily="34" charset="0"/>
              </a:rPr>
              <a:t>https://github.com/shashankjangir/SurGe-090-Smart-snake-robot</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COMPLETION(till now)</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sp>
      <p:sp>
        <p:nvSpPr>
          <p:cNvPr id="14" name="Shape 12"/>
          <p:cNvSpPr/>
          <p:nvPr/>
        </p:nvSpPr>
        <p:spPr>
          <a:xfrm>
            <a:off x="1184148" y="3611880"/>
            <a:ext cx="352044" cy="310896"/>
          </a:xfrm>
          <a:prstGeom prst="roundRect">
            <a:avLst>
              <a:gd name="adj" fmla="val 14706"/>
            </a:avLst>
          </a:prstGeom>
          <a:solidFill>
            <a:srgbClr val="2BD4E8"/>
          </a:solidFill>
          <a:ln/>
        </p:spPr>
      </p:sp>
      <p:sp>
        <p:nvSpPr>
          <p:cNvPr id="15" name="Shape 13"/>
          <p:cNvSpPr/>
          <p:nvPr/>
        </p:nvSpPr>
        <p:spPr>
          <a:xfrm>
            <a:off x="1591056" y="3611880"/>
            <a:ext cx="352044" cy="310896"/>
          </a:xfrm>
          <a:prstGeom prst="roundRect">
            <a:avLst>
              <a:gd name="adj" fmla="val 14706"/>
            </a:avLst>
          </a:prstGeom>
          <a:solidFill>
            <a:srgbClr val="2A3958"/>
          </a:solidFill>
          <a:ln/>
        </p:spPr>
      </p:sp>
      <p:sp>
        <p:nvSpPr>
          <p:cNvPr id="16" name="Shape 14"/>
          <p:cNvSpPr/>
          <p:nvPr/>
        </p:nvSpPr>
        <p:spPr>
          <a:xfrm>
            <a:off x="1997964" y="3611880"/>
            <a:ext cx="352044" cy="310896"/>
          </a:xfrm>
          <a:prstGeom prst="roundRect">
            <a:avLst>
              <a:gd name="adj" fmla="val 14706"/>
            </a:avLst>
          </a:prstGeom>
          <a:solidFill>
            <a:srgbClr val="2A3958"/>
          </a:solidFill>
          <a:ln/>
        </p:spPr>
      </p:sp>
      <p:sp>
        <p:nvSpPr>
          <p:cNvPr id="17" name="Shape 15"/>
          <p:cNvSpPr/>
          <p:nvPr/>
        </p:nvSpPr>
        <p:spPr>
          <a:xfrm>
            <a:off x="2404872" y="3611880"/>
            <a:ext cx="352044" cy="310896"/>
          </a:xfrm>
          <a:prstGeom prst="roundRect">
            <a:avLst>
              <a:gd name="adj" fmla="val 14706"/>
            </a:avLst>
          </a:prstGeom>
          <a:solidFill>
            <a:srgbClr val="2A3958"/>
          </a:solidFill>
          <a:ln/>
        </p:spPr>
      </p:sp>
      <p:sp>
        <p:nvSpPr>
          <p:cNvPr id="18" name="Shape 16"/>
          <p:cNvSpPr/>
          <p:nvPr/>
        </p:nvSpPr>
        <p:spPr>
          <a:xfrm>
            <a:off x="2811780" y="3611880"/>
            <a:ext cx="352044" cy="310896"/>
          </a:xfrm>
          <a:prstGeom prst="roundRect">
            <a:avLst>
              <a:gd name="adj" fmla="val 14706"/>
            </a:avLst>
          </a:prstGeom>
          <a:solidFill>
            <a:srgbClr val="2A3958"/>
          </a:solidFill>
          <a:ln/>
        </p:spPr>
      </p:sp>
      <p:sp>
        <p:nvSpPr>
          <p:cNvPr id="19" name="Shape 17"/>
          <p:cNvSpPr/>
          <p:nvPr/>
        </p:nvSpPr>
        <p:spPr>
          <a:xfrm>
            <a:off x="3218688" y="3611880"/>
            <a:ext cx="352044" cy="310896"/>
          </a:xfrm>
          <a:prstGeom prst="roundRect">
            <a:avLst>
              <a:gd name="adj" fmla="val 14706"/>
            </a:avLst>
          </a:prstGeom>
          <a:solidFill>
            <a:srgbClr val="2A3958"/>
          </a:solidFill>
          <a:ln/>
        </p:spPr>
      </p:sp>
      <p:sp>
        <p:nvSpPr>
          <p:cNvPr id="20" name="Shape 18"/>
          <p:cNvSpPr/>
          <p:nvPr/>
        </p:nvSpPr>
        <p:spPr>
          <a:xfrm>
            <a:off x="3625596" y="3611880"/>
            <a:ext cx="352044" cy="310896"/>
          </a:xfrm>
          <a:prstGeom prst="roundRect">
            <a:avLst>
              <a:gd name="adj" fmla="val 14706"/>
            </a:avLst>
          </a:prstGeom>
          <a:solidFill>
            <a:srgbClr val="2A3958"/>
          </a:solidFill>
          <a:ln/>
        </p:spPr>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solidFill>
          <a:ln w="12700">
            <a:solidFill>
              <a:srgbClr val="E2E8F0"/>
            </a:solidFill>
            <a:prstDash val="solid"/>
          </a:ln>
        </p:spPr>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solidFill>
          <a:ln w="12700">
            <a:solidFill>
              <a:srgbClr val="E2E8F0"/>
            </a:solidFill>
            <a:prstDash val="solid"/>
          </a:ln>
        </p:spPr>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solidFill>
          <a:ln w="12700">
            <a:solidFill>
              <a:srgbClr val="E2E8F0"/>
            </a:solidFill>
            <a:prstDash val="solid"/>
          </a:ln>
        </p:spPr>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solidFill>
          <a:ln w="12700">
            <a:solidFill>
              <a:srgbClr val="E2E8F0"/>
            </a:solidFill>
            <a:prstDash val="solid"/>
          </a:ln>
        </p:spPr>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solidFill>
          <a:ln w="12700">
            <a:solidFill>
              <a:srgbClr val="E2E8F0"/>
            </a:solidFill>
            <a:prstDash val="solid"/>
          </a:ln>
        </p:spPr>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solidFill>
          <a:ln w="12700">
            <a:solidFill>
              <a:srgbClr val="E2E8F0"/>
            </a:solidFill>
            <a:prstDash val="solid"/>
          </a:ln>
        </p:spPr>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solidFill>
          <a:ln w="12700">
            <a:solidFill>
              <a:srgbClr val="E2E8F0"/>
            </a:solidFill>
            <a:prstDash val="solid"/>
          </a:ln>
        </p:spPr>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solidFill>
          <a:ln w="12700">
            <a:solidFill>
              <a:srgbClr val="E2E8F0"/>
            </a:solidFill>
            <a:prstDash val="solid"/>
          </a:ln>
        </p:spPr>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solidFill>
          <a:ln w="12700">
            <a:solidFill>
              <a:srgbClr val="E2E8F0"/>
            </a:solidFill>
            <a:prstDash val="solid"/>
          </a:ln>
        </p:spPr>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solidFill>
          <a:ln w="12700">
            <a:solidFill>
              <a:srgbClr val="E2E8F0"/>
            </a:solidFill>
            <a:prstDash val="solid"/>
          </a:ln>
        </p:spPr>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ECF1F6"/>
          </a:solidFill>
          <a:ln w="19050">
            <a:solidFill>
              <a:srgbClr val="0E96AC"/>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ECF1F6"/>
          </a:solidFill>
          <a:ln w="19050">
            <a:solidFill>
              <a:srgbClr val="0E96AC"/>
            </a:solidFill>
            <a:prstDash val="dash"/>
          </a:ln>
        </p:spPr>
      </p:sp>
      <p:sp>
        <p:nvSpPr>
          <p:cNvPr id="11" name="Shape 9"/>
          <p:cNvSpPr/>
          <p:nvPr/>
        </p:nvSpPr>
        <p:spPr>
          <a:xfrm>
            <a:off x="2651760" y="1920240"/>
            <a:ext cx="868680" cy="868680"/>
          </a:xfrm>
          <a:prstGeom prst="ellipse">
            <a:avLst/>
          </a:prstGeom>
          <a:solidFill>
            <a:srgbClr val="FFFFFF"/>
          </a:solidFill>
          <a:ln/>
        </p:spPr>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ECF1F6"/>
          </a:solidFill>
          <a:ln w="19050">
            <a:solidFill>
              <a:srgbClr val="E08A1E"/>
            </a:solidFill>
            <a:prstDash val="dash"/>
          </a:ln>
        </p:spPr>
      </p:sp>
      <p:sp>
        <p:nvSpPr>
          <p:cNvPr id="16" name="Shape 13"/>
          <p:cNvSpPr/>
          <p:nvPr/>
        </p:nvSpPr>
        <p:spPr>
          <a:xfrm>
            <a:off x="2651760" y="4233672"/>
            <a:ext cx="868680" cy="868680"/>
          </a:xfrm>
          <a:prstGeom prst="ellipse">
            <a:avLst/>
          </a:prstGeom>
          <a:solidFill>
            <a:srgbClr val="FFFFFF"/>
          </a:solidFill>
          <a:ln/>
        </p:spPr>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2" name="Shape 18"/>
          <p:cNvSpPr/>
          <p:nvPr/>
        </p:nvSpPr>
        <p:spPr>
          <a:xfrm>
            <a:off x="6144768" y="2276856"/>
            <a:ext cx="457200" cy="457200"/>
          </a:xfrm>
          <a:prstGeom prst="ellipse">
            <a:avLst/>
          </a:prstGeom>
          <a:solidFill>
            <a:srgbClr val="12A678"/>
          </a:solidFill>
          <a:ln/>
        </p:spPr>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8" name="Shape 23"/>
          <p:cNvSpPr/>
          <p:nvPr/>
        </p:nvSpPr>
        <p:spPr>
          <a:xfrm>
            <a:off x="6144768" y="3236976"/>
            <a:ext cx="457200" cy="457200"/>
          </a:xfrm>
          <a:prstGeom prst="ellipse">
            <a:avLst/>
          </a:prstGeom>
          <a:solidFill>
            <a:srgbClr val="12A678"/>
          </a:solidFill>
          <a:ln/>
        </p:spPr>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34" name="Shape 28"/>
          <p:cNvSpPr/>
          <p:nvPr/>
        </p:nvSpPr>
        <p:spPr>
          <a:xfrm>
            <a:off x="6144768" y="4197096"/>
            <a:ext cx="457200" cy="457200"/>
          </a:xfrm>
          <a:prstGeom prst="ellipse">
            <a:avLst/>
          </a:prstGeom>
          <a:solidFill>
            <a:srgbClr val="E08A1E"/>
          </a:solidFill>
          <a:ln/>
        </p:spPr>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40" name="Shape 33"/>
          <p:cNvSpPr/>
          <p:nvPr/>
        </p:nvSpPr>
        <p:spPr>
          <a:xfrm>
            <a:off x="6144768" y="5157216"/>
            <a:ext cx="457200" cy="457200"/>
          </a:xfrm>
          <a:prstGeom prst="ellipse">
            <a:avLst/>
          </a:prstGeom>
          <a:solidFill>
            <a:srgbClr val="E08A1E"/>
          </a:solidFill>
          <a:ln/>
        </p:spPr>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300" name="LeftBg"/>
          <p:cNvSpPr/>
          <p:nvPr/>
        </p:nvSpPr>
        <p:spPr>
          <a:xfrm>
            <a:off x="101600" y="787400"/>
            <a:ext cx="4699000" cy="5943600"/>
          </a:xfrm>
          <a:prstGeom prst="roundRect">
            <a:avLst>
              <a:gd name="adj" fmla="val 3000"/>
            </a:avLst>
          </a:prstGeom>
          <a:solidFill>
            <a:srgbClr val="F4F7FB"/>
          </a:solidFill>
          <a:ln w="9525">
            <a:solidFill>
              <a:srgbClr val="DDE5F0"/>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8FAFC"/>
          </a:solidFill>
          <a:ln>
            <a:no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8FAFC"/>
          </a:solidFill>
          <a:ln>
            <a:no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8FAFC"/>
          </a:solidFill>
          <a:ln>
            <a:no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solidFill>
          <a:ln w="15875">
            <a:solidFill>
              <a:srgbClr val="0E96AC"/>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solidFill>
          <a:ln w="15875">
            <a:solidFill>
              <a:srgbClr val="0E96AC"/>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16223A"/>
          </a:solidFill>
          <a:ln/>
        </p:spPr>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0E96AC"/>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2A678"/>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08A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0E96AC"/>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2A678"/>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08A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10" name="TopBar"/>
          <p:cNvSpPr>
            <a:spLocks noGrp="1"/>
          </p:cNvSpPr>
          <p:nvPr/>
        </p:nvSpPr>
        <p:spPr>
          <a:xfrm>
            <a:off x="0" y="0"/>
            <a:ext cx="12192000" cy="76200"/>
          </a:xfrm>
          <a:prstGeom prst="rect">
            <a:avLst/>
          </a:prstGeom>
          <a:solidFill>
            <a:srgbClr val="0E96AC"/>
          </a:solidFill>
          <a:ln>
            <a:noFill/>
          </a:ln>
        </p:spPr>
        <p:txBody>
          <a:bodyPr/>
          <a:lstStyle/>
          <a:p>
            <a:endParaRPr/>
          </a:p>
        </p:txBody>
      </p:sp>
      <p:sp>
        <p:nvSpPr>
          <p:cNvPr id="11" name="Eyebrow"/>
          <p:cNvSpPr>
            <a:spLocks noGrp="1"/>
          </p:cNvSpPr>
          <p:nvPr/>
        </p:nvSpPr>
        <p:spPr>
          <a:xfrm>
            <a:off x="533400" y="177800"/>
            <a:ext cx="8890000" cy="228600"/>
          </a:xfrm>
          <a:prstGeom prst="rect">
            <a:avLst/>
          </a:prstGeom>
          <a:noFill/>
          <a:ln>
            <a:noFill/>
          </a:ln>
        </p:spPr>
        <p:txBody>
          <a:bodyPr/>
          <a:lstStyle/>
          <a:p>
            <a:pPr marL="0" indent="0" algn="l">
              <a:buNone/>
            </a:pPr>
            <a:r>
              <a:rPr lang="en-IN" sz="1100" b="1" dirty="0">
                <a:solidFill>
                  <a:srgbClr val="0E96AC"/>
                </a:solidFill>
                <a:latin typeface="Calibri" pitchFamily="34" charset="0"/>
              </a:rPr>
              <a:t>SIMULATION &amp; VALIDATION</a:t>
            </a:r>
          </a:p>
        </p:txBody>
      </p:sp>
      <p:sp>
        <p:nvSpPr>
          <p:cNvPr id="12" name="AccentLine"/>
          <p:cNvSpPr>
            <a:spLocks noGrp="1"/>
          </p:cNvSpPr>
          <p:nvPr/>
        </p:nvSpPr>
        <p:spPr>
          <a:xfrm>
            <a:off x="533400" y="431800"/>
            <a:ext cx="11125200" cy="12700"/>
          </a:xfrm>
          <a:prstGeom prst="rect">
            <a:avLst/>
          </a:prstGeom>
          <a:solidFill>
            <a:srgbClr val="0E96AC"/>
          </a:solidFill>
          <a:ln>
            <a:noFill/>
          </a:ln>
        </p:spPr>
        <p:txBody>
          <a:bodyPr/>
          <a:lstStyle/>
          <a:p>
            <a:endParaRPr/>
          </a:p>
        </p:txBody>
      </p:sp>
      <p:sp>
        <p:nvSpPr>
          <p:cNvPr id="13" name="MainTitle"/>
          <p:cNvSpPr>
            <a:spLocks noGrp="1"/>
          </p:cNvSpPr>
          <p:nvPr/>
        </p:nvSpPr>
        <p:spPr>
          <a:xfrm>
            <a:off x="533400" y="508000"/>
            <a:ext cx="10160000" cy="508000"/>
          </a:xfrm>
          <a:prstGeom prst="rect">
            <a:avLst/>
          </a:prstGeom>
          <a:noFill/>
          <a:ln>
            <a:noFill/>
          </a:ln>
        </p:spPr>
        <p:txBody>
          <a:bodyPr/>
          <a:lstStyle/>
          <a:p>
            <a:pPr marL="0" indent="0" algn="l">
              <a:buNone/>
            </a:pPr>
            <a:r>
              <a:rPr lang="en-IN" sz="2400" b="1" dirty="0">
                <a:solidFill>
                  <a:srgbClr val="16223A"/>
                </a:solidFill>
                <a:latin typeface="Calibri" pitchFamily="34" charset="0"/>
              </a:rPr>
              <a:t>Simulation-Based Validation of Control Architecture</a:t>
            </a:r>
          </a:p>
        </p:txBody>
      </p:sp>
      <p:pic>
        <p:nvPicPr>
          <p:cNvPr id="2" name="Picture 1">
            <a:extLst>
              <a:ext uri="{FF2B5EF4-FFF2-40B4-BE49-F238E27FC236}">
                <a16:creationId xmlns:a16="http://schemas.microsoft.com/office/drawing/2014/main" id="{FF57F7DB-A372-8BEE-AF61-AC58FDC57F17}"/>
              </a:ext>
            </a:extLst>
          </p:cNvPr>
          <p:cNvPicPr>
            <a:picLocks noChangeAspect="1"/>
          </p:cNvPicPr>
          <p:nvPr/>
        </p:nvPicPr>
        <p:blipFill>
          <a:blip r:embed="rId2"/>
          <a:stretch>
            <a:fillRect/>
          </a:stretch>
        </p:blipFill>
        <p:spPr>
          <a:xfrm>
            <a:off x="533400" y="1270000"/>
            <a:ext cx="6350000" cy="4772421"/>
          </a:xfrm>
          <a:prstGeom prst="rect">
            <a:avLst/>
          </a:prstGeom>
        </p:spPr>
      </p:pic>
      <p:sp>
        <p:nvSpPr>
          <p:cNvPr id="3" name="ImgFrame">
            <a:extLst>
              <a:ext uri="{FF2B5EF4-FFF2-40B4-BE49-F238E27FC236}">
                <a16:creationId xmlns:a16="http://schemas.microsoft.com/office/drawing/2014/main" id="{4BAB2F69-E5D7-47C1-A740-AD4ADA6781C8}"/>
              </a:ext>
            </a:extLst>
          </p:cNvPr>
          <p:cNvSpPr/>
          <p:nvPr/>
        </p:nvSpPr>
        <p:spPr>
          <a:xfrm>
            <a:off x="520700" y="1257300"/>
            <a:ext cx="6375400" cy="4800600"/>
          </a:xfrm>
          <a:prstGeom prst="rect">
            <a:avLst/>
          </a:prstGeom>
          <a:no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Caption">
            <a:extLst>
              <a:ext uri="{FF2B5EF4-FFF2-40B4-BE49-F238E27FC236}">
                <a16:creationId xmlns:a16="http://schemas.microsoft.com/office/drawing/2014/main" id="{0A70087A-913A-4173-8A2B-10264A92E2F2}"/>
              </a:ext>
            </a:extLst>
          </p:cNvPr>
          <p:cNvSpPr txBox="1"/>
          <p:nvPr/>
        </p:nvSpPr>
        <p:spPr>
          <a:xfrm>
            <a:off x="533400" y="6121400"/>
            <a:ext cx="6350000" cy="584200"/>
          </a:xfrm>
          <a:prstGeom prst="rect">
            <a:avLst/>
          </a:prstGeom>
          <a:noFill/>
        </p:spPr>
        <p:txBody>
          <a:bodyPr vertOverflow="overflow" vert="horz" wrap="square" rtlCol="0" anchor="t" anchorCtr="0">
            <a:spAutoFit/>
          </a:bodyPr>
          <a:lstStyle/>
          <a:p>
            <a:pPr algn="l"/>
            <a:r>
              <a:rPr lang="en-US" sz="1050" i="1">
                <a:solidFill>
                  <a:srgbClr val="6B7280"/>
                </a:solidFill>
                <a:latin typeface="Calibri"/>
                <a:ea typeface="Calibri"/>
                <a:cs typeface="Calibri"/>
              </a:rPr>
              <a:t>Wokwi-based simulation environment developed to validate locomotion control, sensor integration, and communication architecture before physical Dynamixel hardware arrival.</a:t>
            </a:r>
            <a:endParaRPr lang="en-IN" sz="1050" i="1">
              <a:solidFill>
                <a:srgbClr val="6B7280"/>
              </a:solidFill>
              <a:latin typeface="Calibri"/>
              <a:ea typeface="Calibri"/>
              <a:cs typeface="Calibri"/>
            </a:endParaRPr>
          </a:p>
        </p:txBody>
      </p:sp>
      <p:sp>
        <p:nvSpPr>
          <p:cNvPr id="5" name="ColSep">
            <a:extLst>
              <a:ext uri="{FF2B5EF4-FFF2-40B4-BE49-F238E27FC236}">
                <a16:creationId xmlns:a16="http://schemas.microsoft.com/office/drawing/2014/main" id="{F4B4824F-43FB-40F3-A930-950484DEE059}"/>
              </a:ext>
            </a:extLst>
          </p:cNvPr>
          <p:cNvSpPr/>
          <p:nvPr/>
        </p:nvSpPr>
        <p:spPr>
          <a:xfrm>
            <a:off x="7010400" y="1219200"/>
            <a:ext cx="12700" cy="5486400"/>
          </a:xfrm>
          <a:prstGeom prst="rect">
            <a:avLst/>
          </a:prstGeom>
          <a:solidFill>
            <a:srgbClr val="D0D7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ObjBar">
            <a:extLst>
              <a:ext uri="{FF2B5EF4-FFF2-40B4-BE49-F238E27FC236}">
                <a16:creationId xmlns:a16="http://schemas.microsoft.com/office/drawing/2014/main" id="{178EDC1E-CA49-4444-807D-C176B8B794B6}"/>
              </a:ext>
            </a:extLst>
          </p:cNvPr>
          <p:cNvSpPr/>
          <p:nvPr/>
        </p:nvSpPr>
        <p:spPr>
          <a:xfrm>
            <a:off x="7112000" y="1270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SIMULATION OBJECTIVE</a:t>
            </a:r>
          </a:p>
        </p:txBody>
      </p:sp>
      <p:sp>
        <p:nvSpPr>
          <p:cNvPr id="7" name="ObjText">
            <a:extLst>
              <a:ext uri="{FF2B5EF4-FFF2-40B4-BE49-F238E27FC236}">
                <a16:creationId xmlns:a16="http://schemas.microsoft.com/office/drawing/2014/main" id="{AB2E6402-3A0B-4197-BB71-81ED271D7DB2}"/>
              </a:ext>
            </a:extLst>
          </p:cNvPr>
          <p:cNvSpPr txBox="1"/>
          <p:nvPr/>
        </p:nvSpPr>
        <p:spPr>
          <a:xfrm>
            <a:off x="7112000" y="1549400"/>
            <a:ext cx="4546600" cy="812800"/>
          </a:xfrm>
          <a:prstGeom prst="rect">
            <a:avLst/>
          </a:prstGeom>
          <a:noFill/>
        </p:spPr>
        <p:txBody>
          <a:bodyPr vertOverflow="overflow" vert="horz" wrap="square" rtlCol="0" anchor="t" anchorCtr="0">
            <a:spAutoFit/>
          </a:bodyPr>
          <a:lstStyle/>
          <a:p>
            <a:pPr algn="l"/>
            <a:r>
              <a:rPr lang="en-US" sz="1050">
                <a:solidFill>
                  <a:srgbClr val="16223A"/>
                </a:solidFill>
                <a:latin typeface="Calibri"/>
                <a:ea typeface="Calibri"/>
                <a:cs typeface="Calibri"/>
              </a:rPr>
              <a:t>A virtual testing platform to validate the control architecture before Dynamixel actuators and communication hardware arrive — enabling software development, algorithm verification, and sensor integration in parallel with procurement.</a:t>
            </a:r>
            <a:endParaRPr lang="en-IN" sz="1050">
              <a:solidFill>
                <a:srgbClr val="16223A"/>
              </a:solidFill>
              <a:latin typeface="Calibri"/>
              <a:ea typeface="Calibri"/>
              <a:cs typeface="Calibri"/>
            </a:endParaRPr>
          </a:p>
        </p:txBody>
      </p:sp>
      <p:sp>
        <p:nvSpPr>
          <p:cNvPr id="8" name="CompBar">
            <a:extLst>
              <a:ext uri="{FF2B5EF4-FFF2-40B4-BE49-F238E27FC236}">
                <a16:creationId xmlns:a16="http://schemas.microsoft.com/office/drawing/2014/main" id="{13A72280-DA83-4A91-A182-E29B80090FB4}"/>
              </a:ext>
            </a:extLst>
          </p:cNvPr>
          <p:cNvSpPr/>
          <p:nvPr/>
        </p:nvSpPr>
        <p:spPr>
          <a:xfrm>
            <a:off x="7112000" y="2413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COMPONENTS SIMULATED</a:t>
            </a:r>
          </a:p>
        </p:txBody>
      </p:sp>
      <p:pic>
        <p:nvPicPr>
          <p:cNvPr id="14" name="Graphic 14" descr="Controll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0600" y="2743200"/>
            <a:ext cx="330200" cy="330200"/>
          </a:xfrm>
          <a:prstGeom prst="rect">
            <a:avLst/>
          </a:prstGeom>
        </p:spPr>
      </p:pic>
      <p:pic>
        <p:nvPicPr>
          <p:cNvPr id="15" name="Graphic 15" descr="Sensor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3600" y="2743200"/>
            <a:ext cx="330200" cy="330200"/>
          </a:xfrm>
          <a:prstGeom prst="rect">
            <a:avLst/>
          </a:prstGeom>
        </p:spPr>
      </p:pic>
      <p:pic>
        <p:nvPicPr>
          <p:cNvPr id="16" name="Graphic 16" descr="Displa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26600" y="2743200"/>
            <a:ext cx="330200" cy="330200"/>
          </a:xfrm>
          <a:prstGeom prst="rect">
            <a:avLst/>
          </a:prstGeom>
        </p:spPr>
      </p:pic>
      <p:pic>
        <p:nvPicPr>
          <p:cNvPr id="17" name="Graphic 17" descr="Actuator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69600" y="2743200"/>
            <a:ext cx="330200" cy="330200"/>
          </a:xfrm>
          <a:prstGeom prst="rect">
            <a:avLst/>
          </a:prstGeom>
        </p:spPr>
      </p:pic>
      <p:sp>
        <p:nvSpPr>
          <p:cNvPr id="9" name="TextBox 8">
            <a:extLst>
              <a:ext uri="{FF2B5EF4-FFF2-40B4-BE49-F238E27FC236}">
                <a16:creationId xmlns:a16="http://schemas.microsoft.com/office/drawing/2014/main" id="{F14FDCAF-EA1B-4688-86EC-4FDF39171679}"/>
              </a:ext>
            </a:extLst>
          </p:cNvPr>
          <p:cNvSpPr txBox="1"/>
          <p:nvPr/>
        </p:nvSpPr>
        <p:spPr>
          <a:xfrm>
            <a:off x="6946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Controller</a:t>
            </a:r>
          </a:p>
        </p:txBody>
      </p:sp>
      <p:sp>
        <p:nvSpPr>
          <p:cNvPr id="18" name="TextBox 17">
            <a:extLst>
              <a:ext uri="{FF2B5EF4-FFF2-40B4-BE49-F238E27FC236}">
                <a16:creationId xmlns:a16="http://schemas.microsoft.com/office/drawing/2014/main" id="{BCAC9736-26F2-4544-A0F4-600AE742E3F5}"/>
              </a:ext>
            </a:extLst>
          </p:cNvPr>
          <p:cNvSpPr txBox="1"/>
          <p:nvPr/>
        </p:nvSpPr>
        <p:spPr>
          <a:xfrm>
            <a:off x="8089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Sensors</a:t>
            </a:r>
          </a:p>
        </p:txBody>
      </p:sp>
      <p:sp>
        <p:nvSpPr>
          <p:cNvPr id="19" name="TextBox 18">
            <a:extLst>
              <a:ext uri="{FF2B5EF4-FFF2-40B4-BE49-F238E27FC236}">
                <a16:creationId xmlns:a16="http://schemas.microsoft.com/office/drawing/2014/main" id="{73C8DB26-9565-46C7-9618-2E76312967B5}"/>
              </a:ext>
            </a:extLst>
          </p:cNvPr>
          <p:cNvSpPr txBox="1"/>
          <p:nvPr/>
        </p:nvSpPr>
        <p:spPr>
          <a:xfrm>
            <a:off x="9232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Display</a:t>
            </a:r>
          </a:p>
        </p:txBody>
      </p:sp>
      <p:sp>
        <p:nvSpPr>
          <p:cNvPr id="20" name="TextBox 19">
            <a:extLst>
              <a:ext uri="{FF2B5EF4-FFF2-40B4-BE49-F238E27FC236}">
                <a16:creationId xmlns:a16="http://schemas.microsoft.com/office/drawing/2014/main" id="{943EA61A-F56F-4D25-A1D6-D7B8CDF5A8FC}"/>
              </a:ext>
            </a:extLst>
          </p:cNvPr>
          <p:cNvSpPr txBox="1"/>
          <p:nvPr/>
        </p:nvSpPr>
        <p:spPr>
          <a:xfrm>
            <a:off x="10375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Actuators</a:t>
            </a:r>
          </a:p>
        </p:txBody>
      </p:sp>
      <p:sp>
        <p:nvSpPr>
          <p:cNvPr id="21" name="CompSub">
            <a:extLst>
              <a:ext uri="{FF2B5EF4-FFF2-40B4-BE49-F238E27FC236}">
                <a16:creationId xmlns:a16="http://schemas.microsoft.com/office/drawing/2014/main" id="{E9BA4A95-644D-43CC-86B7-250148BF0C59}"/>
              </a:ext>
            </a:extLst>
          </p:cNvPr>
          <p:cNvSpPr txBox="1"/>
          <p:nvPr/>
        </p:nvSpPr>
        <p:spPr>
          <a:xfrm>
            <a:off x="7112000" y="3327400"/>
            <a:ext cx="4546600" cy="330200"/>
          </a:xfrm>
          <a:prstGeom prst="rect">
            <a:avLst/>
          </a:prstGeom>
          <a:noFill/>
        </p:spPr>
        <p:txBody>
          <a:bodyPr vertOverflow="overflow" vert="horz" wrap="square" rtlCol="0" anchor="t" anchorCtr="0">
            <a:spAutoFit/>
          </a:bodyPr>
          <a:lstStyle/>
          <a:p>
            <a:pPr algn="l"/>
            <a:r>
              <a:rPr lang="en-IN" sz="900" i="1">
                <a:solidFill>
                  <a:srgbClr val="6B7280"/>
                </a:solidFill>
                <a:latin typeface="Calibri"/>
                <a:ea typeface="Calibri"/>
                <a:cs typeface="Calibri"/>
              </a:rPr>
              <a:t>ESP32 · 5-Servo joint network · MPU6050 IMU · HC-SR04 ultrasonic · SSD1306 OLED · control &amp; communication framework</a:t>
            </a:r>
          </a:p>
        </p:txBody>
      </p:sp>
      <p:sp>
        <p:nvSpPr>
          <p:cNvPr id="22" name="ValBar">
            <a:extLst>
              <a:ext uri="{FF2B5EF4-FFF2-40B4-BE49-F238E27FC236}">
                <a16:creationId xmlns:a16="http://schemas.microsoft.com/office/drawing/2014/main" id="{969CB65F-F6A4-423C-A59B-AAE9CC13FF12}"/>
              </a:ext>
            </a:extLst>
          </p:cNvPr>
          <p:cNvSpPr/>
          <p:nvPr/>
        </p:nvSpPr>
        <p:spPr>
          <a:xfrm>
            <a:off x="7112000" y="37084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FUNCTIONAL VALIDATION COMPLETED</a:t>
            </a:r>
          </a:p>
        </p:txBody>
      </p:sp>
      <p:sp>
        <p:nvSpPr>
          <p:cNvPr id="23" name="BenBar">
            <a:extLst>
              <a:ext uri="{FF2B5EF4-FFF2-40B4-BE49-F238E27FC236}">
                <a16:creationId xmlns:a16="http://schemas.microsoft.com/office/drawing/2014/main" id="{17226090-79FF-4BDE-85B8-E78705648C85}"/>
              </a:ext>
            </a:extLst>
          </p:cNvPr>
          <p:cNvSpPr/>
          <p:nvPr/>
        </p:nvSpPr>
        <p:spPr>
          <a:xfrm>
            <a:off x="7112000" y="52832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ENGINEERING BENEFITS</a:t>
            </a:r>
          </a:p>
        </p:txBody>
      </p:sp>
      <p:sp>
        <p:nvSpPr>
          <p:cNvPr id="24" name="ValList">
            <a:extLst>
              <a:ext uri="{FF2B5EF4-FFF2-40B4-BE49-F238E27FC236}">
                <a16:creationId xmlns:a16="http://schemas.microsoft.com/office/drawing/2014/main" id="{8F2F53C0-A6EB-4C72-B492-9B0DAB6755D0}"/>
              </a:ext>
            </a:extLst>
          </p:cNvPr>
          <p:cNvSpPr txBox="1"/>
          <p:nvPr/>
        </p:nvSpPr>
        <p:spPr>
          <a:xfrm>
            <a:off x="7112000" y="3987800"/>
            <a:ext cx="4546600" cy="1244600"/>
          </a:xfrm>
          <a:prstGeom prst="rect">
            <a:avLst/>
          </a:prstGeom>
          <a:noFill/>
        </p:spPr>
        <p:txBody>
          <a:bodyPr vertOverflow="overflow" vert="horz" wrap="square" rtlCol="0" anchor="t" anchorCtr="0">
            <a:noAutofit/>
          </a:bodyPr>
          <a:lstStyle/>
          <a:p>
            <a:pPr marL="170000" indent="-170000">
              <a:lnSpc>
                <a:spcPts val="1380"/>
              </a:lnSpc>
              <a:spcAft>
                <a:spcPts val="200"/>
              </a:spcAft>
              <a:buClr>
                <a:srgbClr val="1F9D55"/>
              </a:buClr>
              <a:buFont typeface="Arial"/>
              <a:buChar char="✓"/>
            </a:pPr>
            <a:r>
              <a:rPr lang="en-IN" sz="1000" dirty="0">
                <a:solidFill>
                  <a:srgbClr val="16223A"/>
                </a:solidFill>
                <a:latin typeface="Calibri"/>
              </a:rPr>
              <a:t>Multi-joint servo coordination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Travelling-wave serpentine gait generation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Obstacle detection via ultrasonic sensing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IMU integration for orientation feedback</a:t>
            </a:r>
          </a:p>
          <a:p>
            <a:pPr marL="170000" indent="-170000">
              <a:lnSpc>
                <a:spcPts val="1380"/>
              </a:lnSpc>
              <a:spcAft>
                <a:spcPts val="200"/>
              </a:spcAft>
              <a:buClr>
                <a:srgbClr val="1F9D55"/>
              </a:buClr>
              <a:buFont typeface="Arial"/>
              <a:buChar char="✓"/>
            </a:pPr>
            <a:r>
              <a:rPr lang="en-IN" sz="1000" dirty="0">
                <a:solidFill>
                  <a:srgbClr val="16223A"/>
                </a:solidFill>
                <a:latin typeface="Calibri"/>
              </a:rPr>
              <a:t>OLED-based system status monitoring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Sensor–controller–actuator communication</a:t>
            </a:r>
          </a:p>
        </p:txBody>
      </p:sp>
      <p:sp>
        <p:nvSpPr>
          <p:cNvPr id="25" name="BenList">
            <a:extLst>
              <a:ext uri="{FF2B5EF4-FFF2-40B4-BE49-F238E27FC236}">
                <a16:creationId xmlns:a16="http://schemas.microsoft.com/office/drawing/2014/main" id="{FF6D1A2A-EA57-464C-91D6-7133350B2A9C}"/>
              </a:ext>
            </a:extLst>
          </p:cNvPr>
          <p:cNvSpPr txBox="1"/>
          <p:nvPr/>
        </p:nvSpPr>
        <p:spPr>
          <a:xfrm>
            <a:off x="7112000" y="5562600"/>
            <a:ext cx="4546600" cy="609600"/>
          </a:xfrm>
          <a:prstGeom prst="rect">
            <a:avLst/>
          </a:prstGeom>
          <a:noFill/>
        </p:spPr>
        <p:txBody>
          <a:bodyPr vertOverflow="overflow" vert="horz" wrap="square" rtlCol="0" anchor="t" anchorCtr="0">
            <a:noAutofit/>
          </a:bodyPr>
          <a:lstStyle/>
          <a:p>
            <a:pPr marL="150000" indent="-150000">
              <a:lnSpc>
                <a:spcPts val="1180"/>
              </a:lnSpc>
              <a:spcAft>
                <a:spcPts val="150"/>
              </a:spcAft>
              <a:buFont typeface="Arial"/>
              <a:buChar char="•"/>
            </a:pPr>
            <a:r>
              <a:rPr lang="en-IN" sz="950" dirty="0">
                <a:solidFill>
                  <a:srgbClr val="16223A"/>
                </a:solidFill>
                <a:latin typeface="Calibri"/>
              </a:rPr>
              <a:t>Reduced dependence on hardware delivery timelines</a:t>
            </a:r>
          </a:p>
          <a:p>
            <a:pPr marL="150000" indent="-150000">
              <a:lnSpc>
                <a:spcPts val="1180"/>
              </a:lnSpc>
              <a:spcAft>
                <a:spcPts val="150"/>
              </a:spcAft>
              <a:buFont typeface="Arial"/>
              <a:buChar char="•"/>
            </a:pPr>
            <a:r>
              <a:rPr lang="en-IN" sz="950" dirty="0">
                <a:solidFill>
                  <a:srgbClr val="16223A"/>
                </a:solidFill>
                <a:latin typeface="Calibri"/>
              </a:rPr>
              <a:t>Enabled early software debugging &amp; control-architecture verification</a:t>
            </a:r>
          </a:p>
          <a:p>
            <a:pPr marL="150000" indent="-150000">
              <a:lnSpc>
                <a:spcPts val="1180"/>
              </a:lnSpc>
              <a:spcAft>
                <a:spcPts val="150"/>
              </a:spcAft>
              <a:buFont typeface="Arial"/>
              <a:buChar char="•"/>
            </a:pPr>
            <a:r>
              <a:rPr lang="en-IN" sz="950" dirty="0">
                <a:solidFill>
                  <a:srgbClr val="16223A"/>
                </a:solidFill>
                <a:latin typeface="Calibri"/>
              </a:rPr>
              <a:t>Established migration path to Raspberry Pi 5 + Dynamixel XL330, reducing integration risk</a:t>
            </a:r>
          </a:p>
        </p:txBody>
      </p:sp>
      <p:sp>
        <p:nvSpPr>
          <p:cNvPr id="26" name="OutcomeBox">
            <a:extLst>
              <a:ext uri="{FF2B5EF4-FFF2-40B4-BE49-F238E27FC236}">
                <a16:creationId xmlns:a16="http://schemas.microsoft.com/office/drawing/2014/main" id="{A1111AB1-B2DD-4A6B-94F7-1E0F10B973B3}"/>
              </a:ext>
            </a:extLst>
          </p:cNvPr>
          <p:cNvSpPr/>
          <p:nvPr/>
        </p:nvSpPr>
        <p:spPr>
          <a:xfrm>
            <a:off x="7112000" y="6248400"/>
            <a:ext cx="4546600" cy="508000"/>
          </a:xfrm>
          <a:prstGeom prst="rect">
            <a:avLst/>
          </a:prstGeom>
          <a:solidFill>
            <a:srgbClr val="EAF7FA"/>
          </a:solid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buNone/>
            </a:pPr>
            <a:r>
              <a:rPr lang="en-IN" sz="950" b="1" dirty="0">
                <a:solidFill>
                  <a:srgbClr val="0A7A8E"/>
                </a:solidFill>
                <a:latin typeface="Calibri"/>
              </a:rPr>
              <a:t>KEY OUTCOME  </a:t>
            </a:r>
            <a:r>
              <a:rPr lang="en-IN" sz="950" dirty="0">
                <a:solidFill>
                  <a:srgbClr val="16223A"/>
                </a:solidFill>
                <a:latin typeface="Calibri"/>
              </a:rPr>
              <a:t>A complete software-validation framework was developed, allowing locomotion, sensing, and control workflows to be tested before physical robot assembly.</a:t>
            </a:r>
          </a:p>
        </p:txBody>
      </p:sp>
    </p:spTree>
    <p:extLst>
      <p:ext uri="{BB962C8B-B14F-4D97-AF65-F5344CB8AC3E}">
        <p14:creationId xmlns:p14="http://schemas.microsoft.com/office/powerpoint/2010/main" val="3745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opBar">
            <a:extLst>
              <a:ext uri="{FF2B5EF4-FFF2-40B4-BE49-F238E27FC236}">
                <a16:creationId xmlns:a16="http://schemas.microsoft.com/office/drawing/2014/main" id="{30ED9168-1A8D-46D3-AF26-084DB3ADAA2A}"/>
              </a:ext>
            </a:extLst>
          </p:cNvPr>
          <p:cNvSpPr/>
          <p:nvPr/>
        </p:nvSpPr>
        <p:spPr>
          <a:xfrm>
            <a:off x="0" y="0"/>
            <a:ext cx="12192000" cy="762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Eyebrow">
            <a:extLst>
              <a:ext uri="{FF2B5EF4-FFF2-40B4-BE49-F238E27FC236}">
                <a16:creationId xmlns:a16="http://schemas.microsoft.com/office/drawing/2014/main" id="{18DBE4B9-D6CE-44B5-B1C7-914B242C66E1}"/>
              </a:ext>
            </a:extLst>
          </p:cNvPr>
          <p:cNvSpPr txBox="1"/>
          <p:nvPr/>
        </p:nvSpPr>
        <p:spPr>
          <a:xfrm>
            <a:off x="533400" y="177800"/>
            <a:ext cx="8890000" cy="228600"/>
          </a:xfrm>
          <a:prstGeom prst="rect">
            <a:avLst/>
          </a:prstGeom>
          <a:noFill/>
        </p:spPr>
        <p:txBody>
          <a:bodyPr vertOverflow="overflow" vert="horz" wrap="square" rtlCol="0" anchor="ctr" anchorCtr="0">
            <a:spAutoFit/>
          </a:bodyPr>
          <a:lstStyle/>
          <a:p>
            <a:pPr algn="l"/>
            <a:r>
              <a:rPr lang="en-IN" sz="1100" b="1">
                <a:solidFill>
                  <a:srgbClr val="0E96AC"/>
                </a:solidFill>
                <a:latin typeface="Calibri"/>
                <a:ea typeface="Calibri"/>
                <a:cs typeface="Calibri"/>
              </a:rPr>
              <a:t>FUTURE WORK &amp; DEVELOPMENT ROADMAP</a:t>
            </a:r>
          </a:p>
        </p:txBody>
      </p:sp>
      <p:sp>
        <p:nvSpPr>
          <p:cNvPr id="4" name="AccentLine">
            <a:extLst>
              <a:ext uri="{FF2B5EF4-FFF2-40B4-BE49-F238E27FC236}">
                <a16:creationId xmlns:a16="http://schemas.microsoft.com/office/drawing/2014/main" id="{442F3D03-E326-4CE5-A515-22A546C90469}"/>
              </a:ext>
            </a:extLst>
          </p:cNvPr>
          <p:cNvSpPr/>
          <p:nvPr/>
        </p:nvSpPr>
        <p:spPr>
          <a:xfrm>
            <a:off x="533400" y="431800"/>
            <a:ext cx="11125200" cy="127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MainTitle">
            <a:extLst>
              <a:ext uri="{FF2B5EF4-FFF2-40B4-BE49-F238E27FC236}">
                <a16:creationId xmlns:a16="http://schemas.microsoft.com/office/drawing/2014/main" id="{5EE60894-65EF-4387-A4AF-239835B25496}"/>
              </a:ext>
            </a:extLst>
          </p:cNvPr>
          <p:cNvSpPr txBox="1"/>
          <p:nvPr/>
        </p:nvSpPr>
        <p:spPr>
          <a:xfrm>
            <a:off x="533400" y="508000"/>
            <a:ext cx="11125200" cy="508000"/>
          </a:xfrm>
          <a:prstGeom prst="rect">
            <a:avLst/>
          </a:prstGeom>
          <a:noFill/>
        </p:spPr>
        <p:txBody>
          <a:bodyPr vertOverflow="overflow" vert="horz" wrap="square" rtlCol="0" anchor="ctr" anchorCtr="0">
            <a:spAutoFit/>
          </a:bodyPr>
          <a:lstStyle/>
          <a:p>
            <a:pPr algn="l"/>
            <a:r>
              <a:rPr lang="en-US" sz="2400" b="1">
                <a:solidFill>
                  <a:srgbClr val="16223A"/>
                </a:solidFill>
                <a:latin typeface="Calibri"/>
                <a:ea typeface="Calibri"/>
                <a:cs typeface="Calibri"/>
              </a:rPr>
              <a:t>Planned Activities for the Next Development Phase</a:t>
            </a:r>
            <a:endParaRPr lang="en-IN" sz="2400" b="1">
              <a:solidFill>
                <a:srgbClr val="16223A"/>
              </a:solidFill>
              <a:latin typeface="Calibri"/>
              <a:ea typeface="Calibri"/>
              <a:cs typeface="Calibri"/>
            </a:endParaRPr>
          </a:p>
        </p:txBody>
      </p:sp>
      <p:sp>
        <p:nvSpPr>
          <p:cNvPr id="201" name="Pill0"/>
          <p:cNvSpPr/>
          <p:nvPr/>
        </p:nvSpPr>
        <p:spPr>
          <a:xfrm>
            <a:off x="533400" y="1219200"/>
            <a:ext cx="1752600" cy="584200"/>
          </a:xfrm>
          <a:prstGeom prst="roundRect">
            <a:avLst/>
          </a:prstGeom>
          <a:solidFill>
            <a:srgbClr val="1F9D55"/>
          </a:solidFill>
          <a:ln>
            <a:noFill/>
          </a:ln>
        </p:spPr>
        <p:txBody>
          <a:bodyPr/>
          <a:lstStyle/>
          <a:p>
            <a:endParaRPr/>
          </a:p>
        </p:txBody>
      </p:sp>
      <p:sp>
        <p:nvSpPr>
          <p:cNvPr id="202" name="Num0"/>
          <p:cNvSpPr/>
          <p:nvPr/>
        </p:nvSpPr>
        <p:spPr>
          <a:xfrm>
            <a:off x="635000" y="1346200"/>
            <a:ext cx="330200" cy="330200"/>
          </a:xfrm>
          <a:prstGeom prst="ellipse">
            <a:avLst/>
          </a:prstGeom>
          <a:solidFill>
            <a:srgbClr val="FFFFFF"/>
          </a:solidFill>
          <a:ln>
            <a:noFill/>
          </a:ln>
        </p:spPr>
        <p:txBody>
          <a:bodyPr/>
          <a:lstStyle/>
          <a:p>
            <a:endParaRPr/>
          </a:p>
        </p:txBody>
      </p:sp>
      <p:sp>
        <p:nvSpPr>
          <p:cNvPr id="203" name="NumT0"/>
          <p:cNvSpPr txBox="1"/>
          <p:nvPr/>
        </p:nvSpPr>
        <p:spPr>
          <a:xfrm>
            <a:off x="635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1</a:t>
            </a:r>
          </a:p>
        </p:txBody>
      </p:sp>
      <p:sp>
        <p:nvSpPr>
          <p:cNvPr id="204" name="PillT0"/>
          <p:cNvSpPr txBox="1"/>
          <p:nvPr/>
        </p:nvSpPr>
        <p:spPr>
          <a:xfrm>
            <a:off x="1016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Hardware Arrival</a:t>
            </a:r>
          </a:p>
        </p:txBody>
      </p:sp>
      <p:sp>
        <p:nvSpPr>
          <p:cNvPr id="205" name="Card0"/>
          <p:cNvSpPr/>
          <p:nvPr/>
        </p:nvSpPr>
        <p:spPr>
          <a:xfrm>
            <a:off x="533400" y="1905000"/>
            <a:ext cx="1752600" cy="1676400"/>
          </a:xfrm>
          <a:prstGeom prst="roundRect">
            <a:avLst/>
          </a:prstGeom>
          <a:solidFill>
            <a:srgbClr val="FFFFFF"/>
          </a:solidFill>
          <a:ln w="9525">
            <a:solidFill>
              <a:srgbClr val="D0D7E5"/>
            </a:solidFill>
          </a:ln>
        </p:spPr>
        <p:txBody>
          <a:bodyPr/>
          <a:lstStyle/>
          <a:p>
            <a:endParaRPr/>
          </a:p>
        </p:txBody>
      </p:sp>
      <p:sp>
        <p:nvSpPr>
          <p:cNvPr id="206" name="Strip0"/>
          <p:cNvSpPr/>
          <p:nvPr/>
        </p:nvSpPr>
        <p:spPr>
          <a:xfrm>
            <a:off x="533400" y="1905000"/>
            <a:ext cx="1752600" cy="38100"/>
          </a:xfrm>
          <a:prstGeom prst="rect">
            <a:avLst/>
          </a:prstGeom>
          <a:solidFill>
            <a:srgbClr val="1F9D55"/>
          </a:solidFill>
          <a:ln>
            <a:noFill/>
          </a:ln>
        </p:spPr>
        <p:txBody>
          <a:bodyPr/>
          <a:lstStyle/>
          <a:p>
            <a:endParaRPr/>
          </a:p>
        </p:txBody>
      </p:sp>
      <p:sp>
        <p:nvSpPr>
          <p:cNvPr id="207" name="CardT0"/>
          <p:cNvSpPr txBox="1"/>
          <p:nvPr/>
        </p:nvSpPr>
        <p:spPr>
          <a:xfrm>
            <a:off x="635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Dynamixel XL330 motors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U2D2 interface</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Verify purchased components</a:t>
            </a:r>
          </a:p>
        </p:txBody>
      </p:sp>
      <p:sp>
        <p:nvSpPr>
          <p:cNvPr id="209" name="Pill1"/>
          <p:cNvSpPr/>
          <p:nvPr/>
        </p:nvSpPr>
        <p:spPr>
          <a:xfrm>
            <a:off x="2387600" y="1219200"/>
            <a:ext cx="1752600" cy="584200"/>
          </a:xfrm>
          <a:prstGeom prst="roundRect">
            <a:avLst/>
          </a:prstGeom>
          <a:solidFill>
            <a:srgbClr val="1F9D55"/>
          </a:solidFill>
          <a:ln>
            <a:noFill/>
          </a:ln>
        </p:spPr>
        <p:txBody>
          <a:bodyPr/>
          <a:lstStyle/>
          <a:p>
            <a:endParaRPr/>
          </a:p>
        </p:txBody>
      </p:sp>
      <p:sp>
        <p:nvSpPr>
          <p:cNvPr id="210" name="Num1"/>
          <p:cNvSpPr/>
          <p:nvPr/>
        </p:nvSpPr>
        <p:spPr>
          <a:xfrm>
            <a:off x="2489200" y="1346200"/>
            <a:ext cx="330200" cy="330200"/>
          </a:xfrm>
          <a:prstGeom prst="ellipse">
            <a:avLst/>
          </a:prstGeom>
          <a:solidFill>
            <a:srgbClr val="FFFFFF"/>
          </a:solidFill>
          <a:ln>
            <a:noFill/>
          </a:ln>
        </p:spPr>
        <p:txBody>
          <a:bodyPr/>
          <a:lstStyle/>
          <a:p>
            <a:endParaRPr/>
          </a:p>
        </p:txBody>
      </p:sp>
      <p:sp>
        <p:nvSpPr>
          <p:cNvPr id="211" name="NumT1"/>
          <p:cNvSpPr txBox="1"/>
          <p:nvPr/>
        </p:nvSpPr>
        <p:spPr>
          <a:xfrm>
            <a:off x="24892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2</a:t>
            </a:r>
          </a:p>
        </p:txBody>
      </p:sp>
      <p:sp>
        <p:nvSpPr>
          <p:cNvPr id="212" name="PillT1"/>
          <p:cNvSpPr txBox="1"/>
          <p:nvPr/>
        </p:nvSpPr>
        <p:spPr>
          <a:xfrm>
            <a:off x="28702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Mechanical Assembly</a:t>
            </a:r>
          </a:p>
        </p:txBody>
      </p:sp>
      <p:sp>
        <p:nvSpPr>
          <p:cNvPr id="213" name="Card1"/>
          <p:cNvSpPr/>
          <p:nvPr/>
        </p:nvSpPr>
        <p:spPr>
          <a:xfrm>
            <a:off x="2387600" y="1905000"/>
            <a:ext cx="1752600" cy="1676400"/>
          </a:xfrm>
          <a:prstGeom prst="roundRect">
            <a:avLst/>
          </a:prstGeom>
          <a:solidFill>
            <a:srgbClr val="FFFFFF"/>
          </a:solidFill>
          <a:ln w="9525">
            <a:solidFill>
              <a:srgbClr val="D0D7E5"/>
            </a:solidFill>
          </a:ln>
        </p:spPr>
        <p:txBody>
          <a:bodyPr/>
          <a:lstStyle/>
          <a:p>
            <a:endParaRPr/>
          </a:p>
        </p:txBody>
      </p:sp>
      <p:sp>
        <p:nvSpPr>
          <p:cNvPr id="214" name="Strip1"/>
          <p:cNvSpPr/>
          <p:nvPr/>
        </p:nvSpPr>
        <p:spPr>
          <a:xfrm>
            <a:off x="2387600" y="1905000"/>
            <a:ext cx="1752600" cy="38100"/>
          </a:xfrm>
          <a:prstGeom prst="rect">
            <a:avLst/>
          </a:prstGeom>
          <a:solidFill>
            <a:srgbClr val="1F9D55"/>
          </a:solidFill>
          <a:ln>
            <a:noFill/>
          </a:ln>
        </p:spPr>
        <p:txBody>
          <a:bodyPr/>
          <a:lstStyle/>
          <a:p>
            <a:endParaRPr/>
          </a:p>
        </p:txBody>
      </p:sp>
      <p:sp>
        <p:nvSpPr>
          <p:cNvPr id="215" name="CardT1"/>
          <p:cNvSpPr txBox="1"/>
          <p:nvPr/>
        </p:nvSpPr>
        <p:spPr>
          <a:xfrm>
            <a:off x="24892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Assemble complete snake body</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Install Dynamixel actuators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Route communication cables</a:t>
            </a:r>
          </a:p>
        </p:txBody>
      </p:sp>
      <p:sp>
        <p:nvSpPr>
          <p:cNvPr id="217" name="Pill2"/>
          <p:cNvSpPr/>
          <p:nvPr/>
        </p:nvSpPr>
        <p:spPr>
          <a:xfrm>
            <a:off x="4241800" y="1219200"/>
            <a:ext cx="1752600" cy="584200"/>
          </a:xfrm>
          <a:prstGeom prst="roundRect">
            <a:avLst/>
          </a:prstGeom>
          <a:solidFill>
            <a:srgbClr val="1E6FD6"/>
          </a:solidFill>
          <a:ln>
            <a:noFill/>
          </a:ln>
        </p:spPr>
        <p:txBody>
          <a:bodyPr/>
          <a:lstStyle/>
          <a:p>
            <a:endParaRPr/>
          </a:p>
        </p:txBody>
      </p:sp>
      <p:sp>
        <p:nvSpPr>
          <p:cNvPr id="218" name="Num2"/>
          <p:cNvSpPr/>
          <p:nvPr/>
        </p:nvSpPr>
        <p:spPr>
          <a:xfrm>
            <a:off x="4343400" y="1346200"/>
            <a:ext cx="330200" cy="330200"/>
          </a:xfrm>
          <a:prstGeom prst="ellipse">
            <a:avLst/>
          </a:prstGeom>
          <a:solidFill>
            <a:srgbClr val="FFFFFF"/>
          </a:solidFill>
          <a:ln>
            <a:noFill/>
          </a:ln>
        </p:spPr>
        <p:txBody>
          <a:bodyPr/>
          <a:lstStyle/>
          <a:p>
            <a:endParaRPr/>
          </a:p>
        </p:txBody>
      </p:sp>
      <p:sp>
        <p:nvSpPr>
          <p:cNvPr id="219" name="NumT2"/>
          <p:cNvSpPr txBox="1"/>
          <p:nvPr/>
        </p:nvSpPr>
        <p:spPr>
          <a:xfrm>
            <a:off x="43434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3</a:t>
            </a:r>
          </a:p>
        </p:txBody>
      </p:sp>
      <p:sp>
        <p:nvSpPr>
          <p:cNvPr id="220" name="PillT2"/>
          <p:cNvSpPr txBox="1"/>
          <p:nvPr/>
        </p:nvSpPr>
        <p:spPr>
          <a:xfrm>
            <a:off x="47244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Communication Setup</a:t>
            </a:r>
          </a:p>
        </p:txBody>
      </p:sp>
      <p:sp>
        <p:nvSpPr>
          <p:cNvPr id="221" name="Card2"/>
          <p:cNvSpPr/>
          <p:nvPr/>
        </p:nvSpPr>
        <p:spPr>
          <a:xfrm>
            <a:off x="4241800" y="1905000"/>
            <a:ext cx="1752600" cy="1676400"/>
          </a:xfrm>
          <a:prstGeom prst="roundRect">
            <a:avLst/>
          </a:prstGeom>
          <a:solidFill>
            <a:srgbClr val="FFFFFF"/>
          </a:solidFill>
          <a:ln w="9525">
            <a:solidFill>
              <a:srgbClr val="D0D7E5"/>
            </a:solidFill>
          </a:ln>
        </p:spPr>
        <p:txBody>
          <a:bodyPr/>
          <a:lstStyle/>
          <a:p>
            <a:endParaRPr/>
          </a:p>
        </p:txBody>
      </p:sp>
      <p:sp>
        <p:nvSpPr>
          <p:cNvPr id="222" name="Strip2"/>
          <p:cNvSpPr/>
          <p:nvPr/>
        </p:nvSpPr>
        <p:spPr>
          <a:xfrm>
            <a:off x="4241800" y="1905000"/>
            <a:ext cx="1752600" cy="38100"/>
          </a:xfrm>
          <a:prstGeom prst="rect">
            <a:avLst/>
          </a:prstGeom>
          <a:solidFill>
            <a:srgbClr val="1E6FD6"/>
          </a:solidFill>
          <a:ln>
            <a:noFill/>
          </a:ln>
        </p:spPr>
        <p:txBody>
          <a:bodyPr/>
          <a:lstStyle/>
          <a:p>
            <a:endParaRPr/>
          </a:p>
        </p:txBody>
      </p:sp>
      <p:sp>
        <p:nvSpPr>
          <p:cNvPr id="223" name="CardT2"/>
          <p:cNvSpPr txBox="1"/>
          <p:nvPr/>
        </p:nvSpPr>
        <p:spPr>
          <a:xfrm>
            <a:off x="43434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Configure motor IDs</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Establish serial communication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Validate daisy-chain architecture</a:t>
            </a:r>
          </a:p>
        </p:txBody>
      </p:sp>
      <p:sp>
        <p:nvSpPr>
          <p:cNvPr id="225" name="Pill3"/>
          <p:cNvSpPr/>
          <p:nvPr/>
        </p:nvSpPr>
        <p:spPr>
          <a:xfrm>
            <a:off x="6096000" y="1219200"/>
            <a:ext cx="1752600" cy="584200"/>
          </a:xfrm>
          <a:prstGeom prst="roundRect">
            <a:avLst/>
          </a:prstGeom>
          <a:solidFill>
            <a:srgbClr val="1E6FD6"/>
          </a:solidFill>
          <a:ln>
            <a:noFill/>
          </a:ln>
        </p:spPr>
        <p:txBody>
          <a:bodyPr/>
          <a:lstStyle/>
          <a:p>
            <a:endParaRPr/>
          </a:p>
        </p:txBody>
      </p:sp>
      <p:sp>
        <p:nvSpPr>
          <p:cNvPr id="226" name="Num3"/>
          <p:cNvSpPr/>
          <p:nvPr/>
        </p:nvSpPr>
        <p:spPr>
          <a:xfrm>
            <a:off x="6197600" y="1346200"/>
            <a:ext cx="330200" cy="330200"/>
          </a:xfrm>
          <a:prstGeom prst="ellipse">
            <a:avLst/>
          </a:prstGeom>
          <a:solidFill>
            <a:srgbClr val="FFFFFF"/>
          </a:solidFill>
          <a:ln>
            <a:noFill/>
          </a:ln>
        </p:spPr>
        <p:txBody>
          <a:bodyPr/>
          <a:lstStyle/>
          <a:p>
            <a:endParaRPr/>
          </a:p>
        </p:txBody>
      </p:sp>
      <p:sp>
        <p:nvSpPr>
          <p:cNvPr id="227" name="NumT3"/>
          <p:cNvSpPr txBox="1"/>
          <p:nvPr/>
        </p:nvSpPr>
        <p:spPr>
          <a:xfrm>
            <a:off x="61976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4</a:t>
            </a:r>
          </a:p>
        </p:txBody>
      </p:sp>
      <p:sp>
        <p:nvSpPr>
          <p:cNvPr id="228" name="PillT3"/>
          <p:cNvSpPr txBox="1"/>
          <p:nvPr/>
        </p:nvSpPr>
        <p:spPr>
          <a:xfrm>
            <a:off x="65786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Locomotion Development</a:t>
            </a:r>
          </a:p>
        </p:txBody>
      </p:sp>
      <p:sp>
        <p:nvSpPr>
          <p:cNvPr id="229" name="Card3"/>
          <p:cNvSpPr/>
          <p:nvPr/>
        </p:nvSpPr>
        <p:spPr>
          <a:xfrm>
            <a:off x="6096000" y="1905000"/>
            <a:ext cx="1752600" cy="1676400"/>
          </a:xfrm>
          <a:prstGeom prst="roundRect">
            <a:avLst/>
          </a:prstGeom>
          <a:solidFill>
            <a:srgbClr val="FFFFFF"/>
          </a:solidFill>
          <a:ln w="9525">
            <a:solidFill>
              <a:srgbClr val="D0D7E5"/>
            </a:solidFill>
          </a:ln>
        </p:spPr>
        <p:txBody>
          <a:bodyPr/>
          <a:lstStyle/>
          <a:p>
            <a:endParaRPr/>
          </a:p>
        </p:txBody>
      </p:sp>
      <p:sp>
        <p:nvSpPr>
          <p:cNvPr id="230" name="Strip3"/>
          <p:cNvSpPr/>
          <p:nvPr/>
        </p:nvSpPr>
        <p:spPr>
          <a:xfrm>
            <a:off x="6096000" y="1905000"/>
            <a:ext cx="1752600" cy="38100"/>
          </a:xfrm>
          <a:prstGeom prst="rect">
            <a:avLst/>
          </a:prstGeom>
          <a:solidFill>
            <a:srgbClr val="1E6FD6"/>
          </a:solidFill>
          <a:ln>
            <a:noFill/>
          </a:ln>
        </p:spPr>
        <p:txBody>
          <a:bodyPr/>
          <a:lstStyle/>
          <a:p>
            <a:endParaRPr/>
          </a:p>
        </p:txBody>
      </p:sp>
      <p:sp>
        <p:nvSpPr>
          <p:cNvPr id="231" name="CardT3"/>
          <p:cNvSpPr txBox="1"/>
          <p:nvPr/>
        </p:nvSpPr>
        <p:spPr>
          <a:xfrm>
            <a:off x="61976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Port simulation code to Pi 5</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Implement serpentine locomotion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Synchronize multi-joint movement</a:t>
            </a:r>
          </a:p>
        </p:txBody>
      </p:sp>
      <p:sp>
        <p:nvSpPr>
          <p:cNvPr id="233" name="Pill4"/>
          <p:cNvSpPr/>
          <p:nvPr/>
        </p:nvSpPr>
        <p:spPr>
          <a:xfrm>
            <a:off x="7950200" y="1219200"/>
            <a:ext cx="1752600" cy="584200"/>
          </a:xfrm>
          <a:prstGeom prst="roundRect">
            <a:avLst/>
          </a:prstGeom>
          <a:solidFill>
            <a:srgbClr val="E8821E"/>
          </a:solidFill>
          <a:ln>
            <a:noFill/>
          </a:ln>
        </p:spPr>
        <p:txBody>
          <a:bodyPr/>
          <a:lstStyle/>
          <a:p>
            <a:endParaRPr/>
          </a:p>
        </p:txBody>
      </p:sp>
      <p:sp>
        <p:nvSpPr>
          <p:cNvPr id="234" name="Num4"/>
          <p:cNvSpPr/>
          <p:nvPr/>
        </p:nvSpPr>
        <p:spPr>
          <a:xfrm>
            <a:off x="8051800" y="1346200"/>
            <a:ext cx="330200" cy="330200"/>
          </a:xfrm>
          <a:prstGeom prst="ellipse">
            <a:avLst/>
          </a:prstGeom>
          <a:solidFill>
            <a:srgbClr val="FFFFFF"/>
          </a:solidFill>
          <a:ln>
            <a:noFill/>
          </a:ln>
        </p:spPr>
        <p:txBody>
          <a:bodyPr/>
          <a:lstStyle/>
          <a:p>
            <a:endParaRPr/>
          </a:p>
        </p:txBody>
      </p:sp>
      <p:sp>
        <p:nvSpPr>
          <p:cNvPr id="235" name="NumT4"/>
          <p:cNvSpPr txBox="1"/>
          <p:nvPr/>
        </p:nvSpPr>
        <p:spPr>
          <a:xfrm>
            <a:off x="80518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5</a:t>
            </a:r>
          </a:p>
        </p:txBody>
      </p:sp>
      <p:sp>
        <p:nvSpPr>
          <p:cNvPr id="236" name="PillT4"/>
          <p:cNvSpPr txBox="1"/>
          <p:nvPr/>
        </p:nvSpPr>
        <p:spPr>
          <a:xfrm>
            <a:off x="84328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Sensor Integration</a:t>
            </a:r>
          </a:p>
        </p:txBody>
      </p:sp>
      <p:sp>
        <p:nvSpPr>
          <p:cNvPr id="237" name="Card4"/>
          <p:cNvSpPr/>
          <p:nvPr/>
        </p:nvSpPr>
        <p:spPr>
          <a:xfrm>
            <a:off x="7950200" y="1905000"/>
            <a:ext cx="1752600" cy="1676400"/>
          </a:xfrm>
          <a:prstGeom prst="roundRect">
            <a:avLst/>
          </a:prstGeom>
          <a:solidFill>
            <a:srgbClr val="FFFFFF"/>
          </a:solidFill>
          <a:ln w="9525">
            <a:solidFill>
              <a:srgbClr val="D0D7E5"/>
            </a:solidFill>
          </a:ln>
        </p:spPr>
        <p:txBody>
          <a:bodyPr/>
          <a:lstStyle/>
          <a:p>
            <a:endParaRPr/>
          </a:p>
        </p:txBody>
      </p:sp>
      <p:sp>
        <p:nvSpPr>
          <p:cNvPr id="238" name="Strip4"/>
          <p:cNvSpPr/>
          <p:nvPr/>
        </p:nvSpPr>
        <p:spPr>
          <a:xfrm>
            <a:off x="7950200" y="1905000"/>
            <a:ext cx="1752600" cy="38100"/>
          </a:xfrm>
          <a:prstGeom prst="rect">
            <a:avLst/>
          </a:prstGeom>
          <a:solidFill>
            <a:srgbClr val="E8821E"/>
          </a:solidFill>
          <a:ln>
            <a:noFill/>
          </a:ln>
        </p:spPr>
        <p:txBody>
          <a:bodyPr/>
          <a:lstStyle/>
          <a:p>
            <a:endParaRPr/>
          </a:p>
        </p:txBody>
      </p:sp>
      <p:sp>
        <p:nvSpPr>
          <p:cNvPr id="239" name="CardT4"/>
          <p:cNvSpPr txBox="1"/>
          <p:nvPr/>
        </p:nvSpPr>
        <p:spPr>
          <a:xfrm>
            <a:off x="80518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MPU6050 IMU</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obstacle detection</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Implement feedback control</a:t>
            </a:r>
          </a:p>
        </p:txBody>
      </p:sp>
      <p:sp>
        <p:nvSpPr>
          <p:cNvPr id="240" name="Pill5"/>
          <p:cNvSpPr/>
          <p:nvPr/>
        </p:nvSpPr>
        <p:spPr>
          <a:xfrm>
            <a:off x="9804400" y="1219200"/>
            <a:ext cx="1752600" cy="584200"/>
          </a:xfrm>
          <a:prstGeom prst="roundRect">
            <a:avLst/>
          </a:prstGeom>
          <a:solidFill>
            <a:srgbClr val="E8821E"/>
          </a:solidFill>
          <a:ln>
            <a:noFill/>
          </a:ln>
        </p:spPr>
        <p:txBody>
          <a:bodyPr/>
          <a:lstStyle/>
          <a:p>
            <a:endParaRPr/>
          </a:p>
        </p:txBody>
      </p:sp>
      <p:sp>
        <p:nvSpPr>
          <p:cNvPr id="241" name="Num5"/>
          <p:cNvSpPr/>
          <p:nvPr/>
        </p:nvSpPr>
        <p:spPr>
          <a:xfrm>
            <a:off x="9906000" y="1346200"/>
            <a:ext cx="330200" cy="330200"/>
          </a:xfrm>
          <a:prstGeom prst="ellipse">
            <a:avLst/>
          </a:prstGeom>
          <a:solidFill>
            <a:srgbClr val="FFFFFF"/>
          </a:solidFill>
          <a:ln>
            <a:noFill/>
          </a:ln>
        </p:spPr>
        <p:txBody>
          <a:bodyPr/>
          <a:lstStyle/>
          <a:p>
            <a:endParaRPr/>
          </a:p>
        </p:txBody>
      </p:sp>
      <p:sp>
        <p:nvSpPr>
          <p:cNvPr id="242" name="NumT5"/>
          <p:cNvSpPr txBox="1"/>
          <p:nvPr/>
        </p:nvSpPr>
        <p:spPr>
          <a:xfrm>
            <a:off x="9906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6</a:t>
            </a:r>
          </a:p>
        </p:txBody>
      </p:sp>
      <p:sp>
        <p:nvSpPr>
          <p:cNvPr id="243" name="PillT5"/>
          <p:cNvSpPr txBox="1"/>
          <p:nvPr/>
        </p:nvSpPr>
        <p:spPr>
          <a:xfrm>
            <a:off x="10287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Testing &amp; Optimization</a:t>
            </a:r>
          </a:p>
        </p:txBody>
      </p:sp>
      <p:sp>
        <p:nvSpPr>
          <p:cNvPr id="244" name="Card5"/>
          <p:cNvSpPr/>
          <p:nvPr/>
        </p:nvSpPr>
        <p:spPr>
          <a:xfrm>
            <a:off x="9804400" y="1905000"/>
            <a:ext cx="1752600" cy="1676400"/>
          </a:xfrm>
          <a:prstGeom prst="roundRect">
            <a:avLst/>
          </a:prstGeom>
          <a:solidFill>
            <a:srgbClr val="FFFFFF"/>
          </a:solidFill>
          <a:ln w="9525">
            <a:solidFill>
              <a:srgbClr val="D0D7E5"/>
            </a:solidFill>
          </a:ln>
        </p:spPr>
        <p:txBody>
          <a:bodyPr/>
          <a:lstStyle/>
          <a:p>
            <a:endParaRPr/>
          </a:p>
        </p:txBody>
      </p:sp>
      <p:sp>
        <p:nvSpPr>
          <p:cNvPr id="245" name="Strip5"/>
          <p:cNvSpPr/>
          <p:nvPr/>
        </p:nvSpPr>
        <p:spPr>
          <a:xfrm>
            <a:off x="9804400" y="1905000"/>
            <a:ext cx="1752600" cy="38100"/>
          </a:xfrm>
          <a:prstGeom prst="rect">
            <a:avLst/>
          </a:prstGeom>
          <a:solidFill>
            <a:srgbClr val="E8821E"/>
          </a:solidFill>
          <a:ln>
            <a:noFill/>
          </a:ln>
        </p:spPr>
        <p:txBody>
          <a:bodyPr/>
          <a:lstStyle/>
          <a:p>
            <a:endParaRPr/>
          </a:p>
        </p:txBody>
      </p:sp>
      <p:sp>
        <p:nvSpPr>
          <p:cNvPr id="246" name="CardT5"/>
          <p:cNvSpPr txBox="1"/>
          <p:nvPr/>
        </p:nvSpPr>
        <p:spPr>
          <a:xfrm>
            <a:off x="9906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Motion performance testing</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Power &amp; reliability analysis</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System optimization</a:t>
            </a:r>
          </a:p>
        </p:txBody>
      </p:sp>
      <p:pic>
        <p:nvPicPr>
          <p:cNvPr id="247" name="Graphic 247" descr="Hardware arrival"/>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0400" y="1993900"/>
            <a:ext cx="279400" cy="279400"/>
          </a:xfrm>
          <a:prstGeom prst="rect">
            <a:avLst/>
          </a:prstGeom>
        </p:spPr>
      </p:pic>
      <p:pic>
        <p:nvPicPr>
          <p:cNvPr id="248" name="Graphic 248" descr="Mechanical assembl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4600" y="1993900"/>
            <a:ext cx="279400" cy="279400"/>
          </a:xfrm>
          <a:prstGeom prst="rect">
            <a:avLst/>
          </a:prstGeom>
        </p:spPr>
      </p:pic>
      <p:pic>
        <p:nvPicPr>
          <p:cNvPr id="249" name="Graphic 249" descr="Communication setu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993900"/>
            <a:ext cx="279400" cy="279400"/>
          </a:xfrm>
          <a:prstGeom prst="rect">
            <a:avLst/>
          </a:prstGeom>
        </p:spPr>
      </p:pic>
      <p:pic>
        <p:nvPicPr>
          <p:cNvPr id="250" name="Graphic 250" descr="Locomotion developmen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3000" y="1993900"/>
            <a:ext cx="279400" cy="279400"/>
          </a:xfrm>
          <a:prstGeom prst="rect">
            <a:avLst/>
          </a:prstGeom>
        </p:spPr>
      </p:pic>
      <p:pic>
        <p:nvPicPr>
          <p:cNvPr id="251" name="Graphic 251" descr="Sensor integ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47200" y="1993900"/>
            <a:ext cx="279400" cy="279400"/>
          </a:xfrm>
          <a:prstGeom prst="rect">
            <a:avLst/>
          </a:prstGeom>
        </p:spPr>
      </p:pic>
      <p:pic>
        <p:nvPicPr>
          <p:cNvPr id="252" name="Graphic 252" descr="Testing and optimiz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01400" y="1993900"/>
            <a:ext cx="279400" cy="279400"/>
          </a:xfrm>
          <a:prstGeom prst="rect">
            <a:avLst/>
          </a:prstGeom>
        </p:spPr>
      </p:pic>
      <p:sp>
        <p:nvSpPr>
          <p:cNvPr id="400" name="Lg"/>
          <p:cNvSpPr/>
          <p:nvPr/>
        </p:nvSpPr>
        <p:spPr>
          <a:xfrm>
            <a:off x="533400" y="3759200"/>
            <a:ext cx="139700" cy="139700"/>
          </a:xfrm>
          <a:prstGeom prst="ellipse">
            <a:avLst/>
          </a:prstGeom>
          <a:solidFill>
            <a:srgbClr val="1F9D55"/>
          </a:solidFill>
          <a:ln>
            <a:noFill/>
          </a:ln>
        </p:spPr>
        <p:txBody>
          <a:bodyPr/>
          <a:lstStyle/>
          <a:p>
            <a:endParaRPr/>
          </a:p>
        </p:txBody>
      </p:sp>
      <p:sp>
        <p:nvSpPr>
          <p:cNvPr id="401" name="LgT"/>
          <p:cNvSpPr txBox="1"/>
          <p:nvPr/>
        </p:nvSpPr>
        <p:spPr>
          <a:xfrm>
            <a:off x="72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Completed phase</a:t>
            </a:r>
          </a:p>
        </p:txBody>
      </p:sp>
      <p:sp>
        <p:nvSpPr>
          <p:cNvPr id="402" name="Lg"/>
          <p:cNvSpPr/>
          <p:nvPr/>
        </p:nvSpPr>
        <p:spPr>
          <a:xfrm>
            <a:off x="2438400" y="3759200"/>
            <a:ext cx="139700" cy="139700"/>
          </a:xfrm>
          <a:prstGeom prst="ellipse">
            <a:avLst/>
          </a:prstGeom>
          <a:solidFill>
            <a:srgbClr val="1E6FD6"/>
          </a:solidFill>
          <a:ln>
            <a:noFill/>
          </a:ln>
        </p:spPr>
        <p:txBody>
          <a:bodyPr/>
          <a:lstStyle/>
          <a:p>
            <a:endParaRPr/>
          </a:p>
        </p:txBody>
      </p:sp>
      <p:sp>
        <p:nvSpPr>
          <p:cNvPr id="403" name="LgT"/>
          <p:cNvSpPr txBox="1"/>
          <p:nvPr/>
        </p:nvSpPr>
        <p:spPr>
          <a:xfrm>
            <a:off x="2628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Ongoing work</a:t>
            </a:r>
          </a:p>
        </p:txBody>
      </p:sp>
      <p:sp>
        <p:nvSpPr>
          <p:cNvPr id="404" name="Lg"/>
          <p:cNvSpPr/>
          <p:nvPr/>
        </p:nvSpPr>
        <p:spPr>
          <a:xfrm>
            <a:off x="4343400" y="3759200"/>
            <a:ext cx="139700" cy="139700"/>
          </a:xfrm>
          <a:prstGeom prst="ellipse">
            <a:avLst/>
          </a:prstGeom>
          <a:solidFill>
            <a:srgbClr val="E8821E"/>
          </a:solidFill>
          <a:ln>
            <a:noFill/>
          </a:ln>
        </p:spPr>
        <p:txBody>
          <a:bodyPr/>
          <a:lstStyle/>
          <a:p>
            <a:endParaRPr/>
          </a:p>
        </p:txBody>
      </p:sp>
      <p:sp>
        <p:nvSpPr>
          <p:cNvPr id="405" name="LgT"/>
          <p:cNvSpPr txBox="1"/>
          <p:nvPr/>
        </p:nvSpPr>
        <p:spPr>
          <a:xfrm>
            <a:off x="453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Future milestone</a:t>
            </a:r>
          </a:p>
        </p:txBody>
      </p:sp>
      <p:sp>
        <p:nvSpPr>
          <p:cNvPr id="406" name="DelCard"/>
          <p:cNvSpPr/>
          <p:nvPr/>
        </p:nvSpPr>
        <p:spPr>
          <a:xfrm>
            <a:off x="533400" y="4064000"/>
            <a:ext cx="5461000" cy="2489200"/>
          </a:xfrm>
          <a:prstGeom prst="roundRect">
            <a:avLst/>
          </a:prstGeom>
          <a:solidFill>
            <a:srgbClr val="F7F9FC"/>
          </a:solidFill>
          <a:ln w="9525">
            <a:solidFill>
              <a:srgbClr val="D0D7E5"/>
            </a:solidFill>
          </a:ln>
        </p:spPr>
        <p:txBody>
          <a:bodyPr/>
          <a:lstStyle/>
          <a:p>
            <a:endParaRPr/>
          </a:p>
        </p:txBody>
      </p:sp>
      <p:sp>
        <p:nvSpPr>
          <p:cNvPr id="407" name="DelStrip"/>
          <p:cNvSpPr/>
          <p:nvPr/>
        </p:nvSpPr>
        <p:spPr>
          <a:xfrm>
            <a:off x="533400" y="4064000"/>
            <a:ext cx="63500" cy="2489200"/>
          </a:xfrm>
          <a:prstGeom prst="rect">
            <a:avLst/>
          </a:prstGeom>
          <a:solidFill>
            <a:srgbClr val="0E96AC"/>
          </a:solidFill>
          <a:ln>
            <a:noFill/>
          </a:ln>
        </p:spPr>
        <p:txBody>
          <a:bodyPr/>
          <a:lstStyle/>
          <a:p>
            <a:endParaRPr/>
          </a:p>
        </p:txBody>
      </p:sp>
      <p:sp>
        <p:nvSpPr>
          <p:cNvPr id="408" name="DelHead"/>
          <p:cNvSpPr txBox="1"/>
          <p:nvPr/>
        </p:nvSpPr>
        <p:spPr>
          <a:xfrm>
            <a:off x="736600" y="4191000"/>
            <a:ext cx="5130800" cy="279400"/>
          </a:xfrm>
          <a:prstGeom prst="rect">
            <a:avLst/>
          </a:prstGeom>
          <a:noFill/>
        </p:spPr>
        <p:txBody>
          <a:bodyPr wrap="square" lIns="50800" tIns="25400" rIns="50800" bIns="25400" anchor="t">
            <a:noAutofit/>
          </a:bodyPr>
          <a:lstStyle/>
          <a:p>
            <a:pPr>
              <a:buNone/>
            </a:pPr>
            <a:r>
              <a:rPr lang="en-IN" sz="1200" b="1" dirty="0">
                <a:solidFill>
                  <a:srgbClr val="16223A"/>
                </a:solidFill>
                <a:latin typeface="Calibri"/>
              </a:rPr>
              <a:t>EXPECTED DELIVERABLES</a:t>
            </a:r>
          </a:p>
        </p:txBody>
      </p:sp>
      <p:sp>
        <p:nvSpPr>
          <p:cNvPr id="409" name="DelList"/>
          <p:cNvSpPr txBox="1"/>
          <p:nvPr/>
        </p:nvSpPr>
        <p:spPr>
          <a:xfrm>
            <a:off x="736600" y="4546600"/>
            <a:ext cx="5080000" cy="1905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Wingdings"/>
              <a:buChar char="Ø"/>
            </a:pPr>
            <a:r>
              <a:rPr lang="en-IN" sz="1000" dirty="0">
                <a:solidFill>
                  <a:srgbClr val="16223A"/>
                </a:solidFill>
                <a:latin typeface="Calibri"/>
              </a:rPr>
              <a:t>Fully assembled snake robot</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Dynamixel-based locomotion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Sensor-assisted navigation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Integrated Raspberry Pi 5 control system</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Demonstration-ready prototype</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Final SURGE project showcase</a:t>
            </a:r>
          </a:p>
        </p:txBody>
      </p:sp>
      <p:sp>
        <p:nvSpPr>
          <p:cNvPr id="410" name="TgtCard"/>
          <p:cNvSpPr/>
          <p:nvPr/>
        </p:nvSpPr>
        <p:spPr>
          <a:xfrm>
            <a:off x="6197600" y="4064000"/>
            <a:ext cx="5461000" cy="2489200"/>
          </a:xfrm>
          <a:prstGeom prst="roundRect">
            <a:avLst/>
          </a:prstGeom>
          <a:solidFill>
            <a:srgbClr val="EAF7FA"/>
          </a:solidFill>
          <a:ln w="19050">
            <a:solidFill>
              <a:srgbClr val="0E96AC"/>
            </a:solidFill>
          </a:ln>
        </p:spPr>
        <p:txBody>
          <a:bodyPr/>
          <a:lstStyle/>
          <a:p>
            <a:endParaRPr/>
          </a:p>
        </p:txBody>
      </p:sp>
      <p:sp>
        <p:nvSpPr>
          <p:cNvPr id="411" name="TgtHead"/>
          <p:cNvSpPr txBox="1"/>
          <p:nvPr/>
        </p:nvSpPr>
        <p:spPr>
          <a:xfrm>
            <a:off x="6400800" y="4191000"/>
            <a:ext cx="5130800" cy="279400"/>
          </a:xfrm>
          <a:prstGeom prst="rect">
            <a:avLst/>
          </a:prstGeom>
          <a:noFill/>
        </p:spPr>
        <p:txBody>
          <a:bodyPr wrap="square" lIns="50800" tIns="25400" rIns="50800" bIns="25400" anchor="t">
            <a:noAutofit/>
          </a:bodyPr>
          <a:lstStyle/>
          <a:p>
            <a:pPr>
              <a:buNone/>
            </a:pPr>
            <a:r>
              <a:rPr lang="en-IN" sz="1200" b="1" dirty="0">
                <a:solidFill>
                  <a:srgbClr val="0A7A8E"/>
                </a:solidFill>
                <a:latin typeface="Calibri"/>
              </a:rPr>
              <a:t>TARGET FOR NEXT REVIEW</a:t>
            </a:r>
          </a:p>
        </p:txBody>
      </p:sp>
      <p:sp>
        <p:nvSpPr>
          <p:cNvPr id="412" name="TgtList"/>
          <p:cNvSpPr txBox="1"/>
          <p:nvPr/>
        </p:nvSpPr>
        <p:spPr>
          <a:xfrm>
            <a:off x="6400800" y="4546600"/>
            <a:ext cx="5080000" cy="1397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Arial"/>
              <a:buChar char="•"/>
            </a:pPr>
            <a:r>
              <a:rPr lang="en-IN" sz="1000" dirty="0">
                <a:solidFill>
                  <a:srgbClr val="16223A"/>
                </a:solidFill>
                <a:latin typeface="Calibri"/>
              </a:rPr>
              <a:t>Complete hardware integration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Demonstrate basic snake locomotion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communication architecture</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sensing framework</a:t>
            </a:r>
          </a:p>
        </p:txBody>
      </p:sp>
      <p:sp>
        <p:nvSpPr>
          <p:cNvPr id="413" name="TgtBadge"/>
          <p:cNvSpPr/>
          <p:nvPr/>
        </p:nvSpPr>
        <p:spPr>
          <a:xfrm>
            <a:off x="6400800" y="5994400"/>
            <a:ext cx="5054600" cy="406400"/>
          </a:xfrm>
          <a:prstGeom prst="roundRect">
            <a:avLst/>
          </a:prstGeom>
          <a:solidFill>
            <a:srgbClr val="0A7A8E"/>
          </a:solidFill>
          <a:ln>
            <a:noFill/>
          </a:ln>
        </p:spPr>
        <p:txBody>
          <a:bodyPr/>
          <a:lstStyle/>
          <a:p>
            <a:endParaRPr/>
          </a:p>
        </p:txBody>
      </p:sp>
      <p:sp>
        <p:nvSpPr>
          <p:cNvPr id="414" name="TgtBadgeT"/>
          <p:cNvSpPr txBox="1"/>
          <p:nvPr/>
        </p:nvSpPr>
        <p:spPr>
          <a:xfrm>
            <a:off x="6400800" y="5994400"/>
            <a:ext cx="5054600" cy="406400"/>
          </a:xfrm>
          <a:prstGeom prst="rect">
            <a:avLst/>
          </a:prstGeom>
          <a:noFill/>
        </p:spPr>
        <p:txBody>
          <a:bodyPr wrap="square" lIns="50800" tIns="25400" rIns="50800" bIns="25400" anchor="ctr">
            <a:noAutofit/>
          </a:bodyPr>
          <a:lstStyle/>
          <a:p>
            <a:pPr algn="ctr">
              <a:buNone/>
            </a:pPr>
            <a:r>
              <a:rPr lang="en-IN" sz="1100" b="1" dirty="0">
                <a:solidFill>
                  <a:srgbClr val="FFFFFF"/>
                </a:solidFill>
                <a:latin typeface="Calibri"/>
              </a:rPr>
              <a:t>Goal: ~60–70% project completion</a:t>
            </a:r>
          </a:p>
        </p:txBody>
      </p:sp>
      <p:sp>
        <p:nvSpPr>
          <p:cNvPr id="600" name="Chev0"/>
          <p:cNvSpPr/>
          <p:nvPr/>
        </p:nvSpPr>
        <p:spPr>
          <a:xfrm>
            <a:off x="2222500" y="1397000"/>
            <a:ext cx="228600" cy="228600"/>
          </a:xfrm>
          <a:prstGeom prst="chevron">
            <a:avLst/>
          </a:prstGeom>
          <a:solidFill>
            <a:srgbClr val="16223A"/>
          </a:solidFill>
          <a:ln>
            <a:noFill/>
          </a:ln>
        </p:spPr>
        <p:txBody>
          <a:bodyPr/>
          <a:lstStyle/>
          <a:p>
            <a:endParaRPr/>
          </a:p>
        </p:txBody>
      </p:sp>
      <p:sp>
        <p:nvSpPr>
          <p:cNvPr id="601" name="Chev1"/>
          <p:cNvSpPr/>
          <p:nvPr/>
        </p:nvSpPr>
        <p:spPr>
          <a:xfrm>
            <a:off x="4076700" y="1397000"/>
            <a:ext cx="228600" cy="228600"/>
          </a:xfrm>
          <a:prstGeom prst="chevron">
            <a:avLst/>
          </a:prstGeom>
          <a:solidFill>
            <a:srgbClr val="16223A"/>
          </a:solidFill>
          <a:ln>
            <a:noFill/>
          </a:ln>
        </p:spPr>
        <p:txBody>
          <a:bodyPr/>
          <a:lstStyle/>
          <a:p>
            <a:endParaRPr/>
          </a:p>
        </p:txBody>
      </p:sp>
      <p:sp>
        <p:nvSpPr>
          <p:cNvPr id="602" name="Chev2"/>
          <p:cNvSpPr/>
          <p:nvPr/>
        </p:nvSpPr>
        <p:spPr>
          <a:xfrm>
            <a:off x="5930900" y="1397000"/>
            <a:ext cx="228600" cy="228600"/>
          </a:xfrm>
          <a:prstGeom prst="chevron">
            <a:avLst/>
          </a:prstGeom>
          <a:solidFill>
            <a:srgbClr val="16223A"/>
          </a:solidFill>
          <a:ln>
            <a:noFill/>
          </a:ln>
        </p:spPr>
        <p:txBody>
          <a:bodyPr/>
          <a:lstStyle/>
          <a:p>
            <a:endParaRPr/>
          </a:p>
        </p:txBody>
      </p:sp>
      <p:sp>
        <p:nvSpPr>
          <p:cNvPr id="603" name="Chev3"/>
          <p:cNvSpPr/>
          <p:nvPr/>
        </p:nvSpPr>
        <p:spPr>
          <a:xfrm>
            <a:off x="7785100" y="1397000"/>
            <a:ext cx="228600" cy="228600"/>
          </a:xfrm>
          <a:prstGeom prst="chevron">
            <a:avLst/>
          </a:prstGeom>
          <a:solidFill>
            <a:srgbClr val="16223A"/>
          </a:solidFill>
          <a:ln>
            <a:noFill/>
          </a:ln>
        </p:spPr>
        <p:txBody>
          <a:bodyPr/>
          <a:lstStyle/>
          <a:p>
            <a:endParaRPr/>
          </a:p>
        </p:txBody>
      </p:sp>
      <p:sp>
        <p:nvSpPr>
          <p:cNvPr id="604" name="Chev4"/>
          <p:cNvSpPr/>
          <p:nvPr/>
        </p:nvSpPr>
        <p:spPr>
          <a:xfrm>
            <a:off x="9639300" y="1397000"/>
            <a:ext cx="228600" cy="228600"/>
          </a:xfrm>
          <a:prstGeom prst="chevron">
            <a:avLst/>
          </a:prstGeom>
          <a:solidFill>
            <a:srgbClr val="16223A"/>
          </a:solidFill>
          <a:ln>
            <a:noFill/>
          </a:ln>
        </p:spPr>
        <p:txBody>
          <a:bodyPr/>
          <a:lstStyle/>
          <a:p>
            <a:endParaRPr/>
          </a:p>
        </p:txBody>
      </p:sp>
    </p:spTree>
    <p:extLst>
      <p:ext uri="{BB962C8B-B14F-4D97-AF65-F5344CB8AC3E}">
        <p14:creationId xmlns:p14="http://schemas.microsoft.com/office/powerpoint/2010/main" val="3269739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 dockstate="right" visibility="0" width="70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EF3B140A-9BA4-4381-9C7B-C36695731FE9}">
  <we:reference id="wa200010725" version="1.0.0.1" store="en-US" storeType="OMEX"/>
  <we:alternateReferences>
    <we:reference id="wa200010725" version="1.0.0.1" store="wa2000107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607</TotalTime>
  <Words>1775</Words>
  <Application>Microsoft Office PowerPoint</Application>
  <PresentationFormat>Widescreen</PresentationFormat>
  <Paragraphs>400</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20</cp:revision>
  <dcterms:created xsi:type="dcterms:W3CDTF">2026-06-10T16:14:03Z</dcterms:created>
  <dcterms:modified xsi:type="dcterms:W3CDTF">2026-09-02T22:05:21Z</dcterms:modified>
</cp:coreProperties>
</file>