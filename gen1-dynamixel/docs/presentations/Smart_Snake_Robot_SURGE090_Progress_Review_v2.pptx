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 id="314"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10"/>
  </p:normalViewPr>
  <p:slideViewPr>
    <p:cSldViewPr snapToGrid="0" snapToObjects="1">
      <p:cViewPr>
        <p:scale>
          <a:sx n="92" d="100"/>
          <a:sy n="92" d="100"/>
        </p:scale>
        <p:origin x="15" y="1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Open by saying the deck up to this point is unchanged from the 25 percent review and is being left that way deliberately - those slides are a record of what we believed then, not a claim about now. Then walk the register top to bottom. It takes about forty seconds and it pre-empts every 'but slide 10 says' interruption in the second half. Say the honest version of the pivot out loud: this was a procurement failure, not an engineering preference, and a re-architecture under a supply constraint is a legitimate result. The follow-up question a reviewer asks is 'where is your torque budget' - it is slide 23, and it did not exist at the 25 percent review.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Gen 1 trade study is not invalidated - its conclusion was smart bus servos, and that is what we still run. Only the vendor changed, and it changed for supply reasons, not engineering ones. The torque column is the favourable consequence: 5.7x more joint torque at the same joint count. The voltage change from 5 V to 12 V is what forced the power architecture rework on slide 24.</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single most important change is where control lives. In Generation 1 the Raspberry Pi was the controller and sat on the robot, tethered over USB to a U2D2. In Generation 2 the ESP32 on the Waveshare driver is the master, the Pi 5 moved off the robot entirely, and the link between them is ESP-NOW rather than a cable. That is what makes untethered operation possible. Compare this against the Generation 1 block diagram on slide 6 - the shape of the system is genuinely different, not just re-labelled.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Three ESP32s in total, two on the robot and one at the base. The important design point is that video and telemetry are separate radio links: ESP-NOW carries telemetry, ordinary WiFi will carry camera video. Do not try to push video through ESP-NOW - the payload cap is 250 bytes. The bring-up rail is honest: we are at ID assignment, not past 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This is the whole interface. Two register facts matter downstream: GOAL_POSITION is little-endian and 0-4095 with centre 2048, which is a 4x scale difference from the SC-series servos the Waveshare board ships configured for; and PRESENT_CURRENT at address 69 is how we detect a stall, at 6.5 mA per count with the sign in bit 15. The 1200 mA threshold in robot_config.py is still a placeholder and needs calibrating against a real stall.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headline is that these defects were found by measurement, not by inspection - the model enumerates every face at minimum z and asserts which ones they are. Print v6, not v4 and definitely not v5. The friction measurement in step 5 is the real unknown: every locomotion claim in this deck assumes anisotropic belly friction that has never been measured on a printed part.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load path point is that the motor shaft should not be carrying radial load - the F623ZZ bearing on the opposite face does that, and the horn only transfers torque. The retention fix matters more than it sounds: an interference fit that loosens turns into joint backlash, and backlash in a 10-joint chain compounds into a gait that will not track. This was found by measuring the pocket, not by looking at 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Two halves. The torque half is settled - 5.7 times more joint torque than Generation 1, and the head pod barely registers against it, so torque stopped being the limiting factor the moment we switched actuators. The friction half is not settled and I want to be explicit about that. A snake robot moves by having different friction across the body than along it. v4 and v5 got that backwards and also never touched the ground with the feature that was supposed to do it. v6 fixes both in CAD, but nobody has put a printed segment on a surface and measured the ratio. Until that happens, the gait is theory.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resolved part is the robot rail: a 3S pack sits inside the ST3215's 6.0 to 12.6 volt window, so it feeds the driver directly with no buck or boost anywhere in the path. That removes the whole conversion problem Generation 1 had at 5 volts. Two things are not resolved and both belong on the record. First, Waveshare rates this board 6 to 12 volts, and a fully charged 3S pack is 12.6 - so we are 0.6 volts over spec at the top of every charge cycle. Second, none of the three protection parts are held yet. The 27 amp figure is worst-case all-joints-stalled, not normal draw, but it is what sizes the fuse.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This is the slide I would rather not need. Five of the six cards are amber and they are all cheap - roughly 3600 rupees for the whole row. The reason it is on the deck rather than buried in a spreadsheet is that a 3S lithium polymer pack capable of 27 amps, with no fuse, no cell monitoring and no disconnect, is the one genuinely hazardous thing in this project. The sixth card is deliberate: the firmware current limit is real and it works, but software cannot protect against a short circuit. Nothing goes on the LiPo until the first three are fitted.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gait is a central pattern generator - a travelling sine wave with a fixed phase offset per joint, which is the standard lateral undulation formulation. The part worth drawing attention to is obstacle detection: there is no ultrasonic sensor and no rangefinder in the loop. The robot notices an obstacle because a joint draws more current than it should, which is proprioception rather than exteroception. That is elegant and it costs nothing in hardware, but the threshold is a guess until we measure a real stall on a real segment.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honest framing is that this is verification without hardware, which is worth a lot but is not the same as a working robot. The five green cards are real: the CAD model asserts its own ground-contact geometry, the Python stack runs a full gait in mock mode, the simulation covers the electronics, every firmware target builds, and the broadcast test moved all ten servos on the bench. The amber card is the point of the slide - nothing has been calibrated against a real stall current yet, and that is the next measurement.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Be direct about the sunk Gen 1 cost. The favourable point is that Gen 2 needs only consumables and safety parts and the grant covers it comfortably. The critical row is not optional - running a 3S LiPo with no fuse, no BMS and no disconnect is the one genuinely unsafe thing in this project. Verify the ST3215 purchase cost before presenting; the inventory lists them as held but records no price.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Open by naming slide 15 and saying plainly that it is superseded - do not let the audience find two roadmaps on their own and wonder which one is live. The eight phases here are the actual next steps from the hardware inventory, not a re-skin of the old plan. Phase 1 is where we are: the pack cannot go on the robot until the fuse, loop key and BMS are fitted. Close on phase 3, because it contains the one experiment everything else depends on - printing a v6 segment and measuring whether the belly friction is actually anisotropic. If it is not, the gait does not work and we would rather know that before printing ten more segments. Target for the next review is first translating locomotion on hardware, which is a milestone you can watch rather than a percentage you have to trust.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bhaveshbanshiwal/Snake_SURG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jpeg"/><Relationship Id="rId4" Type="http://schemas.openxmlformats.org/officeDocument/2006/relationships/image" Target="../media/image21.pn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2.png"/><Relationship Id="rId10" Type="http://schemas.openxmlformats.org/officeDocument/2006/relationships/image" Target="../media/image31.jpg"/><Relationship Id="rId4" Type="http://schemas.openxmlformats.org/officeDocument/2006/relationships/image" Target="../media/image11.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5.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svg"/><Relationship Id="rId1" Type="http://schemas.openxmlformats.org/officeDocument/2006/relationships/slideLayout" Target="../slideLayouts/slideLayout1.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Progress Review (Design &amp; Development)</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fontScale="77500" lnSpcReduction="20000"/>
          </a:bodyPr>
          <a:lstStyle/>
          <a:p>
            <a:r>
              <a:rPr lang="en-US" sz="1000" u="sng" dirty="0">
                <a:solidFill>
                  <a:srgbClr val="FFFFFF"/>
                </a:solidFill>
                <a:latin typeface="Calibri" pitchFamily="34" charset="0"/>
              </a:rPr>
              <a:t>https://github.com/shashankjangir/SurGe-090-Smart-snake-robot</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COMPLETION(till now)</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sp>
      <p:sp>
        <p:nvSpPr>
          <p:cNvPr id="14" name="Shape 12"/>
          <p:cNvSpPr/>
          <p:nvPr/>
        </p:nvSpPr>
        <p:spPr>
          <a:xfrm>
            <a:off x="1184148" y="3611880"/>
            <a:ext cx="352044" cy="310896"/>
          </a:xfrm>
          <a:prstGeom prst="roundRect">
            <a:avLst>
              <a:gd name="adj" fmla="val 14706"/>
            </a:avLst>
          </a:prstGeom>
          <a:solidFill>
            <a:srgbClr val="2BD4E8"/>
          </a:solidFill>
          <a:ln/>
        </p:spPr>
      </p:sp>
      <p:sp>
        <p:nvSpPr>
          <p:cNvPr id="15" name="Shape 13"/>
          <p:cNvSpPr/>
          <p:nvPr/>
        </p:nvSpPr>
        <p:spPr>
          <a:xfrm>
            <a:off x="1591056" y="3611880"/>
            <a:ext cx="352044" cy="310896"/>
          </a:xfrm>
          <a:prstGeom prst="roundRect">
            <a:avLst>
              <a:gd name="adj" fmla="val 14706"/>
            </a:avLst>
          </a:prstGeom>
          <a:solidFill>
            <a:srgbClr val="2A3958"/>
          </a:solidFill>
          <a:ln/>
        </p:spPr>
      </p:sp>
      <p:sp>
        <p:nvSpPr>
          <p:cNvPr id="16" name="Shape 14"/>
          <p:cNvSpPr/>
          <p:nvPr/>
        </p:nvSpPr>
        <p:spPr>
          <a:xfrm>
            <a:off x="1997964" y="3611880"/>
            <a:ext cx="352044" cy="310896"/>
          </a:xfrm>
          <a:prstGeom prst="roundRect">
            <a:avLst>
              <a:gd name="adj" fmla="val 14706"/>
            </a:avLst>
          </a:prstGeom>
          <a:solidFill>
            <a:srgbClr val="2A3958"/>
          </a:solidFill>
          <a:ln/>
        </p:spPr>
      </p:sp>
      <p:sp>
        <p:nvSpPr>
          <p:cNvPr id="17" name="Shape 15"/>
          <p:cNvSpPr/>
          <p:nvPr/>
        </p:nvSpPr>
        <p:spPr>
          <a:xfrm>
            <a:off x="2404872" y="3611880"/>
            <a:ext cx="352044" cy="310896"/>
          </a:xfrm>
          <a:prstGeom prst="roundRect">
            <a:avLst>
              <a:gd name="adj" fmla="val 14706"/>
            </a:avLst>
          </a:prstGeom>
          <a:solidFill>
            <a:srgbClr val="2A3958"/>
          </a:solidFill>
          <a:ln/>
        </p:spPr>
      </p:sp>
      <p:sp>
        <p:nvSpPr>
          <p:cNvPr id="18" name="Shape 16"/>
          <p:cNvSpPr/>
          <p:nvPr/>
        </p:nvSpPr>
        <p:spPr>
          <a:xfrm>
            <a:off x="2811780" y="3611880"/>
            <a:ext cx="352044" cy="310896"/>
          </a:xfrm>
          <a:prstGeom prst="roundRect">
            <a:avLst>
              <a:gd name="adj" fmla="val 14706"/>
            </a:avLst>
          </a:prstGeom>
          <a:solidFill>
            <a:srgbClr val="2A3958"/>
          </a:solidFill>
          <a:ln/>
        </p:spPr>
      </p:sp>
      <p:sp>
        <p:nvSpPr>
          <p:cNvPr id="19" name="Shape 17"/>
          <p:cNvSpPr/>
          <p:nvPr/>
        </p:nvSpPr>
        <p:spPr>
          <a:xfrm>
            <a:off x="3218688" y="3611880"/>
            <a:ext cx="352044" cy="310896"/>
          </a:xfrm>
          <a:prstGeom prst="roundRect">
            <a:avLst>
              <a:gd name="adj" fmla="val 14706"/>
            </a:avLst>
          </a:prstGeom>
          <a:solidFill>
            <a:srgbClr val="2A3958"/>
          </a:solidFill>
          <a:ln/>
        </p:spPr>
      </p:sp>
      <p:sp>
        <p:nvSpPr>
          <p:cNvPr id="20" name="Shape 18"/>
          <p:cNvSpPr/>
          <p:nvPr/>
        </p:nvSpPr>
        <p:spPr>
          <a:xfrm>
            <a:off x="3625596" y="3611880"/>
            <a:ext cx="352044" cy="310896"/>
          </a:xfrm>
          <a:prstGeom prst="roundRect">
            <a:avLst>
              <a:gd name="adj" fmla="val 14706"/>
            </a:avLst>
          </a:prstGeom>
          <a:solidFill>
            <a:srgbClr val="2A3958"/>
          </a:solidFill>
          <a:ln/>
        </p:spPr>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solidFill>
          <a:ln w="12700">
            <a:solidFill>
              <a:srgbClr val="E2E8F0"/>
            </a:solidFill>
            <a:prstDash val="solid"/>
          </a:ln>
        </p:spPr>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solidFill>
          <a:ln w="12700">
            <a:solidFill>
              <a:srgbClr val="E2E8F0"/>
            </a:solidFill>
            <a:prstDash val="solid"/>
          </a:ln>
        </p:spPr>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solidFill>
          <a:ln w="12700">
            <a:solidFill>
              <a:srgbClr val="E2E8F0"/>
            </a:solidFill>
            <a:prstDash val="solid"/>
          </a:ln>
        </p:spPr>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solidFill>
          <a:ln w="12700">
            <a:solidFill>
              <a:srgbClr val="E2E8F0"/>
            </a:solidFill>
            <a:prstDash val="solid"/>
          </a:ln>
        </p:spPr>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solidFill>
          <a:ln w="12700">
            <a:solidFill>
              <a:srgbClr val="E2E8F0"/>
            </a:solidFill>
            <a:prstDash val="solid"/>
          </a:ln>
        </p:spPr>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solidFill>
          <a:ln w="12700">
            <a:solidFill>
              <a:srgbClr val="E2E8F0"/>
            </a:solidFill>
            <a:prstDash val="solid"/>
          </a:ln>
        </p:spPr>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solidFill>
          <a:ln w="12700">
            <a:solidFill>
              <a:srgbClr val="E2E8F0"/>
            </a:solidFill>
            <a:prstDash val="solid"/>
          </a:ln>
        </p:spPr>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solidFill>
          <a:ln w="12700">
            <a:solidFill>
              <a:srgbClr val="E2E8F0"/>
            </a:solidFill>
            <a:prstDash val="solid"/>
          </a:ln>
        </p:spPr>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solidFill>
          <a:ln w="12700">
            <a:solidFill>
              <a:srgbClr val="E2E8F0"/>
            </a:solidFill>
            <a:prstDash val="solid"/>
          </a:ln>
        </p:spPr>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solidFill>
          <a:ln w="12700">
            <a:solidFill>
              <a:srgbClr val="E2E8F0"/>
            </a:solidFill>
            <a:prstDash val="solid"/>
          </a:ln>
        </p:spPr>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ECF1F6"/>
          </a:solidFill>
          <a:ln w="19050">
            <a:solidFill>
              <a:srgbClr val="0E96AC"/>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ECF1F6"/>
          </a:solidFill>
          <a:ln w="19050">
            <a:solidFill>
              <a:srgbClr val="0E96AC"/>
            </a:solidFill>
            <a:prstDash val="dash"/>
          </a:ln>
        </p:spPr>
      </p:sp>
      <p:sp>
        <p:nvSpPr>
          <p:cNvPr id="11" name="Shape 9"/>
          <p:cNvSpPr/>
          <p:nvPr/>
        </p:nvSpPr>
        <p:spPr>
          <a:xfrm>
            <a:off x="2651760" y="1920240"/>
            <a:ext cx="868680" cy="868680"/>
          </a:xfrm>
          <a:prstGeom prst="ellipse">
            <a:avLst/>
          </a:prstGeom>
          <a:solidFill>
            <a:srgbClr val="FFFFFF"/>
          </a:solidFill>
          <a:ln/>
        </p:spPr>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ECF1F6"/>
          </a:solidFill>
          <a:ln w="19050">
            <a:solidFill>
              <a:srgbClr val="E08A1E"/>
            </a:solidFill>
            <a:prstDash val="dash"/>
          </a:ln>
        </p:spPr>
      </p:sp>
      <p:sp>
        <p:nvSpPr>
          <p:cNvPr id="16" name="Shape 13"/>
          <p:cNvSpPr/>
          <p:nvPr/>
        </p:nvSpPr>
        <p:spPr>
          <a:xfrm>
            <a:off x="2651760" y="4233672"/>
            <a:ext cx="868680" cy="868680"/>
          </a:xfrm>
          <a:prstGeom prst="ellipse">
            <a:avLst/>
          </a:prstGeom>
          <a:solidFill>
            <a:srgbClr val="FFFFFF"/>
          </a:solidFill>
          <a:ln/>
        </p:spPr>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2" name="Shape 18"/>
          <p:cNvSpPr/>
          <p:nvPr/>
        </p:nvSpPr>
        <p:spPr>
          <a:xfrm>
            <a:off x="6144768" y="2276856"/>
            <a:ext cx="457200" cy="457200"/>
          </a:xfrm>
          <a:prstGeom prst="ellipse">
            <a:avLst/>
          </a:prstGeom>
          <a:solidFill>
            <a:srgbClr val="12A678"/>
          </a:solidFill>
          <a:ln/>
        </p:spPr>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8" name="Shape 23"/>
          <p:cNvSpPr/>
          <p:nvPr/>
        </p:nvSpPr>
        <p:spPr>
          <a:xfrm>
            <a:off x="6144768" y="3236976"/>
            <a:ext cx="457200" cy="457200"/>
          </a:xfrm>
          <a:prstGeom prst="ellipse">
            <a:avLst/>
          </a:prstGeom>
          <a:solidFill>
            <a:srgbClr val="12A678"/>
          </a:solidFill>
          <a:ln/>
        </p:spPr>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34" name="Shape 28"/>
          <p:cNvSpPr/>
          <p:nvPr/>
        </p:nvSpPr>
        <p:spPr>
          <a:xfrm>
            <a:off x="6144768" y="4197096"/>
            <a:ext cx="457200" cy="457200"/>
          </a:xfrm>
          <a:prstGeom prst="ellipse">
            <a:avLst/>
          </a:prstGeom>
          <a:solidFill>
            <a:srgbClr val="E08A1E"/>
          </a:solidFill>
          <a:ln/>
        </p:spPr>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40" name="Shape 33"/>
          <p:cNvSpPr/>
          <p:nvPr/>
        </p:nvSpPr>
        <p:spPr>
          <a:xfrm>
            <a:off x="6144768" y="5157216"/>
            <a:ext cx="457200" cy="457200"/>
          </a:xfrm>
          <a:prstGeom prst="ellipse">
            <a:avLst/>
          </a:prstGeom>
          <a:solidFill>
            <a:srgbClr val="E08A1E"/>
          </a:solidFill>
          <a:ln/>
        </p:spPr>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300" name="LeftBg"/>
          <p:cNvSpPr/>
          <p:nvPr/>
        </p:nvSpPr>
        <p:spPr>
          <a:xfrm>
            <a:off x="101600" y="787400"/>
            <a:ext cx="4699000" cy="5943600"/>
          </a:xfrm>
          <a:prstGeom prst="roundRect">
            <a:avLst>
              <a:gd name="adj" fmla="val 3000"/>
            </a:avLst>
          </a:prstGeom>
          <a:solidFill>
            <a:srgbClr val="F4F7FB"/>
          </a:solidFill>
          <a:ln w="9525">
            <a:solidFill>
              <a:srgbClr val="DDE5F0"/>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8FAFC"/>
          </a:solidFill>
          <a:ln>
            <a:no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8FAFC"/>
          </a:solidFill>
          <a:ln>
            <a:no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8FAFC"/>
          </a:solidFill>
          <a:ln>
            <a:no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solidFill>
          <a:ln w="15875">
            <a:solidFill>
              <a:srgbClr val="0E96AC"/>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solidFill>
          <a:ln w="15875">
            <a:solidFill>
              <a:srgbClr val="0E96AC"/>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16223A"/>
          </a:solidFill>
          <a:ln/>
        </p:spPr>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0E96AC"/>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2A678"/>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08A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0E96AC"/>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2A678"/>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08A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10" name="TopBar"/>
          <p:cNvSpPr>
            <a:spLocks noGrp="1"/>
          </p:cNvSpPr>
          <p:nvPr/>
        </p:nvSpPr>
        <p:spPr>
          <a:xfrm>
            <a:off x="0" y="0"/>
            <a:ext cx="12192000" cy="76200"/>
          </a:xfrm>
          <a:prstGeom prst="rect">
            <a:avLst/>
          </a:prstGeom>
          <a:solidFill>
            <a:srgbClr val="0E96AC"/>
          </a:solidFill>
          <a:ln>
            <a:noFill/>
          </a:ln>
        </p:spPr>
        <p:txBody>
          <a:bodyPr/>
          <a:lstStyle/>
          <a:p>
            <a:endParaRPr/>
          </a:p>
        </p:txBody>
      </p:sp>
      <p:sp>
        <p:nvSpPr>
          <p:cNvPr id="11" name="Eyebrow"/>
          <p:cNvSpPr>
            <a:spLocks noGrp="1"/>
          </p:cNvSpPr>
          <p:nvPr/>
        </p:nvSpPr>
        <p:spPr>
          <a:xfrm>
            <a:off x="533400" y="177800"/>
            <a:ext cx="8890000" cy="228600"/>
          </a:xfrm>
          <a:prstGeom prst="rect">
            <a:avLst/>
          </a:prstGeom>
          <a:noFill/>
          <a:ln>
            <a:noFill/>
          </a:ln>
        </p:spPr>
        <p:txBody>
          <a:bodyPr/>
          <a:lstStyle/>
          <a:p>
            <a:pPr marL="0" indent="0" algn="l">
              <a:buNone/>
            </a:pPr>
            <a:r>
              <a:rPr lang="en-IN" sz="1100" b="1" dirty="0">
                <a:solidFill>
                  <a:srgbClr val="0E96AC"/>
                </a:solidFill>
                <a:latin typeface="Calibri" pitchFamily="34" charset="0"/>
              </a:rPr>
              <a:t>SIMULATION &amp; VALIDATION</a:t>
            </a:r>
          </a:p>
        </p:txBody>
      </p:sp>
      <p:sp>
        <p:nvSpPr>
          <p:cNvPr id="12" name="AccentLine"/>
          <p:cNvSpPr>
            <a:spLocks noGrp="1"/>
          </p:cNvSpPr>
          <p:nvPr/>
        </p:nvSpPr>
        <p:spPr>
          <a:xfrm>
            <a:off x="533400" y="431800"/>
            <a:ext cx="11125200" cy="12700"/>
          </a:xfrm>
          <a:prstGeom prst="rect">
            <a:avLst/>
          </a:prstGeom>
          <a:solidFill>
            <a:srgbClr val="0E96AC"/>
          </a:solidFill>
          <a:ln>
            <a:noFill/>
          </a:ln>
        </p:spPr>
        <p:txBody>
          <a:bodyPr/>
          <a:lstStyle/>
          <a:p>
            <a:endParaRPr/>
          </a:p>
        </p:txBody>
      </p:sp>
      <p:sp>
        <p:nvSpPr>
          <p:cNvPr id="13" name="MainTitle"/>
          <p:cNvSpPr>
            <a:spLocks noGrp="1"/>
          </p:cNvSpPr>
          <p:nvPr/>
        </p:nvSpPr>
        <p:spPr>
          <a:xfrm>
            <a:off x="533400" y="508000"/>
            <a:ext cx="10160000" cy="508000"/>
          </a:xfrm>
          <a:prstGeom prst="rect">
            <a:avLst/>
          </a:prstGeom>
          <a:noFill/>
          <a:ln>
            <a:noFill/>
          </a:ln>
        </p:spPr>
        <p:txBody>
          <a:bodyPr/>
          <a:lstStyle/>
          <a:p>
            <a:pPr marL="0" indent="0" algn="l">
              <a:buNone/>
            </a:pPr>
            <a:r>
              <a:rPr lang="en-IN" sz="2400" b="1" dirty="0">
                <a:solidFill>
                  <a:srgbClr val="16223A"/>
                </a:solidFill>
                <a:latin typeface="Calibri" pitchFamily="34" charset="0"/>
              </a:rPr>
              <a:t>Simulation-Based Validation of Control Architecture</a:t>
            </a:r>
          </a:p>
        </p:txBody>
      </p:sp>
      <p:pic>
        <p:nvPicPr>
          <p:cNvPr id="2" name="Picture 1">
            <a:extLst>
              <a:ext uri="{FF2B5EF4-FFF2-40B4-BE49-F238E27FC236}">
                <a16:creationId xmlns:a16="http://schemas.microsoft.com/office/drawing/2014/main" id="{FF57F7DB-A372-8BEE-AF61-AC58FDC57F17}"/>
              </a:ext>
            </a:extLst>
          </p:cNvPr>
          <p:cNvPicPr>
            <a:picLocks noChangeAspect="1"/>
          </p:cNvPicPr>
          <p:nvPr/>
        </p:nvPicPr>
        <p:blipFill>
          <a:blip r:embed="rId2"/>
          <a:stretch>
            <a:fillRect/>
          </a:stretch>
        </p:blipFill>
        <p:spPr>
          <a:xfrm>
            <a:off x="533400" y="1270000"/>
            <a:ext cx="6350000" cy="4772421"/>
          </a:xfrm>
          <a:prstGeom prst="rect">
            <a:avLst/>
          </a:prstGeom>
        </p:spPr>
      </p:pic>
      <p:sp>
        <p:nvSpPr>
          <p:cNvPr id="3" name="ImgFrame">
            <a:extLst>
              <a:ext uri="{FF2B5EF4-FFF2-40B4-BE49-F238E27FC236}">
                <a16:creationId xmlns:a16="http://schemas.microsoft.com/office/drawing/2014/main" id="{4BAB2F69-E5D7-47C1-A740-AD4ADA6781C8}"/>
              </a:ext>
            </a:extLst>
          </p:cNvPr>
          <p:cNvSpPr/>
          <p:nvPr/>
        </p:nvSpPr>
        <p:spPr>
          <a:xfrm>
            <a:off x="520700" y="1257300"/>
            <a:ext cx="6375400" cy="4800600"/>
          </a:xfrm>
          <a:prstGeom prst="rect">
            <a:avLst/>
          </a:prstGeom>
          <a:no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Caption">
            <a:extLst>
              <a:ext uri="{FF2B5EF4-FFF2-40B4-BE49-F238E27FC236}">
                <a16:creationId xmlns:a16="http://schemas.microsoft.com/office/drawing/2014/main" id="{0A70087A-913A-4173-8A2B-10264A92E2F2}"/>
              </a:ext>
            </a:extLst>
          </p:cNvPr>
          <p:cNvSpPr txBox="1"/>
          <p:nvPr/>
        </p:nvSpPr>
        <p:spPr>
          <a:xfrm>
            <a:off x="533400" y="6121400"/>
            <a:ext cx="6350000" cy="584200"/>
          </a:xfrm>
          <a:prstGeom prst="rect">
            <a:avLst/>
          </a:prstGeom>
          <a:noFill/>
        </p:spPr>
        <p:txBody>
          <a:bodyPr vertOverflow="overflow" vert="horz" wrap="square" rtlCol="0" anchor="t" anchorCtr="0">
            <a:spAutoFit/>
          </a:bodyPr>
          <a:lstStyle/>
          <a:p>
            <a:pPr algn="l"/>
            <a:r>
              <a:rPr lang="en-US" sz="1050" i="1">
                <a:solidFill>
                  <a:srgbClr val="6B7280"/>
                </a:solidFill>
                <a:latin typeface="Calibri"/>
                <a:ea typeface="Calibri"/>
                <a:cs typeface="Calibri"/>
              </a:rPr>
              <a:t>Wokwi-based simulation environment developed to validate locomotion control, sensor integration, and communication architecture before physical Dynamixel hardware arrival.</a:t>
            </a:r>
            <a:endParaRPr lang="en-IN" sz="1050" i="1">
              <a:solidFill>
                <a:srgbClr val="6B7280"/>
              </a:solidFill>
              <a:latin typeface="Calibri"/>
              <a:ea typeface="Calibri"/>
              <a:cs typeface="Calibri"/>
            </a:endParaRPr>
          </a:p>
        </p:txBody>
      </p:sp>
      <p:sp>
        <p:nvSpPr>
          <p:cNvPr id="5" name="ColSep">
            <a:extLst>
              <a:ext uri="{FF2B5EF4-FFF2-40B4-BE49-F238E27FC236}">
                <a16:creationId xmlns:a16="http://schemas.microsoft.com/office/drawing/2014/main" id="{F4B4824F-43FB-40F3-A930-950484DEE059}"/>
              </a:ext>
            </a:extLst>
          </p:cNvPr>
          <p:cNvSpPr/>
          <p:nvPr/>
        </p:nvSpPr>
        <p:spPr>
          <a:xfrm>
            <a:off x="7010400" y="1219200"/>
            <a:ext cx="12700" cy="5486400"/>
          </a:xfrm>
          <a:prstGeom prst="rect">
            <a:avLst/>
          </a:prstGeom>
          <a:solidFill>
            <a:srgbClr val="D0D7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ObjBar">
            <a:extLst>
              <a:ext uri="{FF2B5EF4-FFF2-40B4-BE49-F238E27FC236}">
                <a16:creationId xmlns:a16="http://schemas.microsoft.com/office/drawing/2014/main" id="{178EDC1E-CA49-4444-807D-C176B8B794B6}"/>
              </a:ext>
            </a:extLst>
          </p:cNvPr>
          <p:cNvSpPr/>
          <p:nvPr/>
        </p:nvSpPr>
        <p:spPr>
          <a:xfrm>
            <a:off x="7112000" y="1270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SIMULATION OBJECTIVE</a:t>
            </a:r>
          </a:p>
        </p:txBody>
      </p:sp>
      <p:sp>
        <p:nvSpPr>
          <p:cNvPr id="7" name="ObjText">
            <a:extLst>
              <a:ext uri="{FF2B5EF4-FFF2-40B4-BE49-F238E27FC236}">
                <a16:creationId xmlns:a16="http://schemas.microsoft.com/office/drawing/2014/main" id="{AB2E6402-3A0B-4197-BB71-81ED271D7DB2}"/>
              </a:ext>
            </a:extLst>
          </p:cNvPr>
          <p:cNvSpPr txBox="1"/>
          <p:nvPr/>
        </p:nvSpPr>
        <p:spPr>
          <a:xfrm>
            <a:off x="7112000" y="1549400"/>
            <a:ext cx="4546600" cy="812800"/>
          </a:xfrm>
          <a:prstGeom prst="rect">
            <a:avLst/>
          </a:prstGeom>
          <a:noFill/>
        </p:spPr>
        <p:txBody>
          <a:bodyPr vertOverflow="overflow" vert="horz" wrap="square" rtlCol="0" anchor="t" anchorCtr="0">
            <a:spAutoFit/>
          </a:bodyPr>
          <a:lstStyle/>
          <a:p>
            <a:pPr algn="l"/>
            <a:r>
              <a:rPr lang="en-US" sz="1050">
                <a:solidFill>
                  <a:srgbClr val="16223A"/>
                </a:solidFill>
                <a:latin typeface="Calibri"/>
                <a:ea typeface="Calibri"/>
                <a:cs typeface="Calibri"/>
              </a:rPr>
              <a:t>A virtual testing platform to validate the control architecture before Dynamixel actuators and communication hardware arrive — enabling software development, algorithm verification, and sensor integration in parallel with procurement.</a:t>
            </a:r>
            <a:endParaRPr lang="en-IN" sz="1050">
              <a:solidFill>
                <a:srgbClr val="16223A"/>
              </a:solidFill>
              <a:latin typeface="Calibri"/>
              <a:ea typeface="Calibri"/>
              <a:cs typeface="Calibri"/>
            </a:endParaRPr>
          </a:p>
        </p:txBody>
      </p:sp>
      <p:sp>
        <p:nvSpPr>
          <p:cNvPr id="8" name="CompBar">
            <a:extLst>
              <a:ext uri="{FF2B5EF4-FFF2-40B4-BE49-F238E27FC236}">
                <a16:creationId xmlns:a16="http://schemas.microsoft.com/office/drawing/2014/main" id="{13A72280-DA83-4A91-A182-E29B80090FB4}"/>
              </a:ext>
            </a:extLst>
          </p:cNvPr>
          <p:cNvSpPr/>
          <p:nvPr/>
        </p:nvSpPr>
        <p:spPr>
          <a:xfrm>
            <a:off x="7112000" y="2413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COMPONENTS SIMULATED</a:t>
            </a:r>
          </a:p>
        </p:txBody>
      </p:sp>
      <p:pic>
        <p:nvPicPr>
          <p:cNvPr id="14" name="Graphic 14" descr="Controll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0600" y="2743200"/>
            <a:ext cx="330200" cy="330200"/>
          </a:xfrm>
          <a:prstGeom prst="rect">
            <a:avLst/>
          </a:prstGeom>
        </p:spPr>
      </p:pic>
      <p:pic>
        <p:nvPicPr>
          <p:cNvPr id="15" name="Graphic 15" descr="Sensor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3600" y="2743200"/>
            <a:ext cx="330200" cy="330200"/>
          </a:xfrm>
          <a:prstGeom prst="rect">
            <a:avLst/>
          </a:prstGeom>
        </p:spPr>
      </p:pic>
      <p:pic>
        <p:nvPicPr>
          <p:cNvPr id="16" name="Graphic 16" descr="Displa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26600" y="2743200"/>
            <a:ext cx="330200" cy="330200"/>
          </a:xfrm>
          <a:prstGeom prst="rect">
            <a:avLst/>
          </a:prstGeom>
        </p:spPr>
      </p:pic>
      <p:pic>
        <p:nvPicPr>
          <p:cNvPr id="17" name="Graphic 17" descr="Actuator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69600" y="2743200"/>
            <a:ext cx="330200" cy="330200"/>
          </a:xfrm>
          <a:prstGeom prst="rect">
            <a:avLst/>
          </a:prstGeom>
        </p:spPr>
      </p:pic>
      <p:sp>
        <p:nvSpPr>
          <p:cNvPr id="9" name="TextBox 8">
            <a:extLst>
              <a:ext uri="{FF2B5EF4-FFF2-40B4-BE49-F238E27FC236}">
                <a16:creationId xmlns:a16="http://schemas.microsoft.com/office/drawing/2014/main" id="{F14FDCAF-EA1B-4688-86EC-4FDF39171679}"/>
              </a:ext>
            </a:extLst>
          </p:cNvPr>
          <p:cNvSpPr txBox="1"/>
          <p:nvPr/>
        </p:nvSpPr>
        <p:spPr>
          <a:xfrm>
            <a:off x="6946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Controller</a:t>
            </a:r>
          </a:p>
        </p:txBody>
      </p:sp>
      <p:sp>
        <p:nvSpPr>
          <p:cNvPr id="18" name="TextBox 17">
            <a:extLst>
              <a:ext uri="{FF2B5EF4-FFF2-40B4-BE49-F238E27FC236}">
                <a16:creationId xmlns:a16="http://schemas.microsoft.com/office/drawing/2014/main" id="{BCAC9736-26F2-4544-A0F4-600AE742E3F5}"/>
              </a:ext>
            </a:extLst>
          </p:cNvPr>
          <p:cNvSpPr txBox="1"/>
          <p:nvPr/>
        </p:nvSpPr>
        <p:spPr>
          <a:xfrm>
            <a:off x="8089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Sensors</a:t>
            </a:r>
          </a:p>
        </p:txBody>
      </p:sp>
      <p:sp>
        <p:nvSpPr>
          <p:cNvPr id="19" name="TextBox 18">
            <a:extLst>
              <a:ext uri="{FF2B5EF4-FFF2-40B4-BE49-F238E27FC236}">
                <a16:creationId xmlns:a16="http://schemas.microsoft.com/office/drawing/2014/main" id="{73C8DB26-9565-46C7-9618-2E76312967B5}"/>
              </a:ext>
            </a:extLst>
          </p:cNvPr>
          <p:cNvSpPr txBox="1"/>
          <p:nvPr/>
        </p:nvSpPr>
        <p:spPr>
          <a:xfrm>
            <a:off x="9232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Display</a:t>
            </a:r>
          </a:p>
        </p:txBody>
      </p:sp>
      <p:sp>
        <p:nvSpPr>
          <p:cNvPr id="20" name="TextBox 19">
            <a:extLst>
              <a:ext uri="{FF2B5EF4-FFF2-40B4-BE49-F238E27FC236}">
                <a16:creationId xmlns:a16="http://schemas.microsoft.com/office/drawing/2014/main" id="{943EA61A-F56F-4D25-A1D6-D7B8CDF5A8FC}"/>
              </a:ext>
            </a:extLst>
          </p:cNvPr>
          <p:cNvSpPr txBox="1"/>
          <p:nvPr/>
        </p:nvSpPr>
        <p:spPr>
          <a:xfrm>
            <a:off x="10375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Actuators</a:t>
            </a:r>
          </a:p>
        </p:txBody>
      </p:sp>
      <p:sp>
        <p:nvSpPr>
          <p:cNvPr id="21" name="CompSub">
            <a:extLst>
              <a:ext uri="{FF2B5EF4-FFF2-40B4-BE49-F238E27FC236}">
                <a16:creationId xmlns:a16="http://schemas.microsoft.com/office/drawing/2014/main" id="{E9BA4A95-644D-43CC-86B7-250148BF0C59}"/>
              </a:ext>
            </a:extLst>
          </p:cNvPr>
          <p:cNvSpPr txBox="1"/>
          <p:nvPr/>
        </p:nvSpPr>
        <p:spPr>
          <a:xfrm>
            <a:off x="7112000" y="3327400"/>
            <a:ext cx="4546600" cy="330200"/>
          </a:xfrm>
          <a:prstGeom prst="rect">
            <a:avLst/>
          </a:prstGeom>
          <a:noFill/>
        </p:spPr>
        <p:txBody>
          <a:bodyPr vertOverflow="overflow" vert="horz" wrap="square" rtlCol="0" anchor="t" anchorCtr="0">
            <a:spAutoFit/>
          </a:bodyPr>
          <a:lstStyle/>
          <a:p>
            <a:pPr algn="l"/>
            <a:r>
              <a:rPr lang="en-IN" sz="900" i="1">
                <a:solidFill>
                  <a:srgbClr val="6B7280"/>
                </a:solidFill>
                <a:latin typeface="Calibri"/>
                <a:ea typeface="Calibri"/>
                <a:cs typeface="Calibri"/>
              </a:rPr>
              <a:t>ESP32 · 5-Servo joint network · MPU6050 IMU · HC-SR04 ultrasonic · SSD1306 OLED · control &amp; communication framework</a:t>
            </a:r>
          </a:p>
        </p:txBody>
      </p:sp>
      <p:sp>
        <p:nvSpPr>
          <p:cNvPr id="22" name="ValBar">
            <a:extLst>
              <a:ext uri="{FF2B5EF4-FFF2-40B4-BE49-F238E27FC236}">
                <a16:creationId xmlns:a16="http://schemas.microsoft.com/office/drawing/2014/main" id="{969CB65F-F6A4-423C-A59B-AAE9CC13FF12}"/>
              </a:ext>
            </a:extLst>
          </p:cNvPr>
          <p:cNvSpPr/>
          <p:nvPr/>
        </p:nvSpPr>
        <p:spPr>
          <a:xfrm>
            <a:off x="7112000" y="37084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FUNCTIONAL VALIDATION COMPLETED</a:t>
            </a:r>
          </a:p>
        </p:txBody>
      </p:sp>
      <p:sp>
        <p:nvSpPr>
          <p:cNvPr id="23" name="BenBar">
            <a:extLst>
              <a:ext uri="{FF2B5EF4-FFF2-40B4-BE49-F238E27FC236}">
                <a16:creationId xmlns:a16="http://schemas.microsoft.com/office/drawing/2014/main" id="{17226090-79FF-4BDE-85B8-E78705648C85}"/>
              </a:ext>
            </a:extLst>
          </p:cNvPr>
          <p:cNvSpPr/>
          <p:nvPr/>
        </p:nvSpPr>
        <p:spPr>
          <a:xfrm>
            <a:off x="7112000" y="52832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ENGINEERING BENEFITS</a:t>
            </a:r>
          </a:p>
        </p:txBody>
      </p:sp>
      <p:sp>
        <p:nvSpPr>
          <p:cNvPr id="24" name="ValList">
            <a:extLst>
              <a:ext uri="{FF2B5EF4-FFF2-40B4-BE49-F238E27FC236}">
                <a16:creationId xmlns:a16="http://schemas.microsoft.com/office/drawing/2014/main" id="{8F2F53C0-A6EB-4C72-B492-9B0DAB6755D0}"/>
              </a:ext>
            </a:extLst>
          </p:cNvPr>
          <p:cNvSpPr txBox="1"/>
          <p:nvPr/>
        </p:nvSpPr>
        <p:spPr>
          <a:xfrm>
            <a:off x="7112000" y="3987800"/>
            <a:ext cx="4546600" cy="1244600"/>
          </a:xfrm>
          <a:prstGeom prst="rect">
            <a:avLst/>
          </a:prstGeom>
          <a:noFill/>
        </p:spPr>
        <p:txBody>
          <a:bodyPr vertOverflow="overflow" vert="horz" wrap="square" rtlCol="0" anchor="t" anchorCtr="0">
            <a:noAutofit/>
          </a:bodyPr>
          <a:lstStyle/>
          <a:p>
            <a:pPr marL="170000" indent="-170000">
              <a:lnSpc>
                <a:spcPts val="1380"/>
              </a:lnSpc>
              <a:spcAft>
                <a:spcPts val="200"/>
              </a:spcAft>
              <a:buClr>
                <a:srgbClr val="1F9D55"/>
              </a:buClr>
              <a:buFont typeface="Arial"/>
              <a:buChar char="✓"/>
            </a:pPr>
            <a:r>
              <a:rPr lang="en-IN" sz="1000" dirty="0">
                <a:solidFill>
                  <a:srgbClr val="16223A"/>
                </a:solidFill>
                <a:latin typeface="Calibri"/>
              </a:rPr>
              <a:t>Multi-joint servo coordination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Travelling-wave serpentine gait generation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Obstacle detection via ultrasonic sensing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IMU integration for orientation feedback</a:t>
            </a:r>
          </a:p>
          <a:p>
            <a:pPr marL="170000" indent="-170000">
              <a:lnSpc>
                <a:spcPts val="1380"/>
              </a:lnSpc>
              <a:spcAft>
                <a:spcPts val="200"/>
              </a:spcAft>
              <a:buClr>
                <a:srgbClr val="1F9D55"/>
              </a:buClr>
              <a:buFont typeface="Arial"/>
              <a:buChar char="✓"/>
            </a:pPr>
            <a:r>
              <a:rPr lang="en-IN" sz="1000" dirty="0">
                <a:solidFill>
                  <a:srgbClr val="16223A"/>
                </a:solidFill>
                <a:latin typeface="Calibri"/>
              </a:rPr>
              <a:t>OLED-based system status monitoring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Sensor–controller–actuator communication</a:t>
            </a:r>
          </a:p>
        </p:txBody>
      </p:sp>
      <p:sp>
        <p:nvSpPr>
          <p:cNvPr id="25" name="BenList">
            <a:extLst>
              <a:ext uri="{FF2B5EF4-FFF2-40B4-BE49-F238E27FC236}">
                <a16:creationId xmlns:a16="http://schemas.microsoft.com/office/drawing/2014/main" id="{FF6D1A2A-EA57-464C-91D6-7133350B2A9C}"/>
              </a:ext>
            </a:extLst>
          </p:cNvPr>
          <p:cNvSpPr txBox="1"/>
          <p:nvPr/>
        </p:nvSpPr>
        <p:spPr>
          <a:xfrm>
            <a:off x="7112000" y="5562600"/>
            <a:ext cx="4546600" cy="609600"/>
          </a:xfrm>
          <a:prstGeom prst="rect">
            <a:avLst/>
          </a:prstGeom>
          <a:noFill/>
        </p:spPr>
        <p:txBody>
          <a:bodyPr vertOverflow="overflow" vert="horz" wrap="square" rtlCol="0" anchor="t" anchorCtr="0">
            <a:noAutofit/>
          </a:bodyPr>
          <a:lstStyle/>
          <a:p>
            <a:pPr marL="150000" indent="-150000">
              <a:lnSpc>
                <a:spcPts val="1180"/>
              </a:lnSpc>
              <a:spcAft>
                <a:spcPts val="150"/>
              </a:spcAft>
              <a:buFont typeface="Arial"/>
              <a:buChar char="•"/>
            </a:pPr>
            <a:r>
              <a:rPr lang="en-IN" sz="950" dirty="0">
                <a:solidFill>
                  <a:srgbClr val="16223A"/>
                </a:solidFill>
                <a:latin typeface="Calibri"/>
              </a:rPr>
              <a:t>Reduced dependence on hardware delivery timelines</a:t>
            </a:r>
          </a:p>
          <a:p>
            <a:pPr marL="150000" indent="-150000">
              <a:lnSpc>
                <a:spcPts val="1180"/>
              </a:lnSpc>
              <a:spcAft>
                <a:spcPts val="150"/>
              </a:spcAft>
              <a:buFont typeface="Arial"/>
              <a:buChar char="•"/>
            </a:pPr>
            <a:r>
              <a:rPr lang="en-IN" sz="950" dirty="0">
                <a:solidFill>
                  <a:srgbClr val="16223A"/>
                </a:solidFill>
                <a:latin typeface="Calibri"/>
              </a:rPr>
              <a:t>Enabled early software debugging &amp; control-architecture verification</a:t>
            </a:r>
          </a:p>
          <a:p>
            <a:pPr marL="150000" indent="-150000">
              <a:lnSpc>
                <a:spcPts val="1180"/>
              </a:lnSpc>
              <a:spcAft>
                <a:spcPts val="150"/>
              </a:spcAft>
              <a:buFont typeface="Arial"/>
              <a:buChar char="•"/>
            </a:pPr>
            <a:r>
              <a:rPr lang="en-IN" sz="950" dirty="0">
                <a:solidFill>
                  <a:srgbClr val="16223A"/>
                </a:solidFill>
                <a:latin typeface="Calibri"/>
              </a:rPr>
              <a:t>Established migration path to Raspberry Pi 5 + Dynamixel XL330, reducing integration risk</a:t>
            </a:r>
          </a:p>
        </p:txBody>
      </p:sp>
      <p:sp>
        <p:nvSpPr>
          <p:cNvPr id="26" name="OutcomeBox">
            <a:extLst>
              <a:ext uri="{FF2B5EF4-FFF2-40B4-BE49-F238E27FC236}">
                <a16:creationId xmlns:a16="http://schemas.microsoft.com/office/drawing/2014/main" id="{A1111AB1-B2DD-4A6B-94F7-1E0F10B973B3}"/>
              </a:ext>
            </a:extLst>
          </p:cNvPr>
          <p:cNvSpPr/>
          <p:nvPr/>
        </p:nvSpPr>
        <p:spPr>
          <a:xfrm>
            <a:off x="7112000" y="6248400"/>
            <a:ext cx="4546600" cy="508000"/>
          </a:xfrm>
          <a:prstGeom prst="rect">
            <a:avLst/>
          </a:prstGeom>
          <a:solidFill>
            <a:srgbClr val="EAF7FA"/>
          </a:solid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buNone/>
            </a:pPr>
            <a:r>
              <a:rPr lang="en-IN" sz="950" b="1" dirty="0">
                <a:solidFill>
                  <a:srgbClr val="0A7A8E"/>
                </a:solidFill>
                <a:latin typeface="Calibri"/>
              </a:rPr>
              <a:t>KEY OUTCOME  </a:t>
            </a:r>
            <a:r>
              <a:rPr lang="en-IN" sz="950" dirty="0">
                <a:solidFill>
                  <a:srgbClr val="16223A"/>
                </a:solidFill>
                <a:latin typeface="Calibri"/>
              </a:rPr>
              <a:t>A complete software-validation framework was developed, allowing locomotion, sensing, and control workflows to be tested before physical robot assembly.</a:t>
            </a:r>
          </a:p>
        </p:txBody>
      </p:sp>
    </p:spTree>
    <p:extLst>
      <p:ext uri="{BB962C8B-B14F-4D97-AF65-F5344CB8AC3E}">
        <p14:creationId xmlns:p14="http://schemas.microsoft.com/office/powerpoint/2010/main" val="3745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opBar">
            <a:extLst>
              <a:ext uri="{FF2B5EF4-FFF2-40B4-BE49-F238E27FC236}">
                <a16:creationId xmlns:a16="http://schemas.microsoft.com/office/drawing/2014/main" id="{30ED9168-1A8D-46D3-AF26-084DB3ADAA2A}"/>
              </a:ext>
            </a:extLst>
          </p:cNvPr>
          <p:cNvSpPr/>
          <p:nvPr/>
        </p:nvSpPr>
        <p:spPr>
          <a:xfrm>
            <a:off x="0" y="0"/>
            <a:ext cx="12192000" cy="762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Eyebrow">
            <a:extLst>
              <a:ext uri="{FF2B5EF4-FFF2-40B4-BE49-F238E27FC236}">
                <a16:creationId xmlns:a16="http://schemas.microsoft.com/office/drawing/2014/main" id="{18DBE4B9-D6CE-44B5-B1C7-914B242C66E1}"/>
              </a:ext>
            </a:extLst>
          </p:cNvPr>
          <p:cNvSpPr txBox="1"/>
          <p:nvPr/>
        </p:nvSpPr>
        <p:spPr>
          <a:xfrm>
            <a:off x="533400" y="177800"/>
            <a:ext cx="8890000" cy="228600"/>
          </a:xfrm>
          <a:prstGeom prst="rect">
            <a:avLst/>
          </a:prstGeom>
          <a:noFill/>
        </p:spPr>
        <p:txBody>
          <a:bodyPr vertOverflow="overflow" vert="horz" wrap="square" rtlCol="0" anchor="ctr" anchorCtr="0">
            <a:spAutoFit/>
          </a:bodyPr>
          <a:lstStyle/>
          <a:p>
            <a:pPr algn="l"/>
            <a:r>
              <a:rPr lang="en-IN" sz="1100" b="1">
                <a:solidFill>
                  <a:srgbClr val="0E96AC"/>
                </a:solidFill>
                <a:latin typeface="Calibri"/>
                <a:ea typeface="Calibri"/>
                <a:cs typeface="Calibri"/>
              </a:rPr>
              <a:t>FUTURE WORK &amp; DEVELOPMENT ROADMAP</a:t>
            </a:r>
          </a:p>
        </p:txBody>
      </p:sp>
      <p:sp>
        <p:nvSpPr>
          <p:cNvPr id="4" name="AccentLine">
            <a:extLst>
              <a:ext uri="{FF2B5EF4-FFF2-40B4-BE49-F238E27FC236}">
                <a16:creationId xmlns:a16="http://schemas.microsoft.com/office/drawing/2014/main" id="{442F3D03-E326-4CE5-A515-22A546C90469}"/>
              </a:ext>
            </a:extLst>
          </p:cNvPr>
          <p:cNvSpPr/>
          <p:nvPr/>
        </p:nvSpPr>
        <p:spPr>
          <a:xfrm>
            <a:off x="533400" y="431800"/>
            <a:ext cx="11125200" cy="127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MainTitle">
            <a:extLst>
              <a:ext uri="{FF2B5EF4-FFF2-40B4-BE49-F238E27FC236}">
                <a16:creationId xmlns:a16="http://schemas.microsoft.com/office/drawing/2014/main" id="{5EE60894-65EF-4387-A4AF-239835B25496}"/>
              </a:ext>
            </a:extLst>
          </p:cNvPr>
          <p:cNvSpPr txBox="1"/>
          <p:nvPr/>
        </p:nvSpPr>
        <p:spPr>
          <a:xfrm>
            <a:off x="533400" y="508000"/>
            <a:ext cx="11125200" cy="508000"/>
          </a:xfrm>
          <a:prstGeom prst="rect">
            <a:avLst/>
          </a:prstGeom>
          <a:noFill/>
        </p:spPr>
        <p:txBody>
          <a:bodyPr vertOverflow="overflow" vert="horz" wrap="square" rtlCol="0" anchor="ctr" anchorCtr="0">
            <a:spAutoFit/>
          </a:bodyPr>
          <a:lstStyle/>
          <a:p>
            <a:pPr algn="l"/>
            <a:r>
              <a:rPr lang="en-US" sz="2400" b="1">
                <a:solidFill>
                  <a:srgbClr val="16223A"/>
                </a:solidFill>
                <a:latin typeface="Calibri"/>
                <a:ea typeface="Calibri"/>
                <a:cs typeface="Calibri"/>
              </a:rPr>
              <a:t>Planned Activities for the Next Development Phase</a:t>
            </a:r>
            <a:endParaRPr lang="en-IN" sz="2400" b="1">
              <a:solidFill>
                <a:srgbClr val="16223A"/>
              </a:solidFill>
              <a:latin typeface="Calibri"/>
              <a:ea typeface="Calibri"/>
              <a:cs typeface="Calibri"/>
            </a:endParaRPr>
          </a:p>
        </p:txBody>
      </p:sp>
      <p:sp>
        <p:nvSpPr>
          <p:cNvPr id="201" name="Pill0"/>
          <p:cNvSpPr/>
          <p:nvPr/>
        </p:nvSpPr>
        <p:spPr>
          <a:xfrm>
            <a:off x="533400" y="1219200"/>
            <a:ext cx="1752600" cy="584200"/>
          </a:xfrm>
          <a:prstGeom prst="roundRect">
            <a:avLst/>
          </a:prstGeom>
          <a:solidFill>
            <a:srgbClr val="1F9D55"/>
          </a:solidFill>
          <a:ln>
            <a:noFill/>
          </a:ln>
        </p:spPr>
        <p:txBody>
          <a:bodyPr/>
          <a:lstStyle/>
          <a:p>
            <a:endParaRPr/>
          </a:p>
        </p:txBody>
      </p:sp>
      <p:sp>
        <p:nvSpPr>
          <p:cNvPr id="202" name="Num0"/>
          <p:cNvSpPr/>
          <p:nvPr/>
        </p:nvSpPr>
        <p:spPr>
          <a:xfrm>
            <a:off x="635000" y="1346200"/>
            <a:ext cx="330200" cy="330200"/>
          </a:xfrm>
          <a:prstGeom prst="ellipse">
            <a:avLst/>
          </a:prstGeom>
          <a:solidFill>
            <a:srgbClr val="FFFFFF"/>
          </a:solidFill>
          <a:ln>
            <a:noFill/>
          </a:ln>
        </p:spPr>
        <p:txBody>
          <a:bodyPr/>
          <a:lstStyle/>
          <a:p>
            <a:endParaRPr/>
          </a:p>
        </p:txBody>
      </p:sp>
      <p:sp>
        <p:nvSpPr>
          <p:cNvPr id="203" name="NumT0"/>
          <p:cNvSpPr txBox="1"/>
          <p:nvPr/>
        </p:nvSpPr>
        <p:spPr>
          <a:xfrm>
            <a:off x="635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1</a:t>
            </a:r>
          </a:p>
        </p:txBody>
      </p:sp>
      <p:sp>
        <p:nvSpPr>
          <p:cNvPr id="204" name="PillT0"/>
          <p:cNvSpPr txBox="1"/>
          <p:nvPr/>
        </p:nvSpPr>
        <p:spPr>
          <a:xfrm>
            <a:off x="1016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Hardware Arrival</a:t>
            </a:r>
          </a:p>
        </p:txBody>
      </p:sp>
      <p:sp>
        <p:nvSpPr>
          <p:cNvPr id="205" name="Card0"/>
          <p:cNvSpPr/>
          <p:nvPr/>
        </p:nvSpPr>
        <p:spPr>
          <a:xfrm>
            <a:off x="533400" y="1905000"/>
            <a:ext cx="1752600" cy="1676400"/>
          </a:xfrm>
          <a:prstGeom prst="roundRect">
            <a:avLst/>
          </a:prstGeom>
          <a:solidFill>
            <a:srgbClr val="FFFFFF"/>
          </a:solidFill>
          <a:ln w="9525">
            <a:solidFill>
              <a:srgbClr val="D0D7E5"/>
            </a:solidFill>
          </a:ln>
        </p:spPr>
        <p:txBody>
          <a:bodyPr/>
          <a:lstStyle/>
          <a:p>
            <a:endParaRPr/>
          </a:p>
        </p:txBody>
      </p:sp>
      <p:sp>
        <p:nvSpPr>
          <p:cNvPr id="206" name="Strip0"/>
          <p:cNvSpPr/>
          <p:nvPr/>
        </p:nvSpPr>
        <p:spPr>
          <a:xfrm>
            <a:off x="533400" y="1905000"/>
            <a:ext cx="1752600" cy="38100"/>
          </a:xfrm>
          <a:prstGeom prst="rect">
            <a:avLst/>
          </a:prstGeom>
          <a:solidFill>
            <a:srgbClr val="1F9D55"/>
          </a:solidFill>
          <a:ln>
            <a:noFill/>
          </a:ln>
        </p:spPr>
        <p:txBody>
          <a:bodyPr/>
          <a:lstStyle/>
          <a:p>
            <a:endParaRPr/>
          </a:p>
        </p:txBody>
      </p:sp>
      <p:sp>
        <p:nvSpPr>
          <p:cNvPr id="207" name="CardT0"/>
          <p:cNvSpPr txBox="1"/>
          <p:nvPr/>
        </p:nvSpPr>
        <p:spPr>
          <a:xfrm>
            <a:off x="635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Dynamixel XL330 motors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U2D2 interface</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Verify purchased components</a:t>
            </a:r>
          </a:p>
        </p:txBody>
      </p:sp>
      <p:sp>
        <p:nvSpPr>
          <p:cNvPr id="209" name="Pill1"/>
          <p:cNvSpPr/>
          <p:nvPr/>
        </p:nvSpPr>
        <p:spPr>
          <a:xfrm>
            <a:off x="2387600" y="1219200"/>
            <a:ext cx="1752600" cy="584200"/>
          </a:xfrm>
          <a:prstGeom prst="roundRect">
            <a:avLst/>
          </a:prstGeom>
          <a:solidFill>
            <a:srgbClr val="1F9D55"/>
          </a:solidFill>
          <a:ln>
            <a:noFill/>
          </a:ln>
        </p:spPr>
        <p:txBody>
          <a:bodyPr/>
          <a:lstStyle/>
          <a:p>
            <a:endParaRPr/>
          </a:p>
        </p:txBody>
      </p:sp>
      <p:sp>
        <p:nvSpPr>
          <p:cNvPr id="210" name="Num1"/>
          <p:cNvSpPr/>
          <p:nvPr/>
        </p:nvSpPr>
        <p:spPr>
          <a:xfrm>
            <a:off x="2489200" y="1346200"/>
            <a:ext cx="330200" cy="330200"/>
          </a:xfrm>
          <a:prstGeom prst="ellipse">
            <a:avLst/>
          </a:prstGeom>
          <a:solidFill>
            <a:srgbClr val="FFFFFF"/>
          </a:solidFill>
          <a:ln>
            <a:noFill/>
          </a:ln>
        </p:spPr>
        <p:txBody>
          <a:bodyPr/>
          <a:lstStyle/>
          <a:p>
            <a:endParaRPr/>
          </a:p>
        </p:txBody>
      </p:sp>
      <p:sp>
        <p:nvSpPr>
          <p:cNvPr id="211" name="NumT1"/>
          <p:cNvSpPr txBox="1"/>
          <p:nvPr/>
        </p:nvSpPr>
        <p:spPr>
          <a:xfrm>
            <a:off x="24892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2</a:t>
            </a:r>
          </a:p>
        </p:txBody>
      </p:sp>
      <p:sp>
        <p:nvSpPr>
          <p:cNvPr id="212" name="PillT1"/>
          <p:cNvSpPr txBox="1"/>
          <p:nvPr/>
        </p:nvSpPr>
        <p:spPr>
          <a:xfrm>
            <a:off x="28702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Mechanical Assembly</a:t>
            </a:r>
          </a:p>
        </p:txBody>
      </p:sp>
      <p:sp>
        <p:nvSpPr>
          <p:cNvPr id="213" name="Card1"/>
          <p:cNvSpPr/>
          <p:nvPr/>
        </p:nvSpPr>
        <p:spPr>
          <a:xfrm>
            <a:off x="2387600" y="1905000"/>
            <a:ext cx="1752600" cy="1676400"/>
          </a:xfrm>
          <a:prstGeom prst="roundRect">
            <a:avLst/>
          </a:prstGeom>
          <a:solidFill>
            <a:srgbClr val="FFFFFF"/>
          </a:solidFill>
          <a:ln w="9525">
            <a:solidFill>
              <a:srgbClr val="D0D7E5"/>
            </a:solidFill>
          </a:ln>
        </p:spPr>
        <p:txBody>
          <a:bodyPr/>
          <a:lstStyle/>
          <a:p>
            <a:endParaRPr/>
          </a:p>
        </p:txBody>
      </p:sp>
      <p:sp>
        <p:nvSpPr>
          <p:cNvPr id="214" name="Strip1"/>
          <p:cNvSpPr/>
          <p:nvPr/>
        </p:nvSpPr>
        <p:spPr>
          <a:xfrm>
            <a:off x="2387600" y="1905000"/>
            <a:ext cx="1752600" cy="38100"/>
          </a:xfrm>
          <a:prstGeom prst="rect">
            <a:avLst/>
          </a:prstGeom>
          <a:solidFill>
            <a:srgbClr val="1F9D55"/>
          </a:solidFill>
          <a:ln>
            <a:noFill/>
          </a:ln>
        </p:spPr>
        <p:txBody>
          <a:bodyPr/>
          <a:lstStyle/>
          <a:p>
            <a:endParaRPr/>
          </a:p>
        </p:txBody>
      </p:sp>
      <p:sp>
        <p:nvSpPr>
          <p:cNvPr id="215" name="CardT1"/>
          <p:cNvSpPr txBox="1"/>
          <p:nvPr/>
        </p:nvSpPr>
        <p:spPr>
          <a:xfrm>
            <a:off x="24892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Assemble complete snake body</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Install Dynamixel actuators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Route communication cables</a:t>
            </a:r>
          </a:p>
        </p:txBody>
      </p:sp>
      <p:sp>
        <p:nvSpPr>
          <p:cNvPr id="217" name="Pill2"/>
          <p:cNvSpPr/>
          <p:nvPr/>
        </p:nvSpPr>
        <p:spPr>
          <a:xfrm>
            <a:off x="4241800" y="1219200"/>
            <a:ext cx="1752600" cy="584200"/>
          </a:xfrm>
          <a:prstGeom prst="roundRect">
            <a:avLst/>
          </a:prstGeom>
          <a:solidFill>
            <a:srgbClr val="1E6FD6"/>
          </a:solidFill>
          <a:ln>
            <a:noFill/>
          </a:ln>
        </p:spPr>
        <p:txBody>
          <a:bodyPr/>
          <a:lstStyle/>
          <a:p>
            <a:endParaRPr/>
          </a:p>
        </p:txBody>
      </p:sp>
      <p:sp>
        <p:nvSpPr>
          <p:cNvPr id="218" name="Num2"/>
          <p:cNvSpPr/>
          <p:nvPr/>
        </p:nvSpPr>
        <p:spPr>
          <a:xfrm>
            <a:off x="4343400" y="1346200"/>
            <a:ext cx="330200" cy="330200"/>
          </a:xfrm>
          <a:prstGeom prst="ellipse">
            <a:avLst/>
          </a:prstGeom>
          <a:solidFill>
            <a:srgbClr val="FFFFFF"/>
          </a:solidFill>
          <a:ln>
            <a:noFill/>
          </a:ln>
        </p:spPr>
        <p:txBody>
          <a:bodyPr/>
          <a:lstStyle/>
          <a:p>
            <a:endParaRPr/>
          </a:p>
        </p:txBody>
      </p:sp>
      <p:sp>
        <p:nvSpPr>
          <p:cNvPr id="219" name="NumT2"/>
          <p:cNvSpPr txBox="1"/>
          <p:nvPr/>
        </p:nvSpPr>
        <p:spPr>
          <a:xfrm>
            <a:off x="43434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3</a:t>
            </a:r>
          </a:p>
        </p:txBody>
      </p:sp>
      <p:sp>
        <p:nvSpPr>
          <p:cNvPr id="220" name="PillT2"/>
          <p:cNvSpPr txBox="1"/>
          <p:nvPr/>
        </p:nvSpPr>
        <p:spPr>
          <a:xfrm>
            <a:off x="47244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Communication Setup</a:t>
            </a:r>
          </a:p>
        </p:txBody>
      </p:sp>
      <p:sp>
        <p:nvSpPr>
          <p:cNvPr id="221" name="Card2"/>
          <p:cNvSpPr/>
          <p:nvPr/>
        </p:nvSpPr>
        <p:spPr>
          <a:xfrm>
            <a:off x="4241800" y="1905000"/>
            <a:ext cx="1752600" cy="1676400"/>
          </a:xfrm>
          <a:prstGeom prst="roundRect">
            <a:avLst/>
          </a:prstGeom>
          <a:solidFill>
            <a:srgbClr val="FFFFFF"/>
          </a:solidFill>
          <a:ln w="9525">
            <a:solidFill>
              <a:srgbClr val="D0D7E5"/>
            </a:solidFill>
          </a:ln>
        </p:spPr>
        <p:txBody>
          <a:bodyPr/>
          <a:lstStyle/>
          <a:p>
            <a:endParaRPr/>
          </a:p>
        </p:txBody>
      </p:sp>
      <p:sp>
        <p:nvSpPr>
          <p:cNvPr id="222" name="Strip2"/>
          <p:cNvSpPr/>
          <p:nvPr/>
        </p:nvSpPr>
        <p:spPr>
          <a:xfrm>
            <a:off x="4241800" y="1905000"/>
            <a:ext cx="1752600" cy="38100"/>
          </a:xfrm>
          <a:prstGeom prst="rect">
            <a:avLst/>
          </a:prstGeom>
          <a:solidFill>
            <a:srgbClr val="1E6FD6"/>
          </a:solidFill>
          <a:ln>
            <a:noFill/>
          </a:ln>
        </p:spPr>
        <p:txBody>
          <a:bodyPr/>
          <a:lstStyle/>
          <a:p>
            <a:endParaRPr/>
          </a:p>
        </p:txBody>
      </p:sp>
      <p:sp>
        <p:nvSpPr>
          <p:cNvPr id="223" name="CardT2"/>
          <p:cNvSpPr txBox="1"/>
          <p:nvPr/>
        </p:nvSpPr>
        <p:spPr>
          <a:xfrm>
            <a:off x="43434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Configure motor IDs</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Establish serial communication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Validate daisy-chain architecture</a:t>
            </a:r>
          </a:p>
        </p:txBody>
      </p:sp>
      <p:sp>
        <p:nvSpPr>
          <p:cNvPr id="225" name="Pill3"/>
          <p:cNvSpPr/>
          <p:nvPr/>
        </p:nvSpPr>
        <p:spPr>
          <a:xfrm>
            <a:off x="6096000" y="1219200"/>
            <a:ext cx="1752600" cy="584200"/>
          </a:xfrm>
          <a:prstGeom prst="roundRect">
            <a:avLst/>
          </a:prstGeom>
          <a:solidFill>
            <a:srgbClr val="1E6FD6"/>
          </a:solidFill>
          <a:ln>
            <a:noFill/>
          </a:ln>
        </p:spPr>
        <p:txBody>
          <a:bodyPr/>
          <a:lstStyle/>
          <a:p>
            <a:endParaRPr/>
          </a:p>
        </p:txBody>
      </p:sp>
      <p:sp>
        <p:nvSpPr>
          <p:cNvPr id="226" name="Num3"/>
          <p:cNvSpPr/>
          <p:nvPr/>
        </p:nvSpPr>
        <p:spPr>
          <a:xfrm>
            <a:off x="6197600" y="1346200"/>
            <a:ext cx="330200" cy="330200"/>
          </a:xfrm>
          <a:prstGeom prst="ellipse">
            <a:avLst/>
          </a:prstGeom>
          <a:solidFill>
            <a:srgbClr val="FFFFFF"/>
          </a:solidFill>
          <a:ln>
            <a:noFill/>
          </a:ln>
        </p:spPr>
        <p:txBody>
          <a:bodyPr/>
          <a:lstStyle/>
          <a:p>
            <a:endParaRPr/>
          </a:p>
        </p:txBody>
      </p:sp>
      <p:sp>
        <p:nvSpPr>
          <p:cNvPr id="227" name="NumT3"/>
          <p:cNvSpPr txBox="1"/>
          <p:nvPr/>
        </p:nvSpPr>
        <p:spPr>
          <a:xfrm>
            <a:off x="61976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4</a:t>
            </a:r>
          </a:p>
        </p:txBody>
      </p:sp>
      <p:sp>
        <p:nvSpPr>
          <p:cNvPr id="228" name="PillT3"/>
          <p:cNvSpPr txBox="1"/>
          <p:nvPr/>
        </p:nvSpPr>
        <p:spPr>
          <a:xfrm>
            <a:off x="65786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Locomotion Development</a:t>
            </a:r>
          </a:p>
        </p:txBody>
      </p:sp>
      <p:sp>
        <p:nvSpPr>
          <p:cNvPr id="229" name="Card3"/>
          <p:cNvSpPr/>
          <p:nvPr/>
        </p:nvSpPr>
        <p:spPr>
          <a:xfrm>
            <a:off x="6096000" y="1905000"/>
            <a:ext cx="1752600" cy="1676400"/>
          </a:xfrm>
          <a:prstGeom prst="roundRect">
            <a:avLst/>
          </a:prstGeom>
          <a:solidFill>
            <a:srgbClr val="FFFFFF"/>
          </a:solidFill>
          <a:ln w="9525">
            <a:solidFill>
              <a:srgbClr val="D0D7E5"/>
            </a:solidFill>
          </a:ln>
        </p:spPr>
        <p:txBody>
          <a:bodyPr/>
          <a:lstStyle/>
          <a:p>
            <a:endParaRPr/>
          </a:p>
        </p:txBody>
      </p:sp>
      <p:sp>
        <p:nvSpPr>
          <p:cNvPr id="230" name="Strip3"/>
          <p:cNvSpPr/>
          <p:nvPr/>
        </p:nvSpPr>
        <p:spPr>
          <a:xfrm>
            <a:off x="6096000" y="1905000"/>
            <a:ext cx="1752600" cy="38100"/>
          </a:xfrm>
          <a:prstGeom prst="rect">
            <a:avLst/>
          </a:prstGeom>
          <a:solidFill>
            <a:srgbClr val="1E6FD6"/>
          </a:solidFill>
          <a:ln>
            <a:noFill/>
          </a:ln>
        </p:spPr>
        <p:txBody>
          <a:bodyPr/>
          <a:lstStyle/>
          <a:p>
            <a:endParaRPr/>
          </a:p>
        </p:txBody>
      </p:sp>
      <p:sp>
        <p:nvSpPr>
          <p:cNvPr id="231" name="CardT3"/>
          <p:cNvSpPr txBox="1"/>
          <p:nvPr/>
        </p:nvSpPr>
        <p:spPr>
          <a:xfrm>
            <a:off x="61976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Port simulation code to Pi 5</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Implement serpentine locomotion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Synchronize multi-joint movement</a:t>
            </a:r>
          </a:p>
        </p:txBody>
      </p:sp>
      <p:sp>
        <p:nvSpPr>
          <p:cNvPr id="233" name="Pill4"/>
          <p:cNvSpPr/>
          <p:nvPr/>
        </p:nvSpPr>
        <p:spPr>
          <a:xfrm>
            <a:off x="7950200" y="1219200"/>
            <a:ext cx="1752600" cy="584200"/>
          </a:xfrm>
          <a:prstGeom prst="roundRect">
            <a:avLst/>
          </a:prstGeom>
          <a:solidFill>
            <a:srgbClr val="E8821E"/>
          </a:solidFill>
          <a:ln>
            <a:noFill/>
          </a:ln>
        </p:spPr>
        <p:txBody>
          <a:bodyPr/>
          <a:lstStyle/>
          <a:p>
            <a:endParaRPr/>
          </a:p>
        </p:txBody>
      </p:sp>
      <p:sp>
        <p:nvSpPr>
          <p:cNvPr id="234" name="Num4"/>
          <p:cNvSpPr/>
          <p:nvPr/>
        </p:nvSpPr>
        <p:spPr>
          <a:xfrm>
            <a:off x="8051800" y="1346200"/>
            <a:ext cx="330200" cy="330200"/>
          </a:xfrm>
          <a:prstGeom prst="ellipse">
            <a:avLst/>
          </a:prstGeom>
          <a:solidFill>
            <a:srgbClr val="FFFFFF"/>
          </a:solidFill>
          <a:ln>
            <a:noFill/>
          </a:ln>
        </p:spPr>
        <p:txBody>
          <a:bodyPr/>
          <a:lstStyle/>
          <a:p>
            <a:endParaRPr/>
          </a:p>
        </p:txBody>
      </p:sp>
      <p:sp>
        <p:nvSpPr>
          <p:cNvPr id="235" name="NumT4"/>
          <p:cNvSpPr txBox="1"/>
          <p:nvPr/>
        </p:nvSpPr>
        <p:spPr>
          <a:xfrm>
            <a:off x="80518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5</a:t>
            </a:r>
          </a:p>
        </p:txBody>
      </p:sp>
      <p:sp>
        <p:nvSpPr>
          <p:cNvPr id="236" name="PillT4"/>
          <p:cNvSpPr txBox="1"/>
          <p:nvPr/>
        </p:nvSpPr>
        <p:spPr>
          <a:xfrm>
            <a:off x="84328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Sensor Integration</a:t>
            </a:r>
          </a:p>
        </p:txBody>
      </p:sp>
      <p:sp>
        <p:nvSpPr>
          <p:cNvPr id="237" name="Card4"/>
          <p:cNvSpPr/>
          <p:nvPr/>
        </p:nvSpPr>
        <p:spPr>
          <a:xfrm>
            <a:off x="7950200" y="1905000"/>
            <a:ext cx="1752600" cy="1676400"/>
          </a:xfrm>
          <a:prstGeom prst="roundRect">
            <a:avLst/>
          </a:prstGeom>
          <a:solidFill>
            <a:srgbClr val="FFFFFF"/>
          </a:solidFill>
          <a:ln w="9525">
            <a:solidFill>
              <a:srgbClr val="D0D7E5"/>
            </a:solidFill>
          </a:ln>
        </p:spPr>
        <p:txBody>
          <a:bodyPr/>
          <a:lstStyle/>
          <a:p>
            <a:endParaRPr/>
          </a:p>
        </p:txBody>
      </p:sp>
      <p:sp>
        <p:nvSpPr>
          <p:cNvPr id="238" name="Strip4"/>
          <p:cNvSpPr/>
          <p:nvPr/>
        </p:nvSpPr>
        <p:spPr>
          <a:xfrm>
            <a:off x="7950200" y="1905000"/>
            <a:ext cx="1752600" cy="38100"/>
          </a:xfrm>
          <a:prstGeom prst="rect">
            <a:avLst/>
          </a:prstGeom>
          <a:solidFill>
            <a:srgbClr val="E8821E"/>
          </a:solidFill>
          <a:ln>
            <a:noFill/>
          </a:ln>
        </p:spPr>
        <p:txBody>
          <a:bodyPr/>
          <a:lstStyle/>
          <a:p>
            <a:endParaRPr/>
          </a:p>
        </p:txBody>
      </p:sp>
      <p:sp>
        <p:nvSpPr>
          <p:cNvPr id="239" name="CardT4"/>
          <p:cNvSpPr txBox="1"/>
          <p:nvPr/>
        </p:nvSpPr>
        <p:spPr>
          <a:xfrm>
            <a:off x="80518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MPU6050 IMU</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obstacle detection</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Implement feedback control</a:t>
            </a:r>
          </a:p>
        </p:txBody>
      </p:sp>
      <p:sp>
        <p:nvSpPr>
          <p:cNvPr id="240" name="Pill5"/>
          <p:cNvSpPr/>
          <p:nvPr/>
        </p:nvSpPr>
        <p:spPr>
          <a:xfrm>
            <a:off x="9804400" y="1219200"/>
            <a:ext cx="1752600" cy="584200"/>
          </a:xfrm>
          <a:prstGeom prst="roundRect">
            <a:avLst/>
          </a:prstGeom>
          <a:solidFill>
            <a:srgbClr val="E8821E"/>
          </a:solidFill>
          <a:ln>
            <a:noFill/>
          </a:ln>
        </p:spPr>
        <p:txBody>
          <a:bodyPr/>
          <a:lstStyle/>
          <a:p>
            <a:endParaRPr/>
          </a:p>
        </p:txBody>
      </p:sp>
      <p:sp>
        <p:nvSpPr>
          <p:cNvPr id="241" name="Num5"/>
          <p:cNvSpPr/>
          <p:nvPr/>
        </p:nvSpPr>
        <p:spPr>
          <a:xfrm>
            <a:off x="9906000" y="1346200"/>
            <a:ext cx="330200" cy="330200"/>
          </a:xfrm>
          <a:prstGeom prst="ellipse">
            <a:avLst/>
          </a:prstGeom>
          <a:solidFill>
            <a:srgbClr val="FFFFFF"/>
          </a:solidFill>
          <a:ln>
            <a:noFill/>
          </a:ln>
        </p:spPr>
        <p:txBody>
          <a:bodyPr/>
          <a:lstStyle/>
          <a:p>
            <a:endParaRPr/>
          </a:p>
        </p:txBody>
      </p:sp>
      <p:sp>
        <p:nvSpPr>
          <p:cNvPr id="242" name="NumT5"/>
          <p:cNvSpPr txBox="1"/>
          <p:nvPr/>
        </p:nvSpPr>
        <p:spPr>
          <a:xfrm>
            <a:off x="9906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6</a:t>
            </a:r>
          </a:p>
        </p:txBody>
      </p:sp>
      <p:sp>
        <p:nvSpPr>
          <p:cNvPr id="243" name="PillT5"/>
          <p:cNvSpPr txBox="1"/>
          <p:nvPr/>
        </p:nvSpPr>
        <p:spPr>
          <a:xfrm>
            <a:off x="10287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Testing &amp; Optimization</a:t>
            </a:r>
          </a:p>
        </p:txBody>
      </p:sp>
      <p:sp>
        <p:nvSpPr>
          <p:cNvPr id="244" name="Card5"/>
          <p:cNvSpPr/>
          <p:nvPr/>
        </p:nvSpPr>
        <p:spPr>
          <a:xfrm>
            <a:off x="9804400" y="1905000"/>
            <a:ext cx="1752600" cy="1676400"/>
          </a:xfrm>
          <a:prstGeom prst="roundRect">
            <a:avLst/>
          </a:prstGeom>
          <a:solidFill>
            <a:srgbClr val="FFFFFF"/>
          </a:solidFill>
          <a:ln w="9525">
            <a:solidFill>
              <a:srgbClr val="D0D7E5"/>
            </a:solidFill>
          </a:ln>
        </p:spPr>
        <p:txBody>
          <a:bodyPr/>
          <a:lstStyle/>
          <a:p>
            <a:endParaRPr/>
          </a:p>
        </p:txBody>
      </p:sp>
      <p:sp>
        <p:nvSpPr>
          <p:cNvPr id="245" name="Strip5"/>
          <p:cNvSpPr/>
          <p:nvPr/>
        </p:nvSpPr>
        <p:spPr>
          <a:xfrm>
            <a:off x="9804400" y="1905000"/>
            <a:ext cx="1752600" cy="38100"/>
          </a:xfrm>
          <a:prstGeom prst="rect">
            <a:avLst/>
          </a:prstGeom>
          <a:solidFill>
            <a:srgbClr val="E8821E"/>
          </a:solidFill>
          <a:ln>
            <a:noFill/>
          </a:ln>
        </p:spPr>
        <p:txBody>
          <a:bodyPr/>
          <a:lstStyle/>
          <a:p>
            <a:endParaRPr/>
          </a:p>
        </p:txBody>
      </p:sp>
      <p:sp>
        <p:nvSpPr>
          <p:cNvPr id="246" name="CardT5"/>
          <p:cNvSpPr txBox="1"/>
          <p:nvPr/>
        </p:nvSpPr>
        <p:spPr>
          <a:xfrm>
            <a:off x="9906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Motion performance testing</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Power &amp; reliability analysis</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System optimization</a:t>
            </a:r>
          </a:p>
        </p:txBody>
      </p:sp>
      <p:pic>
        <p:nvPicPr>
          <p:cNvPr id="247" name="Graphic 247" descr="Hardware arrival"/>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0400" y="1993900"/>
            <a:ext cx="279400" cy="279400"/>
          </a:xfrm>
          <a:prstGeom prst="rect">
            <a:avLst/>
          </a:prstGeom>
        </p:spPr>
      </p:pic>
      <p:pic>
        <p:nvPicPr>
          <p:cNvPr id="248" name="Graphic 248" descr="Mechanical assembl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4600" y="1993900"/>
            <a:ext cx="279400" cy="279400"/>
          </a:xfrm>
          <a:prstGeom prst="rect">
            <a:avLst/>
          </a:prstGeom>
        </p:spPr>
      </p:pic>
      <p:pic>
        <p:nvPicPr>
          <p:cNvPr id="249" name="Graphic 249" descr="Communication setu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993900"/>
            <a:ext cx="279400" cy="279400"/>
          </a:xfrm>
          <a:prstGeom prst="rect">
            <a:avLst/>
          </a:prstGeom>
        </p:spPr>
      </p:pic>
      <p:pic>
        <p:nvPicPr>
          <p:cNvPr id="250" name="Graphic 250" descr="Locomotion developmen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3000" y="1993900"/>
            <a:ext cx="279400" cy="279400"/>
          </a:xfrm>
          <a:prstGeom prst="rect">
            <a:avLst/>
          </a:prstGeom>
        </p:spPr>
      </p:pic>
      <p:pic>
        <p:nvPicPr>
          <p:cNvPr id="251" name="Graphic 251" descr="Sensor integ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47200" y="1993900"/>
            <a:ext cx="279400" cy="279400"/>
          </a:xfrm>
          <a:prstGeom prst="rect">
            <a:avLst/>
          </a:prstGeom>
        </p:spPr>
      </p:pic>
      <p:pic>
        <p:nvPicPr>
          <p:cNvPr id="252" name="Graphic 252" descr="Testing and optimiz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01400" y="1993900"/>
            <a:ext cx="279400" cy="279400"/>
          </a:xfrm>
          <a:prstGeom prst="rect">
            <a:avLst/>
          </a:prstGeom>
        </p:spPr>
      </p:pic>
      <p:sp>
        <p:nvSpPr>
          <p:cNvPr id="400" name="Lg"/>
          <p:cNvSpPr/>
          <p:nvPr/>
        </p:nvSpPr>
        <p:spPr>
          <a:xfrm>
            <a:off x="533400" y="3759200"/>
            <a:ext cx="139700" cy="139700"/>
          </a:xfrm>
          <a:prstGeom prst="ellipse">
            <a:avLst/>
          </a:prstGeom>
          <a:solidFill>
            <a:srgbClr val="1F9D55"/>
          </a:solidFill>
          <a:ln>
            <a:noFill/>
          </a:ln>
        </p:spPr>
        <p:txBody>
          <a:bodyPr/>
          <a:lstStyle/>
          <a:p>
            <a:endParaRPr/>
          </a:p>
        </p:txBody>
      </p:sp>
      <p:sp>
        <p:nvSpPr>
          <p:cNvPr id="401" name="LgT"/>
          <p:cNvSpPr txBox="1"/>
          <p:nvPr/>
        </p:nvSpPr>
        <p:spPr>
          <a:xfrm>
            <a:off x="72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Completed phase</a:t>
            </a:r>
          </a:p>
        </p:txBody>
      </p:sp>
      <p:sp>
        <p:nvSpPr>
          <p:cNvPr id="402" name="Lg"/>
          <p:cNvSpPr/>
          <p:nvPr/>
        </p:nvSpPr>
        <p:spPr>
          <a:xfrm>
            <a:off x="2438400" y="3759200"/>
            <a:ext cx="139700" cy="139700"/>
          </a:xfrm>
          <a:prstGeom prst="ellipse">
            <a:avLst/>
          </a:prstGeom>
          <a:solidFill>
            <a:srgbClr val="1E6FD6"/>
          </a:solidFill>
          <a:ln>
            <a:noFill/>
          </a:ln>
        </p:spPr>
        <p:txBody>
          <a:bodyPr/>
          <a:lstStyle/>
          <a:p>
            <a:endParaRPr/>
          </a:p>
        </p:txBody>
      </p:sp>
      <p:sp>
        <p:nvSpPr>
          <p:cNvPr id="403" name="LgT"/>
          <p:cNvSpPr txBox="1"/>
          <p:nvPr/>
        </p:nvSpPr>
        <p:spPr>
          <a:xfrm>
            <a:off x="2628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Ongoing work</a:t>
            </a:r>
          </a:p>
        </p:txBody>
      </p:sp>
      <p:sp>
        <p:nvSpPr>
          <p:cNvPr id="404" name="Lg"/>
          <p:cNvSpPr/>
          <p:nvPr/>
        </p:nvSpPr>
        <p:spPr>
          <a:xfrm>
            <a:off x="4343400" y="3759200"/>
            <a:ext cx="139700" cy="139700"/>
          </a:xfrm>
          <a:prstGeom prst="ellipse">
            <a:avLst/>
          </a:prstGeom>
          <a:solidFill>
            <a:srgbClr val="E8821E"/>
          </a:solidFill>
          <a:ln>
            <a:noFill/>
          </a:ln>
        </p:spPr>
        <p:txBody>
          <a:bodyPr/>
          <a:lstStyle/>
          <a:p>
            <a:endParaRPr/>
          </a:p>
        </p:txBody>
      </p:sp>
      <p:sp>
        <p:nvSpPr>
          <p:cNvPr id="405" name="LgT"/>
          <p:cNvSpPr txBox="1"/>
          <p:nvPr/>
        </p:nvSpPr>
        <p:spPr>
          <a:xfrm>
            <a:off x="453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Future milestone</a:t>
            </a:r>
          </a:p>
        </p:txBody>
      </p:sp>
      <p:sp>
        <p:nvSpPr>
          <p:cNvPr id="406" name="DelCard"/>
          <p:cNvSpPr/>
          <p:nvPr/>
        </p:nvSpPr>
        <p:spPr>
          <a:xfrm>
            <a:off x="533400" y="4064000"/>
            <a:ext cx="5461000" cy="2489200"/>
          </a:xfrm>
          <a:prstGeom prst="roundRect">
            <a:avLst/>
          </a:prstGeom>
          <a:solidFill>
            <a:srgbClr val="F7F9FC"/>
          </a:solidFill>
          <a:ln w="9525">
            <a:solidFill>
              <a:srgbClr val="D0D7E5"/>
            </a:solidFill>
          </a:ln>
        </p:spPr>
        <p:txBody>
          <a:bodyPr/>
          <a:lstStyle/>
          <a:p>
            <a:endParaRPr/>
          </a:p>
        </p:txBody>
      </p:sp>
      <p:sp>
        <p:nvSpPr>
          <p:cNvPr id="407" name="DelStrip"/>
          <p:cNvSpPr/>
          <p:nvPr/>
        </p:nvSpPr>
        <p:spPr>
          <a:xfrm>
            <a:off x="533400" y="4064000"/>
            <a:ext cx="63500" cy="2489200"/>
          </a:xfrm>
          <a:prstGeom prst="rect">
            <a:avLst/>
          </a:prstGeom>
          <a:solidFill>
            <a:srgbClr val="0E96AC"/>
          </a:solidFill>
          <a:ln>
            <a:noFill/>
          </a:ln>
        </p:spPr>
        <p:txBody>
          <a:bodyPr/>
          <a:lstStyle/>
          <a:p>
            <a:endParaRPr/>
          </a:p>
        </p:txBody>
      </p:sp>
      <p:sp>
        <p:nvSpPr>
          <p:cNvPr id="408" name="DelHead"/>
          <p:cNvSpPr txBox="1"/>
          <p:nvPr/>
        </p:nvSpPr>
        <p:spPr>
          <a:xfrm>
            <a:off x="736600" y="4191000"/>
            <a:ext cx="5130800" cy="279400"/>
          </a:xfrm>
          <a:prstGeom prst="rect">
            <a:avLst/>
          </a:prstGeom>
          <a:noFill/>
        </p:spPr>
        <p:txBody>
          <a:bodyPr wrap="square" lIns="50800" tIns="25400" rIns="50800" bIns="25400" anchor="t">
            <a:noAutofit/>
          </a:bodyPr>
          <a:lstStyle/>
          <a:p>
            <a:pPr>
              <a:buNone/>
            </a:pPr>
            <a:r>
              <a:rPr lang="en-IN" sz="1200" b="1" dirty="0">
                <a:solidFill>
                  <a:srgbClr val="16223A"/>
                </a:solidFill>
                <a:latin typeface="Calibri"/>
              </a:rPr>
              <a:t>EXPECTED DELIVERABLES</a:t>
            </a:r>
          </a:p>
        </p:txBody>
      </p:sp>
      <p:sp>
        <p:nvSpPr>
          <p:cNvPr id="409" name="DelList"/>
          <p:cNvSpPr txBox="1"/>
          <p:nvPr/>
        </p:nvSpPr>
        <p:spPr>
          <a:xfrm>
            <a:off x="736600" y="4546600"/>
            <a:ext cx="5080000" cy="1905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Wingdings"/>
              <a:buChar char="Ø"/>
            </a:pPr>
            <a:r>
              <a:rPr lang="en-IN" sz="1000" dirty="0">
                <a:solidFill>
                  <a:srgbClr val="16223A"/>
                </a:solidFill>
                <a:latin typeface="Calibri"/>
              </a:rPr>
              <a:t>Fully assembled snake robot</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Dynamixel-based locomotion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Sensor-assisted navigation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Integrated Raspberry Pi 5 control system</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Demonstration-ready prototype</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Final SURGE project showcase</a:t>
            </a:r>
          </a:p>
        </p:txBody>
      </p:sp>
      <p:sp>
        <p:nvSpPr>
          <p:cNvPr id="410" name="TgtCard"/>
          <p:cNvSpPr/>
          <p:nvPr/>
        </p:nvSpPr>
        <p:spPr>
          <a:xfrm>
            <a:off x="6197600" y="4064000"/>
            <a:ext cx="5461000" cy="2489200"/>
          </a:xfrm>
          <a:prstGeom prst="roundRect">
            <a:avLst/>
          </a:prstGeom>
          <a:solidFill>
            <a:srgbClr val="EAF7FA"/>
          </a:solidFill>
          <a:ln w="19050">
            <a:solidFill>
              <a:srgbClr val="0E96AC"/>
            </a:solidFill>
          </a:ln>
        </p:spPr>
        <p:txBody>
          <a:bodyPr/>
          <a:lstStyle/>
          <a:p>
            <a:endParaRPr/>
          </a:p>
        </p:txBody>
      </p:sp>
      <p:sp>
        <p:nvSpPr>
          <p:cNvPr id="411" name="TgtHead"/>
          <p:cNvSpPr txBox="1"/>
          <p:nvPr/>
        </p:nvSpPr>
        <p:spPr>
          <a:xfrm>
            <a:off x="6400800" y="4191000"/>
            <a:ext cx="5130800" cy="279400"/>
          </a:xfrm>
          <a:prstGeom prst="rect">
            <a:avLst/>
          </a:prstGeom>
          <a:noFill/>
        </p:spPr>
        <p:txBody>
          <a:bodyPr wrap="square" lIns="50800" tIns="25400" rIns="50800" bIns="25400" anchor="t">
            <a:noAutofit/>
          </a:bodyPr>
          <a:lstStyle/>
          <a:p>
            <a:pPr>
              <a:buNone/>
            </a:pPr>
            <a:r>
              <a:rPr lang="en-IN" sz="1200" b="1" dirty="0">
                <a:solidFill>
                  <a:srgbClr val="0A7A8E"/>
                </a:solidFill>
                <a:latin typeface="Calibri"/>
              </a:rPr>
              <a:t>TARGET FOR NEXT REVIEW</a:t>
            </a:r>
          </a:p>
        </p:txBody>
      </p:sp>
      <p:sp>
        <p:nvSpPr>
          <p:cNvPr id="412" name="TgtList"/>
          <p:cNvSpPr txBox="1"/>
          <p:nvPr/>
        </p:nvSpPr>
        <p:spPr>
          <a:xfrm>
            <a:off x="6400800" y="4546600"/>
            <a:ext cx="5080000" cy="1397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Arial"/>
              <a:buChar char="•"/>
            </a:pPr>
            <a:r>
              <a:rPr lang="en-IN" sz="1000" dirty="0">
                <a:solidFill>
                  <a:srgbClr val="16223A"/>
                </a:solidFill>
                <a:latin typeface="Calibri"/>
              </a:rPr>
              <a:t>Complete hardware integration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Demonstrate basic snake locomotion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communication architecture</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sensing framework</a:t>
            </a:r>
          </a:p>
        </p:txBody>
      </p:sp>
      <p:sp>
        <p:nvSpPr>
          <p:cNvPr id="413" name="TgtBadge"/>
          <p:cNvSpPr/>
          <p:nvPr/>
        </p:nvSpPr>
        <p:spPr>
          <a:xfrm>
            <a:off x="6400800" y="5994400"/>
            <a:ext cx="5054600" cy="406400"/>
          </a:xfrm>
          <a:prstGeom prst="roundRect">
            <a:avLst/>
          </a:prstGeom>
          <a:solidFill>
            <a:srgbClr val="0A7A8E"/>
          </a:solidFill>
          <a:ln>
            <a:noFill/>
          </a:ln>
        </p:spPr>
        <p:txBody>
          <a:bodyPr/>
          <a:lstStyle/>
          <a:p>
            <a:endParaRPr/>
          </a:p>
        </p:txBody>
      </p:sp>
      <p:sp>
        <p:nvSpPr>
          <p:cNvPr id="414" name="TgtBadgeT"/>
          <p:cNvSpPr txBox="1"/>
          <p:nvPr/>
        </p:nvSpPr>
        <p:spPr>
          <a:xfrm>
            <a:off x="6400800" y="5994400"/>
            <a:ext cx="5054600" cy="406400"/>
          </a:xfrm>
          <a:prstGeom prst="rect">
            <a:avLst/>
          </a:prstGeom>
          <a:noFill/>
        </p:spPr>
        <p:txBody>
          <a:bodyPr wrap="square" lIns="50800" tIns="25400" rIns="50800" bIns="25400" anchor="ctr">
            <a:noAutofit/>
          </a:bodyPr>
          <a:lstStyle/>
          <a:p>
            <a:pPr algn="ctr">
              <a:buNone/>
            </a:pPr>
            <a:r>
              <a:rPr lang="en-IN" sz="1100" b="1" dirty="0">
                <a:solidFill>
                  <a:srgbClr val="FFFFFF"/>
                </a:solidFill>
                <a:latin typeface="Calibri"/>
              </a:rPr>
              <a:t>Goal: ~60–70% project completion</a:t>
            </a:r>
          </a:p>
        </p:txBody>
      </p:sp>
      <p:sp>
        <p:nvSpPr>
          <p:cNvPr id="600" name="Chev0"/>
          <p:cNvSpPr/>
          <p:nvPr/>
        </p:nvSpPr>
        <p:spPr>
          <a:xfrm>
            <a:off x="2222500" y="1397000"/>
            <a:ext cx="228600" cy="228600"/>
          </a:xfrm>
          <a:prstGeom prst="chevron">
            <a:avLst/>
          </a:prstGeom>
          <a:solidFill>
            <a:srgbClr val="16223A"/>
          </a:solidFill>
          <a:ln>
            <a:noFill/>
          </a:ln>
        </p:spPr>
        <p:txBody>
          <a:bodyPr/>
          <a:lstStyle/>
          <a:p>
            <a:endParaRPr/>
          </a:p>
        </p:txBody>
      </p:sp>
      <p:sp>
        <p:nvSpPr>
          <p:cNvPr id="601" name="Chev1"/>
          <p:cNvSpPr/>
          <p:nvPr/>
        </p:nvSpPr>
        <p:spPr>
          <a:xfrm>
            <a:off x="4076700" y="1397000"/>
            <a:ext cx="228600" cy="228600"/>
          </a:xfrm>
          <a:prstGeom prst="chevron">
            <a:avLst/>
          </a:prstGeom>
          <a:solidFill>
            <a:srgbClr val="16223A"/>
          </a:solidFill>
          <a:ln>
            <a:noFill/>
          </a:ln>
        </p:spPr>
        <p:txBody>
          <a:bodyPr/>
          <a:lstStyle/>
          <a:p>
            <a:endParaRPr/>
          </a:p>
        </p:txBody>
      </p:sp>
      <p:sp>
        <p:nvSpPr>
          <p:cNvPr id="602" name="Chev2"/>
          <p:cNvSpPr/>
          <p:nvPr/>
        </p:nvSpPr>
        <p:spPr>
          <a:xfrm>
            <a:off x="5930900" y="1397000"/>
            <a:ext cx="228600" cy="228600"/>
          </a:xfrm>
          <a:prstGeom prst="chevron">
            <a:avLst/>
          </a:prstGeom>
          <a:solidFill>
            <a:srgbClr val="16223A"/>
          </a:solidFill>
          <a:ln>
            <a:noFill/>
          </a:ln>
        </p:spPr>
        <p:txBody>
          <a:bodyPr/>
          <a:lstStyle/>
          <a:p>
            <a:endParaRPr/>
          </a:p>
        </p:txBody>
      </p:sp>
      <p:sp>
        <p:nvSpPr>
          <p:cNvPr id="603" name="Chev3"/>
          <p:cNvSpPr/>
          <p:nvPr/>
        </p:nvSpPr>
        <p:spPr>
          <a:xfrm>
            <a:off x="7785100" y="1397000"/>
            <a:ext cx="228600" cy="228600"/>
          </a:xfrm>
          <a:prstGeom prst="chevron">
            <a:avLst/>
          </a:prstGeom>
          <a:solidFill>
            <a:srgbClr val="16223A"/>
          </a:solidFill>
          <a:ln>
            <a:noFill/>
          </a:ln>
        </p:spPr>
        <p:txBody>
          <a:bodyPr/>
          <a:lstStyle/>
          <a:p>
            <a:endParaRPr/>
          </a:p>
        </p:txBody>
      </p:sp>
      <p:sp>
        <p:nvSpPr>
          <p:cNvPr id="604" name="Chev4"/>
          <p:cNvSpPr/>
          <p:nvPr/>
        </p:nvSpPr>
        <p:spPr>
          <a:xfrm>
            <a:off x="9639300" y="1397000"/>
            <a:ext cx="228600" cy="228600"/>
          </a:xfrm>
          <a:prstGeom prst="chevron">
            <a:avLst/>
          </a:prstGeom>
          <a:solidFill>
            <a:srgbClr val="16223A"/>
          </a:solidFill>
          <a:ln>
            <a:noFill/>
          </a:ln>
        </p:spPr>
        <p:txBody>
          <a:bodyPr/>
          <a:lstStyle/>
          <a:p>
            <a:endParaRPr/>
          </a:p>
        </p:txBody>
      </p:sp>
    </p:spTree>
    <p:extLst>
      <p:ext uri="{BB962C8B-B14F-4D97-AF65-F5344CB8AC3E}">
        <p14:creationId xmlns:p14="http://schemas.microsoft.com/office/powerpoint/2010/main" val="326973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WHAT CHANGED SINCE THIS REVIEW</a:t>
            </a:r>
            <a:endParaRPr lang="en-US" sz="1200" dirty="0"/>
          </a:p>
        </p:txBody>
      </p:sp>
      <p:sp>
        <p:nvSpPr>
          <p:cNvPr id="7" name="Text 5"/>
          <p:cNvSpPr/>
          <p:nvPr/>
        </p:nvSpPr>
        <p:spPr>
          <a:xfrm>
            <a:off x="777240" y="1170432"/>
            <a:ext cx="10881360" cy="9144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Generation 2 — Corrections &amp; Cause</a:t>
            </a:r>
            <a:endParaRPr lang="en-US" sz="5200" dirty="0"/>
          </a:p>
        </p:txBody>
      </p:sp>
      <p:sp>
        <p:nvSpPr>
          <p:cNvPr id="8" name="Text 6"/>
          <p:cNvSpPr/>
          <p:nvPr/>
        </p:nvSpPr>
        <p:spPr>
          <a:xfrm>
            <a:off x="804672" y="1938528"/>
            <a:ext cx="10881360" cy="457200"/>
          </a:xfrm>
          <a:prstGeom prst="rect">
            <a:avLst/>
          </a:prstGeom>
          <a:noFill/>
          <a:ln/>
        </p:spPr>
        <p:txBody>
          <a:bodyPr wrap="square" lIns="0" tIns="0" rIns="0" bIns="0" rtlCol="0" anchor="ctr"/>
          <a:lstStyle/>
          <a:p>
            <a:pPr marL="0" indent="0">
              <a:buNone/>
            </a:pPr>
            <a:r>
              <a:rPr lang="en-US" sz="1300" dirty="0">
                <a:solidFill>
                  <a:srgbClr val="2BD4E8"/>
                </a:solidFill>
                <a:latin typeface="Calibri" pitchFamily="34" charset="0"/>
                <a:ea typeface="Calibri" pitchFamily="34" charset="-122"/>
                <a:cs typeface="Calibri" pitchFamily="34" charset="-120"/>
              </a:rPr>
              <a:t>This slide records what has since been superseded.</a:t>
            </a:r>
            <a:endParaRPr lang="en-US" sz="2400" dirty="0"/>
          </a:p>
        </p:txBody>
      </p:sp>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Constraint</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WHAT HAPPENED</a:t>
            </a:r>
            <a:endParaRPr lang="en-US" sz="900" dirty="0"/>
          </a:p>
        </p:txBody>
      </p:sp>
      <p:sp>
        <p:nvSpPr>
          <p:cNvPr id="22" name="Text 19"/>
          <p:cNvSpPr/>
          <p:nvPr/>
        </p:nvSpPr>
        <p:spPr>
          <a:xfrm>
            <a:off x="978408"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2 of 10 XL330 received, then the part vanished</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Six-week stall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IMPACT</a:t>
            </a:r>
            <a:endParaRPr lang="en-US" sz="900" dirty="0"/>
          </a:p>
        </p:txBody>
      </p:sp>
      <p:sp>
        <p:nvSpPr>
          <p:cNvPr id="27" name="Text 24"/>
          <p:cNvSpPr/>
          <p:nvPr/>
        </p:nvSpPr>
        <p:spPr>
          <a:xfrm>
            <a:off x="3849624"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Control stack written against absent hardware</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Re-architecture</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COMMIT a32b675 · 2026-08-20</a:t>
            </a:r>
            <a:endParaRPr lang="en-US" sz="900" dirty="0"/>
          </a:p>
        </p:txBody>
      </p:sp>
      <p:sp>
        <p:nvSpPr>
          <p:cNvPr id="32" name="Text 29"/>
          <p:cNvSpPr/>
          <p:nvPr/>
        </p:nvSpPr>
        <p:spPr>
          <a:xfrm>
            <a:off x="6720840"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“No dynamixel in the market. So switched to Servos”</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3"/>
          <a:stretch>
            <a:fillRect/>
          </a:stretch>
        </p:blipFill>
        <p:spPr>
          <a:xfrm>
            <a:off x="10652760" y="159317"/>
            <a:ext cx="762000" cy="762000"/>
          </a:xfrm>
          <a:prstGeom prst="rect">
            <a:avLst/>
          </a:prstGeom>
        </p:spPr>
      </p:pic>
      <p:graphicFrame>
        <p:nvGraphicFramePr>
          <p:cNvPr id="33" name="CorrectionsRegister"/>
          <p:cNvGraphicFramePr>
            <a:graphicFrameLocks noGrp="1"/>
          </p:cNvGraphicFramePr>
          <p:nvPr>
            <p:extLst>
              <p:ext uri="{D42A27DB-BD31-4B8C-83A1-F6EECF244321}">
                <p14:modId xmlns:p14="http://schemas.microsoft.com/office/powerpoint/2010/main" val="1743092344"/>
              </p:ext>
            </p:extLst>
          </p:nvPr>
        </p:nvGraphicFramePr>
        <p:xfrm>
          <a:off x="530352" y="2432304"/>
          <a:ext cx="11128247" cy="2249424"/>
        </p:xfrm>
        <a:graphic>
          <a:graphicData uri="http://schemas.openxmlformats.org/drawingml/2006/table">
            <a:tbl>
              <a:tblPr>
                <a:tableStyleId>{5C22544A-7EE6-4342-B048-85BDC9FD1C3A}</a:tableStyleId>
              </a:tblPr>
              <a:tblGrid>
                <a:gridCol w="189992">
                  <a:extLst>
                    <a:ext uri="{9D8B030D-6E8A-4147-A177-3AD203B41FA5}">
                      <a16:colId xmlns:a16="http://schemas.microsoft.com/office/drawing/2014/main" val="20000"/>
                    </a:ext>
                  </a:extLst>
                </a:gridCol>
                <a:gridCol w="4747768">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tblGrid>
              <a:tr h="566928">
                <a:tc>
                  <a:txBody>
                    <a:bodyPr/>
                    <a:lstStyle/>
                    <a:p>
                      <a:endParaRPr sz="1000" b="1" dirty="0">
                        <a:solidFill>
                          <a:srgbClr val="0E96AC"/>
                        </a:solidFill>
                        <a:latin typeface="Calibri"/>
                      </a:endParaRPr>
                    </a:p>
                  </a:txBody>
                  <a:tcPr marR="73152" marT="36576" marB="36576">
                    <a:solidFill>
                      <a:srgbClr val="1A2440"/>
                    </a:solidFill>
                  </a:tcPr>
                </a:tc>
                <a:tc>
                  <a:txBody>
                    <a:bodyPr/>
                    <a:lstStyle/>
                    <a:p>
                      <a:r>
                        <a:rPr sz="1000" b="1">
                          <a:solidFill>
                            <a:srgbClr val="0E96AC"/>
                          </a:solidFill>
                          <a:latin typeface="Calibri"/>
                        </a:rPr>
                        <a:t>THAT DECK SAID</a:t>
                      </a:r>
                    </a:p>
                  </a:txBody>
                  <a:tcPr marR="73152" marT="36576" marB="36576">
                    <a:solidFill>
                      <a:srgbClr val="1A2440"/>
                    </a:solidFill>
                  </a:tcPr>
                </a:tc>
                <a:tc>
                  <a:txBody>
                    <a:bodyPr/>
                    <a:lstStyle/>
                    <a:p>
                      <a:r>
                        <a:rPr sz="1000" b="1">
                          <a:solidFill>
                            <a:srgbClr val="0E96AC"/>
                          </a:solidFill>
                          <a:latin typeface="Calibri"/>
                        </a:rPr>
                        <a:t>TODAY</a:t>
                      </a:r>
                    </a:p>
                  </a:txBody>
                  <a:tcPr marR="73152" marT="36576" marB="36576">
                    <a:solidFill>
                      <a:srgbClr val="1A2440"/>
                    </a:solidFill>
                  </a:tcPr>
                </a:tc>
                <a:tc>
                  <a:txBody>
                    <a:bodyPr/>
                    <a:lstStyle/>
                    <a:p>
                      <a:r>
                        <a:rPr sz="1000" b="1">
                          <a:solidFill>
                            <a:srgbClr val="0E96AC"/>
                          </a:solidFill>
                          <a:latin typeface="Calibri"/>
                        </a:rPr>
                        <a:t>WHY</a:t>
                      </a:r>
                    </a:p>
                  </a:txBody>
                  <a:tcPr marR="73152" marT="36576" marB="36576">
                    <a:solidFill>
                      <a:srgbClr val="1A2440"/>
                    </a:solidFill>
                  </a:tcPr>
                </a:tc>
                <a:extLst>
                  <a:ext uri="{0D108BD9-81ED-4DB2-BD59-A6C34878D82A}">
                    <a16:rowId xmlns:a16="http://schemas.microsoft.com/office/drawing/2014/main" val="10000"/>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XL330 · U2D2 · Power Hub — “ORDERED, AWAITING DELIVERY”</a:t>
                      </a:r>
                    </a:p>
                  </a:txBody>
                  <a:tcPr marR="73152" marT="36576" marB="36576">
                    <a:solidFill>
                      <a:srgbClr val="16223A"/>
                    </a:solidFill>
                  </a:tcPr>
                </a:tc>
                <a:tc>
                  <a:txBody>
                    <a:bodyPr/>
                    <a:lstStyle/>
                    <a:p>
                      <a:r>
                        <a:rPr sz="950" b="1">
                          <a:solidFill>
                            <a:srgbClr val="E2E8F0"/>
                          </a:solidFill>
                          <a:latin typeface="Calibri"/>
                        </a:rPr>
                        <a:t>Order cancelled. 10× ST3215 + Waveshare ESP32 driver in hand</a:t>
                      </a:r>
                    </a:p>
                  </a:txBody>
                  <a:tcPr marR="73152" marT="36576" marB="36576">
                    <a:solidFill>
                      <a:srgbClr val="16223A"/>
                    </a:solidFill>
                  </a:tcPr>
                </a:tc>
                <a:tc>
                  <a:txBody>
                    <a:bodyPr/>
                    <a:lstStyle/>
                    <a:p>
                      <a:r>
                        <a:rPr sz="950" b="0">
                          <a:solidFill>
                            <a:srgbClr val="6B7890"/>
                          </a:solidFill>
                          <a:latin typeface="Calibri"/>
                        </a:rPr>
                        <a:t>Part unobtainable in India</a:t>
                      </a:r>
                    </a:p>
                  </a:txBody>
                  <a:tcPr marR="73152" marT="36576" marB="36576">
                    <a:solidFill>
                      <a:srgbClr val="16223A"/>
                    </a:solidFill>
                  </a:tcPr>
                </a:tc>
                <a:extLst>
                  <a:ext uri="{0D108BD9-81ED-4DB2-BD59-A6C34878D82A}">
                    <a16:rowId xmlns:a16="http://schemas.microsoft.com/office/drawing/2014/main" val="10001"/>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“Eight Phases · Currently at 25%”</a:t>
                      </a:r>
                    </a:p>
                  </a:txBody>
                  <a:tcPr marR="73152" marT="36576" marB="36576">
                    <a:solidFill>
                      <a:srgbClr val="16223A"/>
                    </a:solidFill>
                  </a:tcPr>
                </a:tc>
                <a:tc>
                  <a:txBody>
                    <a:bodyPr/>
                    <a:lstStyle/>
                    <a:p>
                      <a:r>
                        <a:rPr sz="950" b="1">
                          <a:solidFill>
                            <a:srgbClr val="E2E8F0"/>
                          </a:solidFill>
                          <a:latin typeface="Calibri"/>
                        </a:rPr>
                        <a:t>Phase 3 — Fabrication &amp; Assembly</a:t>
                      </a:r>
                    </a:p>
                  </a:txBody>
                  <a:tcPr marR="73152" marT="36576" marB="36576">
                    <a:solidFill>
                      <a:srgbClr val="16223A"/>
                    </a:solidFill>
                  </a:tcPr>
                </a:tc>
                <a:tc>
                  <a:txBody>
                    <a:bodyPr/>
                    <a:lstStyle/>
                    <a:p>
                      <a:r>
                        <a:rPr sz="950" b="0">
                          <a:solidFill>
                            <a:srgbClr val="6B7890"/>
                          </a:solidFill>
                          <a:latin typeface="Calibri"/>
                        </a:rPr>
                        <a:t>Eight weeks of Gen 2 work since</a:t>
                      </a:r>
                    </a:p>
                  </a:txBody>
                  <a:tcPr marR="73152" marT="36576" marB="36576">
                    <a:solidFill>
                      <a:srgbClr val="16223A"/>
                    </a:solidFill>
                  </a:tcPr>
                </a:tc>
                <a:extLst>
                  <a:ext uri="{0D108BD9-81ED-4DB2-BD59-A6C34878D82A}">
                    <a16:rowId xmlns:a16="http://schemas.microsoft.com/office/drawing/2014/main" val="10002"/>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“Prototype fabrication started”</a:t>
                      </a:r>
                    </a:p>
                  </a:txBody>
                  <a:tcPr marR="73152" marT="36576" marB="36576">
                    <a:solidFill>
                      <a:srgbClr val="16223A"/>
                    </a:solidFill>
                  </a:tcPr>
                </a:tc>
                <a:tc>
                  <a:txBody>
                    <a:bodyPr/>
                    <a:lstStyle/>
                    <a:p>
                      <a:r>
                        <a:rPr sz="950" b="1" dirty="0">
                          <a:solidFill>
                            <a:srgbClr val="E2E8F0"/>
                          </a:solidFill>
                          <a:latin typeface="Calibri"/>
                        </a:rPr>
                        <a:t>Gen 1 segments printed; Gen 2 v6</a:t>
                      </a:r>
                      <a:r>
                        <a:rPr lang="en-IN" sz="950" b="1" dirty="0">
                          <a:solidFill>
                            <a:srgbClr val="E2E8F0"/>
                          </a:solidFill>
                          <a:latin typeface="Calibri"/>
                        </a:rPr>
                        <a:t> printed</a:t>
                      </a:r>
                      <a:endParaRPr sz="950" b="1" dirty="0">
                        <a:solidFill>
                          <a:srgbClr val="E2E8F0"/>
                        </a:solidFill>
                        <a:latin typeface="Calibri"/>
                      </a:endParaRPr>
                    </a:p>
                  </a:txBody>
                  <a:tcPr marR="73152" marT="36576" marB="36576">
                    <a:solidFill>
                      <a:srgbClr val="16223A"/>
                    </a:solidFill>
                  </a:tcPr>
                </a:tc>
                <a:tc>
                  <a:txBody>
                    <a:bodyPr/>
                    <a:lstStyle/>
                    <a:p>
                      <a:r>
                        <a:rPr sz="950" b="0" dirty="0">
                          <a:solidFill>
                            <a:srgbClr val="6B7890"/>
                          </a:solidFill>
                          <a:latin typeface="Calibri"/>
                        </a:rPr>
                        <a:t>Design of record changed</a:t>
                      </a:r>
                    </a:p>
                  </a:txBody>
                  <a:tcPr marR="73152" marT="36576" marB="36576">
                    <a:solidFill>
                      <a:srgbClr val="16223A"/>
                    </a:solidFill>
                  </a:tcPr>
                </a:tc>
                <a:extLst>
                  <a:ext uri="{0D108BD9-81ED-4DB2-BD59-A6C34878D82A}">
                    <a16:rowId xmlns:a16="http://schemas.microsoft.com/office/drawing/2014/main" val="10003"/>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Roadmap step 1 — “Receive Dynamixel XL330 motors”</a:t>
                      </a:r>
                    </a:p>
                  </a:txBody>
                  <a:tcPr marR="73152" marT="36576" marB="36576">
                    <a:solidFill>
                      <a:srgbClr val="16223A"/>
                    </a:solidFill>
                  </a:tcPr>
                </a:tc>
                <a:tc>
                  <a:txBody>
                    <a:bodyPr/>
                    <a:lstStyle/>
                    <a:p>
                      <a:r>
                        <a:rPr sz="950" b="1">
                          <a:solidFill>
                            <a:srgbClr val="E2E8F0"/>
                          </a:solidFill>
                          <a:latin typeface="Calibri"/>
                        </a:rPr>
                        <a:t>Superseded — see slide 29</a:t>
                      </a:r>
                    </a:p>
                  </a:txBody>
                  <a:tcPr marR="73152" marT="36576" marB="36576">
                    <a:solidFill>
                      <a:srgbClr val="16223A"/>
                    </a:solidFill>
                  </a:tcPr>
                </a:tc>
                <a:tc>
                  <a:txBody>
                    <a:bodyPr/>
                    <a:lstStyle/>
                    <a:p>
                      <a:r>
                        <a:rPr sz="950" b="0" dirty="0">
                          <a:solidFill>
                            <a:srgbClr val="6B7890"/>
                          </a:solidFill>
                          <a:latin typeface="Calibri"/>
                        </a:rPr>
                        <a:t>Different motors received</a:t>
                      </a:r>
                    </a:p>
                  </a:txBody>
                  <a:tcPr marR="73152" marT="36576" marB="36576">
                    <a:solidFill>
                      <a:srgbClr val="16223A"/>
                    </a:solidFill>
                  </a:tcPr>
                </a:tc>
                <a:extLst>
                  <a:ext uri="{0D108BD9-81ED-4DB2-BD59-A6C34878D82A}">
                    <a16:rowId xmlns:a16="http://schemas.microsoft.com/office/drawing/2014/main" val="10004"/>
                  </a:ext>
                </a:extLst>
              </a:tr>
            </a:tbl>
          </a:graphicData>
        </a:graphic>
      </p:graphicFrame>
      <p:sp>
        <p:nvSpPr>
          <p:cNvPr id="34" name="PivotCallout"/>
          <p:cNvSpPr txBox="1"/>
          <p:nvPr/>
        </p:nvSpPr>
        <p:spPr>
          <a:xfrm>
            <a:off x="777240" y="6345936"/>
            <a:ext cx="10607040" cy="384048"/>
          </a:xfrm>
          <a:prstGeom prst="rect">
            <a:avLst/>
          </a:prstGeom>
          <a:noFill/>
        </p:spPr>
        <p:txBody>
          <a:bodyPr wrap="square">
            <a:spAutoFit/>
          </a:bodyPr>
          <a:lstStyle/>
          <a:p>
            <a:r>
              <a:rPr sz="1050" b="1">
                <a:solidFill>
                  <a:srgbClr val="E8821E"/>
                </a:solidFill>
                <a:latin typeface="Calibri"/>
              </a:rPr>
              <a:t>WHAT IT BOUGHT   </a:t>
            </a:r>
            <a:r>
              <a:rPr sz="1050" b="0">
                <a:solidFill>
                  <a:srgbClr val="E2E8F0"/>
                </a:solidFill>
                <a:latin typeface="Calibri"/>
              </a:rPr>
              <a:t>5.7× joint torque (0.52 → 2.94 N·m)  ·  a 12 V rail  ·  sourceable in India  —  consequences of the switch, not its reason. Torque budget: slide 23.</a:t>
            </a:r>
          </a:p>
        </p:txBody>
      </p:sp>
    </p:spTree>
    <p:extLst>
      <p:ext uri="{BB962C8B-B14F-4D97-AF65-F5344CB8AC3E}">
        <p14:creationId xmlns:p14="http://schemas.microsoft.com/office/powerpoint/2010/main" val="1029810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RE-SELECTION</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From XL330 to Waveshare ST3215</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CONSTRAINT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22960"/>
          </a:xfrm>
          <a:prstGeom prst="rect">
            <a:avLst/>
          </a:prstGeom>
          <a:noFill/>
        </p:spPr>
        <p:txBody>
          <a:bodyPr vertOverflow="overflow" vert="horz" wrap="square" rtlCol="0" anchor="t" anchorCtr="0">
            <a:noAutofit/>
          </a:bodyPr>
          <a:lstStyle/>
          <a:p>
            <a:pPr marL="0" indent="0">
              <a:lnSpc>
                <a:spcPct val="108000"/>
              </a:lnSpc>
              <a:buNone/>
            </a:pPr>
            <a:r>
              <a:rPr lang="en-US" sz="1100" dirty="0">
                <a:solidFill>
                  <a:srgbClr val="3A4658"/>
                </a:solidFill>
                <a:latin typeface="Calibri" pitchFamily="34" charset="0"/>
              </a:rPr>
              <a:t>The Gen 1 trade study was sound and its conclusion still holds: a snake robot needs smart serial bus servos. Only the vendor changed. XL330 became unobtainable in the Indian market after 2 of 10 units were received.</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absolute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Single-cable daisy-chain wiring</a:t>
            </a:r>
          </a:p>
          <a:p>
            <a:pPr marL="200000" indent="-200000">
              <a:spcBef>
                <a:spcPts val="700"/>
              </a:spcBef>
              <a:buClr>
                <a:srgbClr val="0E96AC"/>
              </a:buClr>
              <a:buFont typeface="Arial"/>
              <a:buChar char="•"/>
            </a:pPr>
            <a:r>
              <a:rPr lang="en-US" sz="1400" dirty="0">
                <a:solidFill>
                  <a:srgbClr val="16223A"/>
                </a:solidFill>
                <a:latin typeface="Calibri" pitchFamily="34" charset="0"/>
              </a:rPr>
              <a:t>Per-joint load and current feedback</a:t>
            </a:r>
          </a:p>
          <a:p>
            <a:pPr marL="200000" indent="-200000">
              <a:spcBef>
                <a:spcPts val="700"/>
              </a:spcBef>
              <a:buClr>
                <a:srgbClr val="0E96AC"/>
              </a:buClr>
              <a:buFont typeface="Arial"/>
              <a:buChar char="•"/>
            </a:pPr>
            <a:r>
              <a:rPr lang="en-US" sz="1400" dirty="0">
                <a:solidFill>
                  <a:srgbClr val="16223A"/>
                </a:solidFill>
                <a:latin typeface="Calibri" pitchFamily="34" charset="0"/>
              </a:rPr>
              <a:t>Built-in controller, no external driver per joint</a:t>
            </a:r>
          </a:p>
          <a:p>
            <a:pPr marL="200000" indent="-200000">
              <a:spcBef>
                <a:spcPts val="700"/>
              </a:spcBef>
              <a:buClr>
                <a:srgbClr val="0E96AC"/>
              </a:buClr>
              <a:buFont typeface="Arial"/>
              <a:buChar char="•"/>
            </a:pPr>
            <a:r>
              <a:rPr lang="en-US" sz="1400" dirty="0">
                <a:solidFill>
                  <a:srgbClr val="16223A"/>
                </a:solidFill>
                <a:latin typeface="Calibri" pitchFamily="34" charset="0"/>
              </a:rPr>
              <a:t>Scalable to 10 coordinated joints</a:t>
            </a:r>
          </a:p>
          <a:p>
            <a:pPr marL="200000" indent="-200000">
              <a:spcBef>
                <a:spcPts val="700"/>
              </a:spcBef>
              <a:buClr>
                <a:srgbClr val="0E96AC"/>
              </a:buClr>
              <a:buFont typeface="Arial"/>
              <a:buChar char="•"/>
            </a:pPr>
            <a:r>
              <a:rPr lang="en-US" sz="1400" dirty="0">
                <a:solidFill>
                  <a:srgbClr val="16223A"/>
                </a:solidFill>
                <a:latin typeface="Calibri" pitchFamily="34" charset="0"/>
              </a:rPr>
              <a:t>Procurable in India, in quantity</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XL330 VS ST3215 — AS SELECTED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Dynamixel XL330 (Gen 1)</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Waveshare ST3215 (Gen 2)</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0">
                          <a:solidFill>
                            <a:srgbClr val="16223A"/>
                          </a:solidFill>
                          <a:latin typeface="Calibri"/>
                          <a:ea typeface="Calibri"/>
                          <a:cs typeface="Calibri"/>
                        </a:rPr>
                        <a:t>Stall torque</a:t>
                      </a:r>
                    </a:p>
                  </a:txBody>
                  <a:tcPr anchor="ctr">
                    <a:solidFill>
                      <a:srgbClr val="F4F6F9"/>
                    </a:solidFill>
                  </a:tcPr>
                </a:tc>
                <a:tc>
                  <a:txBody>
                    <a:bodyPr/>
                    <a:lstStyle/>
                    <a:p>
                      <a:pPr algn="l"/>
                      <a:r>
                        <a:rPr lang="en-IN" sz="1400" b="0" dirty="0">
                          <a:solidFill>
                            <a:srgbClr val="3A4658"/>
                          </a:solidFill>
                          <a:latin typeface="Calibri"/>
                          <a:ea typeface="Calibri"/>
                          <a:cs typeface="Calibri"/>
                        </a:rPr>
                        <a:t>0.52 N·m</a:t>
                      </a:r>
                    </a:p>
                  </a:txBody>
                  <a:tcPr anchor="ctr">
                    <a:solidFill>
                      <a:srgbClr val="FFFFFF"/>
                    </a:solidFill>
                  </a:tcPr>
                </a:tc>
                <a:tc>
                  <a:txBody>
                    <a:bodyPr/>
                    <a:lstStyle/>
                    <a:p>
                      <a:pPr algn="l"/>
                      <a:r>
                        <a:rPr lang="en-IN" sz="1400" b="0">
                          <a:solidFill>
                            <a:srgbClr val="16223A"/>
                          </a:solidFill>
                          <a:latin typeface="Calibri"/>
                          <a:ea typeface="Calibri"/>
                          <a:cs typeface="Calibri"/>
                        </a:rPr>
                        <a:t>2.94 N·m  —  5.7× higher</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0">
                          <a:solidFill>
                            <a:srgbClr val="16223A"/>
                          </a:solidFill>
                          <a:latin typeface="Calibri"/>
                          <a:ea typeface="Calibri"/>
                          <a:cs typeface="Calibri"/>
                        </a:rPr>
                        <a:t>Voltage rail</a:t>
                      </a:r>
                    </a:p>
                  </a:txBody>
                  <a:tcPr anchor="ctr">
                    <a:solidFill>
                      <a:srgbClr val="F4F6F9"/>
                    </a:solidFill>
                  </a:tcPr>
                </a:tc>
                <a:tc>
                  <a:txBody>
                    <a:bodyPr/>
                    <a:lstStyle/>
                    <a:p>
                      <a:pPr algn="l"/>
                      <a:r>
                        <a:rPr lang="en-IN" sz="1400" b="0" dirty="0">
                          <a:solidFill>
                            <a:srgbClr val="3A4658"/>
                          </a:solidFill>
                          <a:latin typeface="Calibri"/>
                          <a:ea typeface="Calibri"/>
                          <a:cs typeface="Calibri"/>
                        </a:rPr>
                        <a:t>5 V</a:t>
                      </a:r>
                    </a:p>
                  </a:txBody>
                  <a:tcPr anchor="ctr">
                    <a:solidFill>
                      <a:srgbClr val="FFFFFF"/>
                    </a:solidFill>
                  </a:tcPr>
                </a:tc>
                <a:tc>
                  <a:txBody>
                    <a:bodyPr/>
                    <a:lstStyle/>
                    <a:p>
                      <a:pPr algn="l"/>
                      <a:r>
                        <a:rPr lang="en-IN" sz="1400" b="0" dirty="0">
                          <a:solidFill>
                            <a:srgbClr val="16223A"/>
                          </a:solidFill>
                          <a:latin typeface="Calibri"/>
                          <a:ea typeface="Calibri"/>
                          <a:cs typeface="Calibri"/>
                        </a:rPr>
                        <a:t>6.0–12.6 V</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0">
                          <a:solidFill>
                            <a:srgbClr val="16223A"/>
                          </a:solidFill>
                          <a:latin typeface="Calibri"/>
                          <a:ea typeface="Calibri"/>
                          <a:cs typeface="Calibri"/>
                        </a:rPr>
                        <a:t>Stall current</a:t>
                      </a:r>
                    </a:p>
                  </a:txBody>
                  <a:tcPr anchor="ctr">
                    <a:solidFill>
                      <a:srgbClr val="F4F6F9"/>
                    </a:solidFill>
                  </a:tcPr>
                </a:tc>
                <a:tc>
                  <a:txBody>
                    <a:bodyPr/>
                    <a:lstStyle/>
                    <a:p>
                      <a:pPr algn="l"/>
                      <a:r>
                        <a:rPr lang="en-IN" sz="1400" b="0" dirty="0">
                          <a:solidFill>
                            <a:srgbClr val="3A4658"/>
                          </a:solidFill>
                          <a:latin typeface="Calibri"/>
                          <a:ea typeface="Calibri"/>
                          <a:cs typeface="Calibri"/>
                        </a:rPr>
                        <a:t>0.35 A</a:t>
                      </a:r>
                    </a:p>
                  </a:txBody>
                  <a:tcPr anchor="ctr">
                    <a:solidFill>
                      <a:srgbClr val="FFFFFF"/>
                    </a:solidFill>
                  </a:tcPr>
                </a:tc>
                <a:tc>
                  <a:txBody>
                    <a:bodyPr/>
                    <a:lstStyle/>
                    <a:p>
                      <a:pPr algn="l"/>
                      <a:r>
                        <a:rPr lang="en-IN" sz="1400" b="0">
                          <a:solidFill>
                            <a:srgbClr val="16223A"/>
                          </a:solidFill>
                          <a:latin typeface="Calibri"/>
                          <a:ea typeface="Calibri"/>
                          <a:cs typeface="Calibri"/>
                        </a:rPr>
                        <a:t>2.7 A @ 12 V</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0">
                          <a:solidFill>
                            <a:srgbClr val="16223A"/>
                          </a:solidFill>
                          <a:latin typeface="Calibri"/>
                          <a:ea typeface="Calibri"/>
                          <a:cs typeface="Calibri"/>
                        </a:rPr>
                        <a:t>Encoder</a:t>
                      </a:r>
                    </a:p>
                  </a:txBody>
                  <a:tcPr anchor="ctr">
                    <a:solidFill>
                      <a:srgbClr val="F4F6F9"/>
                    </a:solidFill>
                  </a:tcPr>
                </a:tc>
                <a:tc>
                  <a:txBody>
                    <a:bodyPr/>
                    <a:lstStyle/>
                    <a:p>
                      <a:pPr algn="l"/>
                      <a:r>
                        <a:rPr lang="en-IN" sz="1400" b="0" dirty="0">
                          <a:solidFill>
                            <a:srgbClr val="3A4658"/>
                          </a:solidFill>
                          <a:latin typeface="Calibri"/>
                          <a:ea typeface="Calibri"/>
                          <a:cs typeface="Calibri"/>
                        </a:rPr>
                        <a:t>12-bit absolute</a:t>
                      </a:r>
                    </a:p>
                  </a:txBody>
                  <a:tcPr anchor="ctr">
                    <a:solidFill>
                      <a:srgbClr val="FFFFFF"/>
                    </a:solidFill>
                  </a:tcPr>
                </a:tc>
                <a:tc>
                  <a:txBody>
                    <a:bodyPr/>
                    <a:lstStyle/>
                    <a:p>
                      <a:pPr algn="l"/>
                      <a:r>
                        <a:rPr lang="en-IN" sz="1400" b="0" dirty="0">
                          <a:solidFill>
                            <a:srgbClr val="16223A"/>
                          </a:solidFill>
                          <a:latin typeface="Calibri"/>
                          <a:ea typeface="Calibri"/>
                          <a:cs typeface="Calibri"/>
                        </a:rPr>
                        <a:t>12-bit absolute, 0–4095</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0">
                          <a:solidFill>
                            <a:srgbClr val="16223A"/>
                          </a:solidFill>
                          <a:latin typeface="Calibri"/>
                          <a:ea typeface="Calibri"/>
                          <a:cs typeface="Calibri"/>
                        </a:rPr>
                        <a:t>Bus protocol</a:t>
                      </a:r>
                    </a:p>
                  </a:txBody>
                  <a:tcPr anchor="ctr">
                    <a:solidFill>
                      <a:srgbClr val="F4F6F9"/>
                    </a:solidFill>
                  </a:tcPr>
                </a:tc>
                <a:tc>
                  <a:txBody>
                    <a:bodyPr/>
                    <a:lstStyle/>
                    <a:p>
                      <a:pPr algn="l"/>
                      <a:r>
                        <a:rPr lang="en-IN" sz="1400" b="0" dirty="0">
                          <a:solidFill>
                            <a:srgbClr val="3A4658"/>
                          </a:solidFill>
                          <a:latin typeface="Calibri"/>
                          <a:ea typeface="Calibri"/>
                          <a:cs typeface="Calibri"/>
                        </a:rPr>
                        <a:t>Dynamixel 2.0, 1 Mbps</a:t>
                      </a:r>
                    </a:p>
                  </a:txBody>
                  <a:tcPr anchor="ctr">
                    <a:solidFill>
                      <a:srgbClr val="FFFFFF"/>
                    </a:solidFill>
                  </a:tcPr>
                </a:tc>
                <a:tc>
                  <a:txBody>
                    <a:bodyPr/>
                    <a:lstStyle/>
                    <a:p>
                      <a:pPr algn="l"/>
                      <a:r>
                        <a:rPr lang="en-IN" sz="1400" b="0" dirty="0">
                          <a:solidFill>
                            <a:srgbClr val="16223A"/>
                          </a:solidFill>
                          <a:latin typeface="Calibri"/>
                          <a:ea typeface="Calibri"/>
                          <a:cs typeface="Calibri"/>
                        </a:rPr>
                        <a:t>Feetech STS, 1 Mbps half-duplex</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0">
                          <a:solidFill>
                            <a:srgbClr val="16223A"/>
                          </a:solidFill>
                          <a:latin typeface="Calibri"/>
                          <a:ea typeface="Calibri"/>
                          <a:cs typeface="Calibri"/>
                        </a:rPr>
                        <a:t>Driver hardware</a:t>
                      </a:r>
                    </a:p>
                  </a:txBody>
                  <a:tcPr anchor="ctr">
                    <a:solidFill>
                      <a:srgbClr val="F4F6F9"/>
                    </a:solidFill>
                  </a:tcPr>
                </a:tc>
                <a:tc>
                  <a:txBody>
                    <a:bodyPr/>
                    <a:lstStyle/>
                    <a:p>
                      <a:pPr algn="l"/>
                      <a:r>
                        <a:rPr lang="en-IN" sz="1400" b="0" dirty="0">
                          <a:solidFill>
                            <a:srgbClr val="3A4658"/>
                          </a:solidFill>
                          <a:latin typeface="Calibri"/>
                          <a:ea typeface="Calibri"/>
                          <a:cs typeface="Calibri"/>
                        </a:rPr>
                        <a:t>U2D2 + Power Hub + MCU</a:t>
                      </a:r>
                    </a:p>
                  </a:txBody>
                  <a:tcPr anchor="ctr">
                    <a:solidFill>
                      <a:srgbClr val="FFFFFF"/>
                    </a:solidFill>
                  </a:tcPr>
                </a:tc>
                <a:tc>
                  <a:txBody>
                    <a:bodyPr/>
                    <a:lstStyle/>
                    <a:p>
                      <a:pPr algn="l"/>
                      <a:r>
                        <a:rPr lang="en-IN" sz="1400" b="0" dirty="0">
                          <a:solidFill>
                            <a:srgbClr val="16223A"/>
                          </a:solidFill>
                          <a:latin typeface="Calibri"/>
                          <a:ea typeface="Calibri"/>
                          <a:cs typeface="Calibri"/>
                        </a:rPr>
                        <a:t>Waveshare driver, ESP32 onboard</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0" dirty="0">
                          <a:solidFill>
                            <a:srgbClr val="16223A"/>
                          </a:solidFill>
                          <a:latin typeface="Calibri"/>
                          <a:ea typeface="Calibri"/>
                          <a:cs typeface="Calibri"/>
                        </a:rPr>
                        <a:t>Availability in India</a:t>
                      </a:r>
                    </a:p>
                  </a:txBody>
                  <a:tcPr anchor="ctr">
                    <a:solidFill>
                      <a:srgbClr val="F4F6F9"/>
                    </a:solidFill>
                  </a:tcPr>
                </a:tc>
                <a:tc>
                  <a:txBody>
                    <a:bodyPr/>
                    <a:lstStyle/>
                    <a:p>
                      <a:pPr algn="l"/>
                      <a:r>
                        <a:rPr lang="en-IN" sz="1400" b="0" dirty="0">
                          <a:solidFill>
                            <a:srgbClr val="3A4658"/>
                          </a:solidFill>
                          <a:latin typeface="Calibri"/>
                          <a:ea typeface="Calibri"/>
                          <a:cs typeface="Calibri"/>
                        </a:rPr>
                        <a:t>Unobtainable</a:t>
                      </a:r>
                    </a:p>
                  </a:txBody>
                  <a:tcPr anchor="ctr">
                    <a:solidFill>
                      <a:srgbClr val="FFFFFF"/>
                    </a:solidFill>
                  </a:tcPr>
                </a:tc>
                <a:tc>
                  <a:txBody>
                    <a:bodyPr/>
                    <a:lstStyle/>
                    <a:p>
                      <a:pPr algn="l"/>
                      <a:r>
                        <a:rPr lang="en-IN" sz="1400" b="0" dirty="0">
                          <a:solidFill>
                            <a:srgbClr val="16223A"/>
                          </a:solidFill>
                          <a:latin typeface="Calibri"/>
                          <a:ea typeface="Calibri"/>
                          <a:cs typeface="Calibri"/>
                        </a:rPr>
                        <a:t>In stock — 10 units held</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6285913" y="5778500"/>
            <a:ext cx="1485105" cy="1015898"/>
          </a:xfrm>
          <a:prstGeom prst="rect">
            <a:avLst/>
          </a:prstGeom>
        </p:spPr>
      </p:pic>
      <p:pic>
        <p:nvPicPr>
          <p:cNvPr id="13" name="Picture 12" descr="g&#10;&#10;AI-generated content may be incorrect.">
            <a:extLst>
              <a:ext uri="{FF2B5EF4-FFF2-40B4-BE49-F238E27FC236}">
                <a16:creationId xmlns:a16="http://schemas.microsoft.com/office/drawing/2014/main" id="{CA8FD3C0-F494-9728-67D4-84583E2B75AC}"/>
              </a:ext>
            </a:extLst>
          </p:cNvPr>
          <p:cNvPicPr>
            <a:picLocks noChangeAspect="1"/>
          </p:cNvPicPr>
          <p:nvPr/>
        </p:nvPicPr>
        <p:blipFill>
          <a:blip r:embed="rId4"/>
          <a:stretch>
            <a:fillRect/>
          </a:stretch>
        </p:blipFill>
        <p:spPr>
          <a:xfrm>
            <a:off x="8946254" y="5794276"/>
            <a:ext cx="1524410" cy="1063724"/>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3S LiPo 1800 mAh   (11.1 – 12.6 V)</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Waveshare Driver + ESP32   [Robot Master]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Feetech STS Bus   (1 Mbps, half-duplex)</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10 × Waveshare ST3215 Servos</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Gait CPG runs onboard</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MPU6050 IMU  (I²C 21 / 22)</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ESP32 Camera  (planned)</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ESP-NOW → ESP32 #2 → Pi 5</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Generation 2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All firmware targets written and building</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Servo IDs not yet assigned — all ship as ID 1</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v6 segments not yet printed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ESP-NOW link not yet exercised on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GEN 1 → GEN 2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From Tethered Pi Control to Onboard ESP32</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Control moved onto the robot    ·    Pi 5 relegated to base station    ·    Link is now wireless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OFF-ROBOT &amp; PLANNED</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10632"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ONBOARD FIRMWARE STACK</a:t>
            </a:r>
          </a:p>
        </p:txBody>
      </p:sp>
      <p:sp>
        <p:nvSpPr>
          <p:cNvPr id="104" name="title"/>
          <p:cNvSpPr txBox="1">
            <a:spLocks noGrp="1"/>
          </p:cNvSpPr>
          <p:nvPr/>
        </p:nvSpPr>
        <p:spPr>
          <a:xfrm>
            <a:off x="535468" y="395768"/>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ESP32 Firmware — Four Targets, One Bus</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Firmware Strategy: the Waveshare driver's onboard ESP32 is the robot master and owns the servo bus; a second ESP32 at the base station receives telemetry over ESP-NOW and forwards it to the Pi 5 by USB serial. Bench and field firmware are mutually exclusive on the driver board — one is flashed at a time.</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ROBOT ESP32 — FIELD</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BASE STATION ESP32 #2</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BENCH &amp; BRING-UP TOOLS</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robot_esp32 — gait CPG, 10-DOF</a:t>
            </a:r>
          </a:p>
          <a:p>
            <a:pPr marL="180000" indent="-180000">
              <a:buFont typeface="Arial"/>
              <a:buChar char="•"/>
            </a:pPr>
            <a:r>
              <a:rPr lang="en-IN" sz="1200" dirty="0">
                <a:solidFill>
                  <a:srgbClr val="1E4620"/>
                </a:solidFill>
                <a:latin typeface="Calibri"/>
              </a:rPr>
              <a:t>MPU6050 on I2C GPIO 21 / 22</a:t>
            </a:r>
          </a:p>
          <a:p>
            <a:pPr marL="180000" indent="-180000">
              <a:buFont typeface="Arial"/>
              <a:buChar char="•"/>
            </a:pPr>
            <a:r>
              <a:rPr lang="en-IN" sz="1200" dirty="0">
                <a:solidFill>
                  <a:srgbClr val="1E4620"/>
                </a:solidFill>
                <a:latin typeface="Calibri"/>
              </a:rPr>
              <a:t>Current-stall obstacle FSM</a:t>
            </a:r>
          </a:p>
          <a:p>
            <a:pPr marL="180000" indent="-180000">
              <a:buFont typeface="Arial"/>
              <a:buChar char="•"/>
            </a:pPr>
            <a:r>
              <a:rPr lang="en-IN" sz="1200" dirty="0">
                <a:solidFill>
                  <a:srgbClr val="1E4620"/>
                </a:solidFill>
                <a:latin typeface="Calibri"/>
              </a:rPr>
              <a:t>ESP-NOW telemetry transmit</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base_esp32 — ESP-NOW receive</a:t>
            </a:r>
          </a:p>
          <a:p>
            <a:pPr marL="180000" indent="-180000">
              <a:buFont typeface="Arial"/>
              <a:buChar char="•"/>
            </a:pPr>
            <a:r>
              <a:rPr lang="en-IN" sz="1000" dirty="0">
                <a:solidFill>
                  <a:srgbClr val="374151"/>
                </a:solidFill>
                <a:latin typeface="Calibri"/>
              </a:rPr>
              <a:t>USB serial to Pi 5 @ 115200</a:t>
            </a:r>
          </a:p>
          <a:p>
            <a:pPr marL="180000" indent="-180000">
              <a:buFont typeface="Arial"/>
              <a:buChar char="•"/>
            </a:pPr>
            <a:r>
              <a:rPr lang="en-IN" sz="1000" dirty="0">
                <a:solidFill>
                  <a:srgbClr val="374151"/>
                </a:solidFill>
                <a:latin typeface="Calibri"/>
              </a:rPr>
              <a:t>base_station.py logs telemetry</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spin_all — broadcast smoke test</a:t>
            </a:r>
          </a:p>
          <a:p>
            <a:pPr marL="180000" indent="-180000">
              <a:buFont typeface="Arial"/>
              <a:buChar char="•"/>
            </a:pPr>
            <a:r>
              <a:rPr lang="en-IN" sz="1000" dirty="0">
                <a:solidFill>
                  <a:srgbClr val="374151"/>
                </a:solidFill>
                <a:latin typeface="Calibri"/>
              </a:rPr>
              <a:t>assign_ids — one servo at a time</a:t>
            </a:r>
          </a:p>
          <a:p>
            <a:pPr marL="180000" indent="-180000">
              <a:buFont typeface="Arial"/>
              <a:buChar char="•"/>
            </a:pPr>
            <a:r>
              <a:rPr lang="en-IN" sz="1000" dirty="0">
                <a:solidFill>
                  <a:srgbClr val="374151"/>
                </a:solidFill>
                <a:latin typeface="Calibri"/>
              </a:rPr>
              <a:t>usb_servo_bridge — Python stack</a:t>
            </a:r>
          </a:p>
          <a:p>
            <a:pPr marL="180000" indent="-180000">
              <a:buFont typeface="Arial"/>
              <a:buChar char="•"/>
            </a:pPr>
            <a:r>
              <a:rPr lang="en-IN" sz="1000" dirty="0">
                <a:solidFill>
                  <a:srgbClr val="374151"/>
                </a:solidFill>
                <a:latin typeface="Calibri"/>
              </a:rPr>
              <a:t>PlatformIO, one env per sketch</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FIRMWARE BRING-UP SEQUENCE</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F9D55"/>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Firmware
written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F9D55"/>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PlatformIO
builds</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F9D55"/>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Broadcast
smoke test</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6FD6"/>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ID
assignment</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E8821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Bus
verification</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E8821E"/>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Gait on
hardware</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Upcoming</a:t>
            </a:r>
          </a:p>
        </p:txBody>
      </p:sp>
      <p:sp>
        <p:nvSpPr>
          <p:cNvPr id="316" name="step6_circle"/>
          <p:cNvSpPr>
            <a:spLocks noGrp="1"/>
          </p:cNvSpPr>
          <p:nvPr/>
        </p:nvSpPr>
        <p:spPr>
          <a:xfrm>
            <a:off x="9613900" y="4241800"/>
            <a:ext cx="457200" cy="457200"/>
          </a:xfrm>
          <a:prstGeom prst="roundRect">
            <a:avLst>
              <a:gd name="adj" fmla="val 50000"/>
            </a:avLst>
          </a:prstGeom>
          <a:solidFill>
            <a:srgbClr val="E8821E"/>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ESP-NOW
telemetry</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all five firmware targets are written and compile clean under PlatformIO, and the broadcast smoke test drives all ten servos before any ID has been assigned — so the control stack was validated without waiting on bring-up.</a:t>
            </a:r>
          </a:p>
        </p:txBody>
      </p:sp>
    </p:spTree>
    <p:extLst>
      <p:ext uri="{BB962C8B-B14F-4D97-AF65-F5344CB8AC3E}">
        <p14:creationId xmlns:p14="http://schemas.microsoft.com/office/powerpoint/2010/main" val="4144980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BUS PROTOCOL</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Feetech STS Control Table &amp; Packet Format</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PACKET FORMAT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22960"/>
          </a:xfrm>
          <a:prstGeom prst="rect">
            <a:avLst/>
          </a:prstGeom>
          <a:noFill/>
        </p:spPr>
        <p:txBody>
          <a:bodyPr vertOverflow="overflow" vert="horz" wrap="square" rtlCol="0" anchor="t" anchorCtr="0">
            <a:noAutofit/>
          </a:bodyPr>
          <a:lstStyle/>
          <a:p>
            <a:pPr marL="0" indent="0">
              <a:lnSpc>
                <a:spcPct val="108000"/>
              </a:lnSpc>
              <a:buNone/>
            </a:pPr>
            <a:r>
              <a:rPr lang="en-US" sz="1100" dirty="0">
                <a:solidFill>
                  <a:srgbClr val="3A4658"/>
                </a:solidFill>
                <a:latin typeface="Calibri" pitchFamily="34" charset="0"/>
              </a:rPr>
              <a:t>All ten servos share one half-duplex TTL line at 1 Mbps. Every packet is addressed to a single ID, or to broadcast ID 0xFE, which every servo acts on and none replies to — the only safe way to drive the bus before IDs are assigned.</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Header  0xFF 0xFF</a:t>
            </a:r>
          </a:p>
          <a:p>
            <a:pPr marL="200000" indent="-200000">
              <a:spcBef>
                <a:spcPts val="700"/>
              </a:spcBef>
              <a:buClr>
                <a:srgbClr val="0E96AC"/>
              </a:buClr>
              <a:buFont typeface="Arial"/>
              <a:buChar char="•"/>
            </a:pPr>
            <a:r>
              <a:rPr lang="en-US" sz="1400" dirty="0">
                <a:solidFill>
                  <a:srgbClr val="16223A"/>
                </a:solidFill>
                <a:latin typeface="Calibri" pitchFamily="34" charset="0"/>
              </a:rPr>
              <a:t>ID  1–253, or 0xFE broadcast</a:t>
            </a:r>
          </a:p>
          <a:p>
            <a:pPr marL="200000" indent="-200000">
              <a:spcBef>
                <a:spcPts val="700"/>
              </a:spcBef>
              <a:buClr>
                <a:srgbClr val="0E96AC"/>
              </a:buClr>
              <a:buFont typeface="Arial"/>
              <a:buChar char="•"/>
            </a:pPr>
            <a:r>
              <a:rPr lang="en-US" sz="1400" dirty="0">
                <a:solidFill>
                  <a:srgbClr val="16223A"/>
                </a:solidFill>
                <a:latin typeface="Calibri" pitchFamily="34" charset="0"/>
              </a:rPr>
              <a:t>Length  parameters + 2</a:t>
            </a:r>
          </a:p>
          <a:p>
            <a:pPr marL="200000" indent="-200000">
              <a:spcBef>
                <a:spcPts val="700"/>
              </a:spcBef>
              <a:buClr>
                <a:srgbClr val="0E96AC"/>
              </a:buClr>
              <a:buFont typeface="Arial"/>
              <a:buChar char="•"/>
            </a:pPr>
            <a:r>
              <a:rPr lang="en-US" sz="1400" dirty="0">
                <a:solidFill>
                  <a:srgbClr val="16223A"/>
                </a:solidFill>
                <a:latin typeface="Calibri" pitchFamily="34" charset="0"/>
              </a:rPr>
              <a:t>Instruction  0x03 = WRITE, 0x02 = READ</a:t>
            </a:r>
          </a:p>
          <a:p>
            <a:pPr marL="200000" indent="-200000">
              <a:spcBef>
                <a:spcPts val="700"/>
              </a:spcBef>
              <a:buClr>
                <a:srgbClr val="0E96AC"/>
              </a:buClr>
              <a:buFont typeface="Arial"/>
              <a:buChar char="•"/>
            </a:pPr>
            <a:r>
              <a:rPr lang="en-US" sz="1400" dirty="0">
                <a:solidFill>
                  <a:srgbClr val="16223A"/>
                </a:solidFill>
                <a:latin typeface="Calibri" pitchFamily="34" charset="0"/>
              </a:rPr>
              <a:t>Parameters  address, then data bytes</a:t>
            </a:r>
          </a:p>
          <a:p>
            <a:pPr marL="200000" indent="-200000">
              <a:spcBef>
                <a:spcPts val="700"/>
              </a:spcBef>
              <a:buClr>
                <a:srgbClr val="0E96AC"/>
              </a:buClr>
              <a:buFont typeface="Arial"/>
              <a:buChar char="•"/>
            </a:pPr>
            <a:r>
              <a:rPr lang="en-US" sz="1400" dirty="0">
                <a:solidFill>
                  <a:srgbClr val="16223A"/>
                </a:solidFill>
                <a:latin typeface="Calibri" pitchFamily="34" charset="0"/>
              </a:rPr>
              <a:t>Checksum  bitwise NOT of the byte sum</a:t>
            </a:r>
          </a:p>
          <a:p>
            <a:pPr marL="200000" indent="-200000">
              <a:spcBef>
                <a:spcPts val="700"/>
              </a:spcBef>
              <a:buClr>
                <a:srgbClr val="0E96AC"/>
              </a:buClr>
              <a:buFont typeface="Arial"/>
              <a:buChar char="•"/>
            </a:pPr>
            <a:r>
              <a:rPr lang="en-US" sz="1400" dirty="0">
                <a:solidFill>
                  <a:srgbClr val="16223A"/>
                </a:solidFill>
                <a:latin typeface="Calibri" pitchFamily="34" charset="0"/>
              </a:rPr>
              <a:t>Multi-byte fields are little-endian</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CONTROL TABLE — IMPLEMENTED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Register</a:t>
                      </a:r>
                    </a:p>
                  </a:txBody>
                  <a:tcPr anchor="ctr">
                    <a:solidFill>
                      <a:srgbClr val="16223A"/>
                    </a:solidFill>
                  </a:tcPr>
                </a:tc>
                <a:tc>
                  <a:txBody>
                    <a:bodyPr/>
                    <a:lstStyle/>
                    <a:p>
                      <a:pPr algn="ctr"/>
                      <a:r>
                        <a:rPr lang="en-IN" sz="1400" b="1" dirty="0">
                          <a:solidFill>
                            <a:srgbClr val="FFFFFF"/>
                          </a:solidFill>
                          <a:latin typeface="Calibri"/>
                          <a:ea typeface="Calibri"/>
                          <a:cs typeface="Calibri"/>
                        </a:rPr>
                        <a:t>Addr</a:t>
                      </a:r>
                    </a:p>
                  </a:txBody>
                  <a:tcPr anchor="ctr">
                    <a:solidFill>
                      <a:srgbClr val="16223A"/>
                    </a:solidFill>
                  </a:tcPr>
                </a:tc>
                <a:tc>
                  <a:txBody>
                    <a:bodyPr/>
                    <a:lstStyle/>
                    <a:p>
                      <a:pPr algn="ctr"/>
                      <a:r>
                        <a:rPr lang="en-IN" sz="1400" b="1" dirty="0">
                          <a:solidFill>
                            <a:srgbClr val="FFFFFF"/>
                          </a:solidFill>
                          <a:latin typeface="Calibri"/>
                          <a:ea typeface="Calibri"/>
                          <a:cs typeface="Calibri"/>
                        </a:rPr>
                        <a:t>Width and meaning</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0">
                          <a:solidFill>
                            <a:srgbClr val="16223A"/>
                          </a:solidFill>
                          <a:latin typeface="Calibri"/>
                          <a:ea typeface="Calibri"/>
                          <a:cs typeface="Calibri"/>
                        </a:rPr>
                        <a:t>ID</a:t>
                      </a:r>
                    </a:p>
                  </a:txBody>
                  <a:tcPr anchor="ctr">
                    <a:solidFill>
                      <a:srgbClr val="F4F6F9"/>
                    </a:solidFill>
                  </a:tcPr>
                </a:tc>
                <a:tc>
                  <a:txBody>
                    <a:bodyPr/>
                    <a:lstStyle/>
                    <a:p>
                      <a:pPr algn="l"/>
                      <a:r>
                        <a:rPr lang="en-IN" sz="1400" b="0" dirty="0">
                          <a:solidFill>
                            <a:srgbClr val="3A4658"/>
                          </a:solidFill>
                          <a:latin typeface="Calibri"/>
                          <a:ea typeface="Calibri"/>
                          <a:cs typeface="Calibri"/>
                        </a:rPr>
                        <a:t>5</a:t>
                      </a:r>
                    </a:p>
                  </a:txBody>
                  <a:tcPr anchor="ctr">
                    <a:solidFill>
                      <a:srgbClr val="FFFFFF"/>
                    </a:solidFill>
                  </a:tcPr>
                </a:tc>
                <a:tc>
                  <a:txBody>
                    <a:bodyPr/>
                    <a:lstStyle/>
                    <a:p>
                      <a:pPr algn="l"/>
                      <a:r>
                        <a:rPr lang="en-IN" sz="1400" b="0">
                          <a:solidFill>
                            <a:srgbClr val="16223A"/>
                          </a:solidFill>
                          <a:latin typeface="Calibri"/>
                          <a:ea typeface="Calibri"/>
                          <a:cs typeface="Calibri"/>
                        </a:rPr>
                        <a:t>1 byte, EEPROM — factory default 1</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0">
                          <a:solidFill>
                            <a:srgbClr val="16223A"/>
                          </a:solidFill>
                          <a:latin typeface="Calibri"/>
                          <a:ea typeface="Calibri"/>
                          <a:cs typeface="Calibri"/>
                        </a:rPr>
                        <a:t>TORQUE_ENABLE</a:t>
                      </a:r>
                    </a:p>
                  </a:txBody>
                  <a:tcPr anchor="ctr">
                    <a:solidFill>
                      <a:srgbClr val="F4F6F9"/>
                    </a:solidFill>
                  </a:tcPr>
                </a:tc>
                <a:tc>
                  <a:txBody>
                    <a:bodyPr/>
                    <a:lstStyle/>
                    <a:p>
                      <a:pPr algn="l"/>
                      <a:r>
                        <a:rPr lang="en-IN" sz="1400" b="0" dirty="0">
                          <a:solidFill>
                            <a:srgbClr val="3A4658"/>
                          </a:solidFill>
                          <a:latin typeface="Calibri"/>
                          <a:ea typeface="Calibri"/>
                          <a:cs typeface="Calibri"/>
                        </a:rPr>
                        <a:t>40</a:t>
                      </a:r>
                    </a:p>
                  </a:txBody>
                  <a:tcPr anchor="ctr">
                    <a:solidFill>
                      <a:srgbClr val="FFFFFF"/>
                    </a:solidFill>
                  </a:tcPr>
                </a:tc>
                <a:tc>
                  <a:txBody>
                    <a:bodyPr/>
                    <a:lstStyle/>
                    <a:p>
                      <a:pPr algn="l"/>
                      <a:r>
                        <a:rPr lang="en-IN" sz="1400" b="0" dirty="0">
                          <a:solidFill>
                            <a:srgbClr val="16223A"/>
                          </a:solidFill>
                          <a:latin typeface="Calibri"/>
                          <a:ea typeface="Calibri"/>
                          <a:cs typeface="Calibri"/>
                        </a:rPr>
                        <a:t>1 byte  0 = off, 1 = on</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0">
                          <a:solidFill>
                            <a:srgbClr val="16223A"/>
                          </a:solidFill>
                          <a:latin typeface="Calibri"/>
                          <a:ea typeface="Calibri"/>
                          <a:cs typeface="Calibri"/>
                        </a:rPr>
                        <a:t>GOAL_POSITION</a:t>
                      </a:r>
                    </a:p>
                  </a:txBody>
                  <a:tcPr anchor="ctr">
                    <a:solidFill>
                      <a:srgbClr val="F4F6F9"/>
                    </a:solidFill>
                  </a:tcPr>
                </a:tc>
                <a:tc>
                  <a:txBody>
                    <a:bodyPr/>
                    <a:lstStyle/>
                    <a:p>
                      <a:pPr algn="l"/>
                      <a:r>
                        <a:rPr lang="en-IN" sz="1400" b="0" dirty="0">
                          <a:solidFill>
                            <a:srgbClr val="3A4658"/>
                          </a:solidFill>
                          <a:latin typeface="Calibri"/>
                          <a:ea typeface="Calibri"/>
                          <a:cs typeface="Calibri"/>
                        </a:rPr>
                        <a:t>42</a:t>
                      </a:r>
                    </a:p>
                  </a:txBody>
                  <a:tcPr anchor="ctr">
                    <a:solidFill>
                      <a:srgbClr val="FFFFFF"/>
                    </a:solidFill>
                  </a:tcPr>
                </a:tc>
                <a:tc>
                  <a:txBody>
                    <a:bodyPr/>
                    <a:lstStyle/>
                    <a:p>
                      <a:pPr algn="l"/>
                      <a:r>
                        <a:rPr lang="en-IN" sz="1400" b="0">
                          <a:solidFill>
                            <a:srgbClr val="16223A"/>
                          </a:solidFill>
                          <a:latin typeface="Calibri"/>
                          <a:ea typeface="Calibri"/>
                          <a:cs typeface="Calibri"/>
                        </a:rPr>
                        <a:t>2 bytes, little-endian, 0–4095</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0">
                          <a:solidFill>
                            <a:srgbClr val="16223A"/>
                          </a:solidFill>
                          <a:latin typeface="Calibri"/>
                          <a:ea typeface="Calibri"/>
                          <a:cs typeface="Calibri"/>
                        </a:rPr>
                        <a:t>GOAL_SPEED</a:t>
                      </a:r>
                    </a:p>
                  </a:txBody>
                  <a:tcPr anchor="ctr">
                    <a:solidFill>
                      <a:srgbClr val="F4F6F9"/>
                    </a:solidFill>
                  </a:tcPr>
                </a:tc>
                <a:tc>
                  <a:txBody>
                    <a:bodyPr/>
                    <a:lstStyle/>
                    <a:p>
                      <a:pPr algn="l"/>
                      <a:r>
                        <a:rPr lang="en-IN" sz="1400" b="0" dirty="0">
                          <a:solidFill>
                            <a:srgbClr val="3A4658"/>
                          </a:solidFill>
                          <a:latin typeface="Calibri"/>
                          <a:ea typeface="Calibri"/>
                          <a:cs typeface="Calibri"/>
                        </a:rPr>
                        <a:t>46</a:t>
                      </a:r>
                    </a:p>
                  </a:txBody>
                  <a:tcPr anchor="ctr">
                    <a:solidFill>
                      <a:srgbClr val="FFFFFF"/>
                    </a:solidFill>
                  </a:tcPr>
                </a:tc>
                <a:tc>
                  <a:txBody>
                    <a:bodyPr/>
                    <a:lstStyle/>
                    <a:p>
                      <a:pPr algn="l"/>
                      <a:r>
                        <a:rPr lang="en-IN" sz="1400" b="0" dirty="0">
                          <a:solidFill>
                            <a:srgbClr val="16223A"/>
                          </a:solidFill>
                          <a:latin typeface="Calibri"/>
                          <a:ea typeface="Calibri"/>
                          <a:cs typeface="Calibri"/>
                        </a:rPr>
                        <a:t>2 bytes, steps per second</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0">
                          <a:solidFill>
                            <a:srgbClr val="16223A"/>
                          </a:solidFill>
                          <a:latin typeface="Calibri"/>
                          <a:ea typeface="Calibri"/>
                          <a:cs typeface="Calibri"/>
                        </a:rPr>
                        <a:t>LOCK</a:t>
                      </a:r>
                    </a:p>
                  </a:txBody>
                  <a:tcPr anchor="ctr">
                    <a:solidFill>
                      <a:srgbClr val="F4F6F9"/>
                    </a:solidFill>
                  </a:tcPr>
                </a:tc>
                <a:tc>
                  <a:txBody>
                    <a:bodyPr/>
                    <a:lstStyle/>
                    <a:p>
                      <a:pPr algn="l"/>
                      <a:r>
                        <a:rPr lang="en-IN" sz="1400" b="0" dirty="0">
                          <a:solidFill>
                            <a:srgbClr val="3A4658"/>
                          </a:solidFill>
                          <a:latin typeface="Calibri"/>
                          <a:ea typeface="Calibri"/>
                          <a:cs typeface="Calibri"/>
                        </a:rPr>
                        <a:t>55</a:t>
                      </a:r>
                    </a:p>
                  </a:txBody>
                  <a:tcPr anchor="ctr">
                    <a:solidFill>
                      <a:srgbClr val="FFFFFF"/>
                    </a:solidFill>
                  </a:tcPr>
                </a:tc>
                <a:tc>
                  <a:txBody>
                    <a:bodyPr/>
                    <a:lstStyle/>
                    <a:p>
                      <a:pPr algn="l"/>
                      <a:r>
                        <a:rPr lang="en-IN" sz="1400" b="0" dirty="0">
                          <a:solidFill>
                            <a:srgbClr val="16223A"/>
                          </a:solidFill>
                          <a:latin typeface="Calibri"/>
                          <a:ea typeface="Calibri"/>
                          <a:cs typeface="Calibri"/>
                        </a:rPr>
                        <a:t>1 byte, EEPROM write gate</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0">
                          <a:solidFill>
                            <a:srgbClr val="16223A"/>
                          </a:solidFill>
                          <a:latin typeface="Calibri"/>
                          <a:ea typeface="Calibri"/>
                          <a:cs typeface="Calibri"/>
                        </a:rPr>
                        <a:t>PRESENT_POSITION</a:t>
                      </a:r>
                    </a:p>
                  </a:txBody>
                  <a:tcPr anchor="ctr">
                    <a:solidFill>
                      <a:srgbClr val="F4F6F9"/>
                    </a:solidFill>
                  </a:tcPr>
                </a:tc>
                <a:tc>
                  <a:txBody>
                    <a:bodyPr/>
                    <a:lstStyle/>
                    <a:p>
                      <a:pPr algn="l"/>
                      <a:r>
                        <a:rPr lang="en-IN" sz="1400" b="0" dirty="0">
                          <a:solidFill>
                            <a:srgbClr val="3A4658"/>
                          </a:solidFill>
                          <a:latin typeface="Calibri"/>
                          <a:ea typeface="Calibri"/>
                          <a:cs typeface="Calibri"/>
                        </a:rPr>
                        <a:t>56</a:t>
                      </a:r>
                    </a:p>
                  </a:txBody>
                  <a:tcPr anchor="ctr">
                    <a:solidFill>
                      <a:srgbClr val="FFFFFF"/>
                    </a:solidFill>
                  </a:tcPr>
                </a:tc>
                <a:tc>
                  <a:txBody>
                    <a:bodyPr/>
                    <a:lstStyle/>
                    <a:p>
                      <a:pPr algn="l"/>
                      <a:r>
                        <a:rPr lang="en-IN" sz="1400" b="0" dirty="0">
                          <a:solidFill>
                            <a:srgbClr val="16223A"/>
                          </a:solidFill>
                          <a:latin typeface="Calibri"/>
                          <a:ea typeface="Calibri"/>
                          <a:cs typeface="Calibri"/>
                        </a:rPr>
                        <a:t>2 bytes, centre = 2048</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0" dirty="0">
                          <a:solidFill>
                            <a:srgbClr val="16223A"/>
                          </a:solidFill>
                          <a:latin typeface="Calibri"/>
                          <a:ea typeface="Calibri"/>
                          <a:cs typeface="Calibri"/>
                        </a:rPr>
                        <a:t>PRESENT_CURRENT</a:t>
                      </a:r>
                    </a:p>
                  </a:txBody>
                  <a:tcPr anchor="ctr">
                    <a:solidFill>
                      <a:srgbClr val="F4F6F9"/>
                    </a:solidFill>
                  </a:tcPr>
                </a:tc>
                <a:tc>
                  <a:txBody>
                    <a:bodyPr/>
                    <a:lstStyle/>
                    <a:p>
                      <a:pPr algn="l"/>
                      <a:r>
                        <a:rPr lang="en-IN" sz="1400" b="0" dirty="0">
                          <a:solidFill>
                            <a:srgbClr val="3A4658"/>
                          </a:solidFill>
                          <a:latin typeface="Calibri"/>
                          <a:ea typeface="Calibri"/>
                          <a:cs typeface="Calibri"/>
                        </a:rPr>
                        <a:t>69</a:t>
                      </a:r>
                    </a:p>
                  </a:txBody>
                  <a:tcPr anchor="ctr">
                    <a:solidFill>
                      <a:srgbClr val="FFFFFF"/>
                    </a:solidFill>
                  </a:tcPr>
                </a:tc>
                <a:tc>
                  <a:txBody>
                    <a:bodyPr/>
                    <a:lstStyle/>
                    <a:p>
                      <a:pPr algn="l"/>
                      <a:r>
                        <a:rPr lang="en-IN" sz="1400" b="0" dirty="0">
                          <a:solidFill>
                            <a:srgbClr val="16223A"/>
                          </a:solidFill>
                          <a:latin typeface="Calibri"/>
                          <a:ea typeface="Calibri"/>
                          <a:cs typeface="Calibri"/>
                        </a:rPr>
                        <a:t>2 bytes, bit15 = sign, 6.5 mA/count</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3"/>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4"/>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CAD EVOLUTION</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Segment Design v4 → v5 → v6</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Design Strategy: the segment is a parametric CadQuery model, not a hand-drawn solid, so every dimension traces to a named constant and the model refuses to export if its own assumptions stop holding. v6 is the design of record; its three fixes were found by measuring the earlier versions rather than looking at them.</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V4 — BASELINE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V5 — SUPERSEDED</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V6 — DESIGN OF RECORD</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First parametric segment</a:t>
            </a:r>
          </a:p>
          <a:p>
            <a:pPr marL="180000" indent="-180000">
              <a:buFont typeface="Arial"/>
              <a:buChar char="•"/>
            </a:pPr>
            <a:r>
              <a:rPr lang="en-IN" sz="1200" dirty="0">
                <a:solidFill>
                  <a:srgbClr val="1E4620"/>
                </a:solidFill>
                <a:latin typeface="Calibri"/>
              </a:rPr>
              <a:t>58 mm joint-to-joint pitch</a:t>
            </a:r>
          </a:p>
          <a:p>
            <a:pPr marL="180000" indent="-180000">
              <a:buFont typeface="Arial"/>
              <a:buChar char="•"/>
            </a:pPr>
            <a:r>
              <a:rPr lang="en-IN" sz="1200" dirty="0">
                <a:solidFill>
                  <a:srgbClr val="1E4620"/>
                </a:solidFill>
                <a:latin typeface="Calibri"/>
              </a:rPr>
              <a:t>Ground contact never measured</a:t>
            </a:r>
          </a:p>
          <a:p>
            <a:pPr marL="180000" indent="-180000">
              <a:buFont typeface="Arial"/>
              <a:buChar char="•"/>
            </a:pPr>
            <a:r>
              <a:rPr lang="en-IN" sz="1200" dirty="0">
                <a:solidFill>
                  <a:srgbClr val="1E4620"/>
                </a:solidFill>
                <a:latin typeface="Calibri"/>
              </a:rPr>
              <a:t>Superseded, still printable</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Widened yoke rectangle</a:t>
            </a:r>
          </a:p>
          <a:p>
            <a:pPr marL="180000" indent="-180000">
              <a:buFont typeface="Arial"/>
              <a:buChar char="•"/>
            </a:pPr>
            <a:r>
              <a:rPr lang="en-IN" sz="1000" dirty="0">
                <a:solidFill>
                  <a:srgbClr val="374151"/>
                </a:solidFill>
                <a:latin typeface="Calibri"/>
              </a:rPr>
              <a:t>Early sidewall bug fixed</a:t>
            </a:r>
          </a:p>
          <a:p>
            <a:pPr marL="180000" indent="-180000">
              <a:buFont typeface="Arial"/>
              <a:buChar char="•"/>
            </a:pPr>
            <a:r>
              <a:rPr lang="en-IN" sz="1000" dirty="0">
                <a:solidFill>
                  <a:srgbClr val="374151"/>
                </a:solidFill>
                <a:latin typeface="Calibri"/>
              </a:rPr>
              <a:t>Shares v4's bounding box</a:t>
            </a:r>
          </a:p>
          <a:p>
            <a:pPr marL="180000" indent="-180000">
              <a:buFont typeface="Arial"/>
              <a:buChar char="•"/>
            </a:pPr>
            <a:r>
              <a:rPr lang="en-IN" sz="1000" dirty="0">
                <a:solidFill>
                  <a:srgbClr val="374151"/>
                </a:solidFill>
                <a:latin typeface="Calibri"/>
              </a:rPr>
              <a:t>Dimensional error — do not print</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Belly scales now touch ground</a:t>
            </a:r>
          </a:p>
          <a:p>
            <a:pPr marL="180000" indent="-180000">
              <a:buFont typeface="Arial"/>
              <a:buChar char="•"/>
            </a:pPr>
            <a:r>
              <a:rPr lang="en-IN" sz="1000" dirty="0">
                <a:solidFill>
                  <a:srgbClr val="374151"/>
                </a:solidFill>
                <a:latin typeface="Calibri"/>
              </a:rPr>
              <a:t>Scales reoriented for undulation</a:t>
            </a:r>
          </a:p>
          <a:p>
            <a:pPr marL="180000" indent="-180000">
              <a:buFont typeface="Arial"/>
              <a:buChar char="•"/>
            </a:pPr>
            <a:r>
              <a:rPr lang="en-IN" sz="1000" dirty="0">
                <a:solidFill>
                  <a:srgbClr val="374151"/>
                </a:solidFill>
                <a:latin typeface="Calibri"/>
              </a:rPr>
              <a:t>Positive M2 motor retention</a:t>
            </a:r>
          </a:p>
          <a:p>
            <a:pPr marL="180000" indent="-180000">
              <a:buFont typeface="Arial"/>
              <a:buChar char="•"/>
            </a:pPr>
            <a:r>
              <a:rPr lang="en-IN" sz="1000" dirty="0">
                <a:solidFill>
                  <a:srgbClr val="374151"/>
                </a:solidFill>
                <a:latin typeface="Calibri"/>
              </a:rPr>
              <a:t>Self-check asserts all three</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FABRICATION PIPELINE</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F9D55"/>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Parametric
model</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F9D55"/>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Self-check
passes</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6FD6"/>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Probe
ST3215 STEP</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E8821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Print one
segment</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E8821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Measure
friction</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E8821E"/>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Print
remaining 10</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Upcoming</a:t>
            </a:r>
          </a:p>
        </p:txBody>
      </p:sp>
      <p:sp>
        <p:nvSpPr>
          <p:cNvPr id="316" name="step6_circle"/>
          <p:cNvSpPr>
            <a:spLocks noGrp="1"/>
          </p:cNvSpPr>
          <p:nvPr/>
        </p:nvSpPr>
        <p:spPr>
          <a:xfrm>
            <a:off x="9613900" y="4241800"/>
            <a:ext cx="457200" cy="457200"/>
          </a:xfrm>
          <a:prstGeom prst="roundRect">
            <a:avLst>
              <a:gd name="adj" fmla="val 50000"/>
            </a:avLst>
          </a:prstGeom>
          <a:solidFill>
            <a:srgbClr val="E8821E"/>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Chain
assembly</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v6 caught three defects that v4 and v5 shared — the bottom plate sat 0.45 mm below the belly scales so 94% of ground contact was the one surface never meant to touch; the scales resisted the wrong axis for lateral undulation; and the motor had no positive retention at all.</a:t>
            </a:r>
          </a:p>
        </p:txBody>
      </p:sp>
    </p:spTree>
    <p:extLst>
      <p:ext uri="{BB962C8B-B14F-4D97-AF65-F5344CB8AC3E}">
        <p14:creationId xmlns:p14="http://schemas.microsoft.com/office/powerpoint/2010/main" val="4144980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STRUCTURE &amp; LOAD PATH</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v6 Load Path &amp; Positive Motor Retention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v4 / v5 — Motor Lifts Straight Out</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Horn</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Slip-fit 0.4 mm</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Open at top</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Lightening windows</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~1 mm rear wall</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The motor sits in an open pocket with no fastener. Nothing resists it lifting out.</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v6 — Captured in a Closed Cradle</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Horn</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Four M2 screws capture the motor against a closed cradle wall.</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LOAD PATH</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Horn face transfers joint torque to the next segment</a:t>
            </a:r>
          </a:p>
          <a:p>
            <a:pPr marL="200000" indent="-200000">
              <a:spcBef>
                <a:spcPts val="600"/>
              </a:spcBef>
              <a:buClr>
                <a:srgbClr val="0E96AC"/>
              </a:buClr>
              <a:buFont typeface="Arial"/>
              <a:buChar char="•"/>
            </a:pPr>
            <a:r>
              <a:rPr lang="en-US" sz="1400" dirty="0">
                <a:solidFill>
                  <a:srgbClr val="16223A"/>
                </a:solidFill>
                <a:latin typeface="Calibri" pitchFamily="34" charset="0"/>
              </a:rPr>
              <a:t>F623ZZ flange bearing on the horn-opposite side</a:t>
            </a:r>
          </a:p>
          <a:p>
            <a:pPr marL="200000" indent="-200000">
              <a:spcBef>
                <a:spcPts val="600"/>
              </a:spcBef>
              <a:buClr>
                <a:srgbClr val="0E96AC"/>
              </a:buClr>
              <a:buFont typeface="Arial"/>
              <a:buChar char="•"/>
            </a:pPr>
            <a:r>
              <a:rPr lang="en-US" sz="1400" dirty="0">
                <a:solidFill>
                  <a:srgbClr val="16223A"/>
                </a:solidFill>
                <a:latin typeface="Calibri" pitchFamily="34" charset="0"/>
              </a:rPr>
              <a:t>Bearing carries radial load off the motor shaft</a:t>
            </a:r>
          </a:p>
          <a:p>
            <a:pPr marL="200000" indent="-200000">
              <a:spcBef>
                <a:spcPts val="600"/>
              </a:spcBef>
              <a:buClr>
                <a:srgbClr val="0E96AC"/>
              </a:buClr>
              <a:buFont typeface="Arial"/>
              <a:buChar char="•"/>
            </a:pPr>
            <a:r>
              <a:rPr lang="en-US" sz="1400" dirty="0">
                <a:solidFill>
                  <a:srgbClr val="16223A"/>
                </a:solidFill>
                <a:latin typeface="Calibri" pitchFamily="34" charset="0"/>
              </a:rPr>
              <a:t>14 mm bolt circle, 4 × M2 blind holes each face</a:t>
            </a:r>
          </a:p>
          <a:p>
            <a:pPr marL="200000" indent="-200000">
              <a:spcBef>
                <a:spcPts val="600"/>
              </a:spcBef>
              <a:buClr>
                <a:srgbClr val="0E96AC"/>
              </a:buClr>
              <a:buFont typeface="Arial"/>
              <a:buChar char="•"/>
            </a:pPr>
            <a:r>
              <a:rPr lang="en-US" sz="1400" dirty="0">
                <a:solidFill>
                  <a:srgbClr val="16223A"/>
                </a:solidFill>
                <a:latin typeface="Calibri" pitchFamily="34" charset="0"/>
              </a:rPr>
              <a:t>Closed cradle wall reacts motor reaction torque</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RETENTION — RESOLVED IN V6</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Four M2 screws through a closed cradle</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v4 and v5 relied on an interference fit alone. Under repeated gait loading that is a slow failure: the pocket wears, the motor rocks, and joint backlash grows. v6 adds positive fastening and restores the sidewall the lightening windows removed.</a:t>
            </a:r>
          </a:p>
        </p:txBody>
      </p:sp>
    </p:spTree>
    <p:extLst>
      <p:ext uri="{BB962C8B-B14F-4D97-AF65-F5344CB8AC3E}">
        <p14:creationId xmlns:p14="http://schemas.microsoft.com/office/powerpoint/2010/main" val="504917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FRICTION, KEELS &amp; TORQUE</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v6 Can Actually Move — Friction &amp; Torque Budget</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v4 / v5 — Scales Never Touched Ground</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Belly</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Plate at −3.45 mm</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Scales at −3.00 mm</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Plate 1006 mm²</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Scales 66 mm²</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The plate hung 0.45 mm below the scales — 94% of ground contact was the one surface never meant to touch.</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v6 — Keels Carry the Robot</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Belly</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Grip</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Slide</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Grip</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Slide</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Scales swept along the body: grip across it, slide along it — the asymmetry lateral undulation requires.</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TORQUE BUDGET</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ST3215 stall torque 2.94 N·m at 12 V</a:t>
            </a:r>
          </a:p>
          <a:p>
            <a:pPr marL="200000" indent="-200000">
              <a:spcBef>
                <a:spcPts val="600"/>
              </a:spcBef>
              <a:buClr>
                <a:srgbClr val="0E96AC"/>
              </a:buClr>
              <a:buFont typeface="Arial"/>
              <a:buChar char="•"/>
            </a:pPr>
            <a:r>
              <a:rPr lang="en-US" sz="1400" dirty="0">
                <a:solidFill>
                  <a:srgbClr val="16223A"/>
                </a:solidFill>
                <a:latin typeface="Calibri" pitchFamily="34" charset="0"/>
              </a:rPr>
              <a:t>XL330 was 0.52 N·m — 5.7× less</a:t>
            </a:r>
          </a:p>
          <a:p>
            <a:pPr marL="200000" indent="-200000">
              <a:spcBef>
                <a:spcPts val="600"/>
              </a:spcBef>
              <a:buClr>
                <a:srgbClr val="0E96AC"/>
              </a:buClr>
              <a:buFont typeface="Arial"/>
              <a:buChar char="•"/>
            </a:pPr>
            <a:r>
              <a:rPr lang="en-US" sz="1400" dirty="0">
                <a:solidFill>
                  <a:srgbClr val="16223A"/>
                </a:solidFill>
                <a:latin typeface="Calibri" pitchFamily="34" charset="0"/>
              </a:rPr>
              <a:t>10 joints, 58 mm pitch, ~580 mm body</a:t>
            </a:r>
          </a:p>
          <a:p>
            <a:pPr marL="200000" indent="-200000">
              <a:spcBef>
                <a:spcPts val="600"/>
              </a:spcBef>
              <a:buClr>
                <a:srgbClr val="0E96AC"/>
              </a:buClr>
              <a:buFont typeface="Arial"/>
              <a:buChar char="•"/>
            </a:pPr>
            <a:r>
              <a:rPr lang="en-US" sz="1400" dirty="0">
                <a:solidFill>
                  <a:srgbClr val="16223A"/>
                </a:solidFill>
                <a:latin typeface="Calibri" pitchFamily="34" charset="0"/>
              </a:rPr>
              <a:t>Head pod adds ≈ 0.02 N·m — under 1% of budget</a:t>
            </a:r>
          </a:p>
          <a:p>
            <a:pPr marL="200000" indent="-200000">
              <a:spcBef>
                <a:spcPts val="600"/>
              </a:spcBef>
              <a:buClr>
                <a:srgbClr val="0E96AC"/>
              </a:buClr>
              <a:buFont typeface="Arial"/>
              <a:buChar char="•"/>
            </a:pPr>
            <a:r>
              <a:rPr lang="en-US" sz="1400" dirty="0">
                <a:solidFill>
                  <a:srgbClr val="16223A"/>
                </a:solidFill>
                <a:latin typeface="Calibri" pitchFamily="34" charset="0"/>
              </a:rPr>
              <a:t>Torque is no longer the binding constraint</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REMAINING UNKNOWN</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Anisotropic friction ratio is unmeasured</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Every locomotion claim in this deck assumes the belly grips across the body and slides along it. That ratio has never been measured on a printed part. Printing one v6 segment and measuring fore/aft versus lateral friction is the single highest-value next experiment.</a:t>
            </a:r>
          </a:p>
        </p:txBody>
      </p:sp>
    </p:spTree>
    <p:extLst>
      <p:ext uri="{BB962C8B-B14F-4D97-AF65-F5344CB8AC3E}">
        <p14:creationId xmlns:p14="http://schemas.microsoft.com/office/powerpoint/2010/main" val="504917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3S LiPo 1800 mAh   —   20.0 Wh</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Inline fuse  +  XT60 loop key   [NOT YET HELD]</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1000 µF bulk capacitor   [NOT YET HELD]</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Waveshare Driver VIN   (6 – 12 V)</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10 × ST3215   —   27 A worst-case stall</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 22 min at 4 A</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Mean Well LRS-100-5  (5 V, 20 A)</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12 V 2 A supply  —  ID assignment</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XL6009 boost  —  one servo only</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Power Status &amp; Open Risks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LiPo sits inside the servo range — no conversion needed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Driver is rated 6–12 V; a full 3S pack is 12.6 V</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Fuse, BMS and loop key are not yet in inventory</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LiPo C-rating unverified — sets the real current ceiling</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ELECTRICAL &amp; POWER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Field and Bench Power Paths</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Robot rail resolved    ·    No DC conversion needed    ·    Protection hardware outstanding</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BENCH PATH (TETHERED)</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SAFETY ARCHITECTURE &amp; CRITICAL GAPS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Five Protection Parts the Robot Does Not Yet Have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E8821E"/>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Inline fuse — MISSING</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Nothing limits fault current on a 27 A-capable pack.</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E8821E"/>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Loop-key disconnect — MISSING</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 safe way to isolate the battery from the bus.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882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LiPo alarm / BMS — MISSING</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 cell-level undervoltage protection below 3.0 V.</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E8821E"/>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Bulk capacitor — MISSING</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Servo inrush transients reach the driver unsuppressed.</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E8821E"/>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Balance charger &amp; bag — MISSING</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 safe charge, balance or storage path for the pack.</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1F9D55"/>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Current-stall limit — IN FIRMWARE</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Software torque cap works, but is not a fuse.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GAIT &amp; OBSTACLE RESPONSE</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Gait Generation and the Evasion State Machine</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Lateral Undulation — Travelling Wave</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CPG</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1   φ = 0°</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2   φ = 72°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3   φ = 144°</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4   φ = 216°</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A serpenoid phase offset propagates down the chain at 50 Hz; amplitude 400 ticks ≈ 35°.</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Evasion Finite State Machine</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FSM</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RUN</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STALL</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BACK</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TURN</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A sustained current rise trips STALL; the robot reverses, turns away, then resumes.</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GAIT PARAMETERS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Control loop 50 Hz</a:t>
            </a:r>
          </a:p>
          <a:p>
            <a:pPr marL="200000" indent="-200000">
              <a:spcBef>
                <a:spcPts val="600"/>
              </a:spcBef>
              <a:buClr>
                <a:srgbClr val="0E96AC"/>
              </a:buClr>
              <a:buFont typeface="Arial"/>
              <a:buChar char="•"/>
            </a:pPr>
            <a:r>
              <a:rPr lang="en-US" sz="1400" dirty="0">
                <a:solidFill>
                  <a:srgbClr val="16223A"/>
                </a:solidFill>
                <a:latin typeface="Calibri" pitchFamily="34" charset="0"/>
              </a:rPr>
              <a:t>Amplitude 400 encoder ticks ≈ 35°</a:t>
            </a:r>
          </a:p>
          <a:p>
            <a:pPr marL="200000" indent="-200000">
              <a:spcBef>
                <a:spcPts val="600"/>
              </a:spcBef>
              <a:buClr>
                <a:srgbClr val="0E96AC"/>
              </a:buClr>
              <a:buFont typeface="Arial"/>
              <a:buChar char="•"/>
            </a:pPr>
            <a:r>
              <a:rPr lang="en-US" sz="1400" dirty="0">
                <a:solidFill>
                  <a:srgbClr val="16223A"/>
                </a:solidFill>
                <a:latin typeface="Calibri" pitchFamily="34" charset="0"/>
              </a:rPr>
              <a:t>Phase offset 72° per joint, 10 joints</a:t>
            </a:r>
          </a:p>
          <a:p>
            <a:pPr marL="200000" indent="-200000">
              <a:spcBef>
                <a:spcPts val="600"/>
              </a:spcBef>
              <a:buClr>
                <a:srgbClr val="0E96AC"/>
              </a:buClr>
              <a:buFont typeface="Arial"/>
              <a:buChar char="•"/>
            </a:pPr>
            <a:r>
              <a:rPr lang="en-US" sz="1400" dirty="0">
                <a:solidFill>
                  <a:srgbClr val="16223A"/>
                </a:solidFill>
                <a:latin typeface="Calibri" pitchFamily="34" charset="0"/>
              </a:rPr>
              <a:t>Goal position written as a sync payload</a:t>
            </a:r>
          </a:p>
          <a:p>
            <a:pPr marL="200000" indent="-200000">
              <a:spcBef>
                <a:spcPts val="600"/>
              </a:spcBef>
              <a:buClr>
                <a:srgbClr val="0E96AC"/>
              </a:buClr>
              <a:buFont typeface="Arial"/>
              <a:buChar char="•"/>
            </a:pPr>
            <a:r>
              <a:rPr lang="en-US" sz="1400" dirty="0">
                <a:solidFill>
                  <a:srgbClr val="16223A"/>
                </a:solidFill>
                <a:latin typeface="Calibri" pitchFamily="34" charset="0"/>
              </a:rPr>
              <a:t>Gait continues if the IMU is absent</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OBSTACLE DETECTION</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Proprioceptive — no external sensor</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Collision is inferred from PRESENT_CURRENT at address 69 rather than a rangefinder. The threshold is still a placeholder at 1200 mA and must be calibrated against a measured free-run and stall current before it can be trusted.</a:t>
            </a:r>
          </a:p>
        </p:txBody>
      </p:sp>
    </p:spTree>
    <p:extLst>
      <p:ext uri="{BB962C8B-B14F-4D97-AF65-F5344CB8AC3E}">
        <p14:creationId xmlns:p14="http://schemas.microsoft.com/office/powerpoint/2010/main" val="504917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VERIFICATION &amp; MOCK-MODE RESULTS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Has Been Proven Without Hardware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1F9D55"/>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v6 CAD self-check</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Model refuses to export if its assumptions break.</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F9D55"/>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Mock mode — SURGE_MOCK=1</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Full gait stack runs with no servos attached.</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1F9D55"/>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Wokwi simulation</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ESP32, servos, IMU and display validated virtually.</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1F9D55"/>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PlatformIO — five targets</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All firmware environments compile clean.</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F9D55"/>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Broadcast smoke test</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Ten servos driven before any ID was assigned.</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882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Hardware verification</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Ping, stall calibration and gait still outstanding.</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INVENTORY, BUDGET &amp; PROCUREMENT GAPS</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What We Hold, What We Still Need</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Budget Position: Gen 1 spend was approximately ₹33,760 of the ₹1,00,000 SURGE grant. Remaining procurement is estimated at ₹10,200 and is almost entirely consumables and safety hardware — the expensive actuator and compute line items are already held.</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IN HAND — 9 LINE ITEMS</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MISSING — CRITICAL (SAFETY)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MISSING — HIGH PRIORITY</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10× Waveshare ST3215 servos</a:t>
            </a:r>
          </a:p>
          <a:p>
            <a:pPr marL="180000" indent="-180000">
              <a:buFont typeface="Arial"/>
              <a:buChar char="•"/>
            </a:pPr>
            <a:r>
              <a:rPr lang="en-IN" sz="1200" dirty="0">
                <a:solidFill>
                  <a:srgbClr val="1E4620"/>
                </a:solidFill>
                <a:latin typeface="Calibri"/>
              </a:rPr>
              <a:t>Waveshare driver with ESP32</a:t>
            </a:r>
          </a:p>
          <a:p>
            <a:pPr marL="180000" indent="-180000">
              <a:buFont typeface="Arial"/>
              <a:buChar char="•"/>
            </a:pPr>
            <a:r>
              <a:rPr lang="en-IN" sz="1200" dirty="0">
                <a:solidFill>
                  <a:srgbClr val="1E4620"/>
                </a:solidFill>
                <a:latin typeface="Calibri"/>
              </a:rPr>
              <a:t>ESP32 #2, Pi 5 8 GB, MPU6050</a:t>
            </a:r>
          </a:p>
          <a:p>
            <a:pPr marL="180000" indent="-180000">
              <a:buFont typeface="Arial"/>
              <a:buChar char="•"/>
            </a:pPr>
            <a:r>
              <a:rPr lang="en-IN" sz="1200" dirty="0">
                <a:solidFill>
                  <a:srgbClr val="1E4620"/>
                </a:solidFill>
                <a:latin typeface="Calibri"/>
              </a:rPr>
              <a:t>3S LiPo 1800 mAh, Mean Well 5 V</a:t>
            </a:r>
          </a:p>
          <a:p>
            <a:pPr marL="180000" indent="-180000">
              <a:buFont typeface="Arial"/>
              <a:buChar char="•"/>
            </a:pPr>
            <a:r>
              <a:rPr lang="en-IN" sz="1200" dirty="0">
                <a:solidFill>
                  <a:srgbClr val="1E4620"/>
                </a:solidFill>
                <a:latin typeface="Calibri"/>
              </a:rPr>
              <a:t>Camera Module 3, XL6009 boost</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Inline fuse and holder</a:t>
            </a:r>
          </a:p>
          <a:p>
            <a:pPr marL="180000" indent="-180000">
              <a:buFont typeface="Arial"/>
              <a:buChar char="•"/>
            </a:pPr>
            <a:r>
              <a:rPr lang="en-IN" sz="1000" dirty="0">
                <a:solidFill>
                  <a:srgbClr val="374151"/>
                </a:solidFill>
                <a:latin typeface="Calibri"/>
              </a:rPr>
              <a:t>LiPo alarm / BMS module</a:t>
            </a:r>
          </a:p>
          <a:p>
            <a:pPr marL="180000" indent="-180000">
              <a:buFont typeface="Arial"/>
              <a:buChar char="•"/>
            </a:pPr>
            <a:r>
              <a:rPr lang="en-IN" sz="1000" dirty="0">
                <a:solidFill>
                  <a:srgbClr val="374151"/>
                </a:solidFill>
                <a:latin typeface="Calibri"/>
              </a:rPr>
              <a:t>XT60 loop-key disconnect</a:t>
            </a:r>
          </a:p>
          <a:p>
            <a:pPr marL="180000" indent="-180000">
              <a:buFont typeface="Arial"/>
              <a:buChar char="•"/>
            </a:pPr>
            <a:r>
              <a:rPr lang="en-IN" sz="1000" dirty="0">
                <a:solidFill>
                  <a:srgbClr val="374151"/>
                </a:solidFill>
                <a:latin typeface="Calibri"/>
              </a:rPr>
              <a:t>Without these the pack is unsafe</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3S balance charger, storage bag</a:t>
            </a:r>
          </a:p>
          <a:p>
            <a:pPr marL="180000" indent="-180000">
              <a:buFont typeface="Arial"/>
              <a:buChar char="•"/>
            </a:pPr>
            <a:r>
              <a:rPr lang="en-IN" sz="1000" dirty="0">
                <a:solidFill>
                  <a:srgbClr val="374151"/>
                </a:solidFill>
                <a:latin typeface="Calibri"/>
              </a:rPr>
              <a:t>Servo daisy-chain cables ×12</a:t>
            </a:r>
          </a:p>
          <a:p>
            <a:pPr marL="180000" indent="-180000">
              <a:buFont typeface="Arial"/>
              <a:buChar char="•"/>
            </a:pPr>
            <a:r>
              <a:rPr lang="en-IN" sz="1000" dirty="0">
                <a:solidFill>
                  <a:srgbClr val="374151"/>
                </a:solidFill>
                <a:latin typeface="Calibri"/>
              </a:rPr>
              <a:t>F623ZZ bearings, M2 fasteners</a:t>
            </a:r>
          </a:p>
          <a:p>
            <a:pPr marL="180000" indent="-180000">
              <a:buFont typeface="Arial"/>
              <a:buChar char="•"/>
            </a:pPr>
            <a:r>
              <a:rPr lang="en-IN" sz="1000" dirty="0">
                <a:solidFill>
                  <a:srgbClr val="374151"/>
                </a:solidFill>
                <a:latin typeface="Calibri"/>
              </a:rPr>
              <a:t>PLA+ filament, TPU belly pads</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PROCUREMENT STATUS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F9D55"/>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Actuators
received</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F9D55"/>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Compute
received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F9D55"/>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Power
source held</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6FD6"/>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Safety
parts</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E8821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Fasteners
&amp; bearings</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E8821E"/>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Filament
&amp; pads</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Upcoming</a:t>
            </a:r>
          </a:p>
        </p:txBody>
      </p:sp>
      <p:sp>
        <p:nvSpPr>
          <p:cNvPr id="316" name="step6_circle"/>
          <p:cNvSpPr>
            <a:spLocks noGrp="1"/>
          </p:cNvSpPr>
          <p:nvPr/>
        </p:nvSpPr>
        <p:spPr>
          <a:xfrm>
            <a:off x="9613900" y="4241800"/>
            <a:ext cx="457200" cy="457200"/>
          </a:xfrm>
          <a:prstGeom prst="roundRect">
            <a:avLst>
              <a:gd name="adj" fmla="val 50000"/>
            </a:avLst>
          </a:prstGeom>
          <a:solidFill>
            <a:srgbClr val="E8821E"/>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Camera
for ESP32</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the actuator blocker that stalled Generation 1 is cleared — all ten servos, the driver board and the power source are in hand. Every remaining gap is a low-cost consumable, not a supply-chain risk.</a:t>
            </a:r>
          </a:p>
        </p:txBody>
      </p:sp>
    </p:spTree>
    <p:extLst>
      <p:ext uri="{BB962C8B-B14F-4D97-AF65-F5344CB8AC3E}">
        <p14:creationId xmlns:p14="http://schemas.microsoft.com/office/powerpoint/2010/main" val="4144980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Path to Demonstration — Generation 2</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Power Verification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In progress</a:t>
            </a:r>
            <a:endParaRPr lang="en-US" sz="800" dirty="0"/>
          </a:p>
        </p:txBody>
      </p:sp>
      <p:sp>
        <p:nvSpPr>
          <p:cNvPr id="17" name="Shape 15"/>
          <p:cNvSpPr/>
          <p:nvPr/>
        </p:nvSpPr>
        <p:spPr>
          <a:xfrm>
            <a:off x="694944" y="3346704"/>
            <a:ext cx="347472" cy="347472"/>
          </a:xfrm>
          <a:prstGeom prst="ellipse">
            <a:avLst/>
          </a:prstGeom>
          <a:solidFill>
            <a:srgbClr val="1E6FD6"/>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Servo Bring-Up</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Up next</a:t>
            </a:r>
            <a:endParaRPr lang="en-US" sz="800" dirty="0"/>
          </a:p>
        </p:txBody>
      </p:sp>
      <p:sp>
        <p:nvSpPr>
          <p:cNvPr id="24" name="Shape 22"/>
          <p:cNvSpPr/>
          <p:nvPr/>
        </p:nvSpPr>
        <p:spPr>
          <a:xfrm>
            <a:off x="2190641" y="3346704"/>
            <a:ext cx="347472" cy="347472"/>
          </a:xfrm>
          <a:prstGeom prst="ellipse">
            <a:avLst/>
          </a:prstGeom>
          <a:solidFill>
            <a:srgbClr val="1E6FD6"/>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Segment Fabrication</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Planned</a:t>
            </a:r>
            <a:endParaRPr lang="en-US" sz="800" dirty="0"/>
          </a:p>
        </p:txBody>
      </p:sp>
      <p:sp>
        <p:nvSpPr>
          <p:cNvPr id="31" name="Shape 29"/>
          <p:cNvSpPr/>
          <p:nvPr/>
        </p:nvSpPr>
        <p:spPr>
          <a:xfrm>
            <a:off x="3686338" y="3346704"/>
            <a:ext cx="347472" cy="347472"/>
          </a:xfrm>
          <a:prstGeom prst="ellipse">
            <a:avLst/>
          </a:prstGeom>
          <a:solidFill>
            <a:srgbClr val="E8821E"/>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Mechanical Assembly</a:t>
            </a:r>
            <a:endParaRPr lang="en-US" sz="1050" dirty="0"/>
          </a:p>
        </p:txBody>
      </p:sp>
      <p:sp>
        <p:nvSpPr>
          <p:cNvPr id="37" name="Shape 35"/>
          <p:cNvSpPr/>
          <p:nvPr/>
        </p:nvSpPr>
        <p:spPr>
          <a:xfrm>
            <a:off x="5182035" y="3346704"/>
            <a:ext cx="347472" cy="347472"/>
          </a:xfrm>
          <a:prstGeom prst="ellipse">
            <a:avLst/>
          </a:prstGeom>
          <a:solidFill>
            <a:srgbClr val="E8821E"/>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Field Integration</a:t>
            </a:r>
            <a:endParaRPr lang="en-US" sz="1050" dirty="0"/>
          </a:p>
        </p:txBody>
      </p:sp>
      <p:sp>
        <p:nvSpPr>
          <p:cNvPr id="43" name="Shape 41"/>
          <p:cNvSpPr/>
          <p:nvPr/>
        </p:nvSpPr>
        <p:spPr>
          <a:xfrm>
            <a:off x="6677733" y="3346704"/>
            <a:ext cx="347472" cy="347472"/>
          </a:xfrm>
          <a:prstGeom prst="ellipse">
            <a:avLst/>
          </a:prstGeom>
          <a:solidFill>
            <a:srgbClr val="E8821E"/>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Locomotion Trials</a:t>
            </a:r>
            <a:endParaRPr lang="en-US" sz="1050" dirty="0"/>
          </a:p>
        </p:txBody>
      </p:sp>
      <p:sp>
        <p:nvSpPr>
          <p:cNvPr id="49" name="Shape 47"/>
          <p:cNvSpPr/>
          <p:nvPr/>
        </p:nvSpPr>
        <p:spPr>
          <a:xfrm>
            <a:off x="8173430" y="3346704"/>
            <a:ext cx="347472" cy="347472"/>
          </a:xfrm>
          <a:prstGeom prst="ellipse">
            <a:avLst/>
          </a:prstGeom>
          <a:solidFill>
            <a:srgbClr val="E8821E"/>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Characterisation</a:t>
            </a:r>
            <a:endParaRPr lang="en-US" sz="1050" dirty="0"/>
          </a:p>
        </p:txBody>
      </p:sp>
      <p:sp>
        <p:nvSpPr>
          <p:cNvPr id="55" name="Shape 53"/>
          <p:cNvSpPr/>
          <p:nvPr/>
        </p:nvSpPr>
        <p:spPr>
          <a:xfrm>
            <a:off x="9669127" y="3346704"/>
            <a:ext cx="347472" cy="347472"/>
          </a:xfrm>
          <a:prstGeom prst="ellipse">
            <a:avLst/>
          </a:prstGeom>
          <a:solidFill>
            <a:srgbClr val="E8821E"/>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8821E"/>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502920" y="5394960"/>
            <a:ext cx="1691640" cy="457200"/>
          </a:xfrm>
          <a:prstGeom prst="roundRect">
            <a:avLst>
              <a:gd name="adj" fmla="val 50000"/>
            </a:avLst>
          </a:prstGeom>
          <a:solidFill>
            <a:srgbClr val="16223A"/>
          </a:solidFill>
          <a:ln/>
        </p:spPr>
      </p:sp>
      <p:sp>
        <p:nvSpPr>
          <p:cNvPr id="64" name="Text 62"/>
          <p:cNvSpPr/>
          <p:nvPr/>
        </p:nvSpPr>
        <p:spPr>
          <a:xfrm>
            <a:off x="502920"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a:t>
            </a:r>
            <a:endParaRPr lang="en-US" sz="950" dirty="0"/>
          </a:p>
        </p:txBody>
      </p:sp>
      <p:sp>
        <p:nvSpPr>
          <p:cNvPr id="65" name="SupersedeNote"/>
          <p:cNvSpPr txBox="1"/>
          <p:nvPr/>
        </p:nvSpPr>
        <p:spPr>
          <a:xfrm>
            <a:off x="530352" y="1316736"/>
            <a:ext cx="11128248" cy="274320"/>
          </a:xfrm>
          <a:prstGeom prst="rect">
            <a:avLst/>
          </a:prstGeom>
          <a:noFill/>
        </p:spPr>
        <p:txBody>
          <a:bodyPr wrap="square">
            <a:spAutoFit/>
          </a:bodyPr>
          <a:lstStyle/>
          <a:p>
            <a:r>
              <a:rPr sz="1000" i="1">
                <a:solidFill>
                  <a:srgbClr val="6B7890"/>
                </a:solidFill>
                <a:latin typeface="Calibri"/>
              </a:rPr>
              <a:t>Replaces the Generation 1 roadmap on slide 15, which was written around Dynamixel XL330 delivery and is now obsolete.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 dockstate="right" visibility="0" width="70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EF3B140A-9BA4-4381-9C7B-C36695731FE9}">
  <we:reference id="wa200010725" version="1.0.0.1" store="en-US" storeType="OMEX"/>
  <we:alternateReferences>
    <we:reference id="wa200010725" version="1.0.0.1" store="wa2000107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642</TotalTime>
  <Words>5534</Words>
  <Application>Microsoft Office PowerPoint</Application>
  <PresentationFormat>Widescreen</PresentationFormat>
  <Paragraphs>802</Paragraphs>
  <Slides>29</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21</cp:revision>
  <dcterms:created xsi:type="dcterms:W3CDTF">2026-06-10T16:14:03Z</dcterms:created>
  <dcterms:modified xsi:type="dcterms:W3CDTF">2026-09-03T16:55:14Z</dcterms:modified>
</cp:coreProperties>
</file>