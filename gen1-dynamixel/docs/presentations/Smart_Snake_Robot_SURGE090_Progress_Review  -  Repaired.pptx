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87" r:id="rId2"/>
    <p:sldId id="271" r:id="rId3"/>
    <p:sldId id="273" r:id="rId4"/>
    <p:sldId id="258" r:id="rId5"/>
    <p:sldId id="259" r:id="rId6"/>
    <p:sldId id="305" r:id="rId7"/>
    <p:sldId id="275" r:id="rId8"/>
    <p:sldId id="262" r:id="rId9"/>
    <p:sldId id="298" r:id="rId10"/>
    <p:sldId id="281" r:id="rId11"/>
    <p:sldId id="285" r:id="rId12"/>
    <p:sldId id="268" r:id="rId13"/>
    <p:sldId id="269" r:id="rId14"/>
    <p:sldId id="314" r:id="rId15"/>
    <p:sldId id="323"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10"/>
  </p:normalViewPr>
  <p:slideViewPr>
    <p:cSldViewPr snapToGrid="0" snapToObjects="1">
      <p:cViewPr>
        <p:scale>
          <a:sx n="68" d="100"/>
          <a:sy n="68" d="100"/>
        </p:scale>
        <p:origin x="24" y="8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5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25% progress review of the Smart Snake Robot project, Group SURGE 090. Introduce the team and milestone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across mechanics, actuation, computing, control, sensing and scalability. These map to the timeline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done: ten tasks closed across research, mechanical design, fabrication and the compute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at the centre. Solid cyan = implemented/in progress; dashed amber (sensors, camera) = designed-in but scheduled for a later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modelled to real XL330 dimensions so printed parts mate with the actual servos. Replace the placeholder with CAD screenshots.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segments printed and measured, validating the CAD. Next step is servo integration. Drop prototype photos on the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computer is live: OS installed, networked, remotely accessible, exercised with intro GPIO and Python. De-risks software before motors arrive.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BOM from the purchasing sheet. Compute hardware in hand; actuation and power chain ordered. Total approx Rs 33,760.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the single source of truth — CAD, docs, tracked iterations — with a collaboration workflow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Eight-phase plan: Phase 1 complete, Phase 2 active, Phase 3 next — about 25%. Phases 4-8 cover integration, control, sensing, testing,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achievements: design, fabrication, compute, tooling and procurement all moving — a working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bhaveshbanshiwal/Snake_SURG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6.jpeg"/><Relationship Id="rId4" Type="http://schemas.openxmlformats.org/officeDocument/2006/relationships/image" Target="../media/image21.pn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29.png"/><Relationship Id="rId12"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jpeg"/><Relationship Id="rId5" Type="http://schemas.openxmlformats.org/officeDocument/2006/relationships/image" Target="../media/image22.png"/><Relationship Id="rId10" Type="http://schemas.openxmlformats.org/officeDocument/2006/relationships/image" Target="../media/image31.jpg"/><Relationship Id="rId4" Type="http://schemas.openxmlformats.org/officeDocument/2006/relationships/image" Target="../media/image11.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5.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svg"/><Relationship Id="rId1" Type="http://schemas.openxmlformats.org/officeDocument/2006/relationships/slideLayout" Target="../slideLayouts/slideLayout1.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GROUP CODE · SURGE 090</a:t>
            </a:r>
            <a:endParaRPr lang="en-US" sz="1200" dirty="0"/>
          </a:p>
        </p:txBody>
      </p:sp>
      <p:sp>
        <p:nvSpPr>
          <p:cNvPr id="6" name="Text 4"/>
          <p:cNvSpPr/>
          <p:nvPr/>
        </p:nvSpPr>
        <p:spPr>
          <a:xfrm>
            <a:off x="822960" y="1828800"/>
            <a:ext cx="8229600" cy="320040"/>
          </a:xfrm>
          <a:prstGeom prst="rect">
            <a:avLst/>
          </a:prstGeom>
          <a:noFill/>
          <a:ln/>
        </p:spPr>
        <p:txBody>
          <a:bodyPr wrap="square" lIns="0" tIns="0" rIns="0" bIns="0" rtlCol="0" anchor="ctr"/>
          <a:lstStyle/>
          <a:p>
            <a:r>
              <a:rPr lang="en-IN" sz="2000" dirty="0">
                <a:solidFill>
                  <a:schemeClr val="tx2">
                    <a:lumMod val="60000"/>
                    <a:lumOff val="40000"/>
                  </a:schemeClr>
                </a:solidFill>
              </a:rPr>
              <a:t>Progress Review (Design &amp; Development)</a:t>
            </a:r>
            <a:endParaRPr lang="en-US" dirty="0">
              <a:solidFill>
                <a:schemeClr val="tx2">
                  <a:lumMod val="60000"/>
                  <a:lumOff val="40000"/>
                </a:schemeClr>
              </a:solidFill>
            </a:endParaRPr>
          </a:p>
        </p:txBody>
      </p:sp>
      <p:sp>
        <p:nvSpPr>
          <p:cNvPr id="7" name="Text 5"/>
          <p:cNvSpPr/>
          <p:nvPr/>
        </p:nvSpPr>
        <p:spPr>
          <a:xfrm>
            <a:off x="777240" y="2194560"/>
            <a:ext cx="84124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Smart Snake Robot</a:t>
            </a:r>
            <a:endParaRPr lang="en-US" sz="5200" dirty="0"/>
          </a:p>
        </p:txBody>
      </p:sp>
      <p:sp>
        <p:nvSpPr>
          <p:cNvPr id="8" name="Text 6"/>
          <p:cNvSpPr/>
          <p:nvPr/>
        </p:nvSpPr>
        <p:spPr>
          <a:xfrm>
            <a:off x="804672" y="3127248"/>
            <a:ext cx="8778240" cy="548640"/>
          </a:xfrm>
          <a:prstGeom prst="rect">
            <a:avLst/>
          </a:prstGeom>
          <a:noFill/>
          <a:ln/>
        </p:spPr>
        <p:txBody>
          <a:bodyPr wrap="square" lIns="0" tIns="0" rIns="0" bIns="0" rtlCol="0" anchor="ctr"/>
          <a:lstStyle/>
          <a:p>
            <a:pPr marL="0" indent="0">
              <a:buNone/>
            </a:pPr>
            <a:r>
              <a:rPr lang="en-US" sz="2400" dirty="0">
                <a:solidFill>
                  <a:srgbClr val="2BD4E8"/>
                </a:solidFill>
                <a:latin typeface="Calibri" pitchFamily="34" charset="0"/>
                <a:ea typeface="Calibri" pitchFamily="34" charset="-122"/>
                <a:cs typeface="Calibri" pitchFamily="34" charset="-120"/>
              </a:rPr>
              <a:t>with Dynamixel Smart Servo Motors</a:t>
            </a:r>
            <a:endParaRPr lang="en-US" sz="2400" dirty="0"/>
          </a:p>
        </p:txBody>
      </p:sp>
      <p:sp>
        <p:nvSpPr>
          <p:cNvPr id="16" name="Shape 14"/>
          <p:cNvSpPr/>
          <p:nvPr/>
        </p:nvSpPr>
        <p:spPr>
          <a:xfrm>
            <a:off x="4791456" y="3977640"/>
            <a:ext cx="457200" cy="457200"/>
          </a:xfrm>
          <a:prstGeom prst="ellipse">
            <a:avLst/>
          </a:prstGeom>
          <a:solidFill>
            <a:srgbClr val="2A3958"/>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4892040" y="4078224"/>
            <a:ext cx="256032" cy="256032"/>
          </a:xfrm>
          <a:prstGeom prst="rect">
            <a:avLst/>
          </a:prstGeom>
        </p:spPr>
      </p:pic>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Shashank Jangir</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2" name="Text 19"/>
          <p:cNvSpPr/>
          <p:nvPr/>
        </p:nvSpPr>
        <p:spPr>
          <a:xfrm>
            <a:off x="978408"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2024EE11048</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Bhavesh Bansiwal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7" name="Text 24"/>
          <p:cNvSpPr/>
          <p:nvPr/>
        </p:nvSpPr>
        <p:spPr>
          <a:xfrm>
            <a:off x="3849624"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2024ME10487</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Mahima Chotiya</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32" name="Text 29"/>
          <p:cNvSpPr/>
          <p:nvPr/>
        </p:nvSpPr>
        <p:spPr>
          <a:xfrm>
            <a:off x="6720840"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2024ME11187</a:t>
            </a:r>
            <a:endParaRPr lang="en-US" sz="1300" dirty="0"/>
          </a:p>
        </p:txBody>
      </p:sp>
      <p:sp>
        <p:nvSpPr>
          <p:cNvPr id="33" name="Text 30"/>
          <p:cNvSpPr/>
          <p:nvPr/>
        </p:nvSpPr>
        <p:spPr>
          <a:xfrm>
            <a:off x="8934751" y="675593"/>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INSTITUTION</a:t>
            </a:r>
            <a:endParaRPr lang="en-US" sz="1000" dirty="0"/>
          </a:p>
        </p:txBody>
      </p:sp>
      <p:sp>
        <p:nvSpPr>
          <p:cNvPr id="34" name="Text 31"/>
          <p:cNvSpPr/>
          <p:nvPr/>
        </p:nvSpPr>
        <p:spPr>
          <a:xfrm>
            <a:off x="9052560" y="928116"/>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Indian Institute of Technology, Delhi</a:t>
            </a:r>
            <a:endParaRPr lang="en-US" sz="1300" dirty="0"/>
          </a:p>
        </p:txBody>
      </p:sp>
      <p:sp>
        <p:nvSpPr>
          <p:cNvPr id="35" name="Text 32"/>
          <p:cNvSpPr/>
          <p:nvPr/>
        </p:nvSpPr>
        <p:spPr>
          <a:xfrm>
            <a:off x="9052560" y="1746504"/>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PROJECT GUIDE</a:t>
            </a:r>
            <a:endParaRPr lang="en-US" sz="1000" dirty="0"/>
          </a:p>
        </p:txBody>
      </p:sp>
      <p:sp>
        <p:nvSpPr>
          <p:cNvPr id="36" name="Text 33"/>
          <p:cNvSpPr/>
          <p:nvPr/>
        </p:nvSpPr>
        <p:spPr>
          <a:xfrm>
            <a:off x="9189720" y="1881378"/>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Professor </a:t>
            </a:r>
            <a:r>
              <a:rPr lang="en-US" dirty="0" err="1">
                <a:solidFill>
                  <a:srgbClr val="FFFFFF"/>
                </a:solidFill>
                <a:latin typeface="Calibri" pitchFamily="34" charset="0"/>
                <a:ea typeface="Calibri" pitchFamily="34" charset="-122"/>
                <a:cs typeface="Calibri" pitchFamily="34" charset="-120"/>
              </a:rPr>
              <a:t>Amartansh</a:t>
            </a:r>
            <a:r>
              <a:rPr lang="en-US" dirty="0">
                <a:solidFill>
                  <a:srgbClr val="FFFFFF"/>
                </a:solidFill>
                <a:latin typeface="Calibri" pitchFamily="34" charset="0"/>
                <a:ea typeface="Calibri" pitchFamily="34" charset="-122"/>
                <a:cs typeface="Calibri" pitchFamily="34" charset="-120"/>
              </a:rPr>
              <a:t> Dubey</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sp>
        <p:nvSpPr>
          <p:cNvPr id="101" name="RepoLabel"/>
          <p:cNvSpPr>
            <a:spLocks noGrp="1"/>
          </p:cNvSpPr>
          <p:nvPr/>
        </p:nvSpPr>
        <p:spPr>
          <a:xfrm>
            <a:off x="8890000" y="6096000"/>
            <a:ext cx="3111500" cy="177800"/>
          </a:xfrm>
          <a:prstGeom prst="rect">
            <a:avLst/>
          </a:prstGeom>
          <a:noFill/>
          <a:ln>
            <a:noFill/>
          </a:ln>
        </p:spPr>
        <p:txBody>
          <a:bodyPr wrap="square" rtlCol="0" anchor="ctr">
            <a:normAutofit fontScale="70000" lnSpcReduction="20000"/>
          </a:bodyPr>
          <a:lstStyle/>
          <a:p>
            <a:pPr marL="0" indent="0">
              <a:buNone/>
            </a:pPr>
            <a:r>
              <a:rPr lang="en-US" sz="900" b="1" kern="0" spc="200" dirty="0">
                <a:solidFill>
                  <a:srgbClr val="2BD4E8"/>
                </a:solidFill>
                <a:latin typeface="Calibri" pitchFamily="34" charset="0"/>
              </a:rPr>
              <a:t>PROJECT REPOSITORY</a:t>
            </a:r>
          </a:p>
        </p:txBody>
      </p:sp>
      <p:sp>
        <p:nvSpPr>
          <p:cNvPr id="102" name="RepoURL">
            <a:hlinkClick r:id="rId5"/>
          </p:cNvPr>
          <p:cNvSpPr>
            <a:spLocks noGrp="1"/>
          </p:cNvSpPr>
          <p:nvPr/>
        </p:nvSpPr>
        <p:spPr>
          <a:xfrm>
            <a:off x="8890000" y="6324600"/>
            <a:ext cx="3111500" cy="228600"/>
          </a:xfrm>
          <a:prstGeom prst="rect">
            <a:avLst/>
          </a:prstGeom>
          <a:noFill/>
          <a:ln>
            <a:noFill/>
          </a:ln>
        </p:spPr>
        <p:txBody>
          <a:bodyPr wrap="square" rtlCol="0" anchor="ctr">
            <a:normAutofit lnSpcReduction="10000"/>
          </a:bodyPr>
          <a:lstStyle/>
          <a:p>
            <a:r>
              <a:rPr lang="en-US" sz="1000" u="sng" dirty="0">
                <a:solidFill>
                  <a:srgbClr val="FFFFFF"/>
                </a:solidFill>
                <a:latin typeface="Calibri" pitchFamily="34" charset="0"/>
              </a:rPr>
              <a:t>https://github.com/shashankjangir/surge090</a:t>
            </a:r>
          </a:p>
        </p:txBody>
      </p:sp>
    </p:spTree>
    <p:extLst>
      <p:ext uri="{BB962C8B-B14F-4D97-AF65-F5344CB8AC3E}">
        <p14:creationId xmlns:p14="http://schemas.microsoft.com/office/powerpoint/2010/main" val="102981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SELECTION STUDY</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Dynamixel Motors?</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REQUIREMENT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12800"/>
          </a:xfrm>
          <a:prstGeom prst="rect">
            <a:avLst/>
          </a:prstGeom>
          <a:noFill/>
        </p:spPr>
        <p:txBody>
          <a:bodyPr vertOverflow="overflow" vert="horz" wrap="square" rtlCol="0" anchor="t" anchorCtr="0">
            <a:noAutofit/>
          </a:bodyPr>
          <a:lstStyle/>
          <a:p>
            <a:pPr marL="0" indent="0">
              <a:lnSpc>
                <a:spcPct val="108000"/>
              </a:lnSpc>
              <a:buNone/>
            </a:pPr>
            <a:r>
              <a:rPr lang="en-US" sz="1400" dirty="0">
                <a:solidFill>
                  <a:srgbClr val="3A4658"/>
                </a:solidFill>
                <a:latin typeface="Calibri" pitchFamily="34" charset="0"/>
              </a:rPr>
              <a:t>A snake robot drives many joints at once. The actuator must deliver:</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Simple wiring architecture</a:t>
            </a:r>
          </a:p>
          <a:p>
            <a:pPr marL="200000" indent="-200000">
              <a:spcBef>
                <a:spcPts val="700"/>
              </a:spcBef>
              <a:buClr>
                <a:srgbClr val="0E96AC"/>
              </a:buClr>
              <a:buFont typeface="Arial"/>
              <a:buChar char="•"/>
            </a:pPr>
            <a:r>
              <a:rPr lang="en-US" sz="1400" dirty="0">
                <a:solidFill>
                  <a:srgbClr val="16223A"/>
                </a:solidFill>
                <a:latin typeface="Calibri" pitchFamily="34" charset="0"/>
              </a:rPr>
              <a:t>Scalability for multiple joints</a:t>
            </a:r>
          </a:p>
          <a:p>
            <a:pPr marL="200000" indent="-200000">
              <a:spcBef>
                <a:spcPts val="700"/>
              </a:spcBef>
              <a:buClr>
                <a:srgbClr val="0E96AC"/>
              </a:buClr>
              <a:buFont typeface="Arial"/>
              <a:buChar char="•"/>
            </a:pPr>
            <a:r>
              <a:rPr lang="en-US" sz="1400" dirty="0">
                <a:solidFill>
                  <a:srgbClr val="16223A"/>
                </a:solidFill>
                <a:latin typeface="Calibri" pitchFamily="34" charset="0"/>
              </a:rPr>
              <a:t>Reliable communication</a:t>
            </a:r>
          </a:p>
          <a:p>
            <a:pPr marL="200000" indent="-200000">
              <a:spcBef>
                <a:spcPts val="700"/>
              </a:spcBef>
              <a:buClr>
                <a:srgbClr val="0E96AC"/>
              </a:buClr>
              <a:buFont typeface="Arial"/>
              <a:buChar char="•"/>
            </a:pPr>
            <a:r>
              <a:rPr lang="en-US" sz="1400" dirty="0">
                <a:solidFill>
                  <a:srgbClr val="16223A"/>
                </a:solidFill>
                <a:latin typeface="Calibri" pitchFamily="34" charset="0"/>
              </a:rPr>
              <a:t>Real-time feedback</a:t>
            </a:r>
          </a:p>
          <a:p>
            <a:pPr marL="200000" indent="-200000">
              <a:spcBef>
                <a:spcPts val="700"/>
              </a:spcBef>
              <a:buClr>
                <a:srgbClr val="0E96AC"/>
              </a:buClr>
              <a:buFont typeface="Arial"/>
              <a:buChar char="•"/>
            </a:pPr>
            <a:r>
              <a:rPr lang="en-US" sz="1400" dirty="0">
                <a:solidFill>
                  <a:srgbClr val="16223A"/>
                </a:solidFill>
                <a:latin typeface="Calibri" pitchFamily="34" charset="0"/>
              </a:rPr>
              <a:t>Compact size &amp; sufficient torque</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OPTIONS COMPARED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Conventional Servo</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Dynamixel</a:t>
                      </a:r>
                      <a:r>
                        <a:rPr lang="en-IN" sz="1400" b="1" dirty="0">
                          <a:solidFill>
                            <a:srgbClr val="FFFFFF"/>
                          </a:solidFill>
                          <a:latin typeface="Calibri"/>
                          <a:ea typeface="Calibri"/>
                          <a:cs typeface="Calibri"/>
                        </a:rPr>
                        <a:t> Smart Servo</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1">
                          <a:solidFill>
                            <a:srgbClr val="16223A"/>
                          </a:solidFill>
                          <a:latin typeface="Calibri"/>
                          <a:ea typeface="Calibri"/>
                          <a:cs typeface="Calibri"/>
                        </a:rPr>
                        <a:t>Communication</a:t>
                      </a:r>
                    </a:p>
                  </a:txBody>
                  <a:tcPr anchor="ctr">
                    <a:solidFill>
                      <a:srgbClr val="F4F6F9"/>
                    </a:solidFill>
                  </a:tcPr>
                </a:tc>
                <a:tc>
                  <a:txBody>
                    <a:bodyPr/>
                    <a:lstStyle/>
                    <a:p>
                      <a:pPr algn="l"/>
                      <a:r>
                        <a:rPr lang="en-IN" sz="1400" dirty="0">
                          <a:solidFill>
                            <a:srgbClr val="3A4658"/>
                          </a:solidFill>
                          <a:latin typeface="Calibri"/>
                          <a:ea typeface="Calibri"/>
                          <a:cs typeface="Calibri"/>
                        </a:rPr>
                        <a:t>Individual signal wire per motor</a:t>
                      </a:r>
                    </a:p>
                  </a:txBody>
                  <a:tcPr anchor="ctr">
                    <a:solidFill>
                      <a:srgbClr val="FFFFFF"/>
                    </a:solidFill>
                  </a:tcPr>
                </a:tc>
                <a:tc>
                  <a:txBody>
                    <a:bodyPr/>
                    <a:lstStyle/>
                    <a:p>
                      <a:pPr algn="l"/>
                      <a:r>
                        <a:rPr lang="en-IN" sz="1400">
                          <a:solidFill>
                            <a:srgbClr val="16223A"/>
                          </a:solidFill>
                          <a:latin typeface="Calibri"/>
                          <a:ea typeface="Calibri"/>
                          <a:cs typeface="Calibri"/>
                        </a:rPr>
                        <a:t>Daisy-chain communication</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1">
                          <a:solidFill>
                            <a:srgbClr val="16223A"/>
                          </a:solidFill>
                          <a:latin typeface="Calibri"/>
                          <a:ea typeface="Calibri"/>
                          <a:cs typeface="Calibri"/>
                        </a:rPr>
                        <a:t>Wiring Complexity</a:t>
                      </a:r>
                    </a:p>
                  </a:txBody>
                  <a:tcPr anchor="ctr">
                    <a:solidFill>
                      <a:srgbClr val="F4F6F9"/>
                    </a:solidFill>
                  </a:tcPr>
                </a:tc>
                <a:tc>
                  <a:txBody>
                    <a:bodyPr/>
                    <a:lstStyle/>
                    <a:p>
                      <a:pPr algn="l"/>
                      <a:r>
                        <a:rPr lang="en-IN" sz="1400" dirty="0">
                          <a:solidFill>
                            <a:srgbClr val="3A4658"/>
                          </a:solidFill>
                          <a:latin typeface="Calibri"/>
                          <a:ea typeface="Calibri"/>
                          <a:cs typeface="Calibri"/>
                        </a:rPr>
                        <a:t>High</a:t>
                      </a:r>
                    </a:p>
                  </a:txBody>
                  <a:tcPr anchor="ctr">
                    <a:solidFill>
                      <a:srgbClr val="FFFFFF"/>
                    </a:solidFill>
                  </a:tcPr>
                </a:tc>
                <a:tc>
                  <a:txBody>
                    <a:bodyPr/>
                    <a:lstStyle/>
                    <a:p>
                      <a:pPr algn="l"/>
                      <a:r>
                        <a:rPr lang="en-IN" sz="1400" dirty="0">
                          <a:solidFill>
                            <a:srgbClr val="16223A"/>
                          </a:solidFill>
                          <a:latin typeface="Calibri"/>
                          <a:ea typeface="Calibri"/>
                          <a:cs typeface="Calibri"/>
                        </a:rPr>
                        <a:t>Low</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1">
                          <a:solidFill>
                            <a:srgbClr val="16223A"/>
                          </a:solidFill>
                          <a:latin typeface="Calibri"/>
                          <a:ea typeface="Calibri"/>
                          <a:cs typeface="Calibri"/>
                        </a:rPr>
                        <a:t>Feedback</a:t>
                      </a:r>
                    </a:p>
                  </a:txBody>
                  <a:tcPr anchor="ctr">
                    <a:solidFill>
                      <a:srgbClr val="F4F6F9"/>
                    </a:solidFill>
                  </a:tcPr>
                </a:tc>
                <a:tc>
                  <a:txBody>
                    <a:bodyPr/>
                    <a:lstStyle/>
                    <a:p>
                      <a:pPr algn="l"/>
                      <a:r>
                        <a:rPr lang="en-IN" sz="1400" dirty="0">
                          <a:solidFill>
                            <a:srgbClr val="3A4658"/>
                          </a:solidFill>
                          <a:latin typeface="Calibri"/>
                          <a:ea typeface="Calibri"/>
                          <a:cs typeface="Calibri"/>
                        </a:rPr>
                        <a:t>Not available</a:t>
                      </a:r>
                    </a:p>
                  </a:txBody>
                  <a:tcPr anchor="ctr">
                    <a:solidFill>
                      <a:srgbClr val="FFFFFF"/>
                    </a:solidFill>
                  </a:tcPr>
                </a:tc>
                <a:tc>
                  <a:txBody>
                    <a:bodyPr/>
                    <a:lstStyle/>
                    <a:p>
                      <a:pPr algn="l"/>
                      <a:r>
                        <a:rPr lang="en-IN" sz="1400">
                          <a:solidFill>
                            <a:srgbClr val="16223A"/>
                          </a:solidFill>
                          <a:latin typeface="Calibri"/>
                          <a:ea typeface="Calibri"/>
                          <a:cs typeface="Calibri"/>
                        </a:rPr>
                        <a:t>Position, load, temperature, voltage feedback</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1">
                          <a:solidFill>
                            <a:srgbClr val="16223A"/>
                          </a:solidFill>
                          <a:latin typeface="Calibri"/>
                          <a:ea typeface="Calibri"/>
                          <a:cs typeface="Calibri"/>
                        </a:rPr>
                        <a:t>Controller</a:t>
                      </a:r>
                    </a:p>
                  </a:txBody>
                  <a:tcPr anchor="ctr">
                    <a:solidFill>
                      <a:srgbClr val="F4F6F9"/>
                    </a:solidFill>
                  </a:tcPr>
                </a:tc>
                <a:tc>
                  <a:txBody>
                    <a:bodyPr/>
                    <a:lstStyle/>
                    <a:p>
                      <a:pPr algn="l"/>
                      <a:r>
                        <a:rPr lang="en-IN" sz="1400" dirty="0">
                          <a:solidFill>
                            <a:srgbClr val="3A4658"/>
                          </a:solidFill>
                          <a:latin typeface="Calibri"/>
                          <a:ea typeface="Calibri"/>
                          <a:cs typeface="Calibri"/>
                        </a:rPr>
                        <a:t>External controller required</a:t>
                      </a:r>
                    </a:p>
                  </a:txBody>
                  <a:tcPr anchor="ctr">
                    <a:solidFill>
                      <a:srgbClr val="FFFFFF"/>
                    </a:solidFill>
                  </a:tcPr>
                </a:tc>
                <a:tc>
                  <a:txBody>
                    <a:bodyPr/>
                    <a:lstStyle/>
                    <a:p>
                      <a:pPr algn="l"/>
                      <a:r>
                        <a:rPr lang="en-IN" sz="1400" dirty="0">
                          <a:solidFill>
                            <a:srgbClr val="16223A"/>
                          </a:solidFill>
                          <a:latin typeface="Calibri"/>
                          <a:ea typeface="Calibri"/>
                          <a:cs typeface="Calibri"/>
                        </a:rPr>
                        <a:t>Built-in controller</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1">
                          <a:solidFill>
                            <a:srgbClr val="16223A"/>
                          </a:solidFill>
                          <a:latin typeface="Calibri"/>
                          <a:ea typeface="Calibri"/>
                          <a:cs typeface="Calibri"/>
                        </a:rPr>
                        <a:t>Scalability</a:t>
                      </a:r>
                    </a:p>
                  </a:txBody>
                  <a:tcPr anchor="ctr">
                    <a:solidFill>
                      <a:srgbClr val="F4F6F9"/>
                    </a:solidFill>
                  </a:tcPr>
                </a:tc>
                <a:tc>
                  <a:txBody>
                    <a:bodyPr/>
                    <a:lstStyle/>
                    <a:p>
                      <a:pPr algn="l"/>
                      <a:r>
                        <a:rPr lang="en-IN" sz="1400" dirty="0">
                          <a:solidFill>
                            <a:srgbClr val="3A4658"/>
                          </a:solidFill>
                          <a:latin typeface="Calibri"/>
                          <a:ea typeface="Calibri"/>
                          <a:cs typeface="Calibri"/>
                        </a:rPr>
                        <a:t>Difficult for many joints</a:t>
                      </a:r>
                    </a:p>
                  </a:txBody>
                  <a:tcPr anchor="ctr">
                    <a:solidFill>
                      <a:srgbClr val="FFFFFF"/>
                    </a:solidFill>
                  </a:tcPr>
                </a:tc>
                <a:tc>
                  <a:txBody>
                    <a:bodyPr/>
                    <a:lstStyle/>
                    <a:p>
                      <a:pPr algn="l"/>
                      <a:r>
                        <a:rPr lang="en-IN" sz="1400" dirty="0">
                          <a:solidFill>
                            <a:srgbClr val="16223A"/>
                          </a:solidFill>
                          <a:latin typeface="Calibri"/>
                          <a:ea typeface="Calibri"/>
                          <a:cs typeface="Calibri"/>
                        </a:rPr>
                        <a:t>Designed for multi-joint robots</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1">
                          <a:solidFill>
                            <a:srgbClr val="16223A"/>
                          </a:solidFill>
                          <a:latin typeface="Calibri"/>
                          <a:ea typeface="Calibri"/>
                          <a:cs typeface="Calibri"/>
                        </a:rPr>
                        <a:t>Precision</a:t>
                      </a:r>
                    </a:p>
                  </a:txBody>
                  <a:tcPr anchor="ctr">
                    <a:solidFill>
                      <a:srgbClr val="F4F6F9"/>
                    </a:solidFill>
                  </a:tcPr>
                </a:tc>
                <a:tc>
                  <a:txBody>
                    <a:bodyPr/>
                    <a:lstStyle/>
                    <a:p>
                      <a:pPr algn="l"/>
                      <a:r>
                        <a:rPr lang="en-IN" sz="1400" dirty="0">
                          <a:solidFill>
                            <a:srgbClr val="3A4658"/>
                          </a:solidFill>
                          <a:latin typeface="Calibri"/>
                          <a:ea typeface="Calibri"/>
                          <a:cs typeface="Calibri"/>
                        </a:rPr>
                        <a:t>Moderate</a:t>
                      </a:r>
                    </a:p>
                  </a:txBody>
                  <a:tcPr anchor="ctr">
                    <a:solidFill>
                      <a:srgbClr val="FFFFFF"/>
                    </a:solidFill>
                  </a:tcPr>
                </a:tc>
                <a:tc>
                  <a:txBody>
                    <a:bodyPr/>
                    <a:lstStyle/>
                    <a:p>
                      <a:pPr algn="l"/>
                      <a:r>
                        <a:rPr lang="en-IN" sz="1400" dirty="0">
                          <a:solidFill>
                            <a:srgbClr val="16223A"/>
                          </a:solidFill>
                          <a:latin typeface="Calibri"/>
                          <a:ea typeface="Calibri"/>
                          <a:cs typeface="Calibri"/>
                        </a:rPr>
                        <a:t>High</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1" dirty="0">
                          <a:solidFill>
                            <a:srgbClr val="16223A"/>
                          </a:solidFill>
                          <a:latin typeface="Calibri"/>
                          <a:ea typeface="Calibri"/>
                          <a:cs typeface="Calibri"/>
                        </a:rPr>
                        <a:t>Robotics Applications</a:t>
                      </a:r>
                    </a:p>
                  </a:txBody>
                  <a:tcPr anchor="ctr">
                    <a:solidFill>
                      <a:srgbClr val="F4F6F9"/>
                    </a:solidFill>
                  </a:tcPr>
                </a:tc>
                <a:tc>
                  <a:txBody>
                    <a:bodyPr/>
                    <a:lstStyle/>
                    <a:p>
                      <a:pPr algn="l"/>
                      <a:r>
                        <a:rPr lang="en-IN" sz="1400" dirty="0">
                          <a:solidFill>
                            <a:srgbClr val="3A4658"/>
                          </a:solidFill>
                          <a:latin typeface="Calibri"/>
                          <a:ea typeface="Calibri"/>
                          <a:cs typeface="Calibri"/>
                        </a:rPr>
                        <a:t>Hobby projects</a:t>
                      </a:r>
                    </a:p>
                  </a:txBody>
                  <a:tcPr anchor="ctr">
                    <a:solidFill>
                      <a:srgbClr val="FFFFFF"/>
                    </a:solidFill>
                  </a:tcPr>
                </a:tc>
                <a:tc>
                  <a:txBody>
                    <a:bodyPr/>
                    <a:lstStyle/>
                    <a:p>
                      <a:pPr algn="l"/>
                      <a:r>
                        <a:rPr lang="en-IN" sz="1400" dirty="0">
                          <a:solidFill>
                            <a:srgbClr val="16223A"/>
                          </a:solidFill>
                          <a:latin typeface="Calibri"/>
                          <a:ea typeface="Calibri"/>
                          <a:cs typeface="Calibri"/>
                        </a:rPr>
                        <a:t>Research and industrial robotics</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ARCHITECTURE &amp; DECISION</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Daisy-Chain Architecture &amp; Final Selection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Conventional Servo — Separate Wiring</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Controller</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1</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3</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4</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Every motor needs its own signal wire back to the controller.</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Dynamixel — Daisy-Chain</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Ctrl</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M1</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M3</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M4</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One cable carries power and data to every joint in sequence.</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KEY LEARNINGS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Daisy-chain wiring sharply cuts cabling and assembly effort.</a:t>
            </a:r>
          </a:p>
          <a:p>
            <a:pPr marL="200000" indent="-200000">
              <a:spcBef>
                <a:spcPts val="600"/>
              </a:spcBef>
              <a:buClr>
                <a:srgbClr val="0E96AC"/>
              </a:buClr>
              <a:buFont typeface="Arial"/>
              <a:buChar char="•"/>
            </a:pPr>
            <a:r>
              <a:rPr lang="en-US" sz="1400" dirty="0">
                <a:solidFill>
                  <a:srgbClr val="16223A"/>
                </a:solidFill>
                <a:latin typeface="Calibri" pitchFamily="34" charset="0"/>
              </a:rPr>
              <a:t>A controller built into every motor simplifies integration.</a:t>
            </a:r>
          </a:p>
          <a:p>
            <a:pPr marL="200000" indent="-200000">
              <a:spcBef>
                <a:spcPts val="600"/>
              </a:spcBef>
              <a:buClr>
                <a:srgbClr val="0E96AC"/>
              </a:buClr>
              <a:buFont typeface="Arial"/>
              <a:buChar char="•"/>
            </a:pPr>
            <a:r>
              <a:rPr lang="en-US" sz="1400" dirty="0">
                <a:solidFill>
                  <a:srgbClr val="16223A"/>
                </a:solidFill>
                <a:latin typeface="Calibri" pitchFamily="34" charset="0"/>
              </a:rPr>
              <a:t>Real-time feedback enables future closed-loop control.</a:t>
            </a:r>
          </a:p>
          <a:p>
            <a:pPr marL="200000" indent="-200000">
              <a:spcBef>
                <a:spcPts val="600"/>
              </a:spcBef>
              <a:buClr>
                <a:srgbClr val="0E96AC"/>
              </a:buClr>
              <a:buFont typeface="Arial"/>
              <a:buChar char="•"/>
            </a:pPr>
            <a:r>
              <a:rPr lang="en-US" sz="1400" dirty="0">
                <a:solidFill>
                  <a:srgbClr val="16223A"/>
                </a:solidFill>
                <a:latin typeface="Calibri" pitchFamily="34" charset="0"/>
              </a:rPr>
              <a:t>Compact form factor suits modular robot segments.</a:t>
            </a:r>
          </a:p>
          <a:p>
            <a:pPr marL="200000" indent="-200000">
              <a:spcBef>
                <a:spcPts val="600"/>
              </a:spcBef>
              <a:buClr>
                <a:srgbClr val="0E96AC"/>
              </a:buClr>
              <a:buFont typeface="Arial"/>
              <a:buChar char="•"/>
            </a:pPr>
            <a:r>
              <a:rPr lang="en-US" sz="1400" dirty="0">
                <a:solidFill>
                  <a:srgbClr val="16223A"/>
                </a:solidFill>
                <a:latin typeface="Calibri" pitchFamily="34" charset="0"/>
              </a:rPr>
              <a:t>High precision and smart control fit advanced robotics.</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FINAL SELECTED ACTUATOR</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Dynamixel XL330 Series</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Chosen for its smart serial communication, full-state feedback, compact form factor and effortless multi-joint scaling — the right fit for a multi-segment snake robot.</a:t>
            </a:r>
          </a:p>
        </p:txBody>
      </p:sp>
    </p:spTree>
    <p:extLst>
      <p:ext uri="{BB962C8B-B14F-4D97-AF65-F5344CB8AC3E}">
        <p14:creationId xmlns:p14="http://schemas.microsoft.com/office/powerpoint/2010/main" val="50491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GOALS &amp; EXPECTED OUTCOMES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This Project Sets Out to Build</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20240"/>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98548"/>
            <a:ext cx="356616" cy="356616"/>
          </a:xfrm>
          <a:prstGeom prst="rect">
            <a:avLst/>
          </a:prstGeom>
        </p:spPr>
      </p:pic>
      <p:sp>
        <p:nvSpPr>
          <p:cNvPr id="13" name="Text 10"/>
          <p:cNvSpPr/>
          <p:nvPr/>
        </p:nvSpPr>
        <p:spPr>
          <a:xfrm>
            <a:off x="3118104"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14" name="Text 11"/>
          <p:cNvSpPr/>
          <p:nvPr/>
        </p:nvSpPr>
        <p:spPr>
          <a:xfrm>
            <a:off x="822960"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Modular Architecture</a:t>
            </a:r>
            <a:endParaRPr lang="en-US" sz="1550" dirty="0"/>
          </a:p>
        </p:txBody>
      </p:sp>
      <p:sp>
        <p:nvSpPr>
          <p:cNvPr id="15" name="Text 12"/>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repeatable segment-based mechanical design.</a:t>
            </a:r>
            <a:endParaRPr lang="en-US" sz="1150" dirty="0"/>
          </a:p>
        </p:txBody>
      </p:sp>
      <p:sp>
        <p:nvSpPr>
          <p:cNvPr id="16" name="Shape 13"/>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4"/>
          <p:cNvSpPr/>
          <p:nvPr/>
        </p:nvSpPr>
        <p:spPr>
          <a:xfrm>
            <a:off x="4645152" y="1920240"/>
            <a:ext cx="713232" cy="713232"/>
          </a:xfrm>
          <a:prstGeom prst="ellipse">
            <a:avLst/>
          </a:prstGeom>
          <a:solidFill>
            <a:srgbClr val="E08A1E"/>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4823460" y="2098548"/>
            <a:ext cx="356616" cy="356616"/>
          </a:xfrm>
          <a:prstGeom prst="rect">
            <a:avLst/>
          </a:prstGeom>
        </p:spPr>
      </p:pic>
      <p:sp>
        <p:nvSpPr>
          <p:cNvPr id="19" name="Text 15"/>
          <p:cNvSpPr/>
          <p:nvPr/>
        </p:nvSpPr>
        <p:spPr>
          <a:xfrm>
            <a:off x="6940296"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20" name="Text 16"/>
          <p:cNvSpPr/>
          <p:nvPr/>
        </p:nvSpPr>
        <p:spPr>
          <a:xfrm>
            <a:off x="4645152"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Dynamixel Actuators</a:t>
            </a:r>
            <a:endParaRPr lang="en-US" sz="1550" dirty="0"/>
          </a:p>
        </p:txBody>
      </p:sp>
      <p:sp>
        <p:nvSpPr>
          <p:cNvPr id="21" name="Text 17"/>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Integrate smart servos with daisy-chained control.</a:t>
            </a:r>
            <a:endParaRPr lang="en-US" sz="1150" dirty="0"/>
          </a:p>
        </p:txBody>
      </p:sp>
      <p:sp>
        <p:nvSpPr>
          <p:cNvPr id="22" name="Shape 18"/>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9"/>
          <p:cNvSpPr/>
          <p:nvPr/>
        </p:nvSpPr>
        <p:spPr>
          <a:xfrm>
            <a:off x="8467344" y="1920240"/>
            <a:ext cx="713232" cy="713232"/>
          </a:xfrm>
          <a:prstGeom prst="ellipse">
            <a:avLst/>
          </a:prstGeom>
          <a:solidFill>
            <a:srgbClr val="12A678"/>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645652" y="2098548"/>
            <a:ext cx="356616" cy="356616"/>
          </a:xfrm>
          <a:prstGeom prst="rect">
            <a:avLst/>
          </a:prstGeom>
        </p:spPr>
      </p:pic>
      <p:sp>
        <p:nvSpPr>
          <p:cNvPr id="25" name="Text 20"/>
          <p:cNvSpPr/>
          <p:nvPr/>
        </p:nvSpPr>
        <p:spPr>
          <a:xfrm>
            <a:off x="10762488"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6" name="Text 21"/>
          <p:cNvSpPr/>
          <p:nvPr/>
        </p:nvSpPr>
        <p:spPr>
          <a:xfrm>
            <a:off x="8467344"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Raspberry Pi Control</a:t>
            </a:r>
            <a:endParaRPr lang="en-US" sz="1550" dirty="0"/>
          </a:p>
        </p:txBody>
      </p:sp>
      <p:sp>
        <p:nvSpPr>
          <p:cNvPr id="27" name="Text 22"/>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single-board-computer control system.</a:t>
            </a:r>
            <a:endParaRPr lang="en-US" sz="1150" dirty="0"/>
          </a:p>
        </p:txBody>
      </p:sp>
      <p:sp>
        <p:nvSpPr>
          <p:cNvPr id="28" name="Shape 23"/>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4"/>
          <p:cNvSpPr/>
          <p:nvPr/>
        </p:nvSpPr>
        <p:spPr>
          <a:xfrm>
            <a:off x="822960" y="4169664"/>
            <a:ext cx="713232" cy="713232"/>
          </a:xfrm>
          <a:prstGeom prst="ellipse">
            <a:avLst/>
          </a:prstGeom>
          <a:solidFill>
            <a:srgbClr val="0E96AC"/>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1001268" y="4347972"/>
            <a:ext cx="356616" cy="356616"/>
          </a:xfrm>
          <a:prstGeom prst="rect">
            <a:avLst/>
          </a:prstGeom>
        </p:spPr>
      </p:pic>
      <p:sp>
        <p:nvSpPr>
          <p:cNvPr id="31" name="Text 25"/>
          <p:cNvSpPr/>
          <p:nvPr/>
        </p:nvSpPr>
        <p:spPr>
          <a:xfrm>
            <a:off x="3118104"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32" name="Text 26"/>
          <p:cNvSpPr/>
          <p:nvPr/>
        </p:nvSpPr>
        <p:spPr>
          <a:xfrm>
            <a:off x="822960"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Locomotion Algorithms</a:t>
            </a:r>
            <a:endParaRPr lang="en-US" sz="1550" dirty="0"/>
          </a:p>
        </p:txBody>
      </p:sp>
      <p:sp>
        <p:nvSpPr>
          <p:cNvPr id="33" name="Text 27"/>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Implement serpentine and gait-based motion.</a:t>
            </a:r>
            <a:endParaRPr lang="en-US" sz="1150" dirty="0"/>
          </a:p>
        </p:txBody>
      </p:sp>
      <p:sp>
        <p:nvSpPr>
          <p:cNvPr id="34" name="Shape 28"/>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9"/>
          <p:cNvSpPr/>
          <p:nvPr/>
        </p:nvSpPr>
        <p:spPr>
          <a:xfrm>
            <a:off x="4645152" y="4169664"/>
            <a:ext cx="713232" cy="713232"/>
          </a:xfrm>
          <a:prstGeom prst="ellipse">
            <a:avLst/>
          </a:prstGeom>
          <a:solidFill>
            <a:srgbClr val="E08A1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823460" y="4347972"/>
            <a:ext cx="356616" cy="356616"/>
          </a:xfrm>
          <a:prstGeom prst="rect">
            <a:avLst/>
          </a:prstGeom>
        </p:spPr>
      </p:pic>
      <p:sp>
        <p:nvSpPr>
          <p:cNvPr id="37" name="Text 30"/>
          <p:cNvSpPr/>
          <p:nvPr/>
        </p:nvSpPr>
        <p:spPr>
          <a:xfrm>
            <a:off x="6940296"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05</a:t>
            </a:r>
            <a:endParaRPr lang="en-US" sz="3000" dirty="0"/>
          </a:p>
        </p:txBody>
      </p:sp>
      <p:sp>
        <p:nvSpPr>
          <p:cNvPr id="38" name="Text 31"/>
          <p:cNvSpPr/>
          <p:nvPr/>
        </p:nvSpPr>
        <p:spPr>
          <a:xfrm>
            <a:off x="4645152"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Sensor Integration</a:t>
            </a:r>
            <a:endParaRPr lang="en-US" sz="1550" dirty="0"/>
          </a:p>
        </p:txBody>
      </p:sp>
      <p:sp>
        <p:nvSpPr>
          <p:cNvPr id="39" name="Text 32"/>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Add sensing for future intelligent navigation.</a:t>
            </a:r>
            <a:endParaRPr lang="en-US" sz="1150" dirty="0"/>
          </a:p>
        </p:txBody>
      </p:sp>
      <p:sp>
        <p:nvSpPr>
          <p:cNvPr id="40" name="Shape 33"/>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34"/>
          <p:cNvSpPr/>
          <p:nvPr/>
        </p:nvSpPr>
        <p:spPr>
          <a:xfrm>
            <a:off x="8467344" y="4169664"/>
            <a:ext cx="713232" cy="713232"/>
          </a:xfrm>
          <a:prstGeom prst="ellipse">
            <a:avLst/>
          </a:prstGeom>
          <a:solidFill>
            <a:srgbClr val="12A678"/>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8645652" y="4347972"/>
            <a:ext cx="356616" cy="356616"/>
          </a:xfrm>
          <a:prstGeom prst="rect">
            <a:avLst/>
          </a:prstGeom>
        </p:spPr>
      </p:pic>
      <p:sp>
        <p:nvSpPr>
          <p:cNvPr id="43" name="Text 35"/>
          <p:cNvSpPr/>
          <p:nvPr/>
        </p:nvSpPr>
        <p:spPr>
          <a:xfrm>
            <a:off x="10762488"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06</a:t>
            </a:r>
            <a:endParaRPr lang="en-US" sz="3000" dirty="0"/>
          </a:p>
        </p:txBody>
      </p:sp>
      <p:sp>
        <p:nvSpPr>
          <p:cNvPr id="44" name="Text 36"/>
          <p:cNvSpPr/>
          <p:nvPr/>
        </p:nvSpPr>
        <p:spPr>
          <a:xfrm>
            <a:off x="8467344"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Scalable Platform</a:t>
            </a:r>
            <a:endParaRPr lang="en-US" sz="1550" dirty="0"/>
          </a:p>
        </p:txBody>
      </p:sp>
      <p:sp>
        <p:nvSpPr>
          <p:cNvPr id="45" name="Text 37"/>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Keep it maintainable and easy to extend.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WORK COMPLETED SO FAR</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Quarter-One Progress Summary</a:t>
            </a:r>
            <a:endParaRPr lang="en-US" sz="3000" dirty="0"/>
          </a:p>
        </p:txBody>
      </p:sp>
      <p:sp>
        <p:nvSpPr>
          <p:cNvPr id="10" name="Shape 8"/>
          <p:cNvSpPr/>
          <p:nvPr/>
        </p:nvSpPr>
        <p:spPr>
          <a:xfrm>
            <a:off x="548640" y="1645920"/>
            <a:ext cx="3657600" cy="4434840"/>
          </a:xfrm>
          <a:prstGeom prst="roundRect">
            <a:avLst>
              <a:gd name="adj" fmla="val 2500"/>
            </a:avLst>
          </a:prstGeom>
          <a:solidFill>
            <a:srgbClr val="16223A"/>
          </a:solidFill>
          <a:ln/>
          <a:effectLst>
            <a:outerShdw blurRad="114300" dist="38100" dir="5400000" algn="bl" rotWithShape="0">
              <a:srgbClr val="1A2440">
                <a:alpha val="16000"/>
              </a:srgbClr>
            </a:outerShdw>
          </a:effectLst>
        </p:spPr>
      </p:sp>
      <p:sp>
        <p:nvSpPr>
          <p:cNvPr id="11" name="Text 9"/>
          <p:cNvSpPr/>
          <p:nvPr/>
        </p:nvSpPr>
        <p:spPr>
          <a:xfrm>
            <a:off x="777240" y="1965960"/>
            <a:ext cx="3200400" cy="274320"/>
          </a:xfrm>
          <a:prstGeom prst="rect">
            <a:avLst/>
          </a:prstGeom>
          <a:noFill/>
          <a:ln/>
        </p:spPr>
        <p:txBody>
          <a:bodyPr wrap="square" lIns="0" tIns="0" rIns="0" bIns="0" rtlCol="0" anchor="ctr"/>
          <a:lstStyle/>
          <a:p>
            <a:pPr marL="0" indent="0">
              <a:buNone/>
            </a:pPr>
            <a:r>
              <a:rPr lang="en-US" sz="1150" b="1" kern="0" spc="200" dirty="0">
                <a:solidFill>
                  <a:srgbClr val="2BD4E8"/>
                </a:solidFill>
                <a:latin typeface="Calibri" pitchFamily="34" charset="0"/>
                <a:ea typeface="Calibri" pitchFamily="34" charset="-122"/>
                <a:cs typeface="Calibri" pitchFamily="34" charset="-120"/>
              </a:rPr>
              <a:t>OVERALL COMPLETION(till now)</a:t>
            </a:r>
            <a:endParaRPr lang="en-US" sz="1150" dirty="0"/>
          </a:p>
        </p:txBody>
      </p:sp>
      <p:sp>
        <p:nvSpPr>
          <p:cNvPr id="12" name="Text 10"/>
          <p:cNvSpPr/>
          <p:nvPr/>
        </p:nvSpPr>
        <p:spPr>
          <a:xfrm>
            <a:off x="777240" y="2240280"/>
            <a:ext cx="3200400" cy="1188720"/>
          </a:xfrm>
          <a:prstGeom prst="rect">
            <a:avLst/>
          </a:prstGeom>
          <a:noFill/>
          <a:ln/>
        </p:spPr>
        <p:txBody>
          <a:bodyPr wrap="square" lIns="0" tIns="0" rIns="0" bIns="0"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25</a:t>
            </a:r>
            <a:r>
              <a:rPr lang="en-US" sz="3400" b="1" dirty="0">
                <a:solidFill>
                  <a:srgbClr val="2BD4E8"/>
                </a:solidFill>
                <a:latin typeface="Calibri" pitchFamily="34" charset="0"/>
                <a:ea typeface="Calibri" pitchFamily="34" charset="-122"/>
                <a:cs typeface="Calibri" pitchFamily="34" charset="-120"/>
              </a:rPr>
              <a:t> %</a:t>
            </a:r>
            <a:endParaRPr lang="en-US" sz="7800" dirty="0"/>
          </a:p>
        </p:txBody>
      </p:sp>
      <p:sp>
        <p:nvSpPr>
          <p:cNvPr id="13" name="Shape 11"/>
          <p:cNvSpPr/>
          <p:nvPr/>
        </p:nvSpPr>
        <p:spPr>
          <a:xfrm>
            <a:off x="777240" y="3611880"/>
            <a:ext cx="352044" cy="310896"/>
          </a:xfrm>
          <a:prstGeom prst="roundRect">
            <a:avLst>
              <a:gd name="adj" fmla="val 14706"/>
            </a:avLst>
          </a:prstGeom>
          <a:solidFill>
            <a:srgbClr val="2BD4E8"/>
          </a:solidFill>
          <a:ln/>
        </p:spPr>
      </p:sp>
      <p:sp>
        <p:nvSpPr>
          <p:cNvPr id="14" name="Shape 12"/>
          <p:cNvSpPr/>
          <p:nvPr/>
        </p:nvSpPr>
        <p:spPr>
          <a:xfrm>
            <a:off x="1184148" y="3611880"/>
            <a:ext cx="352044" cy="310896"/>
          </a:xfrm>
          <a:prstGeom prst="roundRect">
            <a:avLst>
              <a:gd name="adj" fmla="val 14706"/>
            </a:avLst>
          </a:prstGeom>
          <a:solidFill>
            <a:srgbClr val="2BD4E8"/>
          </a:solidFill>
          <a:ln/>
        </p:spPr>
      </p:sp>
      <p:sp>
        <p:nvSpPr>
          <p:cNvPr id="15" name="Shape 13"/>
          <p:cNvSpPr/>
          <p:nvPr/>
        </p:nvSpPr>
        <p:spPr>
          <a:xfrm>
            <a:off x="1591056" y="3611880"/>
            <a:ext cx="352044" cy="310896"/>
          </a:xfrm>
          <a:prstGeom prst="roundRect">
            <a:avLst>
              <a:gd name="adj" fmla="val 14706"/>
            </a:avLst>
          </a:prstGeom>
          <a:solidFill>
            <a:srgbClr val="2A3958"/>
          </a:solidFill>
          <a:ln/>
        </p:spPr>
      </p:sp>
      <p:sp>
        <p:nvSpPr>
          <p:cNvPr id="16" name="Shape 14"/>
          <p:cNvSpPr/>
          <p:nvPr/>
        </p:nvSpPr>
        <p:spPr>
          <a:xfrm>
            <a:off x="1997964" y="3611880"/>
            <a:ext cx="352044" cy="310896"/>
          </a:xfrm>
          <a:prstGeom prst="roundRect">
            <a:avLst>
              <a:gd name="adj" fmla="val 14706"/>
            </a:avLst>
          </a:prstGeom>
          <a:solidFill>
            <a:srgbClr val="2A3958"/>
          </a:solidFill>
          <a:ln/>
        </p:spPr>
      </p:sp>
      <p:sp>
        <p:nvSpPr>
          <p:cNvPr id="17" name="Shape 15"/>
          <p:cNvSpPr/>
          <p:nvPr/>
        </p:nvSpPr>
        <p:spPr>
          <a:xfrm>
            <a:off x="2404872" y="3611880"/>
            <a:ext cx="352044" cy="310896"/>
          </a:xfrm>
          <a:prstGeom prst="roundRect">
            <a:avLst>
              <a:gd name="adj" fmla="val 14706"/>
            </a:avLst>
          </a:prstGeom>
          <a:solidFill>
            <a:srgbClr val="2A3958"/>
          </a:solidFill>
          <a:ln/>
        </p:spPr>
      </p:sp>
      <p:sp>
        <p:nvSpPr>
          <p:cNvPr id="18" name="Shape 16"/>
          <p:cNvSpPr/>
          <p:nvPr/>
        </p:nvSpPr>
        <p:spPr>
          <a:xfrm>
            <a:off x="2811780" y="3611880"/>
            <a:ext cx="352044" cy="310896"/>
          </a:xfrm>
          <a:prstGeom prst="roundRect">
            <a:avLst>
              <a:gd name="adj" fmla="val 14706"/>
            </a:avLst>
          </a:prstGeom>
          <a:solidFill>
            <a:srgbClr val="2A3958"/>
          </a:solidFill>
          <a:ln/>
        </p:spPr>
      </p:sp>
      <p:sp>
        <p:nvSpPr>
          <p:cNvPr id="19" name="Shape 17"/>
          <p:cNvSpPr/>
          <p:nvPr/>
        </p:nvSpPr>
        <p:spPr>
          <a:xfrm>
            <a:off x="3218688" y="3611880"/>
            <a:ext cx="352044" cy="310896"/>
          </a:xfrm>
          <a:prstGeom prst="roundRect">
            <a:avLst>
              <a:gd name="adj" fmla="val 14706"/>
            </a:avLst>
          </a:prstGeom>
          <a:solidFill>
            <a:srgbClr val="2A3958"/>
          </a:solidFill>
          <a:ln/>
        </p:spPr>
      </p:sp>
      <p:sp>
        <p:nvSpPr>
          <p:cNvPr id="20" name="Shape 18"/>
          <p:cNvSpPr/>
          <p:nvPr/>
        </p:nvSpPr>
        <p:spPr>
          <a:xfrm>
            <a:off x="3625596" y="3611880"/>
            <a:ext cx="352044" cy="310896"/>
          </a:xfrm>
          <a:prstGeom prst="roundRect">
            <a:avLst>
              <a:gd name="adj" fmla="val 14706"/>
            </a:avLst>
          </a:prstGeom>
          <a:solidFill>
            <a:srgbClr val="2A3958"/>
          </a:solidFill>
          <a:ln/>
        </p:spPr>
      </p:sp>
      <p:sp>
        <p:nvSpPr>
          <p:cNvPr id="21" name="Text 19"/>
          <p:cNvSpPr/>
          <p:nvPr/>
        </p:nvSpPr>
        <p:spPr>
          <a:xfrm>
            <a:off x="777240" y="4023360"/>
            <a:ext cx="3200400" cy="274320"/>
          </a:xfrm>
          <a:prstGeom prst="rect">
            <a:avLst/>
          </a:prstGeom>
          <a:noFill/>
          <a:ln/>
        </p:spPr>
        <p:txBody>
          <a:bodyPr wrap="square" lIns="0" tIns="0" rIns="0" bIns="0" rtlCol="0" anchor="ctr"/>
          <a:lstStyle/>
          <a:p>
            <a:pPr marL="0" indent="0">
              <a:buNone/>
            </a:pPr>
            <a:r>
              <a:rPr lang="en-US" sz="1150" dirty="0">
                <a:solidFill>
                  <a:srgbClr val="6B7890"/>
                </a:solidFill>
                <a:latin typeface="Calibri" pitchFamily="34" charset="0"/>
                <a:ea typeface="Calibri" pitchFamily="34" charset="-122"/>
                <a:cs typeface="Calibri" pitchFamily="34" charset="-120"/>
              </a:rPr>
              <a:t>Phase 1 complete · Phase 2 underway</a:t>
            </a:r>
            <a:endParaRPr lang="en-US" sz="1150" dirty="0"/>
          </a:p>
        </p:txBody>
      </p:sp>
      <p:sp>
        <p:nvSpPr>
          <p:cNvPr id="22" name="Shape 20"/>
          <p:cNvSpPr/>
          <p:nvPr/>
        </p:nvSpPr>
        <p:spPr>
          <a:xfrm>
            <a:off x="777240" y="4526280"/>
            <a:ext cx="960120" cy="1207008"/>
          </a:xfrm>
          <a:prstGeom prst="roundRect">
            <a:avLst>
              <a:gd name="adj" fmla="val 7619"/>
            </a:avLst>
          </a:prstGeom>
          <a:solidFill>
            <a:srgbClr val="1E2A45"/>
          </a:solidFill>
          <a:ln/>
        </p:spPr>
      </p:sp>
      <p:sp>
        <p:nvSpPr>
          <p:cNvPr id="23" name="Text 21"/>
          <p:cNvSpPr/>
          <p:nvPr/>
        </p:nvSpPr>
        <p:spPr>
          <a:xfrm>
            <a:off x="777240"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10</a:t>
            </a:r>
            <a:endParaRPr lang="en-US" sz="2800" dirty="0"/>
          </a:p>
        </p:txBody>
      </p:sp>
      <p:sp>
        <p:nvSpPr>
          <p:cNvPr id="24" name="Text 22"/>
          <p:cNvSpPr/>
          <p:nvPr/>
        </p:nvSpPr>
        <p:spPr>
          <a:xfrm>
            <a:off x="777240"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Tasks done</a:t>
            </a:r>
            <a:endParaRPr lang="en-US" sz="950" dirty="0"/>
          </a:p>
        </p:txBody>
      </p:sp>
      <p:sp>
        <p:nvSpPr>
          <p:cNvPr id="25" name="Shape 23"/>
          <p:cNvSpPr/>
          <p:nvPr/>
        </p:nvSpPr>
        <p:spPr>
          <a:xfrm>
            <a:off x="1856232" y="4526280"/>
            <a:ext cx="960120" cy="1207008"/>
          </a:xfrm>
          <a:prstGeom prst="roundRect">
            <a:avLst>
              <a:gd name="adj" fmla="val 7619"/>
            </a:avLst>
          </a:prstGeom>
          <a:solidFill>
            <a:srgbClr val="1E2A45"/>
          </a:solidFill>
          <a:ln/>
        </p:spPr>
      </p:sp>
      <p:sp>
        <p:nvSpPr>
          <p:cNvPr id="26" name="Text 24"/>
          <p:cNvSpPr/>
          <p:nvPr/>
        </p:nvSpPr>
        <p:spPr>
          <a:xfrm>
            <a:off x="1856232"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2</a:t>
            </a:r>
            <a:endParaRPr lang="en-US" sz="2800" dirty="0"/>
          </a:p>
        </p:txBody>
      </p:sp>
      <p:sp>
        <p:nvSpPr>
          <p:cNvPr id="27" name="Text 25"/>
          <p:cNvSpPr/>
          <p:nvPr/>
        </p:nvSpPr>
        <p:spPr>
          <a:xfrm>
            <a:off x="1856232"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Segments printed</a:t>
            </a:r>
            <a:endParaRPr lang="en-US" sz="950" dirty="0"/>
          </a:p>
        </p:txBody>
      </p:sp>
      <p:sp>
        <p:nvSpPr>
          <p:cNvPr id="28" name="Shape 26"/>
          <p:cNvSpPr/>
          <p:nvPr/>
        </p:nvSpPr>
        <p:spPr>
          <a:xfrm>
            <a:off x="2935224" y="4526280"/>
            <a:ext cx="960120" cy="1207008"/>
          </a:xfrm>
          <a:prstGeom prst="roundRect">
            <a:avLst>
              <a:gd name="adj" fmla="val 7619"/>
            </a:avLst>
          </a:prstGeom>
          <a:solidFill>
            <a:srgbClr val="1E2A45"/>
          </a:solidFill>
          <a:ln/>
        </p:spPr>
      </p:sp>
      <p:sp>
        <p:nvSpPr>
          <p:cNvPr id="29" name="Text 27"/>
          <p:cNvSpPr/>
          <p:nvPr/>
        </p:nvSpPr>
        <p:spPr>
          <a:xfrm>
            <a:off x="2935224"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a:t>
            </a:r>
            <a:endParaRPr lang="en-US" sz="2800" dirty="0"/>
          </a:p>
        </p:txBody>
      </p:sp>
      <p:sp>
        <p:nvSpPr>
          <p:cNvPr id="30" name="Text 28"/>
          <p:cNvSpPr/>
          <p:nvPr/>
        </p:nvSpPr>
        <p:spPr>
          <a:xfrm>
            <a:off x="2935224"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Pi configured</a:t>
            </a:r>
            <a:endParaRPr lang="en-US" sz="950" dirty="0"/>
          </a:p>
        </p:txBody>
      </p:sp>
      <p:sp>
        <p:nvSpPr>
          <p:cNvPr id="31" name="Text 29"/>
          <p:cNvSpPr/>
          <p:nvPr/>
        </p:nvSpPr>
        <p:spPr>
          <a:xfrm>
            <a:off x="4526280" y="1645920"/>
            <a:ext cx="73152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COMPLETED TASKS</a:t>
            </a:r>
            <a:endParaRPr lang="en-US" sz="1200" dirty="0"/>
          </a:p>
        </p:txBody>
      </p:sp>
      <p:sp>
        <p:nvSpPr>
          <p:cNvPr id="32" name="Shape 30"/>
          <p:cNvSpPr/>
          <p:nvPr/>
        </p:nvSpPr>
        <p:spPr>
          <a:xfrm>
            <a:off x="4526280" y="2103120"/>
            <a:ext cx="3657600" cy="676656"/>
          </a:xfrm>
          <a:prstGeom prst="roundRect">
            <a:avLst>
              <a:gd name="adj" fmla="val 9459"/>
            </a:avLst>
          </a:prstGeom>
          <a:solidFill>
            <a:srgbClr val="FFFFFF"/>
          </a:solidFill>
          <a:ln w="12700">
            <a:solidFill>
              <a:srgbClr val="E2E8F0"/>
            </a:solidFill>
            <a:prstDash val="solid"/>
          </a:ln>
        </p:spPr>
      </p:sp>
      <p:pic>
        <p:nvPicPr>
          <p:cNvPr id="33" name="Image 0" descr="preencoded.png"/>
          <p:cNvPicPr>
            <a:picLocks noChangeAspect="1"/>
          </p:cNvPicPr>
          <p:nvPr/>
        </p:nvPicPr>
        <p:blipFill>
          <a:blip r:embed="rId3"/>
          <a:stretch>
            <a:fillRect/>
          </a:stretch>
        </p:blipFill>
        <p:spPr>
          <a:xfrm>
            <a:off x="4690872" y="2304288"/>
            <a:ext cx="274320" cy="274320"/>
          </a:xfrm>
          <a:prstGeom prst="rect">
            <a:avLst/>
          </a:prstGeom>
        </p:spPr>
      </p:pic>
      <p:sp>
        <p:nvSpPr>
          <p:cNvPr id="34" name="Text 31"/>
          <p:cNvSpPr/>
          <p:nvPr/>
        </p:nvSpPr>
        <p:spPr>
          <a:xfrm>
            <a:off x="509320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Literature review &amp; project understanding</a:t>
            </a:r>
            <a:endParaRPr lang="en-US" sz="1200" dirty="0"/>
          </a:p>
        </p:txBody>
      </p:sp>
      <p:sp>
        <p:nvSpPr>
          <p:cNvPr id="35" name="Shape 32"/>
          <p:cNvSpPr/>
          <p:nvPr/>
        </p:nvSpPr>
        <p:spPr>
          <a:xfrm>
            <a:off x="4526280" y="2907792"/>
            <a:ext cx="3657600" cy="676656"/>
          </a:xfrm>
          <a:prstGeom prst="roundRect">
            <a:avLst>
              <a:gd name="adj" fmla="val 9459"/>
            </a:avLst>
          </a:prstGeom>
          <a:solidFill>
            <a:srgbClr val="FFFFFF"/>
          </a:solidFill>
          <a:ln w="12700">
            <a:solidFill>
              <a:srgbClr val="E2E8F0"/>
            </a:solidFill>
            <a:prstDash val="solid"/>
          </a:ln>
        </p:spPr>
      </p:sp>
      <p:pic>
        <p:nvPicPr>
          <p:cNvPr id="36" name="Image 1" descr="preencoded.png"/>
          <p:cNvPicPr>
            <a:picLocks noChangeAspect="1"/>
          </p:cNvPicPr>
          <p:nvPr/>
        </p:nvPicPr>
        <p:blipFill>
          <a:blip r:embed="rId3"/>
          <a:stretch>
            <a:fillRect/>
          </a:stretch>
        </p:blipFill>
        <p:spPr>
          <a:xfrm>
            <a:off x="4690872" y="3108960"/>
            <a:ext cx="274320" cy="274320"/>
          </a:xfrm>
          <a:prstGeom prst="rect">
            <a:avLst/>
          </a:prstGeom>
        </p:spPr>
      </p:pic>
      <p:sp>
        <p:nvSpPr>
          <p:cNvPr id="37" name="Text 33"/>
          <p:cNvSpPr/>
          <p:nvPr/>
        </p:nvSpPr>
        <p:spPr>
          <a:xfrm>
            <a:off x="509320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Hardware selection &amp; BOM preparation</a:t>
            </a:r>
            <a:endParaRPr lang="en-US" sz="1200" dirty="0"/>
          </a:p>
        </p:txBody>
      </p:sp>
      <p:sp>
        <p:nvSpPr>
          <p:cNvPr id="38" name="Shape 34"/>
          <p:cNvSpPr/>
          <p:nvPr/>
        </p:nvSpPr>
        <p:spPr>
          <a:xfrm>
            <a:off x="4526280" y="3712464"/>
            <a:ext cx="3657600" cy="676656"/>
          </a:xfrm>
          <a:prstGeom prst="roundRect">
            <a:avLst>
              <a:gd name="adj" fmla="val 9459"/>
            </a:avLst>
          </a:prstGeom>
          <a:solidFill>
            <a:srgbClr val="FFFFFF"/>
          </a:solidFill>
          <a:ln w="12700">
            <a:solidFill>
              <a:srgbClr val="E2E8F0"/>
            </a:solidFill>
            <a:prstDash val="solid"/>
          </a:ln>
        </p:spPr>
      </p:sp>
      <p:pic>
        <p:nvPicPr>
          <p:cNvPr id="39" name="Image 2" descr="preencoded.png"/>
          <p:cNvPicPr>
            <a:picLocks noChangeAspect="1"/>
          </p:cNvPicPr>
          <p:nvPr/>
        </p:nvPicPr>
        <p:blipFill>
          <a:blip r:embed="rId3"/>
          <a:stretch>
            <a:fillRect/>
          </a:stretch>
        </p:blipFill>
        <p:spPr>
          <a:xfrm>
            <a:off x="4690872" y="3913632"/>
            <a:ext cx="274320" cy="274320"/>
          </a:xfrm>
          <a:prstGeom prst="rect">
            <a:avLst/>
          </a:prstGeom>
        </p:spPr>
      </p:pic>
      <p:sp>
        <p:nvSpPr>
          <p:cNvPr id="40" name="Text 35"/>
          <p:cNvSpPr/>
          <p:nvPr/>
        </p:nvSpPr>
        <p:spPr>
          <a:xfrm>
            <a:off x="509320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CAD design of snake-robot segment</a:t>
            </a:r>
            <a:endParaRPr lang="en-US" sz="1200" dirty="0"/>
          </a:p>
        </p:txBody>
      </p:sp>
      <p:sp>
        <p:nvSpPr>
          <p:cNvPr id="41" name="Shape 36"/>
          <p:cNvSpPr/>
          <p:nvPr/>
        </p:nvSpPr>
        <p:spPr>
          <a:xfrm>
            <a:off x="4526280" y="4517136"/>
            <a:ext cx="3657600" cy="676656"/>
          </a:xfrm>
          <a:prstGeom prst="roundRect">
            <a:avLst>
              <a:gd name="adj" fmla="val 9459"/>
            </a:avLst>
          </a:prstGeom>
          <a:solidFill>
            <a:srgbClr val="FFFFFF"/>
          </a:solidFill>
          <a:ln w="12700">
            <a:solidFill>
              <a:srgbClr val="E2E8F0"/>
            </a:solidFill>
            <a:prstDash val="solid"/>
          </a:ln>
        </p:spPr>
      </p:sp>
      <p:pic>
        <p:nvPicPr>
          <p:cNvPr id="42" name="Image 3" descr="preencoded.png"/>
          <p:cNvPicPr>
            <a:picLocks noChangeAspect="1"/>
          </p:cNvPicPr>
          <p:nvPr/>
        </p:nvPicPr>
        <p:blipFill>
          <a:blip r:embed="rId3"/>
          <a:stretch>
            <a:fillRect/>
          </a:stretch>
        </p:blipFill>
        <p:spPr>
          <a:xfrm>
            <a:off x="4690872" y="4718304"/>
            <a:ext cx="274320" cy="274320"/>
          </a:xfrm>
          <a:prstGeom prst="rect">
            <a:avLst/>
          </a:prstGeom>
        </p:spPr>
      </p:pic>
      <p:sp>
        <p:nvSpPr>
          <p:cNvPr id="43" name="Text 37"/>
          <p:cNvSpPr/>
          <p:nvPr/>
        </p:nvSpPr>
        <p:spPr>
          <a:xfrm>
            <a:off x="509320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Assembly sized to Dynamixel XL330 dims</a:t>
            </a:r>
            <a:endParaRPr lang="en-US" sz="1200" dirty="0"/>
          </a:p>
        </p:txBody>
      </p:sp>
      <p:sp>
        <p:nvSpPr>
          <p:cNvPr id="44" name="Shape 38"/>
          <p:cNvSpPr/>
          <p:nvPr/>
        </p:nvSpPr>
        <p:spPr>
          <a:xfrm>
            <a:off x="4526280" y="5321808"/>
            <a:ext cx="3657600" cy="676656"/>
          </a:xfrm>
          <a:prstGeom prst="roundRect">
            <a:avLst>
              <a:gd name="adj" fmla="val 9459"/>
            </a:avLst>
          </a:prstGeom>
          <a:solidFill>
            <a:srgbClr val="FFFFFF"/>
          </a:solidFill>
          <a:ln w="12700">
            <a:solidFill>
              <a:srgbClr val="E2E8F0"/>
            </a:solidFill>
            <a:prstDash val="solid"/>
          </a:ln>
        </p:spPr>
      </p:sp>
      <p:pic>
        <p:nvPicPr>
          <p:cNvPr id="45" name="Image 4" descr="preencoded.png"/>
          <p:cNvPicPr>
            <a:picLocks noChangeAspect="1"/>
          </p:cNvPicPr>
          <p:nvPr/>
        </p:nvPicPr>
        <p:blipFill>
          <a:blip r:embed="rId3"/>
          <a:stretch>
            <a:fillRect/>
          </a:stretch>
        </p:blipFill>
        <p:spPr>
          <a:xfrm>
            <a:off x="4690872" y="5522976"/>
            <a:ext cx="274320" cy="274320"/>
          </a:xfrm>
          <a:prstGeom prst="rect">
            <a:avLst/>
          </a:prstGeom>
        </p:spPr>
      </p:pic>
      <p:sp>
        <p:nvSpPr>
          <p:cNvPr id="46" name="Text 39"/>
          <p:cNvSpPr/>
          <p:nvPr/>
        </p:nvSpPr>
        <p:spPr>
          <a:xfrm>
            <a:off x="509320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3D printing of two prototype segments</a:t>
            </a:r>
            <a:endParaRPr lang="en-US" sz="1200" dirty="0"/>
          </a:p>
        </p:txBody>
      </p:sp>
      <p:sp>
        <p:nvSpPr>
          <p:cNvPr id="47" name="Shape 40"/>
          <p:cNvSpPr/>
          <p:nvPr/>
        </p:nvSpPr>
        <p:spPr>
          <a:xfrm>
            <a:off x="8366760" y="2103120"/>
            <a:ext cx="3657600" cy="676656"/>
          </a:xfrm>
          <a:prstGeom prst="roundRect">
            <a:avLst>
              <a:gd name="adj" fmla="val 9459"/>
            </a:avLst>
          </a:prstGeom>
          <a:solidFill>
            <a:srgbClr val="FFFFFF"/>
          </a:solidFill>
          <a:ln w="12700">
            <a:solidFill>
              <a:srgbClr val="E2E8F0"/>
            </a:solidFill>
            <a:prstDash val="solid"/>
          </a:ln>
        </p:spPr>
      </p:sp>
      <p:pic>
        <p:nvPicPr>
          <p:cNvPr id="48" name="Image 5" descr="preencoded.png"/>
          <p:cNvPicPr>
            <a:picLocks noChangeAspect="1"/>
          </p:cNvPicPr>
          <p:nvPr/>
        </p:nvPicPr>
        <p:blipFill>
          <a:blip r:embed="rId3"/>
          <a:stretch>
            <a:fillRect/>
          </a:stretch>
        </p:blipFill>
        <p:spPr>
          <a:xfrm>
            <a:off x="8531352" y="2304288"/>
            <a:ext cx="274320" cy="274320"/>
          </a:xfrm>
          <a:prstGeom prst="rect">
            <a:avLst/>
          </a:prstGeom>
        </p:spPr>
      </p:pic>
      <p:sp>
        <p:nvSpPr>
          <p:cNvPr id="49" name="Text 41"/>
          <p:cNvSpPr/>
          <p:nvPr/>
        </p:nvSpPr>
        <p:spPr>
          <a:xfrm>
            <a:off x="893368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Raspberry Pi setup &amp; configuration</a:t>
            </a:r>
            <a:endParaRPr lang="en-US" sz="1200" dirty="0"/>
          </a:p>
        </p:txBody>
      </p:sp>
      <p:sp>
        <p:nvSpPr>
          <p:cNvPr id="50" name="Shape 42"/>
          <p:cNvSpPr/>
          <p:nvPr/>
        </p:nvSpPr>
        <p:spPr>
          <a:xfrm>
            <a:off x="8366760" y="2907792"/>
            <a:ext cx="3657600" cy="676656"/>
          </a:xfrm>
          <a:prstGeom prst="roundRect">
            <a:avLst>
              <a:gd name="adj" fmla="val 9459"/>
            </a:avLst>
          </a:prstGeom>
          <a:solidFill>
            <a:srgbClr val="FFFFFF"/>
          </a:solidFill>
          <a:ln w="12700">
            <a:solidFill>
              <a:srgbClr val="E2E8F0"/>
            </a:solidFill>
            <a:prstDash val="solid"/>
          </a:ln>
        </p:spPr>
      </p:sp>
      <p:pic>
        <p:nvPicPr>
          <p:cNvPr id="51" name="Image 6" descr="preencoded.png"/>
          <p:cNvPicPr>
            <a:picLocks noChangeAspect="1"/>
          </p:cNvPicPr>
          <p:nvPr/>
        </p:nvPicPr>
        <p:blipFill>
          <a:blip r:embed="rId3"/>
          <a:stretch>
            <a:fillRect/>
          </a:stretch>
        </p:blipFill>
        <p:spPr>
          <a:xfrm>
            <a:off x="8531352" y="3108960"/>
            <a:ext cx="274320" cy="274320"/>
          </a:xfrm>
          <a:prstGeom prst="rect">
            <a:avLst/>
          </a:prstGeom>
        </p:spPr>
      </p:pic>
      <p:sp>
        <p:nvSpPr>
          <p:cNvPr id="52" name="Text 43"/>
          <p:cNvSpPr/>
          <p:nvPr/>
        </p:nvSpPr>
        <p:spPr>
          <a:xfrm>
            <a:off x="893368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Wi-Fi connectivity testing on the Pi</a:t>
            </a:r>
            <a:endParaRPr lang="en-US" sz="1200" dirty="0"/>
          </a:p>
        </p:txBody>
      </p:sp>
      <p:sp>
        <p:nvSpPr>
          <p:cNvPr id="53" name="Shape 44"/>
          <p:cNvSpPr/>
          <p:nvPr/>
        </p:nvSpPr>
        <p:spPr>
          <a:xfrm>
            <a:off x="8366760" y="3712464"/>
            <a:ext cx="3657600" cy="676656"/>
          </a:xfrm>
          <a:prstGeom prst="roundRect">
            <a:avLst>
              <a:gd name="adj" fmla="val 9459"/>
            </a:avLst>
          </a:prstGeom>
          <a:solidFill>
            <a:srgbClr val="FFFFFF"/>
          </a:solidFill>
          <a:ln w="12700">
            <a:solidFill>
              <a:srgbClr val="E2E8F0"/>
            </a:solidFill>
            <a:prstDash val="solid"/>
          </a:ln>
        </p:spPr>
      </p:sp>
      <p:pic>
        <p:nvPicPr>
          <p:cNvPr id="54" name="Image 7" descr="preencoded.png"/>
          <p:cNvPicPr>
            <a:picLocks noChangeAspect="1"/>
          </p:cNvPicPr>
          <p:nvPr/>
        </p:nvPicPr>
        <p:blipFill>
          <a:blip r:embed="rId3"/>
          <a:stretch>
            <a:fillRect/>
          </a:stretch>
        </p:blipFill>
        <p:spPr>
          <a:xfrm>
            <a:off x="8531352" y="3913632"/>
            <a:ext cx="274320" cy="274320"/>
          </a:xfrm>
          <a:prstGeom prst="rect">
            <a:avLst/>
          </a:prstGeom>
        </p:spPr>
      </p:pic>
      <p:sp>
        <p:nvSpPr>
          <p:cNvPr id="55" name="Text 45"/>
          <p:cNvSpPr/>
          <p:nvPr/>
        </p:nvSpPr>
        <p:spPr>
          <a:xfrm>
            <a:off x="893368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Basic Raspberry Pi lab projects executed</a:t>
            </a:r>
            <a:endParaRPr lang="en-US" sz="1200" dirty="0"/>
          </a:p>
        </p:txBody>
      </p:sp>
      <p:sp>
        <p:nvSpPr>
          <p:cNvPr id="56" name="Shape 46"/>
          <p:cNvSpPr/>
          <p:nvPr/>
        </p:nvSpPr>
        <p:spPr>
          <a:xfrm>
            <a:off x="8366760" y="4517136"/>
            <a:ext cx="3657600" cy="676656"/>
          </a:xfrm>
          <a:prstGeom prst="roundRect">
            <a:avLst>
              <a:gd name="adj" fmla="val 9459"/>
            </a:avLst>
          </a:prstGeom>
          <a:solidFill>
            <a:srgbClr val="FFFFFF"/>
          </a:solidFill>
          <a:ln w="12700">
            <a:solidFill>
              <a:srgbClr val="E2E8F0"/>
            </a:solidFill>
            <a:prstDash val="solid"/>
          </a:ln>
        </p:spPr>
      </p:sp>
      <p:pic>
        <p:nvPicPr>
          <p:cNvPr id="57" name="Image 8" descr="preencoded.png"/>
          <p:cNvPicPr>
            <a:picLocks noChangeAspect="1"/>
          </p:cNvPicPr>
          <p:nvPr/>
        </p:nvPicPr>
        <p:blipFill>
          <a:blip r:embed="rId3"/>
          <a:stretch>
            <a:fillRect/>
          </a:stretch>
        </p:blipFill>
        <p:spPr>
          <a:xfrm>
            <a:off x="8531352" y="4718304"/>
            <a:ext cx="274320" cy="274320"/>
          </a:xfrm>
          <a:prstGeom prst="rect">
            <a:avLst/>
          </a:prstGeom>
        </p:spPr>
      </p:pic>
      <p:sp>
        <p:nvSpPr>
          <p:cNvPr id="58" name="Text 47"/>
          <p:cNvSpPr/>
          <p:nvPr/>
        </p:nvSpPr>
        <p:spPr>
          <a:xfrm>
            <a:off x="893368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GitHub repository created &amp; maintained</a:t>
            </a:r>
            <a:endParaRPr lang="en-US" sz="1200" dirty="0"/>
          </a:p>
        </p:txBody>
      </p:sp>
      <p:sp>
        <p:nvSpPr>
          <p:cNvPr id="59" name="Shape 48"/>
          <p:cNvSpPr/>
          <p:nvPr/>
        </p:nvSpPr>
        <p:spPr>
          <a:xfrm>
            <a:off x="8366760" y="5321808"/>
            <a:ext cx="3657600" cy="676656"/>
          </a:xfrm>
          <a:prstGeom prst="roundRect">
            <a:avLst>
              <a:gd name="adj" fmla="val 9459"/>
            </a:avLst>
          </a:prstGeom>
          <a:solidFill>
            <a:srgbClr val="FFFFFF"/>
          </a:solidFill>
          <a:ln w="12700">
            <a:solidFill>
              <a:srgbClr val="E2E8F0"/>
            </a:solidFill>
            <a:prstDash val="solid"/>
          </a:ln>
        </p:spPr>
      </p:sp>
      <p:pic>
        <p:nvPicPr>
          <p:cNvPr id="60" name="Image 9" descr="preencoded.png"/>
          <p:cNvPicPr>
            <a:picLocks noChangeAspect="1"/>
          </p:cNvPicPr>
          <p:nvPr/>
        </p:nvPicPr>
        <p:blipFill>
          <a:blip r:embed="rId3"/>
          <a:stretch>
            <a:fillRect/>
          </a:stretch>
        </p:blipFill>
        <p:spPr>
          <a:xfrm>
            <a:off x="8531352" y="5522976"/>
            <a:ext cx="274320" cy="274320"/>
          </a:xfrm>
          <a:prstGeom prst="rect">
            <a:avLst/>
          </a:prstGeom>
        </p:spPr>
      </p:pic>
      <p:sp>
        <p:nvSpPr>
          <p:cNvPr id="61" name="Text 49"/>
          <p:cNvSpPr/>
          <p:nvPr/>
        </p:nvSpPr>
        <p:spPr>
          <a:xfrm>
            <a:off x="893368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Procurement process initiated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Power Supply</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Raspberry Pi 5  [Central Controller]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Communication Layer  (U2D2 / UART)</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Dynamixel Motor Network</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Control Algorithms</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IMU / Force Sensors</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Camera Module</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Wireless Control Module</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Current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Raspberry Pi 5 configured and tested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Communication architecture defined</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Mechanical segments fabricated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Dynamixel integration pending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Conceptual Block Diagram</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Architecture finalized</a:t>
            </a:r>
            <a:r>
              <a:rPr lang="en-US" sz="1150" dirty="0">
                <a:solidFill>
                  <a:srgbClr val="E2E8F0"/>
                </a:solidFill>
                <a:latin typeface="Calibri" pitchFamily="34" charset="0"/>
                <a:ea typeface="Calibri" pitchFamily="34" charset="-122"/>
                <a:cs typeface="Calibri" pitchFamily="34" charset="-120"/>
              </a:rPr>
              <a:t>    ·    </a:t>
            </a:r>
            <a:r>
              <a:rPr lang="en-US" sz="1150" b="1" dirty="0">
                <a:solidFill>
                  <a:srgbClr val="E08A1E"/>
                </a:solidFill>
                <a:latin typeface="Calibri" pitchFamily="34" charset="0"/>
                <a:ea typeface="Calibri" pitchFamily="34" charset="-122"/>
                <a:cs typeface="Calibri" pitchFamily="34" charset="-120"/>
              </a:rPr>
              <a:t>Implementation in progress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FUTURE INTEGRATION</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CAD DESIGN DEVELOPMENT</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A Segment Designed Around the Motor</a:t>
            </a:r>
            <a:endParaRPr lang="en-US" sz="3000" dirty="0"/>
          </a:p>
        </p:txBody>
      </p:sp>
      <p:sp>
        <p:nvSpPr>
          <p:cNvPr id="10" name="Text 8"/>
          <p:cNvSpPr/>
          <p:nvPr/>
        </p:nvSpPr>
        <p:spPr>
          <a:xfrm>
            <a:off x="548640" y="1600200"/>
            <a:ext cx="4709160" cy="914400"/>
          </a:xfrm>
          <a:prstGeom prst="rect">
            <a:avLst/>
          </a:prstGeom>
          <a:noFill/>
          <a:ln/>
        </p:spPr>
        <p:txBody>
          <a:bodyPr wrap="square" lIns="0" tIns="0" rIns="0" bIns="0" rtlCol="0" anchor="t"/>
          <a:lstStyle/>
          <a:p>
            <a:pPr marL="0" indent="0">
              <a:lnSpc>
                <a:spcPct val="112000"/>
              </a:lnSpc>
              <a:buNone/>
            </a:pPr>
            <a:r>
              <a:rPr lang="en-US" sz="1350" dirty="0">
                <a:solidFill>
                  <a:srgbClr val="3A4658"/>
                </a:solidFill>
                <a:latin typeface="Calibri" pitchFamily="34" charset="0"/>
                <a:ea typeface="Calibri" pitchFamily="34" charset="-122"/>
                <a:cs typeface="Calibri" pitchFamily="34" charset="-120"/>
              </a:rPr>
              <a:t>The CAD model is built to the exact dimensions of the Dynamixel XL330-M288 servo, using a modular, segment-based architecture focused on manufacturability and scalability.</a:t>
            </a:r>
            <a:endParaRPr lang="en-US" sz="1350" dirty="0"/>
          </a:p>
        </p:txBody>
      </p:sp>
      <p:sp>
        <p:nvSpPr>
          <p:cNvPr id="11" name="Text 9"/>
          <p:cNvSpPr/>
          <p:nvPr/>
        </p:nvSpPr>
        <p:spPr>
          <a:xfrm>
            <a:off x="548640" y="2724912"/>
            <a:ext cx="45720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DESIGN CONSIDERATIONS</a:t>
            </a:r>
            <a:endParaRPr lang="en-US" sz="1200" dirty="0"/>
          </a:p>
        </p:txBody>
      </p:sp>
      <p:sp>
        <p:nvSpPr>
          <p:cNvPr id="12" name="Shape 10"/>
          <p:cNvSpPr/>
          <p:nvPr/>
        </p:nvSpPr>
        <p:spPr>
          <a:xfrm>
            <a:off x="548640" y="3127248"/>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694944" y="3246120"/>
            <a:ext cx="402336" cy="402336"/>
          </a:xfrm>
          <a:prstGeom prst="ellipse">
            <a:avLst/>
          </a:prstGeom>
          <a:solidFill>
            <a:srgbClr val="0E96AC"/>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791505" y="3342681"/>
            <a:ext cx="209215" cy="209215"/>
          </a:xfrm>
          <a:prstGeom prst="rect">
            <a:avLst/>
          </a:prstGeom>
        </p:spPr>
      </p:pic>
      <p:sp>
        <p:nvSpPr>
          <p:cNvPr id="15" name="Text 12"/>
          <p:cNvSpPr/>
          <p:nvPr/>
        </p:nvSpPr>
        <p:spPr>
          <a:xfrm>
            <a:off x="1225296" y="3127248"/>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Motor mounting  </a:t>
            </a:r>
            <a:r>
              <a:rPr lang="en-US" sz="1150" dirty="0">
                <a:solidFill>
                  <a:srgbClr val="6B7890"/>
                </a:solidFill>
                <a:latin typeface="Calibri" pitchFamily="34" charset="0"/>
                <a:ea typeface="Calibri" pitchFamily="34" charset="-122"/>
                <a:cs typeface="Calibri" pitchFamily="34" charset="-120"/>
              </a:rPr>
              <a:t>— Precise seats for XL330 servo bodies.</a:t>
            </a:r>
            <a:endParaRPr lang="en-US" sz="1150" dirty="0"/>
          </a:p>
        </p:txBody>
      </p:sp>
      <p:sp>
        <p:nvSpPr>
          <p:cNvPr id="16" name="Shape 13"/>
          <p:cNvSpPr/>
          <p:nvPr/>
        </p:nvSpPr>
        <p:spPr>
          <a:xfrm>
            <a:off x="548640" y="3877056"/>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7" name="Shape 14"/>
          <p:cNvSpPr/>
          <p:nvPr/>
        </p:nvSpPr>
        <p:spPr>
          <a:xfrm>
            <a:off x="694944" y="3995928"/>
            <a:ext cx="402336" cy="402336"/>
          </a:xfrm>
          <a:prstGeom prst="ellipse">
            <a:avLst/>
          </a:prstGeom>
          <a:solidFill>
            <a:srgbClr val="12A678"/>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791505" y="4092489"/>
            <a:ext cx="209215" cy="209215"/>
          </a:xfrm>
          <a:prstGeom prst="rect">
            <a:avLst/>
          </a:prstGeom>
        </p:spPr>
      </p:pic>
      <p:sp>
        <p:nvSpPr>
          <p:cNvPr id="19" name="Text 15"/>
          <p:cNvSpPr/>
          <p:nvPr/>
        </p:nvSpPr>
        <p:spPr>
          <a:xfrm>
            <a:off x="1225296" y="3877056"/>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Structural rigidity  </a:t>
            </a:r>
            <a:r>
              <a:rPr lang="en-US" sz="1150" dirty="0">
                <a:solidFill>
                  <a:srgbClr val="6B7890"/>
                </a:solidFill>
                <a:latin typeface="Calibri" pitchFamily="34" charset="0"/>
                <a:ea typeface="Calibri" pitchFamily="34" charset="-122"/>
                <a:cs typeface="Calibri" pitchFamily="34" charset="-120"/>
              </a:rPr>
              <a:t>— Stiff frame to resist motion loads.</a:t>
            </a:r>
            <a:endParaRPr lang="en-US" sz="1150" dirty="0"/>
          </a:p>
        </p:txBody>
      </p:sp>
      <p:sp>
        <p:nvSpPr>
          <p:cNvPr id="20" name="Shape 16"/>
          <p:cNvSpPr/>
          <p:nvPr/>
        </p:nvSpPr>
        <p:spPr>
          <a:xfrm>
            <a:off x="548640" y="4626864"/>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1" name="Shape 17"/>
          <p:cNvSpPr/>
          <p:nvPr/>
        </p:nvSpPr>
        <p:spPr>
          <a:xfrm>
            <a:off x="694944" y="4745736"/>
            <a:ext cx="402336" cy="402336"/>
          </a:xfrm>
          <a:prstGeom prst="ellipse">
            <a:avLst/>
          </a:prstGeom>
          <a:solidFill>
            <a:srgbClr val="E08A1E"/>
          </a:solidFill>
          <a:ln/>
        </p:spPr>
        <p:txBody>
          <a:bodyPr/>
          <a:lstStyle/>
          <a:p>
            <a:endParaRPr lang="en-IN"/>
          </a:p>
        </p:txBody>
      </p:sp>
      <p:pic>
        <p:nvPicPr>
          <p:cNvPr id="22" name="Image 2" descr="preencoded.png"/>
          <p:cNvPicPr>
            <a:picLocks noChangeAspect="1"/>
          </p:cNvPicPr>
          <p:nvPr/>
        </p:nvPicPr>
        <p:blipFill>
          <a:blip r:embed="rId5"/>
          <a:stretch>
            <a:fillRect/>
          </a:stretch>
        </p:blipFill>
        <p:spPr>
          <a:xfrm>
            <a:off x="791505" y="4842297"/>
            <a:ext cx="209215" cy="209215"/>
          </a:xfrm>
          <a:prstGeom prst="rect">
            <a:avLst/>
          </a:prstGeom>
        </p:spPr>
      </p:pic>
      <p:sp>
        <p:nvSpPr>
          <p:cNvPr id="23" name="Text 18"/>
          <p:cNvSpPr/>
          <p:nvPr/>
        </p:nvSpPr>
        <p:spPr>
          <a:xfrm>
            <a:off x="1225296" y="4626864"/>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Cable routing  </a:t>
            </a:r>
            <a:r>
              <a:rPr lang="en-US" sz="1150" dirty="0">
                <a:solidFill>
                  <a:srgbClr val="6B7890"/>
                </a:solidFill>
                <a:latin typeface="Calibri" pitchFamily="34" charset="0"/>
                <a:ea typeface="Calibri" pitchFamily="34" charset="-122"/>
                <a:cs typeface="Calibri" pitchFamily="34" charset="-120"/>
              </a:rPr>
              <a:t>— Clean daisy-chain channels for wiring.</a:t>
            </a:r>
            <a:endParaRPr lang="en-US" sz="1150" dirty="0"/>
          </a:p>
        </p:txBody>
      </p:sp>
      <p:sp>
        <p:nvSpPr>
          <p:cNvPr id="24" name="Shape 19"/>
          <p:cNvSpPr/>
          <p:nvPr/>
        </p:nvSpPr>
        <p:spPr>
          <a:xfrm>
            <a:off x="548640" y="5376672"/>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5" name="Shape 20"/>
          <p:cNvSpPr/>
          <p:nvPr/>
        </p:nvSpPr>
        <p:spPr>
          <a:xfrm>
            <a:off x="694944" y="5495544"/>
            <a:ext cx="402336" cy="402336"/>
          </a:xfrm>
          <a:prstGeom prst="ellipse">
            <a:avLst/>
          </a:prstGeom>
          <a:solidFill>
            <a:srgbClr val="0E96AC"/>
          </a:solidFill>
          <a:ln/>
        </p:spPr>
        <p:txBody>
          <a:bodyPr/>
          <a:lstStyle/>
          <a:p>
            <a:endParaRPr lang="en-IN"/>
          </a:p>
        </p:txBody>
      </p:sp>
      <p:pic>
        <p:nvPicPr>
          <p:cNvPr id="26" name="Image 3" descr="preencoded.png"/>
          <p:cNvPicPr>
            <a:picLocks noChangeAspect="1"/>
          </p:cNvPicPr>
          <p:nvPr/>
        </p:nvPicPr>
        <p:blipFill>
          <a:blip r:embed="rId3"/>
          <a:stretch>
            <a:fillRect/>
          </a:stretch>
        </p:blipFill>
        <p:spPr>
          <a:xfrm>
            <a:off x="791505" y="5592105"/>
            <a:ext cx="209215" cy="209215"/>
          </a:xfrm>
          <a:prstGeom prst="rect">
            <a:avLst/>
          </a:prstGeom>
        </p:spPr>
      </p:pic>
      <p:sp>
        <p:nvSpPr>
          <p:cNvPr id="27" name="Text 21"/>
          <p:cNvSpPr/>
          <p:nvPr/>
        </p:nvSpPr>
        <p:spPr>
          <a:xfrm>
            <a:off x="1225296" y="5376672"/>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Electronics ready  </a:t>
            </a:r>
            <a:r>
              <a:rPr lang="en-US" sz="1150" dirty="0">
                <a:solidFill>
                  <a:srgbClr val="6B7890"/>
                </a:solidFill>
                <a:latin typeface="Calibri" pitchFamily="34" charset="0"/>
                <a:ea typeface="Calibri" pitchFamily="34" charset="-122"/>
                <a:cs typeface="Calibri" pitchFamily="34" charset="-120"/>
              </a:rPr>
              <a:t>— Space reserved for future boards.</a:t>
            </a:r>
            <a:endParaRPr lang="en-US" sz="1150" dirty="0"/>
          </a:p>
        </p:txBody>
      </p:sp>
      <p:sp>
        <p:nvSpPr>
          <p:cNvPr id="28" name="Shape 22"/>
          <p:cNvSpPr/>
          <p:nvPr/>
        </p:nvSpPr>
        <p:spPr>
          <a:xfrm>
            <a:off x="5651500" y="1714500"/>
            <a:ext cx="5842000" cy="4432300"/>
          </a:xfrm>
          <a:prstGeom prst="roundRect">
            <a:avLst>
              <a:gd name="adj" fmla="val 2041"/>
            </a:avLst>
          </a:prstGeom>
          <a:solidFill>
            <a:srgbClr val="ECF1F6"/>
          </a:solidFill>
          <a:ln w="19050">
            <a:solidFill>
              <a:srgbClr val="0E96AC"/>
            </a:solidFill>
            <a:prstDash val="dash"/>
          </a:ln>
        </p:spPr>
        <p:txBody>
          <a:bodyPr/>
          <a:lstStyle/>
          <a:p>
            <a:endParaRPr lang="en-IN"/>
          </a:p>
        </p:txBody>
      </p:sp>
      <p:sp>
        <p:nvSpPr>
          <p:cNvPr id="29" name="Shape 23"/>
          <p:cNvSpPr/>
          <p:nvPr/>
        </p:nvSpPr>
        <p:spPr>
          <a:xfrm>
            <a:off x="-1270000" y="-1270000"/>
            <a:ext cx="381000" cy="381000"/>
          </a:xfrm>
          <a:prstGeom prst="ellipse">
            <a:avLst/>
          </a:prstGeom>
          <a:solidFill>
            <a:srgbClr val="FFFFFF"/>
          </a:solidFill>
          <a:ln/>
        </p:spPr>
        <p:txBody>
          <a:bodyPr/>
          <a:lstStyle/>
          <a:p>
            <a:endParaRPr lang="en-IN"/>
          </a:p>
        </p:txBody>
      </p:sp>
      <p:pic>
        <p:nvPicPr>
          <p:cNvPr id="30" name="Image 4" descr="preencoded.png"/>
          <p:cNvPicPr>
            <a:picLocks noChangeAspect="1"/>
          </p:cNvPicPr>
          <p:nvPr/>
        </p:nvPicPr>
        <p:blipFill>
          <a:blip r:embed="rId6"/>
          <a:stretch>
            <a:fillRect/>
          </a:stretch>
        </p:blipFill>
        <p:spPr>
          <a:xfrm>
            <a:off x="-1270000" y="-1270000"/>
            <a:ext cx="434340" cy="434340"/>
          </a:xfrm>
          <a:prstGeom prst="rect">
            <a:avLst/>
          </a:prstGeom>
        </p:spPr>
      </p:pic>
      <p:sp>
        <p:nvSpPr>
          <p:cNvPr id="31" name="Text 24"/>
          <p:cNvSpPr/>
          <p:nvPr/>
        </p:nvSpPr>
        <p:spPr>
          <a:xfrm>
            <a:off x="5575300" y="-762000"/>
            <a:ext cx="6083300" cy="25400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rPr>
              <a:t>ASSEMBLY FLOW</a:t>
            </a:r>
          </a:p>
        </p:txBody>
      </p:sp>
      <p:sp>
        <p:nvSpPr>
          <p:cNvPr id="32" name="Text 25"/>
          <p:cNvSpPr/>
          <p:nvPr/>
        </p:nvSpPr>
        <p:spPr>
          <a:xfrm>
            <a:off x="5651500" y="-635000"/>
            <a:ext cx="5842000" cy="203200"/>
          </a:xfrm>
          <a:prstGeom prst="rect">
            <a:avLst/>
          </a:prstGeom>
          <a:noFill/>
          <a:ln/>
        </p:spPr>
        <p:txBody>
          <a:bodyPr wrap="square" lIns="0" tIns="0" rIns="0" bIns="0" rtlCol="0" anchor="ctr"/>
          <a:lstStyle/>
          <a:p>
            <a:pPr marL="0" indent="0" algn="ctr">
              <a:lnSpc>
                <a:spcPct val="100000"/>
              </a:lnSpc>
              <a:buNone/>
            </a:pPr>
            <a:r>
              <a:rPr lang="en-US" sz="1000" i="1" dirty="0">
                <a:solidFill>
                  <a:srgbClr val="6B7890"/>
                </a:solidFill>
                <a:latin typeface="Calibri" pitchFamily="34" charset="0"/>
              </a:rPr>
              <a:t>Motor → Segment Parts → Full Chain Assembly</a:t>
            </a:r>
          </a:p>
        </p:txBody>
      </p:sp>
      <p:pic>
        <p:nvPicPr>
          <p:cNvPr id="34" name="Picture 33" descr="The image depicts a simple, sturdy, black, rectangular wooden shelving unit with a rectangular shelf in the middle.&#10;&#10;AI-generated content may be incorrect.">
            <a:extLst>
              <a:ext uri="{FF2B5EF4-FFF2-40B4-BE49-F238E27FC236}">
                <a16:creationId xmlns:a16="http://schemas.microsoft.com/office/drawing/2014/main" id="{43A6F9E7-B592-AE80-4ECD-3893A8BAB62C}"/>
              </a:ext>
            </a:extLst>
          </p:cNvPr>
          <p:cNvPicPr>
            <a:picLocks noChangeAspect="1"/>
          </p:cNvPicPr>
          <p:nvPr/>
        </p:nvPicPr>
        <p:blipFill>
          <a:blip r:embed="rId7"/>
          <a:stretch>
            <a:fillRect/>
          </a:stretch>
        </p:blipFill>
        <p:spPr>
          <a:xfrm>
            <a:off x="8128000" y="1714500"/>
            <a:ext cx="1651000" cy="1968500"/>
          </a:xfrm>
          <a:prstGeom prst="rect">
            <a:avLst/>
          </a:prstGeom>
        </p:spPr>
      </p:pic>
      <p:pic>
        <p:nvPicPr>
          <p:cNvPr id="36" name="Picture 35" descr="The image depicts a simple, grey, rectangular, flat-sided, metallic-looking panel or bracket, likely with some sort of mechanical attachment or mounting hardware visible, placed on a plain, light-colored background.&#10;&#10;AI-generated content may be incorrect.">
            <a:extLst>
              <a:ext uri="{FF2B5EF4-FFF2-40B4-BE49-F238E27FC236}">
                <a16:creationId xmlns:a16="http://schemas.microsoft.com/office/drawing/2014/main" id="{4240D5FB-60B3-92E2-D431-2BF9CD9185A9}"/>
              </a:ext>
            </a:extLst>
          </p:cNvPr>
          <p:cNvPicPr>
            <a:picLocks noChangeAspect="1"/>
          </p:cNvPicPr>
          <p:nvPr/>
        </p:nvPicPr>
        <p:blipFill>
          <a:blip r:embed="rId8"/>
          <a:srcRect l="24792" t="11107" r="14359"/>
          <a:stretch>
            <a:fillRect/>
          </a:stretch>
        </p:blipFill>
        <p:spPr>
          <a:xfrm>
            <a:off x="9842500" y="1714500"/>
            <a:ext cx="1689100" cy="1968500"/>
          </a:xfrm>
          <a:prstGeom prst="rect">
            <a:avLst/>
          </a:prstGeom>
        </p:spPr>
      </p:pic>
      <p:pic>
        <p:nvPicPr>
          <p:cNvPr id="42" name="Picture 41" descr="The image depicts a simple, abstract representation of a zigzag pattern or a wave-like structure, rendered in a monochromatic, minimalistic style.&#10;&#10;AI-generated content may be incorrect.">
            <a:extLst>
              <a:ext uri="{FF2B5EF4-FFF2-40B4-BE49-F238E27FC236}">
                <a16:creationId xmlns:a16="http://schemas.microsoft.com/office/drawing/2014/main" id="{F9FF112A-F15F-989B-A8A9-AB7A565FBEC9}"/>
              </a:ext>
            </a:extLst>
          </p:cNvPr>
          <p:cNvPicPr>
            <a:picLocks noChangeAspect="1"/>
          </p:cNvPicPr>
          <p:nvPr/>
        </p:nvPicPr>
        <p:blipFill>
          <a:blip r:embed="rId9"/>
          <a:srcRect t="15390"/>
          <a:stretch>
            <a:fillRect/>
          </a:stretch>
        </p:blipFill>
        <p:spPr>
          <a:xfrm>
            <a:off x="5651500" y="3810000"/>
            <a:ext cx="5842000" cy="2184400"/>
          </a:xfrm>
          <a:prstGeom prst="rect">
            <a:avLst/>
          </a:prstGeom>
        </p:spPr>
      </p:pic>
      <p:pic>
        <p:nvPicPr>
          <p:cNvPr id="44" name="Picture 43" descr="The image depicts a gray, rectangular frame with an open, hinged structure, likely part of a larger assembly.">
            <a:extLst>
              <a:ext uri="{FF2B5EF4-FFF2-40B4-BE49-F238E27FC236}">
                <a16:creationId xmlns:a16="http://schemas.microsoft.com/office/drawing/2014/main" id="{F0FF4D60-EA60-6E41-F77E-D580B8866D10}"/>
              </a:ext>
            </a:extLst>
          </p:cNvPr>
          <p:cNvPicPr>
            <a:picLocks noChangeAspect="1"/>
          </p:cNvPicPr>
          <p:nvPr/>
        </p:nvPicPr>
        <p:blipFill>
          <a:blip r:embed="rId10"/>
          <a:stretch>
            <a:fillRect/>
          </a:stretch>
        </p:blipFill>
        <p:spPr>
          <a:xfrm>
            <a:off x="7239000" y="2838450"/>
            <a:ext cx="889000" cy="800100"/>
          </a:xfrm>
          <a:prstGeom prst="rect">
            <a:avLst/>
          </a:prstGeom>
        </p:spPr>
      </p:pic>
      <p:pic>
        <p:nvPicPr>
          <p:cNvPr id="9" name="Picture 8">
            <a:extLst>
              <a:ext uri="{FF2B5EF4-FFF2-40B4-BE49-F238E27FC236}">
                <a16:creationId xmlns:a16="http://schemas.microsoft.com/office/drawing/2014/main" id="{17BCD354-05DD-7C00-DFCC-9839F5606164}"/>
              </a:ext>
            </a:extLst>
          </p:cNvPr>
          <p:cNvPicPr>
            <a:picLocks noChangeAspect="1"/>
          </p:cNvPicPr>
          <p:nvPr/>
        </p:nvPicPr>
        <p:blipFill>
          <a:blip r:embed="rId11"/>
          <a:stretch>
            <a:fillRect/>
          </a:stretch>
        </p:blipFill>
        <p:spPr>
          <a:xfrm>
            <a:off x="5651500" y="1714500"/>
            <a:ext cx="1569048" cy="1968500"/>
          </a:xfrm>
          <a:prstGeom prst="rect">
            <a:avLst/>
          </a:prstGeom>
        </p:spPr>
      </p:pic>
      <p:sp>
        <p:nvSpPr>
          <p:cNvPr id="33" name="Arrow: Right 32">
            <a:extLst>
              <a:ext uri="{FF2B5EF4-FFF2-40B4-BE49-F238E27FC236}">
                <a16:creationId xmlns:a16="http://schemas.microsoft.com/office/drawing/2014/main" id="{10B56E54-A4EF-4F38-BCCE-38D5841E70A3}"/>
              </a:ext>
            </a:extLst>
          </p:cNvPr>
          <p:cNvSpPr/>
          <p:nvPr/>
        </p:nvSpPr>
        <p:spPr>
          <a:xfrm>
            <a:off x="7899400" y="2489200"/>
            <a:ext cx="228600" cy="1778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B961D7F9-AF0B-4F55-8E54-70F15AF52D36}"/>
              </a:ext>
            </a:extLst>
          </p:cNvPr>
          <p:cNvSpPr/>
          <p:nvPr/>
        </p:nvSpPr>
        <p:spPr>
          <a:xfrm>
            <a:off x="5651499" y="5867400"/>
            <a:ext cx="5845517" cy="2794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B276ADDA-BC70-4DB9-A06D-4632200C6F1E}"/>
              </a:ext>
            </a:extLst>
          </p:cNvPr>
          <p:cNvSpPr txBox="1"/>
          <p:nvPr/>
        </p:nvSpPr>
        <p:spPr>
          <a:xfrm>
            <a:off x="5575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① Motor</a:t>
            </a:r>
          </a:p>
        </p:txBody>
      </p:sp>
      <p:sp>
        <p:nvSpPr>
          <p:cNvPr id="38" name="Arrow: Down 37">
            <a:extLst>
              <a:ext uri="{FF2B5EF4-FFF2-40B4-BE49-F238E27FC236}">
                <a16:creationId xmlns:a16="http://schemas.microsoft.com/office/drawing/2014/main" id="{FBF37818-9CB0-4641-AE4D-2E2CE8273CA3}"/>
              </a:ext>
            </a:extLst>
          </p:cNvPr>
          <p:cNvSpPr/>
          <p:nvPr/>
        </p:nvSpPr>
        <p:spPr>
          <a:xfrm>
            <a:off x="9486900" y="3657600"/>
            <a:ext cx="177800" cy="228600"/>
          </a:xfrm>
          <a:prstGeom prst="down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53BA8EEA-9717-4EAB-A997-7ABD4D028D86}"/>
              </a:ext>
            </a:extLst>
          </p:cNvPr>
          <p:cNvSpPr txBox="1"/>
          <p:nvPr/>
        </p:nvSpPr>
        <p:spPr>
          <a:xfrm>
            <a:off x="7607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② Segment Parts</a:t>
            </a:r>
          </a:p>
        </p:txBody>
      </p:sp>
      <p:sp>
        <p:nvSpPr>
          <p:cNvPr id="40" name="TextBox 39">
            <a:extLst>
              <a:ext uri="{FF2B5EF4-FFF2-40B4-BE49-F238E27FC236}">
                <a16:creationId xmlns:a16="http://schemas.microsoft.com/office/drawing/2014/main" id="{CF713C95-0380-4CB5-960A-9756BEFA1FCB}"/>
              </a:ext>
            </a:extLst>
          </p:cNvPr>
          <p:cNvSpPr txBox="1"/>
          <p:nvPr/>
        </p:nvSpPr>
        <p:spPr>
          <a:xfrm>
            <a:off x="7874000" y="-762000"/>
            <a:ext cx="2095500" cy="203200"/>
          </a:xfrm>
          <a:prstGeom prst="rect">
            <a:avLst/>
          </a:prstGeom>
          <a:noFill/>
        </p:spPr>
        <p:txBody>
          <a:bodyPr vertOverflow="overflow" vert="horz" wrap="square" rtlCol="0" anchor="t">
            <a:noAutofit/>
          </a:bodyPr>
          <a:lstStyle/>
          <a:p>
            <a:pPr algn="l"/>
            <a:r>
              <a:rPr lang="en-IN" sz="1000">
                <a:solidFill>
                  <a:srgbClr val="6B7890"/>
                </a:solidFill>
              </a:rPr>
              <a:t>③ Full Assembly</a:t>
            </a:r>
          </a:p>
        </p:txBody>
      </p:sp>
      <p:sp>
        <p:nvSpPr>
          <p:cNvPr id="4" name="TextBox 3">
            <a:extLst>
              <a:ext uri="{FF2B5EF4-FFF2-40B4-BE49-F238E27FC236}">
                <a16:creationId xmlns:a16="http://schemas.microsoft.com/office/drawing/2014/main" id="{8B27E486-825F-43C2-9B8F-369DBCC6DF83}"/>
              </a:ext>
            </a:extLst>
          </p:cNvPr>
          <p:cNvSpPr txBox="1"/>
          <p:nvPr/>
        </p:nvSpPr>
        <p:spPr>
          <a:xfrm>
            <a:off x="9639300" y="5880100"/>
            <a:ext cx="1968500" cy="203200"/>
          </a:xfrm>
          <a:prstGeom prst="rect">
            <a:avLst/>
          </a:prstGeom>
          <a:noFill/>
        </p:spPr>
        <p:txBody>
          <a:bodyPr vertOverflow="overflow" vert="horz" wrap="square" rtlCol="0" anchor="t">
            <a:noAutofit/>
          </a:bodyPr>
          <a:lstStyle/>
          <a:p>
            <a:pPr algn="l"/>
            <a:r>
              <a:rPr lang="en-IN" sz="1000" b="1">
                <a:solidFill>
                  <a:srgbClr val="FFFFFF"/>
                </a:solidFill>
              </a:rPr>
              <a:t>③ Full Assembly</a:t>
            </a:r>
          </a:p>
        </p:txBody>
      </p:sp>
    </p:spTree>
    <p:extLst>
      <p:ext uri="{BB962C8B-B14F-4D97-AF65-F5344CB8AC3E}">
        <p14:creationId xmlns:p14="http://schemas.microsoft.com/office/powerpoint/2010/main" val="311740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PROTOTYPE FABRICATION</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From Model to Printed Hardware</a:t>
            </a:r>
            <a:endParaRPr lang="en-US" sz="3000" dirty="0"/>
          </a:p>
        </p:txBody>
      </p:sp>
      <p:sp>
        <p:nvSpPr>
          <p:cNvPr id="10" name="Shape 8"/>
          <p:cNvSpPr/>
          <p:nvPr/>
        </p:nvSpPr>
        <p:spPr>
          <a:xfrm>
            <a:off x="548640" y="1600200"/>
            <a:ext cx="5074920" cy="2148840"/>
          </a:xfrm>
          <a:prstGeom prst="roundRect">
            <a:avLst>
              <a:gd name="adj" fmla="val 4255"/>
            </a:avLst>
          </a:prstGeom>
          <a:solidFill>
            <a:srgbClr val="ECF1F6"/>
          </a:solidFill>
          <a:ln w="19050">
            <a:solidFill>
              <a:srgbClr val="0E96AC"/>
            </a:solidFill>
            <a:prstDash val="dash"/>
          </a:ln>
        </p:spPr>
      </p:sp>
      <p:sp>
        <p:nvSpPr>
          <p:cNvPr id="11" name="Shape 9"/>
          <p:cNvSpPr/>
          <p:nvPr/>
        </p:nvSpPr>
        <p:spPr>
          <a:xfrm>
            <a:off x="2651760" y="1920240"/>
            <a:ext cx="868680" cy="868680"/>
          </a:xfrm>
          <a:prstGeom prst="ellipse">
            <a:avLst/>
          </a:prstGeom>
          <a:solidFill>
            <a:srgbClr val="FFFFFF"/>
          </a:solidFill>
          <a:ln/>
        </p:spPr>
      </p:sp>
      <p:pic>
        <p:nvPicPr>
          <p:cNvPr id="12" name="Image 0" descr="preencoded.png"/>
          <p:cNvPicPr>
            <a:picLocks noChangeAspect="1"/>
          </p:cNvPicPr>
          <p:nvPr/>
        </p:nvPicPr>
        <p:blipFill>
          <a:blip r:embed="rId3"/>
          <a:stretch>
            <a:fillRect/>
          </a:stretch>
        </p:blipFill>
        <p:spPr>
          <a:xfrm>
            <a:off x="2868930" y="2137410"/>
            <a:ext cx="434340" cy="434340"/>
          </a:xfrm>
          <a:prstGeom prst="rect">
            <a:avLst/>
          </a:prstGeom>
        </p:spPr>
      </p:pic>
      <p:sp>
        <p:nvSpPr>
          <p:cNvPr id="13" name="Text 10"/>
          <p:cNvSpPr/>
          <p:nvPr/>
        </p:nvSpPr>
        <p:spPr>
          <a:xfrm>
            <a:off x="822960" y="2903220"/>
            <a:ext cx="4526280" cy="32004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ea typeface="Calibri" pitchFamily="34" charset="-122"/>
                <a:cs typeface="Calibri" pitchFamily="34" charset="-120"/>
              </a:rPr>
              <a:t>PRINTED SEGMENT — PHOTO 1</a:t>
            </a:r>
            <a:endParaRPr lang="en-US" sz="1300" dirty="0"/>
          </a:p>
        </p:txBody>
      </p:sp>
      <p:sp>
        <p:nvSpPr>
          <p:cNvPr id="14" name="Text 11"/>
          <p:cNvSpPr/>
          <p:nvPr/>
        </p:nvSpPr>
        <p:spPr>
          <a:xfrm>
            <a:off x="914400" y="3223260"/>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first 3D-printed segment</a:t>
            </a:r>
            <a:endParaRPr lang="en-US" sz="1050" dirty="0"/>
          </a:p>
        </p:txBody>
      </p:sp>
      <p:sp>
        <p:nvSpPr>
          <p:cNvPr id="15" name="Shape 12"/>
          <p:cNvSpPr/>
          <p:nvPr/>
        </p:nvSpPr>
        <p:spPr>
          <a:xfrm>
            <a:off x="548640" y="3913632"/>
            <a:ext cx="5074920" cy="2148840"/>
          </a:xfrm>
          <a:prstGeom prst="roundRect">
            <a:avLst>
              <a:gd name="adj" fmla="val 4255"/>
            </a:avLst>
          </a:prstGeom>
          <a:solidFill>
            <a:srgbClr val="ECF1F6"/>
          </a:solidFill>
          <a:ln w="19050">
            <a:solidFill>
              <a:srgbClr val="E08A1E"/>
            </a:solidFill>
            <a:prstDash val="dash"/>
          </a:ln>
        </p:spPr>
      </p:sp>
      <p:sp>
        <p:nvSpPr>
          <p:cNvPr id="16" name="Shape 13"/>
          <p:cNvSpPr/>
          <p:nvPr/>
        </p:nvSpPr>
        <p:spPr>
          <a:xfrm>
            <a:off x="2651760" y="4233672"/>
            <a:ext cx="868680" cy="868680"/>
          </a:xfrm>
          <a:prstGeom prst="ellipse">
            <a:avLst/>
          </a:prstGeom>
          <a:solidFill>
            <a:srgbClr val="FFFFFF"/>
          </a:solidFill>
          <a:ln/>
        </p:spPr>
      </p:sp>
      <p:pic>
        <p:nvPicPr>
          <p:cNvPr id="17" name="Image 1" descr="preencoded.png"/>
          <p:cNvPicPr>
            <a:picLocks noChangeAspect="1"/>
          </p:cNvPicPr>
          <p:nvPr/>
        </p:nvPicPr>
        <p:blipFill>
          <a:blip r:embed="rId4"/>
          <a:stretch>
            <a:fillRect/>
          </a:stretch>
        </p:blipFill>
        <p:spPr>
          <a:xfrm>
            <a:off x="2868930" y="4450842"/>
            <a:ext cx="434340" cy="434340"/>
          </a:xfrm>
          <a:prstGeom prst="rect">
            <a:avLst/>
          </a:prstGeom>
        </p:spPr>
      </p:pic>
      <p:sp>
        <p:nvSpPr>
          <p:cNvPr id="18" name="Text 14"/>
          <p:cNvSpPr/>
          <p:nvPr/>
        </p:nvSpPr>
        <p:spPr>
          <a:xfrm>
            <a:off x="822960" y="5216652"/>
            <a:ext cx="4526280" cy="320040"/>
          </a:xfrm>
          <a:prstGeom prst="rect">
            <a:avLst/>
          </a:prstGeom>
          <a:noFill/>
          <a:ln/>
        </p:spPr>
        <p:txBody>
          <a:bodyPr wrap="square" lIns="0" tIns="0" rIns="0" bIns="0" rtlCol="0" anchor="ctr"/>
          <a:lstStyle/>
          <a:p>
            <a:pPr marL="0" indent="0" algn="ctr">
              <a:buNone/>
            </a:pPr>
            <a:r>
              <a:rPr lang="en-US" sz="1300" b="1" kern="0" spc="100" dirty="0">
                <a:solidFill>
                  <a:srgbClr val="E08A1E"/>
                </a:solidFill>
                <a:latin typeface="Calibri" pitchFamily="34" charset="0"/>
                <a:ea typeface="Calibri" pitchFamily="34" charset="-122"/>
                <a:cs typeface="Calibri" pitchFamily="34" charset="-120"/>
              </a:rPr>
              <a:t>PRINTED SEGMENT — PHOTO 2</a:t>
            </a:r>
            <a:endParaRPr lang="en-US" sz="1300" dirty="0"/>
          </a:p>
        </p:txBody>
      </p:sp>
      <p:sp>
        <p:nvSpPr>
          <p:cNvPr id="19" name="Text 15"/>
          <p:cNvSpPr/>
          <p:nvPr/>
        </p:nvSpPr>
        <p:spPr>
          <a:xfrm>
            <a:off x="914400" y="5536692"/>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second segment / assembly</a:t>
            </a:r>
            <a:endParaRPr lang="en-US" sz="1050" dirty="0"/>
          </a:p>
        </p:txBody>
      </p:sp>
      <p:sp>
        <p:nvSpPr>
          <p:cNvPr id="20" name="Text 16"/>
          <p:cNvSpPr/>
          <p:nvPr/>
        </p:nvSpPr>
        <p:spPr>
          <a:xfrm>
            <a:off x="5943600" y="1600200"/>
            <a:ext cx="54864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FABRICATION STATUS</a:t>
            </a:r>
            <a:endParaRPr lang="en-US" sz="1200" dirty="0"/>
          </a:p>
        </p:txBody>
      </p:sp>
      <p:sp>
        <p:nvSpPr>
          <p:cNvPr id="21" name="Shape 17"/>
          <p:cNvSpPr/>
          <p:nvPr/>
        </p:nvSpPr>
        <p:spPr>
          <a:xfrm>
            <a:off x="5943600" y="208483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2" name="Shape 18"/>
          <p:cNvSpPr/>
          <p:nvPr/>
        </p:nvSpPr>
        <p:spPr>
          <a:xfrm>
            <a:off x="6144768" y="2276856"/>
            <a:ext cx="457200" cy="457200"/>
          </a:xfrm>
          <a:prstGeom prst="ellipse">
            <a:avLst/>
          </a:prstGeom>
          <a:solidFill>
            <a:srgbClr val="12A678"/>
          </a:solidFill>
          <a:ln/>
        </p:spPr>
      </p:sp>
      <p:pic>
        <p:nvPicPr>
          <p:cNvPr id="23" name="Image 2" descr="preencoded.png"/>
          <p:cNvPicPr>
            <a:picLocks noChangeAspect="1"/>
          </p:cNvPicPr>
          <p:nvPr/>
        </p:nvPicPr>
        <p:blipFill>
          <a:blip r:embed="rId5"/>
          <a:stretch>
            <a:fillRect/>
          </a:stretch>
        </p:blipFill>
        <p:spPr>
          <a:xfrm>
            <a:off x="6254496" y="2386584"/>
            <a:ext cx="237744" cy="237744"/>
          </a:xfrm>
          <a:prstGeom prst="rect">
            <a:avLst/>
          </a:prstGeom>
        </p:spPr>
      </p:pic>
      <p:sp>
        <p:nvSpPr>
          <p:cNvPr id="24" name="Text 19"/>
          <p:cNvSpPr/>
          <p:nvPr/>
        </p:nvSpPr>
        <p:spPr>
          <a:xfrm>
            <a:off x="6748272" y="221284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Two prototype segments 3D printed</a:t>
            </a:r>
            <a:endParaRPr lang="en-US" sz="1350" dirty="0"/>
          </a:p>
        </p:txBody>
      </p:sp>
      <p:sp>
        <p:nvSpPr>
          <p:cNvPr id="25" name="Text 20"/>
          <p:cNvSpPr/>
          <p:nvPr/>
        </p:nvSpPr>
        <p:spPr>
          <a:xfrm>
            <a:off x="6748272" y="252374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Both segments produced from the CAD model.</a:t>
            </a:r>
            <a:endParaRPr lang="en-US" sz="1100" dirty="0"/>
          </a:p>
        </p:txBody>
      </p:sp>
      <p:sp>
        <p:nvSpPr>
          <p:cNvPr id="26" name="Text 21"/>
          <p:cNvSpPr/>
          <p:nvPr/>
        </p:nvSpPr>
        <p:spPr>
          <a:xfrm>
            <a:off x="10972800" y="223113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27" name="Shape 22"/>
          <p:cNvSpPr/>
          <p:nvPr/>
        </p:nvSpPr>
        <p:spPr>
          <a:xfrm>
            <a:off x="5943600" y="304495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8" name="Shape 23"/>
          <p:cNvSpPr/>
          <p:nvPr/>
        </p:nvSpPr>
        <p:spPr>
          <a:xfrm>
            <a:off x="6144768" y="3236976"/>
            <a:ext cx="457200" cy="457200"/>
          </a:xfrm>
          <a:prstGeom prst="ellipse">
            <a:avLst/>
          </a:prstGeom>
          <a:solidFill>
            <a:srgbClr val="12A678"/>
          </a:solidFill>
          <a:ln/>
        </p:spPr>
      </p:sp>
      <p:pic>
        <p:nvPicPr>
          <p:cNvPr id="29" name="Image 3" descr="preencoded.png"/>
          <p:cNvPicPr>
            <a:picLocks noChangeAspect="1"/>
          </p:cNvPicPr>
          <p:nvPr/>
        </p:nvPicPr>
        <p:blipFill>
          <a:blip r:embed="rId6"/>
          <a:stretch>
            <a:fillRect/>
          </a:stretch>
        </p:blipFill>
        <p:spPr>
          <a:xfrm>
            <a:off x="6254496" y="3346704"/>
            <a:ext cx="237744" cy="237744"/>
          </a:xfrm>
          <a:prstGeom prst="rect">
            <a:avLst/>
          </a:prstGeom>
        </p:spPr>
      </p:pic>
      <p:sp>
        <p:nvSpPr>
          <p:cNvPr id="30" name="Text 24"/>
          <p:cNvSpPr/>
          <p:nvPr/>
        </p:nvSpPr>
        <p:spPr>
          <a:xfrm>
            <a:off x="6748272" y="317296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Initial dimensional verification done</a:t>
            </a:r>
            <a:endParaRPr lang="en-US" sz="1350" dirty="0"/>
          </a:p>
        </p:txBody>
      </p:sp>
      <p:sp>
        <p:nvSpPr>
          <p:cNvPr id="31" name="Text 25"/>
          <p:cNvSpPr/>
          <p:nvPr/>
        </p:nvSpPr>
        <p:spPr>
          <a:xfrm>
            <a:off x="6748272" y="348386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Printed parts measured against design specs.</a:t>
            </a:r>
            <a:endParaRPr lang="en-US" sz="1100" dirty="0"/>
          </a:p>
        </p:txBody>
      </p:sp>
      <p:sp>
        <p:nvSpPr>
          <p:cNvPr id="32" name="Text 26"/>
          <p:cNvSpPr/>
          <p:nvPr/>
        </p:nvSpPr>
        <p:spPr>
          <a:xfrm>
            <a:off x="10972800" y="319125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33" name="Shape 27"/>
          <p:cNvSpPr/>
          <p:nvPr/>
        </p:nvSpPr>
        <p:spPr>
          <a:xfrm>
            <a:off x="5943600" y="400507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34" name="Shape 28"/>
          <p:cNvSpPr/>
          <p:nvPr/>
        </p:nvSpPr>
        <p:spPr>
          <a:xfrm>
            <a:off x="6144768" y="4197096"/>
            <a:ext cx="457200" cy="457200"/>
          </a:xfrm>
          <a:prstGeom prst="ellipse">
            <a:avLst/>
          </a:prstGeom>
          <a:solidFill>
            <a:srgbClr val="E08A1E"/>
          </a:solidFill>
          <a:ln/>
        </p:spPr>
      </p:sp>
      <p:pic>
        <p:nvPicPr>
          <p:cNvPr id="35" name="Image 4" descr="preencoded.png"/>
          <p:cNvPicPr>
            <a:picLocks noChangeAspect="1"/>
          </p:cNvPicPr>
          <p:nvPr/>
        </p:nvPicPr>
        <p:blipFill>
          <a:blip r:embed="rId7"/>
          <a:stretch>
            <a:fillRect/>
          </a:stretch>
        </p:blipFill>
        <p:spPr>
          <a:xfrm>
            <a:off x="6254496" y="4306824"/>
            <a:ext cx="237744" cy="237744"/>
          </a:xfrm>
          <a:prstGeom prst="rect">
            <a:avLst/>
          </a:prstGeom>
        </p:spPr>
      </p:pic>
      <p:sp>
        <p:nvSpPr>
          <p:cNvPr id="36" name="Text 29"/>
          <p:cNvSpPr/>
          <p:nvPr/>
        </p:nvSpPr>
        <p:spPr>
          <a:xfrm>
            <a:off x="6748272" y="413308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Physical validation of CAD initiated</a:t>
            </a:r>
            <a:endParaRPr lang="en-US" sz="1350" dirty="0"/>
          </a:p>
        </p:txBody>
      </p:sp>
      <p:sp>
        <p:nvSpPr>
          <p:cNvPr id="37" name="Text 30"/>
          <p:cNvSpPr/>
          <p:nvPr/>
        </p:nvSpPr>
        <p:spPr>
          <a:xfrm>
            <a:off x="6748272" y="444398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Checking fit, tolerances and assembly.</a:t>
            </a:r>
            <a:endParaRPr lang="en-US" sz="1100" dirty="0"/>
          </a:p>
        </p:txBody>
      </p:sp>
      <p:sp>
        <p:nvSpPr>
          <p:cNvPr id="38" name="Text 31"/>
          <p:cNvSpPr/>
          <p:nvPr/>
        </p:nvSpPr>
        <p:spPr>
          <a:xfrm>
            <a:off x="10972800" y="415137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sp>
        <p:nvSpPr>
          <p:cNvPr id="39" name="Shape 32"/>
          <p:cNvSpPr/>
          <p:nvPr/>
        </p:nvSpPr>
        <p:spPr>
          <a:xfrm>
            <a:off x="5943600" y="496519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40" name="Shape 33"/>
          <p:cNvSpPr/>
          <p:nvPr/>
        </p:nvSpPr>
        <p:spPr>
          <a:xfrm>
            <a:off x="6144768" y="5157216"/>
            <a:ext cx="457200" cy="457200"/>
          </a:xfrm>
          <a:prstGeom prst="ellipse">
            <a:avLst/>
          </a:prstGeom>
          <a:solidFill>
            <a:srgbClr val="E08A1E"/>
          </a:solidFill>
          <a:ln/>
        </p:spPr>
      </p:sp>
      <p:pic>
        <p:nvPicPr>
          <p:cNvPr id="41" name="Image 5" descr="preencoded.png"/>
          <p:cNvPicPr>
            <a:picLocks noChangeAspect="1"/>
          </p:cNvPicPr>
          <p:nvPr/>
        </p:nvPicPr>
        <p:blipFill>
          <a:blip r:embed="rId8"/>
          <a:stretch>
            <a:fillRect/>
          </a:stretch>
        </p:blipFill>
        <p:spPr>
          <a:xfrm>
            <a:off x="6254496" y="5266944"/>
            <a:ext cx="237744" cy="237744"/>
          </a:xfrm>
          <a:prstGeom prst="rect">
            <a:avLst/>
          </a:prstGeom>
        </p:spPr>
      </p:pic>
      <p:sp>
        <p:nvSpPr>
          <p:cNvPr id="42" name="Text 34"/>
          <p:cNvSpPr/>
          <p:nvPr/>
        </p:nvSpPr>
        <p:spPr>
          <a:xfrm>
            <a:off x="6748272" y="509320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Preparing for motor-integration tests</a:t>
            </a:r>
            <a:endParaRPr lang="en-US" sz="1350" dirty="0"/>
          </a:p>
        </p:txBody>
      </p:sp>
      <p:sp>
        <p:nvSpPr>
          <p:cNvPr id="43" name="Text 35"/>
          <p:cNvSpPr/>
          <p:nvPr/>
        </p:nvSpPr>
        <p:spPr>
          <a:xfrm>
            <a:off x="6748272" y="540410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Next: seat XL330 servos into segments.</a:t>
            </a:r>
            <a:endParaRPr lang="en-US" sz="1100" dirty="0"/>
          </a:p>
        </p:txBody>
      </p:sp>
      <p:sp>
        <p:nvSpPr>
          <p:cNvPr id="44" name="Text 36"/>
          <p:cNvSpPr/>
          <p:nvPr/>
        </p:nvSpPr>
        <p:spPr>
          <a:xfrm>
            <a:off x="10972800" y="511149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pic>
        <p:nvPicPr>
          <p:cNvPr id="5" name="Picture 4" descr="The image shows a white, rectangular piece of furniture, possibly a desk or shelf, resting on a patterned carpet with a few scattered fabric scraps nearby.">
            <a:extLst>
              <a:ext uri="{FF2B5EF4-FFF2-40B4-BE49-F238E27FC236}">
                <a16:creationId xmlns:a16="http://schemas.microsoft.com/office/drawing/2014/main" id="{2B7CD62D-6348-4C50-4F1E-F52677B2E6DA}"/>
              </a:ext>
            </a:extLst>
          </p:cNvPr>
          <p:cNvPicPr>
            <a:picLocks noChangeAspect="1"/>
          </p:cNvPicPr>
          <p:nvPr/>
        </p:nvPicPr>
        <p:blipFill>
          <a:blip r:embed="rId9"/>
          <a:srcRect l="23494" t="18612" r="28325" b="16104"/>
          <a:stretch>
            <a:fillRect/>
          </a:stretch>
        </p:blipFill>
        <p:spPr>
          <a:xfrm>
            <a:off x="576072" y="1606526"/>
            <a:ext cx="5047487" cy="2101366"/>
          </a:xfrm>
          <a:prstGeom prst="rect">
            <a:avLst/>
          </a:prstGeom>
        </p:spPr>
      </p:pic>
      <p:pic>
        <p:nvPicPr>
          <p:cNvPr id="7" name="Picture 6" descr="The image shows a white, rectangular plastic structure lying flat on a patterned carpeted floor.&#10;&#10;AI-generated content may be incorrect.">
            <a:extLst>
              <a:ext uri="{FF2B5EF4-FFF2-40B4-BE49-F238E27FC236}">
                <a16:creationId xmlns:a16="http://schemas.microsoft.com/office/drawing/2014/main" id="{B31C5E51-FD00-4342-13F3-2A959BDD17D3}"/>
              </a:ext>
            </a:extLst>
          </p:cNvPr>
          <p:cNvPicPr>
            <a:picLocks noChangeAspect="1"/>
          </p:cNvPicPr>
          <p:nvPr/>
        </p:nvPicPr>
        <p:blipFill>
          <a:blip r:embed="rId10"/>
          <a:srcRect l="17223" t="9297" r="24652" b="21573"/>
          <a:stretch>
            <a:fillRect/>
          </a:stretch>
        </p:blipFill>
        <p:spPr>
          <a:xfrm>
            <a:off x="576072" y="3970730"/>
            <a:ext cx="5001768" cy="203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300" name="LeftBg"/>
          <p:cNvSpPr/>
          <p:nvPr/>
        </p:nvSpPr>
        <p:spPr>
          <a:xfrm>
            <a:off x="101600" y="787400"/>
            <a:ext cx="4699000" cy="5943600"/>
          </a:xfrm>
          <a:prstGeom prst="roundRect">
            <a:avLst>
              <a:gd name="adj" fmla="val 3000"/>
            </a:avLst>
          </a:prstGeom>
          <a:solidFill>
            <a:srgbClr val="F4F7FB"/>
          </a:solidFill>
          <a:ln w="9525">
            <a:solidFill>
              <a:srgbClr val="DDE5F0"/>
            </a:solidFill>
          </a:ln>
        </p:spPr>
        <p:txBody>
          <a:bodyPr/>
          <a:lstStyle/>
          <a:p>
            <a:endParaRPr/>
          </a:p>
        </p:txBody>
      </p:sp>
      <p:sp>
        <p:nvSpPr>
          <p:cNvPr id="10" name="Shape 8"/>
          <p:cNvSpPr/>
          <p:nvPr/>
        </p:nvSpPr>
        <p:spPr>
          <a:xfrm>
            <a:off x="177800" y="939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1" name="Shape 9"/>
          <p:cNvSpPr/>
          <p:nvPr/>
        </p:nvSpPr>
        <p:spPr>
          <a:xfrm>
            <a:off x="279400" y="1104900"/>
            <a:ext cx="393700" cy="393700"/>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381000" y="1206500"/>
            <a:ext cx="190500" cy="190500"/>
          </a:xfrm>
          <a:prstGeom prst="rect">
            <a:avLst/>
          </a:prstGeom>
        </p:spPr>
      </p:pic>
      <p:sp>
        <p:nvSpPr>
          <p:cNvPr id="13" name="Text 10"/>
          <p:cNvSpPr/>
          <p:nvPr/>
        </p:nvSpPr>
        <p:spPr>
          <a:xfrm>
            <a:off x="762000" y="1041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5 received &amp; configured</a:t>
            </a:r>
            <a:endParaRPr lang="en-US" sz="1250" dirty="0"/>
          </a:p>
        </p:txBody>
      </p:sp>
      <p:pic>
        <p:nvPicPr>
          <p:cNvPr id="14" name="Image 1" descr="preencoded.png"/>
          <p:cNvPicPr>
            <a:picLocks noChangeAspect="1"/>
          </p:cNvPicPr>
          <p:nvPr/>
        </p:nvPicPr>
        <p:blipFill>
          <a:blip r:embed="rId4"/>
          <a:stretch>
            <a:fillRect/>
          </a:stretch>
        </p:blipFill>
        <p:spPr>
          <a:xfrm>
            <a:off x="4368800" y="1193800"/>
            <a:ext cx="215900" cy="215900"/>
          </a:xfrm>
          <a:prstGeom prst="rect">
            <a:avLst/>
          </a:prstGeom>
        </p:spPr>
      </p:pic>
      <p:sp>
        <p:nvSpPr>
          <p:cNvPr id="15" name="Shape 11"/>
          <p:cNvSpPr/>
          <p:nvPr/>
        </p:nvSpPr>
        <p:spPr>
          <a:xfrm>
            <a:off x="177800" y="18542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6" name="Shape 12"/>
          <p:cNvSpPr/>
          <p:nvPr/>
        </p:nvSpPr>
        <p:spPr>
          <a:xfrm>
            <a:off x="279400" y="2019300"/>
            <a:ext cx="393700" cy="393700"/>
          </a:xfrm>
          <a:prstGeom prst="ellipse">
            <a:avLst/>
          </a:prstGeom>
          <a:solidFill>
            <a:srgbClr val="0E96AC"/>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381000" y="2120900"/>
            <a:ext cx="190500" cy="190500"/>
          </a:xfrm>
          <a:prstGeom prst="rect">
            <a:avLst/>
          </a:prstGeom>
        </p:spPr>
      </p:pic>
      <p:sp>
        <p:nvSpPr>
          <p:cNvPr id="18" name="Text 13"/>
          <p:cNvSpPr/>
          <p:nvPr/>
        </p:nvSpPr>
        <p:spPr>
          <a:xfrm>
            <a:off x="762000" y="19558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OS installation completed</a:t>
            </a:r>
            <a:endParaRPr lang="en-US" sz="1250" dirty="0"/>
          </a:p>
        </p:txBody>
      </p:sp>
      <p:pic>
        <p:nvPicPr>
          <p:cNvPr id="19" name="Image 3" descr="preencoded.png"/>
          <p:cNvPicPr>
            <a:picLocks noChangeAspect="1"/>
          </p:cNvPicPr>
          <p:nvPr/>
        </p:nvPicPr>
        <p:blipFill>
          <a:blip r:embed="rId4"/>
          <a:stretch>
            <a:fillRect/>
          </a:stretch>
        </p:blipFill>
        <p:spPr>
          <a:xfrm>
            <a:off x="4368800" y="2108200"/>
            <a:ext cx="215900" cy="215900"/>
          </a:xfrm>
          <a:prstGeom prst="rect">
            <a:avLst/>
          </a:prstGeom>
        </p:spPr>
      </p:pic>
      <p:sp>
        <p:nvSpPr>
          <p:cNvPr id="20" name="Shape 14"/>
          <p:cNvSpPr/>
          <p:nvPr/>
        </p:nvSpPr>
        <p:spPr>
          <a:xfrm>
            <a:off x="177800" y="27686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1" name="Shape 15"/>
          <p:cNvSpPr/>
          <p:nvPr/>
        </p:nvSpPr>
        <p:spPr>
          <a:xfrm>
            <a:off x="279400" y="2933700"/>
            <a:ext cx="393700" cy="393700"/>
          </a:xfrm>
          <a:prstGeom prst="ellipse">
            <a:avLst/>
          </a:prstGeom>
          <a:solidFill>
            <a:srgbClr val="0E96AC"/>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381000" y="3035300"/>
            <a:ext cx="190500" cy="190500"/>
          </a:xfrm>
          <a:prstGeom prst="rect">
            <a:avLst/>
          </a:prstGeom>
        </p:spPr>
      </p:pic>
      <p:sp>
        <p:nvSpPr>
          <p:cNvPr id="23" name="Text 16"/>
          <p:cNvSpPr/>
          <p:nvPr/>
        </p:nvSpPr>
        <p:spPr>
          <a:xfrm>
            <a:off x="762000" y="28702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Wi-Fi connectivity established</a:t>
            </a:r>
            <a:endParaRPr lang="en-US" sz="1250" dirty="0"/>
          </a:p>
        </p:txBody>
      </p:sp>
      <p:pic>
        <p:nvPicPr>
          <p:cNvPr id="24" name="Image 5" descr="preencoded.png"/>
          <p:cNvPicPr>
            <a:picLocks noChangeAspect="1"/>
          </p:cNvPicPr>
          <p:nvPr/>
        </p:nvPicPr>
        <p:blipFill>
          <a:blip r:embed="rId4"/>
          <a:stretch>
            <a:fillRect/>
          </a:stretch>
        </p:blipFill>
        <p:spPr>
          <a:xfrm>
            <a:off x="4368800" y="3022600"/>
            <a:ext cx="215900" cy="215900"/>
          </a:xfrm>
          <a:prstGeom prst="rect">
            <a:avLst/>
          </a:prstGeom>
        </p:spPr>
      </p:pic>
      <p:sp>
        <p:nvSpPr>
          <p:cNvPr id="25" name="Shape 17"/>
          <p:cNvSpPr/>
          <p:nvPr/>
        </p:nvSpPr>
        <p:spPr>
          <a:xfrm>
            <a:off x="177800" y="36830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6" name="Shape 18"/>
          <p:cNvSpPr/>
          <p:nvPr/>
        </p:nvSpPr>
        <p:spPr>
          <a:xfrm>
            <a:off x="279400" y="3848100"/>
            <a:ext cx="393700" cy="393700"/>
          </a:xfrm>
          <a:prstGeom prst="ellipse">
            <a:avLst/>
          </a:prstGeom>
          <a:solidFill>
            <a:srgbClr val="0E96AC"/>
          </a:solidFill>
          <a:ln/>
        </p:spPr>
        <p:txBody>
          <a:bodyPr/>
          <a:lstStyle/>
          <a:p>
            <a:endParaRPr lang="en-IN"/>
          </a:p>
        </p:txBody>
      </p:sp>
      <p:pic>
        <p:nvPicPr>
          <p:cNvPr id="27" name="Image 6" descr="preencoded.png"/>
          <p:cNvPicPr>
            <a:picLocks noChangeAspect="1"/>
          </p:cNvPicPr>
          <p:nvPr/>
        </p:nvPicPr>
        <p:blipFill>
          <a:blip r:embed="rId7"/>
          <a:stretch>
            <a:fillRect/>
          </a:stretch>
        </p:blipFill>
        <p:spPr>
          <a:xfrm>
            <a:off x="381000" y="3949700"/>
            <a:ext cx="190500" cy="190500"/>
          </a:xfrm>
          <a:prstGeom prst="rect">
            <a:avLst/>
          </a:prstGeom>
        </p:spPr>
      </p:pic>
      <p:sp>
        <p:nvSpPr>
          <p:cNvPr id="28" name="Text 19"/>
          <p:cNvSpPr/>
          <p:nvPr/>
        </p:nvSpPr>
        <p:spPr>
          <a:xfrm>
            <a:off x="762000" y="37846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SSH &amp; remote access explored</a:t>
            </a:r>
            <a:endParaRPr lang="en-US" sz="1250" dirty="0"/>
          </a:p>
        </p:txBody>
      </p:sp>
      <p:pic>
        <p:nvPicPr>
          <p:cNvPr id="29" name="Image 7" descr="preencoded.png"/>
          <p:cNvPicPr>
            <a:picLocks noChangeAspect="1"/>
          </p:cNvPicPr>
          <p:nvPr/>
        </p:nvPicPr>
        <p:blipFill>
          <a:blip r:embed="rId4"/>
          <a:stretch>
            <a:fillRect/>
          </a:stretch>
        </p:blipFill>
        <p:spPr>
          <a:xfrm>
            <a:off x="4368800" y="3937000"/>
            <a:ext cx="215900" cy="215900"/>
          </a:xfrm>
          <a:prstGeom prst="rect">
            <a:avLst/>
          </a:prstGeom>
        </p:spPr>
      </p:pic>
      <p:sp>
        <p:nvSpPr>
          <p:cNvPr id="30" name="Shape 20"/>
          <p:cNvSpPr/>
          <p:nvPr/>
        </p:nvSpPr>
        <p:spPr>
          <a:xfrm>
            <a:off x="177800" y="45974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1" name="Shape 21"/>
          <p:cNvSpPr/>
          <p:nvPr/>
        </p:nvSpPr>
        <p:spPr>
          <a:xfrm>
            <a:off x="279400" y="4762500"/>
            <a:ext cx="393700" cy="393700"/>
          </a:xfrm>
          <a:prstGeom prst="ellipse">
            <a:avLst/>
          </a:prstGeom>
          <a:solidFill>
            <a:srgbClr val="0E96AC"/>
          </a:solidFill>
          <a:ln/>
        </p:spPr>
        <p:txBody>
          <a:bodyPr/>
          <a:lstStyle/>
          <a:p>
            <a:endParaRPr lang="en-IN"/>
          </a:p>
        </p:txBody>
      </p:sp>
      <p:pic>
        <p:nvPicPr>
          <p:cNvPr id="32" name="Image 8" descr="preencoded.png"/>
          <p:cNvPicPr>
            <a:picLocks noChangeAspect="1"/>
          </p:cNvPicPr>
          <p:nvPr/>
        </p:nvPicPr>
        <p:blipFill>
          <a:blip r:embed="rId8"/>
          <a:stretch>
            <a:fillRect/>
          </a:stretch>
        </p:blipFill>
        <p:spPr>
          <a:xfrm>
            <a:off x="381000" y="4864100"/>
            <a:ext cx="190500" cy="190500"/>
          </a:xfrm>
          <a:prstGeom prst="rect">
            <a:avLst/>
          </a:prstGeom>
        </p:spPr>
      </p:pic>
      <p:sp>
        <p:nvSpPr>
          <p:cNvPr id="33" name="Text 22"/>
          <p:cNvSpPr/>
          <p:nvPr/>
        </p:nvSpPr>
        <p:spPr>
          <a:xfrm>
            <a:off x="762000" y="46990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Basic GPIO &amp; intro projects performed</a:t>
            </a:r>
            <a:endParaRPr lang="en-US" sz="1250" dirty="0"/>
          </a:p>
        </p:txBody>
      </p:sp>
      <p:pic>
        <p:nvPicPr>
          <p:cNvPr id="34" name="Image 9" descr="preencoded.png"/>
          <p:cNvPicPr>
            <a:picLocks noChangeAspect="1"/>
          </p:cNvPicPr>
          <p:nvPr/>
        </p:nvPicPr>
        <p:blipFill>
          <a:blip r:embed="rId4"/>
          <a:stretch>
            <a:fillRect/>
          </a:stretch>
        </p:blipFill>
        <p:spPr>
          <a:xfrm>
            <a:off x="4368800" y="4851400"/>
            <a:ext cx="215900" cy="215900"/>
          </a:xfrm>
          <a:prstGeom prst="rect">
            <a:avLst/>
          </a:prstGeom>
        </p:spPr>
      </p:pic>
      <p:sp>
        <p:nvSpPr>
          <p:cNvPr id="35" name="Shape 23"/>
          <p:cNvSpPr/>
          <p:nvPr/>
        </p:nvSpPr>
        <p:spPr>
          <a:xfrm>
            <a:off x="177800" y="5511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6" name="Shape 24"/>
          <p:cNvSpPr/>
          <p:nvPr/>
        </p:nvSpPr>
        <p:spPr>
          <a:xfrm>
            <a:off x="279400" y="5676900"/>
            <a:ext cx="393700" cy="393700"/>
          </a:xfrm>
          <a:prstGeom prst="ellipse">
            <a:avLst/>
          </a:prstGeom>
          <a:solidFill>
            <a:srgbClr val="0E96AC"/>
          </a:solidFill>
          <a:ln/>
        </p:spPr>
        <p:txBody>
          <a:bodyPr/>
          <a:lstStyle/>
          <a:p>
            <a:endParaRPr lang="en-IN"/>
          </a:p>
        </p:txBody>
      </p:sp>
      <p:pic>
        <p:nvPicPr>
          <p:cNvPr id="37" name="Image 10" descr="preencoded.png"/>
          <p:cNvPicPr>
            <a:picLocks noChangeAspect="1"/>
          </p:cNvPicPr>
          <p:nvPr/>
        </p:nvPicPr>
        <p:blipFill>
          <a:blip r:embed="rId9"/>
          <a:stretch>
            <a:fillRect/>
          </a:stretch>
        </p:blipFill>
        <p:spPr>
          <a:xfrm>
            <a:off x="381000" y="5778500"/>
            <a:ext cx="190500" cy="190500"/>
          </a:xfrm>
          <a:prstGeom prst="rect">
            <a:avLst/>
          </a:prstGeom>
        </p:spPr>
      </p:pic>
      <p:sp>
        <p:nvSpPr>
          <p:cNvPr id="38" name="Text 25"/>
          <p:cNvSpPr/>
          <p:nvPr/>
        </p:nvSpPr>
        <p:spPr>
          <a:xfrm>
            <a:off x="762000" y="5613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Linux environment &amp; Python familiarity</a:t>
            </a:r>
            <a:endParaRPr lang="en-US" sz="1250" dirty="0"/>
          </a:p>
        </p:txBody>
      </p:sp>
      <p:pic>
        <p:nvPicPr>
          <p:cNvPr id="39" name="Image 11" descr="preencoded.png"/>
          <p:cNvPicPr>
            <a:picLocks noChangeAspect="1"/>
          </p:cNvPicPr>
          <p:nvPr/>
        </p:nvPicPr>
        <p:blipFill>
          <a:blip r:embed="rId4"/>
          <a:stretch>
            <a:fillRect/>
          </a:stretch>
        </p:blipFill>
        <p:spPr>
          <a:xfrm>
            <a:off x="4368800" y="5765800"/>
            <a:ext cx="215900" cy="215900"/>
          </a:xfrm>
          <a:prstGeom prst="rect">
            <a:avLst/>
          </a:prstGeom>
        </p:spPr>
      </p:pic>
      <p:sp>
        <p:nvSpPr>
          <p:cNvPr id="310" name="Card0"/>
          <p:cNvSpPr/>
          <p:nvPr/>
        </p:nvSpPr>
        <p:spPr>
          <a:xfrm>
            <a:off x="50800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1" name="Card1"/>
          <p:cNvSpPr/>
          <p:nvPr/>
        </p:nvSpPr>
        <p:spPr>
          <a:xfrm>
            <a:off x="84582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2" name="Card2"/>
          <p:cNvSpPr/>
          <p:nvPr/>
        </p:nvSpPr>
        <p:spPr>
          <a:xfrm>
            <a:off x="50800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3" name="Card3"/>
          <p:cNvSpPr/>
          <p:nvPr/>
        </p:nvSpPr>
        <p:spPr>
          <a:xfrm>
            <a:off x="84582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pic>
        <p:nvPicPr>
          <p:cNvPr id="46" name="Picture 45"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DE1F7E33-CA39-C0EF-A173-4BAD70E88A32}"/>
              </a:ext>
            </a:extLst>
          </p:cNvPr>
          <p:cNvPicPr>
            <a:picLocks noChangeAspect="1"/>
          </p:cNvPicPr>
          <p:nvPr/>
        </p:nvPicPr>
        <p:blipFill>
          <a:blip r:embed="rId10"/>
          <a:srcRect r="60211"/>
          <a:stretch>
            <a:fillRect/>
          </a:stretch>
        </p:blipFill>
        <p:spPr>
          <a:xfrm>
            <a:off x="5105400" y="1028700"/>
            <a:ext cx="3200400" cy="1778000"/>
          </a:xfrm>
          <a:prstGeom prst="rect">
            <a:avLst/>
          </a:prstGeom>
        </p:spPr>
      </p:pic>
      <p:pic>
        <p:nvPicPr>
          <p:cNvPr id="5" name="Picture 4" descr="The image shows a Windows command prompt window, with a user logged into a remote Linux system via SSH, navigating through directories and listing files on a desktop.&#10;&#10;AI-generated content may be incorrect.">
            <a:extLst>
              <a:ext uri="{FF2B5EF4-FFF2-40B4-BE49-F238E27FC236}">
                <a16:creationId xmlns:a16="http://schemas.microsoft.com/office/drawing/2014/main" id="{476EAFDA-9F87-F6F2-3722-50C8B96B4274}"/>
              </a:ext>
            </a:extLst>
          </p:cNvPr>
          <p:cNvPicPr>
            <a:picLocks noChangeAspect="1"/>
          </p:cNvPicPr>
          <p:nvPr/>
        </p:nvPicPr>
        <p:blipFill>
          <a:blip r:embed="rId11"/>
          <a:srcRect b="23740"/>
          <a:stretch>
            <a:fillRect/>
          </a:stretch>
        </p:blipFill>
        <p:spPr>
          <a:xfrm>
            <a:off x="5105400" y="3187700"/>
            <a:ext cx="3200400" cy="1778000"/>
          </a:xfrm>
          <a:prstGeom prst="rect">
            <a:avLst/>
          </a:prstGeom>
        </p:spPr>
      </p:pic>
      <p:pic>
        <p:nvPicPr>
          <p:cNvPr id="7" name="Picture 6" descr="The image shows a purple rectangular device, presumably a Raspberry Pi E, with four black USB ports, placed on a wooden surface.">
            <a:extLst>
              <a:ext uri="{FF2B5EF4-FFF2-40B4-BE49-F238E27FC236}">
                <a16:creationId xmlns:a16="http://schemas.microsoft.com/office/drawing/2014/main" id="{2B20CD64-9A81-0E6C-1B7D-03F8DCC66540}"/>
              </a:ext>
            </a:extLst>
          </p:cNvPr>
          <p:cNvPicPr>
            <a:picLocks noChangeAspect="1"/>
          </p:cNvPicPr>
          <p:nvPr/>
        </p:nvPicPr>
        <p:blipFill>
          <a:blip r:embed="rId12"/>
          <a:srcRect l="19186" t="3630" r="28657" b="6275"/>
          <a:stretch>
            <a:fillRect/>
          </a:stretch>
        </p:blipFill>
        <p:spPr>
          <a:xfrm>
            <a:off x="8483600" y="3187700"/>
            <a:ext cx="3200400" cy="1778000"/>
          </a:xfrm>
          <a:prstGeom prst="rect">
            <a:avLst/>
          </a:prstGeom>
        </p:spPr>
      </p:pic>
      <p:pic>
        <p:nvPicPr>
          <p:cNvPr id="9" name="Picture 8"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FEAE6426-EE78-D26E-1075-61019A1547A7}"/>
              </a:ext>
            </a:extLst>
          </p:cNvPr>
          <p:cNvPicPr>
            <a:picLocks noChangeAspect="1"/>
          </p:cNvPicPr>
          <p:nvPr/>
        </p:nvPicPr>
        <p:blipFill>
          <a:blip r:embed="rId10"/>
          <a:srcRect l="37886"/>
          <a:stretch>
            <a:fillRect/>
          </a:stretch>
        </p:blipFill>
        <p:spPr>
          <a:xfrm>
            <a:off x="8483600" y="1028700"/>
            <a:ext cx="3200400" cy="1778000"/>
          </a:xfrm>
          <a:prstGeom prst="rect">
            <a:avLst/>
          </a:prstGeom>
        </p:spPr>
      </p:pic>
      <p:sp>
        <p:nvSpPr>
          <p:cNvPr id="301" name="Divider"/>
          <p:cNvSpPr/>
          <p:nvPr/>
        </p:nvSpPr>
        <p:spPr>
          <a:xfrm>
            <a:off x="4864100" y="127000"/>
            <a:ext cx="25400" cy="6629400"/>
          </a:xfrm>
          <a:prstGeom prst="rect">
            <a:avLst/>
          </a:prstGeom>
          <a:solidFill>
            <a:srgbClr val="DDE5F0"/>
          </a:solidFill>
          <a:ln>
            <a:noFill/>
          </a:ln>
        </p:spPr>
        <p:txBody>
          <a:bodyPr/>
          <a:lstStyle/>
          <a:p>
            <a:endParaRPr/>
          </a:p>
        </p:txBody>
      </p:sp>
      <p:sp>
        <p:nvSpPr>
          <p:cNvPr id="330" name="BannerBg"/>
          <p:cNvSpPr/>
          <p:nvPr/>
        </p:nvSpPr>
        <p:spPr>
          <a:xfrm>
            <a:off x="5054600" y="5397500"/>
            <a:ext cx="6680200" cy="381000"/>
          </a:xfrm>
          <a:prstGeom prst="roundRect">
            <a:avLst>
              <a:gd name="adj" fmla="val 10000"/>
            </a:avLst>
          </a:prstGeom>
          <a:solidFill>
            <a:srgbClr val="D4EDDA"/>
          </a:solidFill>
          <a:ln w="12700">
            <a:solidFill>
              <a:srgbClr val="28A745"/>
            </a:solidFill>
          </a:ln>
        </p:spPr>
        <p:txBody>
          <a:bodyPr/>
          <a:lstStyle/>
          <a:p>
            <a:endParaRPr/>
          </a:p>
        </p:txBody>
      </p:sp>
      <p:sp>
        <p:nvSpPr>
          <p:cNvPr id="331" name="BannerText"/>
          <p:cNvSpPr/>
          <p:nvPr/>
        </p:nvSpPr>
        <p:spPr>
          <a:xfrm>
            <a:off x="5105400" y="5473700"/>
            <a:ext cx="6578600" cy="279400"/>
          </a:xfrm>
          <a:prstGeom prst="rect">
            <a:avLst/>
          </a:prstGeom>
          <a:noFill/>
        </p:spPr>
        <p:txBody>
          <a:bodyPr wrap="square" rtlCol="0"/>
          <a:lstStyle/>
          <a:p>
            <a:pPr marL="0" indent="0" algn="ctr">
              <a:buNone/>
            </a:pPr>
            <a:r>
              <a:rPr lang="en-US" sz="1000" b="1" dirty="0">
                <a:solidFill>
                  <a:srgbClr val="0A3D1F"/>
                </a:solidFill>
                <a:latin typeface="Calibri" pitchFamily="34" charset="0"/>
              </a:rPr>
              <a:t>Raspberry Pi Platform Successfully Configured and Tested</a:t>
            </a:r>
          </a:p>
        </p:txBody>
      </p:sp>
      <p:sp>
        <p:nvSpPr>
          <p:cNvPr id="320" name="Cap0"/>
          <p:cNvSpPr/>
          <p:nvPr/>
        </p:nvSpPr>
        <p:spPr>
          <a:xfrm>
            <a:off x="50800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Raspberry Pi OS Desktop</a:t>
            </a:r>
          </a:p>
        </p:txBody>
      </p:sp>
      <p:sp>
        <p:nvSpPr>
          <p:cNvPr id="321" name="Cap1"/>
          <p:cNvSpPr/>
          <p:nvPr/>
        </p:nvSpPr>
        <p:spPr>
          <a:xfrm>
            <a:off x="84582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GPIO / Python Testing</a:t>
            </a:r>
          </a:p>
        </p:txBody>
      </p:sp>
      <p:sp>
        <p:nvSpPr>
          <p:cNvPr id="322" name="Cap2"/>
          <p:cNvSpPr/>
          <p:nvPr/>
        </p:nvSpPr>
        <p:spPr>
          <a:xfrm>
            <a:off x="50800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SSH Remote Access</a:t>
            </a:r>
          </a:p>
        </p:txBody>
      </p:sp>
      <p:sp>
        <p:nvSpPr>
          <p:cNvPr id="323" name="Cap3"/>
          <p:cNvSpPr/>
          <p:nvPr/>
        </p:nvSpPr>
        <p:spPr>
          <a:xfrm>
            <a:off x="84582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System Configuration</a:t>
            </a:r>
          </a:p>
        </p:txBody>
      </p:sp>
      <p:sp>
        <p:nvSpPr>
          <p:cNvPr id="303" name="RightHeading"/>
          <p:cNvSpPr/>
          <p:nvPr/>
        </p:nvSpPr>
        <p:spPr>
          <a:xfrm>
            <a:off x="5029200" y="660400"/>
            <a:ext cx="6959600" cy="279400"/>
          </a:xfrm>
          <a:prstGeom prst="rect">
            <a:avLst/>
          </a:prstGeom>
          <a:noFill/>
        </p:spPr>
        <p:txBody>
          <a:bodyPr wrap="square" rtlCol="0"/>
          <a:lstStyle/>
          <a:p>
            <a:pPr marL="0" indent="0">
              <a:buNone/>
            </a:pPr>
            <a:r>
              <a:rPr lang="en-US" sz="1200" b="1" dirty="0">
                <a:solidFill>
                  <a:srgbClr val="0E96AC"/>
                </a:solidFill>
                <a:latin typeface="Calibri" pitchFamily="34" charset="0"/>
              </a:rPr>
              <a:t>Development Environment Setup</a:t>
            </a:r>
          </a:p>
        </p:txBody>
      </p:sp>
      <p:sp>
        <p:nvSpPr>
          <p:cNvPr id="302" name="MilesLabel"/>
          <p:cNvSpPr/>
          <p:nvPr/>
        </p:nvSpPr>
        <p:spPr>
          <a:xfrm>
            <a:off x="228600" y="787400"/>
            <a:ext cx="4318000" cy="177800"/>
          </a:xfrm>
          <a:prstGeom prst="rect">
            <a:avLst/>
          </a:prstGeom>
          <a:noFill/>
        </p:spPr>
        <p:txBody>
          <a:bodyPr wrap="square" rtlCol="0"/>
          <a:lstStyle/>
          <a:p>
            <a:pPr marL="0" indent="0">
              <a:buNone/>
            </a:pPr>
            <a:r>
              <a:rPr lang="en-US" sz="900" b="1" spc="100" dirty="0">
                <a:solidFill>
                  <a:srgbClr val="3A6D82"/>
                </a:solidFill>
                <a:latin typeface="Calibri" pitchFamily="34" charset="0"/>
              </a:rPr>
              <a:t>PROGRESS MILESTONES</a:t>
            </a:r>
          </a:p>
        </p:txBody>
      </p:sp>
      <p:sp>
        <p:nvSpPr>
          <p:cNvPr id="3" name="Text 1"/>
          <p:cNvSpPr/>
          <p:nvPr/>
        </p:nvSpPr>
        <p:spPr>
          <a:xfrm>
            <a:off x="228600" y="330200"/>
            <a:ext cx="4546600" cy="381000"/>
          </a:xfrm>
          <a:prstGeom prst="rect">
            <a:avLst/>
          </a:prstGeom>
          <a:noFill/>
          <a:ln/>
        </p:spPr>
        <p:txBody>
          <a:bodyPr wrap="square" lIns="0" tIns="0" rIns="0" bIns="0" rtlCol="0" anchor="ctr"/>
          <a:lstStyle/>
          <a:p>
            <a:pPr marL="0" indent="0">
              <a:buNone/>
            </a:pPr>
            <a:r>
              <a:rPr lang="en-US" sz="2200" b="1" dirty="0">
                <a:solidFill>
                  <a:srgbClr val="16223A"/>
                </a:solidFill>
                <a:latin typeface="Calibri" pitchFamily="34" charset="0"/>
                <a:ea typeface="Calibri" pitchFamily="34" charset="-122"/>
                <a:cs typeface="Calibri" pitchFamily="34" charset="-120"/>
              </a:rPr>
              <a:t>Standing Up the Compute Platform</a:t>
            </a:r>
            <a:endParaRPr lang="en-US" sz="3000" dirty="0"/>
          </a:p>
        </p:txBody>
      </p:sp>
      <p:sp>
        <p:nvSpPr>
          <p:cNvPr id="2" name="Text 0"/>
          <p:cNvSpPr/>
          <p:nvPr/>
        </p:nvSpPr>
        <p:spPr>
          <a:xfrm>
            <a:off x="228600" y="127000"/>
            <a:ext cx="4546600" cy="2286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RASPBERRY PI LEARNING &amp; DEVELOPMENT</a:t>
            </a:r>
            <a:endParaRPr lang="en-US" sz="1200" dirty="0"/>
          </a:p>
        </p:txBody>
      </p:sp>
    </p:spTree>
    <p:extLst>
      <p:ext uri="{BB962C8B-B14F-4D97-AF65-F5344CB8AC3E}">
        <p14:creationId xmlns:p14="http://schemas.microsoft.com/office/powerpoint/2010/main" val="284060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HARDWARE PROCUREMENT &amp; RESOURCE AVAILABILITY</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Hardware Procurement &amp; Resource Availability</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Hardware Strategy: </a:t>
            </a:r>
            <a:r>
              <a:rPr lang="en-IN" sz="1300" dirty="0">
                <a:solidFill>
                  <a:srgbClr val="16223A"/>
                </a:solidFill>
                <a:latin typeface="Calibri"/>
              </a:rPr>
              <a:t>Raspberry Pi 4 was planned in the BOM; however, a Raspberry Pi 5 was already available in the laboratory, enabling immediate software development and testing without waiting for delivery. To accelerate development, the team utilised the laboratory Raspberry Pi 5 platform while the ordered components remain under procurement.</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AVAILABLE &amp; IN USE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ORDERED — AWAITING DELIVERY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COMPLETED PREPARATORY WORK</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Raspberry Pi 5 (Laboratory Resource)</a:t>
            </a:r>
          </a:p>
          <a:p>
            <a:pPr marL="180000" indent="-180000">
              <a:buFont typeface="Arial"/>
              <a:buChar char="•"/>
            </a:pPr>
            <a:r>
              <a:rPr lang="en-IN" sz="1200" dirty="0">
                <a:solidFill>
                  <a:srgbClr val="1E4620"/>
                </a:solidFill>
                <a:latin typeface="Calibri"/>
              </a:rPr>
              <a:t>Raspberry Pi Starter Kit</a:t>
            </a:r>
          </a:p>
          <a:p>
            <a:pPr marL="180000" indent="-180000">
              <a:buFont typeface="Arial"/>
              <a:buChar char="•"/>
            </a:pPr>
            <a:r>
              <a:rPr lang="en-IN" sz="1200" dirty="0">
                <a:solidFill>
                  <a:srgbClr val="1E4620"/>
                </a:solidFill>
                <a:latin typeface="Calibri"/>
              </a:rPr>
              <a:t>Raspberry Pi OS Environment</a:t>
            </a:r>
          </a:p>
          <a:p>
            <a:pPr marL="180000" indent="-180000">
              <a:buFont typeface="Arial"/>
              <a:buChar char="•"/>
            </a:pPr>
            <a:r>
              <a:rPr lang="en-IN" sz="1200" dirty="0">
                <a:solidFill>
                  <a:srgbClr val="1E4620"/>
                </a:solidFill>
                <a:latin typeface="Calibri"/>
              </a:rPr>
              <a:t>GitHub Repository</a:t>
            </a:r>
          </a:p>
          <a:p>
            <a:pPr marL="180000" indent="-180000">
              <a:buFont typeface="Arial"/>
              <a:buChar char="•"/>
            </a:pPr>
            <a:r>
              <a:rPr lang="en-IN" sz="1200" dirty="0">
                <a:solidFill>
                  <a:srgbClr val="1E4620"/>
                </a:solidFill>
                <a:latin typeface="Calibri"/>
              </a:rPr>
              <a:t>3D Printed Prototype Segments</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Dynamixel XL330 Smart Servo Motors</a:t>
            </a:r>
          </a:p>
          <a:p>
            <a:pPr marL="180000" indent="-180000">
              <a:buFont typeface="Arial"/>
              <a:buChar char="•"/>
            </a:pPr>
            <a:r>
              <a:rPr lang="en-IN" sz="1000" dirty="0">
                <a:solidFill>
                  <a:srgbClr val="374151"/>
                </a:solidFill>
                <a:latin typeface="Calibri"/>
              </a:rPr>
              <a:t>U2D2 Communication Interface</a:t>
            </a:r>
          </a:p>
          <a:p>
            <a:pPr marL="180000" indent="-180000">
              <a:buFont typeface="Arial"/>
              <a:buChar char="•"/>
            </a:pPr>
            <a:r>
              <a:rPr lang="en-IN" sz="1000" dirty="0">
                <a:solidFill>
                  <a:srgbClr val="374151"/>
                </a:solidFill>
                <a:latin typeface="Calibri"/>
              </a:rPr>
              <a:t>U2D2 Power Hub Board</a:t>
            </a:r>
          </a:p>
          <a:p>
            <a:pPr marL="180000" indent="-180000">
              <a:buFont typeface="Arial"/>
              <a:buChar char="•"/>
            </a:pPr>
            <a:r>
              <a:rPr lang="en-IN" sz="1000" dirty="0">
                <a:solidFill>
                  <a:srgbClr val="374151"/>
                </a:solidFill>
                <a:latin typeface="Calibri"/>
              </a:rPr>
              <a:t>Dynamixel Communication Cables</a:t>
            </a:r>
          </a:p>
          <a:p>
            <a:pPr marL="180000" indent="-180000">
              <a:buFont typeface="Arial"/>
              <a:buChar char="•"/>
            </a:pPr>
            <a:r>
              <a:rPr lang="en-IN" sz="1000" dirty="0">
                <a:solidFill>
                  <a:srgbClr val="374151"/>
                </a:solidFill>
                <a:latin typeface="Calibri"/>
              </a:rPr>
              <a:t>5V Power Supply</a:t>
            </a:r>
          </a:p>
          <a:p>
            <a:pPr marL="180000" indent="-180000">
              <a:buFont typeface="Arial"/>
              <a:buChar char="•"/>
            </a:pPr>
            <a:r>
              <a:rPr lang="en-IN" sz="1000" dirty="0">
                <a:solidFill>
                  <a:srgbClr val="374151"/>
                </a:solidFill>
                <a:latin typeface="Calibri"/>
              </a:rPr>
              <a:t>ESP32 Development Board</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Hardware selection finalised</a:t>
            </a:r>
          </a:p>
          <a:p>
            <a:pPr marL="180000" indent="-180000">
              <a:buFont typeface="Arial"/>
              <a:buChar char="•"/>
            </a:pPr>
            <a:r>
              <a:rPr lang="en-IN" sz="1000" dirty="0">
                <a:solidFill>
                  <a:srgbClr val="374151"/>
                </a:solidFill>
                <a:latin typeface="Calibri"/>
              </a:rPr>
              <a:t>Bill of Materials prepared</a:t>
            </a:r>
          </a:p>
          <a:p>
            <a:pPr marL="180000" indent="-180000">
              <a:buFont typeface="Arial"/>
              <a:buChar char="•"/>
            </a:pPr>
            <a:r>
              <a:rPr lang="en-IN" sz="1000" dirty="0">
                <a:solidFill>
                  <a:srgbClr val="374151"/>
                </a:solidFill>
                <a:latin typeface="Calibri"/>
              </a:rPr>
              <a:t>CAD model completed</a:t>
            </a:r>
          </a:p>
          <a:p>
            <a:pPr marL="180000" indent="-180000">
              <a:buFont typeface="Arial"/>
              <a:buChar char="•"/>
            </a:pPr>
            <a:r>
              <a:rPr lang="en-IN" sz="1000" dirty="0">
                <a:solidFill>
                  <a:srgbClr val="374151"/>
                </a:solidFill>
                <a:latin typeface="Calibri"/>
              </a:rPr>
              <a:t>Segment fabrication initiated</a:t>
            </a:r>
          </a:p>
          <a:p>
            <a:pPr marL="180000" indent="-180000">
              <a:buFont typeface="Arial"/>
              <a:buChar char="•"/>
            </a:pPr>
            <a:r>
              <a:rPr lang="en-IN" sz="1000" dirty="0">
                <a:solidFill>
                  <a:srgbClr val="374151"/>
                </a:solidFill>
                <a:latin typeface="Calibri"/>
              </a:rPr>
              <a:t>Software environment configured</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DEVELOPMENT PROGRESS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E7A3E"/>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Component</a:t>
            </a:r>
          </a:p>
          <a:p>
            <a:pPr algn="ctr">
              <a:buNone/>
            </a:pPr>
            <a:r>
              <a:rPr lang="en-IN" sz="1400" dirty="0">
                <a:solidFill>
                  <a:srgbClr val="374151"/>
                </a:solidFill>
                <a:latin typeface="Calibri"/>
              </a:rPr>
              <a:t>Selection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E7A3E"/>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Procurement</a:t>
            </a:r>
          </a:p>
          <a:p>
            <a:pPr algn="ctr">
              <a:buNone/>
            </a:pPr>
            <a:r>
              <a:rPr lang="en-IN" sz="1400" dirty="0">
                <a:solidFill>
                  <a:srgbClr val="374151"/>
                </a:solidFill>
                <a:latin typeface="Calibri"/>
              </a:rPr>
              <a:t>Initiated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7A3E"/>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CAD</a:t>
            </a:r>
          </a:p>
          <a:p>
            <a:pPr algn="ctr">
              <a:buNone/>
            </a:pPr>
            <a:r>
              <a:rPr lang="en-IN" sz="1400" dirty="0">
                <a:solidFill>
                  <a:srgbClr val="374151"/>
                </a:solidFill>
                <a:latin typeface="Calibri"/>
              </a:rPr>
              <a:t>Design</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7A3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Prototype</a:t>
            </a:r>
          </a:p>
          <a:p>
            <a:pPr algn="ctr">
              <a:buNone/>
            </a:pPr>
            <a:r>
              <a:rPr lang="en-IN" sz="1400" dirty="0">
                <a:solidFill>
                  <a:srgbClr val="374151"/>
                </a:solidFill>
                <a:latin typeface="Calibri"/>
              </a:rPr>
              <a:t>Printing</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1E7A3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RPi</a:t>
            </a:r>
          </a:p>
          <a:p>
            <a:pPr algn="ctr">
              <a:buNone/>
            </a:pPr>
            <a:r>
              <a:rPr lang="en-IN" sz="1400" dirty="0">
                <a:solidFill>
                  <a:srgbClr val="374151"/>
                </a:solidFill>
                <a:latin typeface="Calibri"/>
              </a:rPr>
              <a:t>Learning</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D97706"/>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Motor</a:t>
            </a:r>
          </a:p>
          <a:p>
            <a:pPr algn="ctr">
              <a:buNone/>
            </a:pPr>
            <a:r>
              <a:rPr lang="en-IN" sz="1400" dirty="0">
                <a:solidFill>
                  <a:srgbClr val="374151"/>
                </a:solidFill>
                <a:latin typeface="Calibri"/>
              </a:rPr>
              <a:t>Integration</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Awaiting HW</a:t>
            </a:r>
          </a:p>
        </p:txBody>
      </p:sp>
      <p:sp>
        <p:nvSpPr>
          <p:cNvPr id="316" name="step6_circle"/>
          <p:cNvSpPr>
            <a:spLocks noGrp="1"/>
          </p:cNvSpPr>
          <p:nvPr/>
        </p:nvSpPr>
        <p:spPr>
          <a:xfrm>
            <a:off x="9613900" y="4241800"/>
            <a:ext cx="457200" cy="457200"/>
          </a:xfrm>
          <a:prstGeom prst="roundRect">
            <a:avLst>
              <a:gd name="adj" fmla="val 50000"/>
            </a:avLst>
          </a:prstGeom>
          <a:solidFill>
            <a:srgbClr val="94A3B8"/>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Locomotion</a:t>
            </a:r>
          </a:p>
          <a:p>
            <a:pPr algn="ctr">
              <a:buNone/>
            </a:pPr>
            <a:r>
              <a:rPr lang="en-IN" sz="1400" dirty="0">
                <a:solidFill>
                  <a:srgbClr val="374151"/>
                </a:solidFill>
                <a:latin typeface="Calibri"/>
              </a:rPr>
              <a:t>Testing</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t>
            </a:r>
            <a:r>
              <a:rPr lang="en-IN" sz="1100" dirty="0">
                <a:solidFill>
                  <a:srgbClr val="374151"/>
                </a:solidFill>
                <a:latin typeface="Calibri"/>
              </a:rPr>
              <a:t>Although the primary Dynamixel hardware has not yet arrived, the team has successfully utilised available laboratory resources to complete design, fabrication, documentation, and software preparation activities, ensuring project progress is maintained.</a:t>
            </a:r>
          </a:p>
        </p:txBody>
      </p:sp>
    </p:spTree>
    <p:extLst>
      <p:ext uri="{BB962C8B-B14F-4D97-AF65-F5344CB8AC3E}">
        <p14:creationId xmlns:p14="http://schemas.microsoft.com/office/powerpoint/2010/main" val="414498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100" name="bg_hdr"/>
          <p:cNvSpPr>
            <a:spLocks noGrp="1"/>
          </p:cNvSpPr>
          <p:nvPr/>
        </p:nvSpPr>
        <p:spPr>
          <a:xfrm>
            <a:off x="0" y="0"/>
            <a:ext cx="12192000" cy="1371600"/>
          </a:xfrm>
          <a:prstGeom prst="rect">
            <a:avLst/>
          </a:prstGeom>
          <a:solidFill>
            <a:srgbClr val="F4F6F9"/>
          </a:solidFill>
          <a:ln>
            <a:noFill/>
          </a:ln>
        </p:spPr>
        <p:txBody>
          <a:bodyPr/>
          <a:lstStyle/>
          <a:p>
            <a:endParaRPr lang="en-US" dirty="0"/>
          </a:p>
        </p:txBody>
      </p:sp>
      <p:sp>
        <p:nvSpPr>
          <p:cNvPr id="101" name="bg_body"/>
          <p:cNvSpPr>
            <a:spLocks noGrp="1"/>
          </p:cNvSpPr>
          <p:nvPr/>
        </p:nvSpPr>
        <p:spPr>
          <a:xfrm>
            <a:off x="0" y="1371600"/>
            <a:ext cx="12192000" cy="5486400"/>
          </a:xfrm>
          <a:prstGeom prst="rect">
            <a:avLst/>
          </a:prstGeom>
          <a:solidFill>
            <a:srgbClr val="FFFFFF"/>
          </a:solidFill>
          <a:ln>
            <a:noFill/>
          </a:ln>
        </p:spPr>
        <p:txBody>
          <a:bodyPr/>
          <a:lstStyle/>
          <a:p>
            <a:endParaRPr lang="en-US" dirty="0"/>
          </a:p>
        </p:txBody>
      </p:sp>
      <p:sp>
        <p:nvSpPr>
          <p:cNvPr id="102" name="teal_bar"/>
          <p:cNvSpPr>
            <a:spLocks noGrp="1"/>
          </p:cNvSpPr>
          <p:nvPr/>
        </p:nvSpPr>
        <p:spPr>
          <a:xfrm>
            <a:off x="0" y="0"/>
            <a:ext cx="12192000" cy="63500"/>
          </a:xfrm>
          <a:prstGeom prst="rect">
            <a:avLst/>
          </a:prstGeom>
          <a:solidFill>
            <a:srgbClr val="0E96AC"/>
          </a:solidFill>
          <a:ln>
            <a:noFill/>
          </a:ln>
        </p:spPr>
        <p:txBody>
          <a:bodyPr/>
          <a:lstStyle/>
          <a:p>
            <a:endParaRPr lang="en-US" dirty="0"/>
          </a:p>
        </p:txBody>
      </p:sp>
      <p:sp>
        <p:nvSpPr>
          <p:cNvPr id="103" name="div_v"/>
          <p:cNvSpPr>
            <a:spLocks noGrp="1"/>
          </p:cNvSpPr>
          <p:nvPr/>
        </p:nvSpPr>
        <p:spPr>
          <a:xfrm>
            <a:off x="4241800" y="1422400"/>
            <a:ext cx="25400" cy="5257800"/>
          </a:xfrm>
          <a:prstGeom prst="rect">
            <a:avLst/>
          </a:prstGeom>
          <a:solidFill>
            <a:srgbClr val="CBD5E1"/>
          </a:solidFill>
          <a:ln>
            <a:noFill/>
          </a:ln>
        </p:spPr>
        <p:txBody>
          <a:bodyPr/>
          <a:lstStyle/>
          <a:p>
            <a:endParaRPr lang="en-US" dirty="0"/>
          </a:p>
        </p:txBody>
      </p:sp>
      <p:sp>
        <p:nvSpPr>
          <p:cNvPr id="104" name="subt"/>
          <p:cNvSpPr txBox="1">
            <a:spLocks noGrp="1"/>
          </p:cNvSpPr>
          <p:nvPr/>
        </p:nvSpPr>
        <p:spPr>
          <a:xfrm>
            <a:off x="546100" y="177800"/>
            <a:ext cx="8890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REPOSITORY &amp; DOCUMENTATION</a:t>
            </a:r>
          </a:p>
        </p:txBody>
      </p:sp>
      <p:sp>
        <p:nvSpPr>
          <p:cNvPr id="105" name="ttl"/>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Version Control From Day One</a:t>
            </a:r>
          </a:p>
        </p:txBody>
      </p:sp>
      <p:sp>
        <p:nvSpPr>
          <p:cNvPr id="106" name="hdr_ln"/>
          <p:cNvSpPr>
            <a:spLocks noGrp="1"/>
          </p:cNvSpPr>
          <p:nvPr/>
        </p:nvSpPr>
        <p:spPr>
          <a:xfrm>
            <a:off x="546100" y="1320800"/>
            <a:ext cx="11099800" cy="25400"/>
          </a:xfrm>
          <a:prstGeom prst="rect">
            <a:avLst/>
          </a:prstGeom>
          <a:solidFill>
            <a:srgbClr val="0E96AC"/>
          </a:solidFill>
          <a:ln>
            <a:noFill/>
          </a:ln>
        </p:spPr>
        <p:txBody>
          <a:bodyPr/>
          <a:lstStyle/>
          <a:p>
            <a:endParaRPr lang="en-US" dirty="0"/>
          </a:p>
        </p:txBody>
      </p:sp>
      <p:sp>
        <p:nvSpPr>
          <p:cNvPr id="200" name="rbg0"/>
          <p:cNvSpPr>
            <a:spLocks noGrp="1"/>
          </p:cNvSpPr>
          <p:nvPr/>
        </p:nvSpPr>
        <p:spPr>
          <a:xfrm>
            <a:off x="546100" y="1422400"/>
            <a:ext cx="3632200" cy="838200"/>
          </a:xfrm>
          <a:prstGeom prst="rect">
            <a:avLst/>
          </a:prstGeom>
          <a:solidFill>
            <a:srgbClr val="F8FAFC"/>
          </a:solidFill>
          <a:ln>
            <a:noFill/>
          </a:ln>
        </p:spPr>
        <p:txBody>
          <a:bodyPr/>
          <a:lstStyle/>
          <a:p>
            <a:endParaRPr lang="en-US" dirty="0"/>
          </a:p>
        </p:txBody>
      </p:sp>
      <p:sp>
        <p:nvSpPr>
          <p:cNvPr id="210" name="nc0"/>
          <p:cNvSpPr>
            <a:spLocks noGrp="1"/>
          </p:cNvSpPr>
          <p:nvPr/>
        </p:nvSpPr>
        <p:spPr>
          <a:xfrm>
            <a:off x="609600" y="1689100"/>
            <a:ext cx="304800" cy="304800"/>
          </a:xfrm>
          <a:prstGeom prst="ellipse">
            <a:avLst/>
          </a:prstGeom>
          <a:solidFill>
            <a:srgbClr val="0E96AC"/>
          </a:solidFill>
          <a:ln>
            <a:noFill/>
          </a:ln>
        </p:spPr>
        <p:txBody>
          <a:bodyPr/>
          <a:lstStyle/>
          <a:p>
            <a:endParaRPr lang="en-US" dirty="0"/>
          </a:p>
        </p:txBody>
      </p:sp>
      <p:sp>
        <p:nvSpPr>
          <p:cNvPr id="220" name="nct0"/>
          <p:cNvSpPr txBox="1">
            <a:spLocks noGrp="1"/>
          </p:cNvSpPr>
          <p:nvPr/>
        </p:nvSpPr>
        <p:spPr>
          <a:xfrm>
            <a:off x="609600" y="1689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1</a:t>
            </a:r>
          </a:p>
        </p:txBody>
      </p:sp>
      <p:sp>
        <p:nvSpPr>
          <p:cNvPr id="230" name="bt0"/>
          <p:cNvSpPr txBox="1">
            <a:spLocks noGrp="1"/>
          </p:cNvSpPr>
          <p:nvPr/>
        </p:nvSpPr>
        <p:spPr>
          <a:xfrm>
            <a:off x="1003300" y="1498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Repository created</a:t>
            </a:r>
          </a:p>
          <a:p>
            <a:pPr marL="0" indent="0">
              <a:buNone/>
            </a:pPr>
            <a:r>
              <a:rPr lang="en-IN" sz="1400" dirty="0">
                <a:solidFill>
                  <a:srgbClr val="6B7890"/>
                </a:solidFill>
                <a:latin typeface="Calibri"/>
              </a:rPr>
              <a:t>Central home for the whole project.</a:t>
            </a:r>
          </a:p>
        </p:txBody>
      </p:sp>
      <p:sp>
        <p:nvSpPr>
          <p:cNvPr id="240" name="rdiv0"/>
          <p:cNvSpPr>
            <a:spLocks noGrp="1"/>
          </p:cNvSpPr>
          <p:nvPr/>
        </p:nvSpPr>
        <p:spPr>
          <a:xfrm>
            <a:off x="546100" y="2247900"/>
            <a:ext cx="3632200" cy="12700"/>
          </a:xfrm>
          <a:prstGeom prst="rect">
            <a:avLst/>
          </a:prstGeom>
          <a:solidFill>
            <a:srgbClr val="E2E8F0"/>
          </a:solidFill>
          <a:ln>
            <a:noFill/>
          </a:ln>
        </p:spPr>
        <p:txBody>
          <a:bodyPr/>
          <a:lstStyle/>
          <a:p>
            <a:endParaRPr lang="en-US" dirty="0"/>
          </a:p>
        </p:txBody>
      </p:sp>
      <p:sp>
        <p:nvSpPr>
          <p:cNvPr id="211" name="nc1"/>
          <p:cNvSpPr>
            <a:spLocks noGrp="1"/>
          </p:cNvSpPr>
          <p:nvPr/>
        </p:nvSpPr>
        <p:spPr>
          <a:xfrm>
            <a:off x="609600" y="2527300"/>
            <a:ext cx="304800" cy="304800"/>
          </a:xfrm>
          <a:prstGeom prst="ellipse">
            <a:avLst/>
          </a:prstGeom>
          <a:solidFill>
            <a:srgbClr val="0E96AC"/>
          </a:solidFill>
          <a:ln>
            <a:noFill/>
          </a:ln>
        </p:spPr>
        <p:txBody>
          <a:bodyPr/>
          <a:lstStyle/>
          <a:p>
            <a:endParaRPr lang="en-US" dirty="0"/>
          </a:p>
        </p:txBody>
      </p:sp>
      <p:sp>
        <p:nvSpPr>
          <p:cNvPr id="221" name="nct1"/>
          <p:cNvSpPr txBox="1">
            <a:spLocks noGrp="1"/>
          </p:cNvSpPr>
          <p:nvPr/>
        </p:nvSpPr>
        <p:spPr>
          <a:xfrm>
            <a:off x="609600" y="25273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2</a:t>
            </a:r>
          </a:p>
        </p:txBody>
      </p:sp>
      <p:sp>
        <p:nvSpPr>
          <p:cNvPr id="231" name="bt1"/>
          <p:cNvSpPr txBox="1">
            <a:spLocks noGrp="1"/>
          </p:cNvSpPr>
          <p:nvPr/>
        </p:nvSpPr>
        <p:spPr>
          <a:xfrm>
            <a:off x="1003300" y="23368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Version control established</a:t>
            </a:r>
          </a:p>
          <a:p>
            <a:pPr marL="0" indent="0">
              <a:buNone/>
            </a:pPr>
            <a:r>
              <a:rPr lang="en-IN" sz="1400" dirty="0">
                <a:solidFill>
                  <a:srgbClr val="6B7890"/>
                </a:solidFill>
                <a:latin typeface="Calibri"/>
              </a:rPr>
              <a:t>Tracked, reversible change history.</a:t>
            </a:r>
          </a:p>
        </p:txBody>
      </p:sp>
      <p:sp>
        <p:nvSpPr>
          <p:cNvPr id="241" name="rdiv1"/>
          <p:cNvSpPr>
            <a:spLocks noGrp="1"/>
          </p:cNvSpPr>
          <p:nvPr/>
        </p:nvSpPr>
        <p:spPr>
          <a:xfrm>
            <a:off x="546100" y="3086100"/>
            <a:ext cx="3632200" cy="12700"/>
          </a:xfrm>
          <a:prstGeom prst="rect">
            <a:avLst/>
          </a:prstGeom>
          <a:solidFill>
            <a:srgbClr val="E2E8F0"/>
          </a:solidFill>
          <a:ln>
            <a:noFill/>
          </a:ln>
        </p:spPr>
        <p:txBody>
          <a:bodyPr/>
          <a:lstStyle/>
          <a:p>
            <a:endParaRPr lang="en-US" dirty="0"/>
          </a:p>
        </p:txBody>
      </p:sp>
      <p:sp>
        <p:nvSpPr>
          <p:cNvPr id="202" name="rbg2"/>
          <p:cNvSpPr>
            <a:spLocks noGrp="1"/>
          </p:cNvSpPr>
          <p:nvPr/>
        </p:nvSpPr>
        <p:spPr>
          <a:xfrm>
            <a:off x="546100" y="3098800"/>
            <a:ext cx="3632200" cy="838200"/>
          </a:xfrm>
          <a:prstGeom prst="rect">
            <a:avLst/>
          </a:prstGeom>
          <a:solidFill>
            <a:srgbClr val="F8FAFC"/>
          </a:solidFill>
          <a:ln>
            <a:noFill/>
          </a:ln>
        </p:spPr>
        <p:txBody>
          <a:bodyPr/>
          <a:lstStyle/>
          <a:p>
            <a:endParaRPr lang="en-US" dirty="0"/>
          </a:p>
        </p:txBody>
      </p:sp>
      <p:sp>
        <p:nvSpPr>
          <p:cNvPr id="212" name="nc2"/>
          <p:cNvSpPr>
            <a:spLocks noGrp="1"/>
          </p:cNvSpPr>
          <p:nvPr/>
        </p:nvSpPr>
        <p:spPr>
          <a:xfrm>
            <a:off x="609600" y="3365500"/>
            <a:ext cx="304800" cy="304800"/>
          </a:xfrm>
          <a:prstGeom prst="ellipse">
            <a:avLst/>
          </a:prstGeom>
          <a:solidFill>
            <a:srgbClr val="0E96AC"/>
          </a:solidFill>
          <a:ln>
            <a:noFill/>
          </a:ln>
        </p:spPr>
        <p:txBody>
          <a:bodyPr/>
          <a:lstStyle/>
          <a:p>
            <a:endParaRPr lang="en-US" dirty="0"/>
          </a:p>
        </p:txBody>
      </p:sp>
      <p:sp>
        <p:nvSpPr>
          <p:cNvPr id="222" name="nct2"/>
          <p:cNvSpPr txBox="1">
            <a:spLocks noGrp="1"/>
          </p:cNvSpPr>
          <p:nvPr/>
        </p:nvSpPr>
        <p:spPr>
          <a:xfrm>
            <a:off x="609600" y="33655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3</a:t>
            </a:r>
          </a:p>
        </p:txBody>
      </p:sp>
      <p:sp>
        <p:nvSpPr>
          <p:cNvPr id="232" name="bt2"/>
          <p:cNvSpPr txBox="1">
            <a:spLocks noGrp="1"/>
          </p:cNvSpPr>
          <p:nvPr/>
        </p:nvSpPr>
        <p:spPr>
          <a:xfrm>
            <a:off x="1003300" y="31750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CAD files uploaded</a:t>
            </a:r>
          </a:p>
          <a:p>
            <a:pPr marL="0" indent="0">
              <a:buNone/>
            </a:pPr>
            <a:r>
              <a:rPr lang="en-IN" sz="1400" dirty="0">
                <a:solidFill>
                  <a:srgbClr val="6B7890"/>
                </a:solidFill>
                <a:latin typeface="Calibri"/>
              </a:rPr>
              <a:t>Design source committed to the repo.</a:t>
            </a:r>
          </a:p>
        </p:txBody>
      </p:sp>
      <p:sp>
        <p:nvSpPr>
          <p:cNvPr id="242" name="rdiv2"/>
          <p:cNvSpPr>
            <a:spLocks noGrp="1"/>
          </p:cNvSpPr>
          <p:nvPr/>
        </p:nvSpPr>
        <p:spPr>
          <a:xfrm>
            <a:off x="546100" y="3924300"/>
            <a:ext cx="3632200" cy="12700"/>
          </a:xfrm>
          <a:prstGeom prst="rect">
            <a:avLst/>
          </a:prstGeom>
          <a:solidFill>
            <a:srgbClr val="E2E8F0"/>
          </a:solidFill>
          <a:ln>
            <a:noFill/>
          </a:ln>
        </p:spPr>
        <p:txBody>
          <a:bodyPr/>
          <a:lstStyle/>
          <a:p>
            <a:endParaRPr lang="en-US" dirty="0"/>
          </a:p>
        </p:txBody>
      </p:sp>
      <p:sp>
        <p:nvSpPr>
          <p:cNvPr id="213" name="nc3"/>
          <p:cNvSpPr>
            <a:spLocks noGrp="1"/>
          </p:cNvSpPr>
          <p:nvPr/>
        </p:nvSpPr>
        <p:spPr>
          <a:xfrm>
            <a:off x="609600" y="4203700"/>
            <a:ext cx="304800" cy="304800"/>
          </a:xfrm>
          <a:prstGeom prst="ellipse">
            <a:avLst/>
          </a:prstGeom>
          <a:solidFill>
            <a:srgbClr val="0E96AC"/>
          </a:solidFill>
          <a:ln>
            <a:noFill/>
          </a:ln>
        </p:spPr>
        <p:txBody>
          <a:bodyPr/>
          <a:lstStyle/>
          <a:p>
            <a:endParaRPr lang="en-US" dirty="0"/>
          </a:p>
        </p:txBody>
      </p:sp>
      <p:sp>
        <p:nvSpPr>
          <p:cNvPr id="223" name="nct3"/>
          <p:cNvSpPr txBox="1">
            <a:spLocks noGrp="1"/>
          </p:cNvSpPr>
          <p:nvPr/>
        </p:nvSpPr>
        <p:spPr>
          <a:xfrm>
            <a:off x="609600" y="42037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4</a:t>
            </a:r>
          </a:p>
        </p:txBody>
      </p:sp>
      <p:sp>
        <p:nvSpPr>
          <p:cNvPr id="233" name="bt3"/>
          <p:cNvSpPr txBox="1">
            <a:spLocks noGrp="1"/>
          </p:cNvSpPr>
          <p:nvPr/>
        </p:nvSpPr>
        <p:spPr>
          <a:xfrm>
            <a:off x="1003300" y="40132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Design iterations documented</a:t>
            </a:r>
          </a:p>
          <a:p>
            <a:pPr marL="0" indent="0">
              <a:buNone/>
            </a:pPr>
            <a:r>
              <a:rPr lang="en-IN" sz="1400" dirty="0">
                <a:solidFill>
                  <a:srgbClr val="6B7890"/>
                </a:solidFill>
                <a:latin typeface="Calibri"/>
              </a:rPr>
              <a:t>Every revision captured in commits.</a:t>
            </a:r>
          </a:p>
        </p:txBody>
      </p:sp>
      <p:sp>
        <p:nvSpPr>
          <p:cNvPr id="243" name="rdiv3"/>
          <p:cNvSpPr>
            <a:spLocks noGrp="1"/>
          </p:cNvSpPr>
          <p:nvPr/>
        </p:nvSpPr>
        <p:spPr>
          <a:xfrm>
            <a:off x="546100" y="4762500"/>
            <a:ext cx="3632200" cy="12700"/>
          </a:xfrm>
          <a:prstGeom prst="rect">
            <a:avLst/>
          </a:prstGeom>
          <a:solidFill>
            <a:srgbClr val="E2E8F0"/>
          </a:solidFill>
          <a:ln>
            <a:noFill/>
          </a:ln>
        </p:spPr>
        <p:txBody>
          <a:bodyPr/>
          <a:lstStyle/>
          <a:p>
            <a:endParaRPr lang="en-US" dirty="0"/>
          </a:p>
        </p:txBody>
      </p:sp>
      <p:sp>
        <p:nvSpPr>
          <p:cNvPr id="204" name="rbg4"/>
          <p:cNvSpPr>
            <a:spLocks noGrp="1"/>
          </p:cNvSpPr>
          <p:nvPr/>
        </p:nvSpPr>
        <p:spPr>
          <a:xfrm>
            <a:off x="546100" y="4775200"/>
            <a:ext cx="3632200" cy="838200"/>
          </a:xfrm>
          <a:prstGeom prst="rect">
            <a:avLst/>
          </a:prstGeom>
          <a:solidFill>
            <a:srgbClr val="F8FAFC"/>
          </a:solidFill>
          <a:ln>
            <a:noFill/>
          </a:ln>
        </p:spPr>
        <p:txBody>
          <a:bodyPr/>
          <a:lstStyle/>
          <a:p>
            <a:endParaRPr lang="en-US" dirty="0"/>
          </a:p>
        </p:txBody>
      </p:sp>
      <p:sp>
        <p:nvSpPr>
          <p:cNvPr id="214" name="nc4"/>
          <p:cNvSpPr>
            <a:spLocks noGrp="1"/>
          </p:cNvSpPr>
          <p:nvPr/>
        </p:nvSpPr>
        <p:spPr>
          <a:xfrm>
            <a:off x="609600" y="5041900"/>
            <a:ext cx="304800" cy="304800"/>
          </a:xfrm>
          <a:prstGeom prst="ellipse">
            <a:avLst/>
          </a:prstGeom>
          <a:solidFill>
            <a:srgbClr val="0E96AC"/>
          </a:solidFill>
          <a:ln>
            <a:noFill/>
          </a:ln>
        </p:spPr>
        <p:txBody>
          <a:bodyPr/>
          <a:lstStyle/>
          <a:p>
            <a:endParaRPr lang="en-US" dirty="0"/>
          </a:p>
        </p:txBody>
      </p:sp>
      <p:sp>
        <p:nvSpPr>
          <p:cNvPr id="224" name="nct4"/>
          <p:cNvSpPr txBox="1">
            <a:spLocks noGrp="1"/>
          </p:cNvSpPr>
          <p:nvPr/>
        </p:nvSpPr>
        <p:spPr>
          <a:xfrm>
            <a:off x="609600" y="50419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5</a:t>
            </a:r>
          </a:p>
        </p:txBody>
      </p:sp>
      <p:sp>
        <p:nvSpPr>
          <p:cNvPr id="234" name="bt4"/>
          <p:cNvSpPr txBox="1">
            <a:spLocks noGrp="1"/>
          </p:cNvSpPr>
          <p:nvPr/>
        </p:nvSpPr>
        <p:spPr>
          <a:xfrm>
            <a:off x="1003300" y="48514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Progress tracking in place</a:t>
            </a:r>
          </a:p>
          <a:p>
            <a:pPr marL="0" indent="0">
              <a:buNone/>
            </a:pPr>
            <a:r>
              <a:rPr lang="en-IN" sz="1400" dirty="0">
                <a:solidFill>
                  <a:srgbClr val="6B7890"/>
                </a:solidFill>
                <a:latin typeface="Calibri"/>
              </a:rPr>
              <a:t>Milestones and issues logged.</a:t>
            </a:r>
          </a:p>
        </p:txBody>
      </p:sp>
      <p:sp>
        <p:nvSpPr>
          <p:cNvPr id="244" name="rdiv4"/>
          <p:cNvSpPr>
            <a:spLocks noGrp="1"/>
          </p:cNvSpPr>
          <p:nvPr/>
        </p:nvSpPr>
        <p:spPr>
          <a:xfrm>
            <a:off x="546100" y="5600700"/>
            <a:ext cx="3632200" cy="12700"/>
          </a:xfrm>
          <a:prstGeom prst="rect">
            <a:avLst/>
          </a:prstGeom>
          <a:solidFill>
            <a:srgbClr val="E2E8F0"/>
          </a:solidFill>
          <a:ln>
            <a:noFill/>
          </a:ln>
        </p:spPr>
        <p:txBody>
          <a:bodyPr/>
          <a:lstStyle/>
          <a:p>
            <a:endParaRPr lang="en-US" dirty="0"/>
          </a:p>
        </p:txBody>
      </p:sp>
      <p:sp>
        <p:nvSpPr>
          <p:cNvPr id="215" name="nc5"/>
          <p:cNvSpPr>
            <a:spLocks noGrp="1"/>
          </p:cNvSpPr>
          <p:nvPr/>
        </p:nvSpPr>
        <p:spPr>
          <a:xfrm>
            <a:off x="609600" y="5880100"/>
            <a:ext cx="304800" cy="304800"/>
          </a:xfrm>
          <a:prstGeom prst="ellipse">
            <a:avLst/>
          </a:prstGeom>
          <a:solidFill>
            <a:srgbClr val="0E96AC"/>
          </a:solidFill>
          <a:ln>
            <a:noFill/>
          </a:ln>
        </p:spPr>
        <p:txBody>
          <a:bodyPr/>
          <a:lstStyle/>
          <a:p>
            <a:endParaRPr lang="en-US" dirty="0"/>
          </a:p>
        </p:txBody>
      </p:sp>
      <p:sp>
        <p:nvSpPr>
          <p:cNvPr id="225" name="nct5"/>
          <p:cNvSpPr txBox="1">
            <a:spLocks noGrp="1"/>
          </p:cNvSpPr>
          <p:nvPr/>
        </p:nvSpPr>
        <p:spPr>
          <a:xfrm>
            <a:off x="609600" y="5880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6</a:t>
            </a:r>
          </a:p>
        </p:txBody>
      </p:sp>
      <p:sp>
        <p:nvSpPr>
          <p:cNvPr id="235" name="bt5"/>
          <p:cNvSpPr txBox="1">
            <a:spLocks noGrp="1"/>
          </p:cNvSpPr>
          <p:nvPr/>
        </p:nvSpPr>
        <p:spPr>
          <a:xfrm>
            <a:off x="1003300" y="5689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Team collaboration workflow</a:t>
            </a:r>
          </a:p>
          <a:p>
            <a:pPr marL="0" indent="0">
              <a:buNone/>
            </a:pPr>
            <a:r>
              <a:rPr lang="en-IN" sz="1400" dirty="0">
                <a:solidFill>
                  <a:srgbClr val="6B7890"/>
                </a:solidFill>
                <a:latin typeface="Calibri"/>
              </a:rPr>
              <a:t>Shared branches and pull requests.</a:t>
            </a:r>
          </a:p>
        </p:txBody>
      </p:sp>
      <p:sp>
        <p:nvSpPr>
          <p:cNvPr id="300" name="fr0"/>
          <p:cNvSpPr>
            <a:spLocks noGrp="1"/>
          </p:cNvSpPr>
          <p:nvPr/>
        </p:nvSpPr>
        <p:spPr>
          <a:xfrm>
            <a:off x="4406900" y="1409700"/>
            <a:ext cx="6176383" cy="2338618"/>
          </a:xfrm>
          <a:prstGeom prst="rect">
            <a:avLst/>
          </a:prstGeom>
          <a:solidFill>
            <a:srgbClr val="FFFFFF"/>
          </a:solidFill>
          <a:ln w="15875">
            <a:solidFill>
              <a:srgbClr val="0E96AC"/>
            </a:solidFill>
          </a:ln>
        </p:spPr>
        <p:txBody>
          <a:bodyPr/>
          <a:lstStyle/>
          <a:p>
            <a:endParaRPr lang="en-US" dirty="0"/>
          </a:p>
        </p:txBody>
      </p:sp>
      <p:sp>
        <p:nvSpPr>
          <p:cNvPr id="301" name="fr1"/>
          <p:cNvSpPr>
            <a:spLocks noGrp="1"/>
          </p:cNvSpPr>
          <p:nvPr/>
        </p:nvSpPr>
        <p:spPr>
          <a:xfrm>
            <a:off x="4343400" y="4102100"/>
            <a:ext cx="5164394" cy="1703848"/>
          </a:xfrm>
          <a:prstGeom prst="rect">
            <a:avLst/>
          </a:prstGeom>
          <a:solidFill>
            <a:srgbClr val="FFFFFF"/>
          </a:solidFill>
          <a:ln w="15875">
            <a:solidFill>
              <a:srgbClr val="0E96AC"/>
            </a:solidFill>
          </a:ln>
        </p:spPr>
        <p:txBody>
          <a:bodyPr/>
          <a:lstStyle/>
          <a:p>
            <a:endParaRPr lang="en-US" dirty="0"/>
          </a:p>
        </p:txBody>
      </p:sp>
      <p:pic>
        <p:nvPicPr>
          <p:cNvPr id="9" name="Picture 8" descr="Locomotion set too 2D forward sine curve movement.&#10;&#10;AI-generated content may be incorrect.">
            <a:extLst>
              <a:ext uri="{FF2B5EF4-FFF2-40B4-BE49-F238E27FC236}">
                <a16:creationId xmlns:a16="http://schemas.microsoft.com/office/drawing/2014/main" id="{ED2047AF-DB81-F6EB-B705-0BA0C0456025}"/>
              </a:ext>
            </a:extLst>
          </p:cNvPr>
          <p:cNvPicPr>
            <a:picLocks noChangeAspect="1"/>
          </p:cNvPicPr>
          <p:nvPr/>
        </p:nvPicPr>
        <p:blipFill>
          <a:blip r:embed="rId3"/>
          <a:stretch>
            <a:fillRect/>
          </a:stretch>
        </p:blipFill>
        <p:spPr>
          <a:xfrm>
            <a:off x="4419600" y="1461524"/>
            <a:ext cx="6150983" cy="2056376"/>
          </a:xfrm>
          <a:prstGeom prst="rect">
            <a:avLst/>
          </a:prstGeom>
        </p:spPr>
      </p:pic>
      <p:pic>
        <p:nvPicPr>
          <p:cNvPr id="5" name="Picture 4" descr="step&#10;&#10;AI-generated content may be incorrect.">
            <a:extLst>
              <a:ext uri="{FF2B5EF4-FFF2-40B4-BE49-F238E27FC236}">
                <a16:creationId xmlns:a16="http://schemas.microsoft.com/office/drawing/2014/main" id="{80777DB4-B751-FFD3-5E4E-49618F172697}"/>
              </a:ext>
            </a:extLst>
          </p:cNvPr>
          <p:cNvPicPr>
            <a:picLocks noChangeAspect="1"/>
          </p:cNvPicPr>
          <p:nvPr/>
        </p:nvPicPr>
        <p:blipFill>
          <a:blip r:embed="rId4"/>
          <a:stretch>
            <a:fillRect/>
          </a:stretch>
        </p:blipFill>
        <p:spPr>
          <a:xfrm>
            <a:off x="4356100" y="4110447"/>
            <a:ext cx="5139813" cy="1473200"/>
          </a:xfrm>
          <a:prstGeom prst="rect">
            <a:avLst/>
          </a:prstGeom>
        </p:spPr>
      </p:pic>
      <p:pic>
        <p:nvPicPr>
          <p:cNvPr id="7" name="Picture 6" descr="The image shows a collection of text documents and files related to Raspberry Pi setup and testing, including installation guides, hardware documentation, and various scripts and manuals.&#10;&#10;AI-generated content may be incorrect.">
            <a:extLst>
              <a:ext uri="{FF2B5EF4-FFF2-40B4-BE49-F238E27FC236}">
                <a16:creationId xmlns:a16="http://schemas.microsoft.com/office/drawing/2014/main" id="{95193EA5-352B-66B9-D1D8-D963F722885B}"/>
              </a:ext>
            </a:extLst>
          </p:cNvPr>
          <p:cNvPicPr>
            <a:picLocks noChangeAspect="1"/>
          </p:cNvPicPr>
          <p:nvPr/>
        </p:nvPicPr>
        <p:blipFill>
          <a:blip r:embed="rId5"/>
          <a:stretch>
            <a:fillRect/>
          </a:stretch>
        </p:blipFill>
        <p:spPr>
          <a:xfrm>
            <a:off x="9957620" y="3827640"/>
            <a:ext cx="1776053" cy="3017659"/>
          </a:xfrm>
          <a:prstGeom prst="rect">
            <a:avLst/>
          </a:prstGeom>
        </p:spPr>
      </p:pic>
      <p:sp>
        <p:nvSpPr>
          <p:cNvPr id="310" name="cov0"/>
          <p:cNvSpPr>
            <a:spLocks noGrp="1"/>
          </p:cNvSpPr>
          <p:nvPr/>
        </p:nvSpPr>
        <p:spPr>
          <a:xfrm>
            <a:off x="4406900" y="3512752"/>
            <a:ext cx="6176383" cy="235565"/>
          </a:xfrm>
          <a:prstGeom prst="rect">
            <a:avLst/>
          </a:prstGeom>
          <a:solidFill>
            <a:srgbClr val="16223A"/>
          </a:solidFill>
          <a:ln>
            <a:noFill/>
          </a:ln>
        </p:spPr>
        <p:txBody>
          <a:bodyPr/>
          <a:lstStyle/>
          <a:p>
            <a:endParaRPr lang="en-US" dirty="0"/>
          </a:p>
        </p:txBody>
      </p:sp>
      <p:sp>
        <p:nvSpPr>
          <p:cNvPr id="320" name="cap0"/>
          <p:cNvSpPr txBox="1">
            <a:spLocks noGrp="1"/>
          </p:cNvSpPr>
          <p:nvPr/>
        </p:nvSpPr>
        <p:spPr>
          <a:xfrm>
            <a:off x="4383386" y="3535937"/>
            <a:ext cx="6223410" cy="229624"/>
          </a:xfrm>
          <a:prstGeom prst="rect">
            <a:avLst/>
          </a:prstGeom>
          <a:noFill/>
          <a:ln>
            <a:noFill/>
          </a:ln>
        </p:spPr>
        <p:txBody>
          <a:bodyPr anchor="ctr">
            <a:normAutofit lnSpcReduction="10000"/>
          </a:bodyPr>
          <a:lstStyle/>
          <a:p>
            <a:pPr marL="0" indent="0">
              <a:buNone/>
            </a:pPr>
            <a:r>
              <a:rPr lang="en-IN" sz="1000" b="1" dirty="0">
                <a:solidFill>
                  <a:srgbClr val="FFFFFF"/>
                </a:solidFill>
                <a:latin typeface="Calibri"/>
              </a:rPr>
              <a:t>GitHub repository — project root &amp; structure</a:t>
            </a:r>
          </a:p>
        </p:txBody>
      </p:sp>
      <p:sp>
        <p:nvSpPr>
          <p:cNvPr id="311" name="cov1"/>
          <p:cNvSpPr>
            <a:spLocks noGrp="1"/>
          </p:cNvSpPr>
          <p:nvPr/>
        </p:nvSpPr>
        <p:spPr>
          <a:xfrm>
            <a:off x="4343400" y="5579192"/>
            <a:ext cx="5164394" cy="202304"/>
          </a:xfrm>
          <a:prstGeom prst="rect">
            <a:avLst/>
          </a:prstGeom>
          <a:solidFill>
            <a:srgbClr val="16223A"/>
          </a:solidFill>
          <a:ln>
            <a:noFill/>
          </a:ln>
        </p:spPr>
        <p:txBody>
          <a:bodyPr/>
          <a:lstStyle/>
          <a:p>
            <a:endParaRPr lang="en-US" dirty="0"/>
          </a:p>
        </p:txBody>
      </p:sp>
      <p:sp>
        <p:nvSpPr>
          <p:cNvPr id="321" name="cap1"/>
          <p:cNvSpPr txBox="1">
            <a:spLocks noGrp="1"/>
          </p:cNvSpPr>
          <p:nvPr/>
        </p:nvSpPr>
        <p:spPr>
          <a:xfrm>
            <a:off x="4318819" y="5543012"/>
            <a:ext cx="5177094" cy="271283"/>
          </a:xfrm>
          <a:prstGeom prst="rect">
            <a:avLst/>
          </a:prstGeom>
          <a:noFill/>
          <a:ln>
            <a:noFill/>
          </a:ln>
        </p:spPr>
        <p:txBody>
          <a:bodyPr anchor="ctr">
            <a:normAutofit/>
          </a:bodyPr>
          <a:lstStyle/>
          <a:p>
            <a:pPr marL="0" indent="0">
              <a:buNone/>
            </a:pPr>
            <a:r>
              <a:rPr lang="en-IN" sz="1000" b="1" dirty="0">
                <a:solidFill>
                  <a:srgbClr val="FFFFFF"/>
                </a:solidFill>
                <a:latin typeface="Calibri"/>
              </a:rPr>
              <a:t>Commit history — tracked iterations &amp; uploads</a:t>
            </a:r>
          </a:p>
        </p:txBody>
      </p:sp>
      <p:sp>
        <p:nvSpPr>
          <p:cNvPr id="330" name="arr0"/>
          <p:cNvSpPr>
            <a:spLocks noGrp="1"/>
          </p:cNvSpPr>
          <p:nvPr/>
        </p:nvSpPr>
        <p:spPr>
          <a:xfrm>
            <a:off x="7360879" y="3750647"/>
            <a:ext cx="355600" cy="266700"/>
          </a:xfrm>
          <a:prstGeom prst="downArrow">
            <a:avLst>
              <a:gd name="adj1" fmla="val 50000"/>
              <a:gd name="adj2" fmla="val 50000"/>
            </a:avLst>
          </a:prstGeom>
          <a:solidFill>
            <a:srgbClr val="0E96AC"/>
          </a:solidFill>
          <a:ln>
            <a:noFill/>
          </a:ln>
        </p:spPr>
        <p:txBody>
          <a:bodyPr/>
          <a:lstStyle/>
          <a:p>
            <a:endParaRPr lang="en-US" dirty="0"/>
          </a:p>
        </p:txBody>
      </p:sp>
      <p:sp>
        <p:nvSpPr>
          <p:cNvPr id="331" name="arr1"/>
          <p:cNvSpPr>
            <a:spLocks noGrp="1"/>
          </p:cNvSpPr>
          <p:nvPr/>
        </p:nvSpPr>
        <p:spPr>
          <a:xfrm rot="16200000">
            <a:off x="9554907" y="5036459"/>
            <a:ext cx="355600" cy="177800"/>
          </a:xfrm>
          <a:prstGeom prst="downArrow">
            <a:avLst>
              <a:gd name="adj1" fmla="val 50000"/>
              <a:gd name="adj2" fmla="val 50000"/>
            </a:avLst>
          </a:prstGeom>
          <a:solidFill>
            <a:srgbClr val="0E96AC"/>
          </a:solidFill>
          <a:ln>
            <a:noFill/>
          </a:ln>
        </p:spPr>
        <p:txBody>
          <a:bodyPr/>
          <a:lstStyle/>
          <a:p>
            <a:endParaRPr lang="en-US" dirty="0"/>
          </a:p>
        </p:txBody>
      </p:sp>
      <p:sp>
        <p:nvSpPr>
          <p:cNvPr id="340" name="gh_lbl"/>
          <p:cNvSpPr txBox="1">
            <a:spLocks noGrp="1"/>
          </p:cNvSpPr>
          <p:nvPr/>
        </p:nvSpPr>
        <p:spPr>
          <a:xfrm>
            <a:off x="4419600" y="1371600"/>
            <a:ext cx="3810000" cy="177800"/>
          </a:xfrm>
          <a:prstGeom prst="rect">
            <a:avLst/>
          </a:prstGeom>
          <a:noFill/>
          <a:ln>
            <a:noFill/>
          </a:ln>
        </p:spPr>
        <p:txBody>
          <a:bodyPr anchor="t">
            <a:normAutofit fontScale="70000" lnSpcReduction="20000"/>
          </a:bodyPr>
          <a:lstStyle/>
          <a:p>
            <a:pPr marL="0" indent="0">
              <a:buNone/>
            </a:pPr>
            <a:r>
              <a:rPr lang="en-IN" sz="900" b="1" spc="200" dirty="0">
                <a:solidFill>
                  <a:srgbClr val="0E96AC"/>
                </a:solidFill>
                <a:latin typeface="Calibri"/>
              </a:rPr>
              <a:t>GITHUB REPOSITORY SCREENSHOTS</a:t>
            </a:r>
          </a:p>
        </p:txBody>
      </p:sp>
      <p:sp>
        <p:nvSpPr>
          <p:cNvPr id="400" name="sum_strip"/>
          <p:cNvSpPr>
            <a:spLocks noGrp="1"/>
          </p:cNvSpPr>
          <p:nvPr/>
        </p:nvSpPr>
        <p:spPr>
          <a:xfrm>
            <a:off x="546100" y="6451600"/>
            <a:ext cx="3632200" cy="254000"/>
          </a:xfrm>
          <a:prstGeom prst="rect">
            <a:avLst/>
          </a:prstGeom>
          <a:solidFill>
            <a:srgbClr val="0E96AC"/>
          </a:solidFill>
          <a:ln>
            <a:noFill/>
          </a:ln>
        </p:spPr>
        <p:txBody>
          <a:bodyPr anchor="ctr"/>
          <a:lstStyle/>
          <a:p>
            <a:pPr algn="ctr">
              <a:buNone/>
            </a:pPr>
            <a:r>
              <a:rPr lang="en-IN" sz="900" b="1" dirty="0">
                <a:solidFill>
                  <a:srgbClr val="FFFFFF"/>
                </a:solidFill>
                <a:latin typeface="Calibri"/>
              </a:rPr>
              <a:t>✓ All milestones tracked in GitHub</a:t>
            </a:r>
          </a:p>
        </p:txBody>
      </p:sp>
    </p:spTree>
    <p:extLst>
      <p:ext uri="{BB962C8B-B14F-4D97-AF65-F5344CB8AC3E}">
        <p14:creationId xmlns:p14="http://schemas.microsoft.com/office/powerpoint/2010/main" val="78625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PROJECT TIMELINE</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Eight Phases · Currently at 25%</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Research &amp; Design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Completed</a:t>
            </a:r>
            <a:endParaRPr lang="en-US" sz="800" dirty="0"/>
          </a:p>
        </p:txBody>
      </p:sp>
      <p:sp>
        <p:nvSpPr>
          <p:cNvPr id="17" name="Shape 15"/>
          <p:cNvSpPr/>
          <p:nvPr/>
        </p:nvSpPr>
        <p:spPr>
          <a:xfrm>
            <a:off x="694944" y="3346704"/>
            <a:ext cx="347472" cy="347472"/>
          </a:xfrm>
          <a:prstGeom prst="ellipse">
            <a:avLst/>
          </a:prstGeom>
          <a:solidFill>
            <a:srgbClr val="12A678"/>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Hardware Procurement</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In progress</a:t>
            </a:r>
            <a:endParaRPr lang="en-US" sz="800" dirty="0"/>
          </a:p>
        </p:txBody>
      </p:sp>
      <p:sp>
        <p:nvSpPr>
          <p:cNvPr id="24" name="Shape 22"/>
          <p:cNvSpPr/>
          <p:nvPr/>
        </p:nvSpPr>
        <p:spPr>
          <a:xfrm>
            <a:off x="2190641" y="3346704"/>
            <a:ext cx="347472" cy="347472"/>
          </a:xfrm>
          <a:prstGeom prst="ellipse">
            <a:avLst/>
          </a:prstGeom>
          <a:solidFill>
            <a:srgbClr val="E08A1E"/>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Mechanical Assembly</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Up next</a:t>
            </a:r>
            <a:endParaRPr lang="en-US" sz="800" dirty="0"/>
          </a:p>
        </p:txBody>
      </p:sp>
      <p:sp>
        <p:nvSpPr>
          <p:cNvPr id="31" name="Shape 29"/>
          <p:cNvSpPr/>
          <p:nvPr/>
        </p:nvSpPr>
        <p:spPr>
          <a:xfrm>
            <a:off x="3686338" y="3346704"/>
            <a:ext cx="347472" cy="347472"/>
          </a:xfrm>
          <a:prstGeom prst="ellipse">
            <a:avLst/>
          </a:prstGeom>
          <a:solidFill>
            <a:srgbClr val="0E96AC"/>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Motor Integration</a:t>
            </a:r>
            <a:endParaRPr lang="en-US" sz="1050" dirty="0"/>
          </a:p>
        </p:txBody>
      </p:sp>
      <p:sp>
        <p:nvSpPr>
          <p:cNvPr id="37" name="Shape 35"/>
          <p:cNvSpPr/>
          <p:nvPr/>
        </p:nvSpPr>
        <p:spPr>
          <a:xfrm>
            <a:off x="5182035" y="3346704"/>
            <a:ext cx="347472" cy="347472"/>
          </a:xfrm>
          <a:prstGeom prst="ellipse">
            <a:avLst/>
          </a:prstGeom>
          <a:solidFill>
            <a:srgbClr val="E2E8F0"/>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Control Algorithms</a:t>
            </a:r>
            <a:endParaRPr lang="en-US" sz="1050" dirty="0"/>
          </a:p>
        </p:txBody>
      </p:sp>
      <p:sp>
        <p:nvSpPr>
          <p:cNvPr id="43" name="Shape 41"/>
          <p:cNvSpPr/>
          <p:nvPr/>
        </p:nvSpPr>
        <p:spPr>
          <a:xfrm>
            <a:off x="6677733" y="3346704"/>
            <a:ext cx="347472" cy="347472"/>
          </a:xfrm>
          <a:prstGeom prst="ellipse">
            <a:avLst/>
          </a:prstGeom>
          <a:solidFill>
            <a:srgbClr val="E2E8F0"/>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Sensor Integration</a:t>
            </a:r>
            <a:endParaRPr lang="en-US" sz="1050" dirty="0"/>
          </a:p>
        </p:txBody>
      </p:sp>
      <p:sp>
        <p:nvSpPr>
          <p:cNvPr id="49" name="Shape 47"/>
          <p:cNvSpPr/>
          <p:nvPr/>
        </p:nvSpPr>
        <p:spPr>
          <a:xfrm>
            <a:off x="8173430" y="3346704"/>
            <a:ext cx="347472" cy="347472"/>
          </a:xfrm>
          <a:prstGeom prst="ellipse">
            <a:avLst/>
          </a:prstGeom>
          <a:solidFill>
            <a:srgbClr val="E2E8F0"/>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Testing &amp; Optimisation</a:t>
            </a:r>
            <a:endParaRPr lang="en-US" sz="1050" dirty="0"/>
          </a:p>
        </p:txBody>
      </p:sp>
      <p:sp>
        <p:nvSpPr>
          <p:cNvPr id="55" name="Shape 53"/>
          <p:cNvSpPr/>
          <p:nvPr/>
        </p:nvSpPr>
        <p:spPr>
          <a:xfrm>
            <a:off x="9669127" y="3346704"/>
            <a:ext cx="347472" cy="347472"/>
          </a:xfrm>
          <a:prstGeom prst="ellipse">
            <a:avLst/>
          </a:prstGeom>
          <a:solidFill>
            <a:srgbClr val="E2E8F0"/>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2E8F0"/>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1632857" y="5394960"/>
            <a:ext cx="1691640" cy="457200"/>
          </a:xfrm>
          <a:prstGeom prst="roundRect">
            <a:avLst>
              <a:gd name="adj" fmla="val 50000"/>
            </a:avLst>
          </a:prstGeom>
          <a:solidFill>
            <a:srgbClr val="16223A"/>
          </a:solidFill>
          <a:ln/>
        </p:spPr>
      </p:sp>
      <p:sp>
        <p:nvSpPr>
          <p:cNvPr id="64" name="Text 62"/>
          <p:cNvSpPr/>
          <p:nvPr/>
        </p:nvSpPr>
        <p:spPr>
          <a:xfrm>
            <a:off x="1632857"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CURRENT ACHIEVEMENTS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Concrete Wins in Quarter One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0E96AC"/>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Architecture finalized</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System block diagram locked.</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2A678"/>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CAD design completed</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Segment modelled to motor specs.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08A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Prototype fabrication started</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Two segments printed &amp; checked.</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0E96AC"/>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Pi environment established</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OS, network and tooling ready.</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2A678"/>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GitHub workflow operational</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Version control and docs live.</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08A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Procurement initiated</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Core compute received; rest ordered.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10" name="TopBar"/>
          <p:cNvSpPr>
            <a:spLocks noGrp="1"/>
          </p:cNvSpPr>
          <p:nvPr/>
        </p:nvSpPr>
        <p:spPr>
          <a:xfrm>
            <a:off x="0" y="0"/>
            <a:ext cx="12192000" cy="76200"/>
          </a:xfrm>
          <a:prstGeom prst="rect">
            <a:avLst/>
          </a:prstGeom>
          <a:solidFill>
            <a:srgbClr val="0E96AC"/>
          </a:solidFill>
          <a:ln>
            <a:noFill/>
          </a:ln>
        </p:spPr>
        <p:txBody>
          <a:bodyPr/>
          <a:lstStyle/>
          <a:p>
            <a:endParaRPr/>
          </a:p>
        </p:txBody>
      </p:sp>
      <p:sp>
        <p:nvSpPr>
          <p:cNvPr id="11" name="Eyebrow"/>
          <p:cNvSpPr>
            <a:spLocks noGrp="1"/>
          </p:cNvSpPr>
          <p:nvPr/>
        </p:nvSpPr>
        <p:spPr>
          <a:xfrm>
            <a:off x="533400" y="177800"/>
            <a:ext cx="8890000" cy="228600"/>
          </a:xfrm>
          <a:prstGeom prst="rect">
            <a:avLst/>
          </a:prstGeom>
          <a:noFill/>
          <a:ln>
            <a:noFill/>
          </a:ln>
        </p:spPr>
        <p:txBody>
          <a:bodyPr/>
          <a:lstStyle/>
          <a:p>
            <a:pPr marL="0" indent="0" algn="l">
              <a:buNone/>
            </a:pPr>
            <a:r>
              <a:rPr lang="en-IN" sz="1100" b="1" dirty="0">
                <a:solidFill>
                  <a:srgbClr val="0E96AC"/>
                </a:solidFill>
                <a:latin typeface="Calibri" pitchFamily="34" charset="0"/>
              </a:rPr>
              <a:t>SIMULATION &amp; VALIDATION</a:t>
            </a:r>
          </a:p>
        </p:txBody>
      </p:sp>
      <p:sp>
        <p:nvSpPr>
          <p:cNvPr id="12" name="AccentLine"/>
          <p:cNvSpPr>
            <a:spLocks noGrp="1"/>
          </p:cNvSpPr>
          <p:nvPr/>
        </p:nvSpPr>
        <p:spPr>
          <a:xfrm>
            <a:off x="533400" y="431800"/>
            <a:ext cx="11125200" cy="12700"/>
          </a:xfrm>
          <a:prstGeom prst="rect">
            <a:avLst/>
          </a:prstGeom>
          <a:solidFill>
            <a:srgbClr val="0E96AC"/>
          </a:solidFill>
          <a:ln>
            <a:noFill/>
          </a:ln>
        </p:spPr>
        <p:txBody>
          <a:bodyPr/>
          <a:lstStyle/>
          <a:p>
            <a:endParaRPr/>
          </a:p>
        </p:txBody>
      </p:sp>
      <p:sp>
        <p:nvSpPr>
          <p:cNvPr id="13" name="MainTitle"/>
          <p:cNvSpPr>
            <a:spLocks noGrp="1"/>
          </p:cNvSpPr>
          <p:nvPr/>
        </p:nvSpPr>
        <p:spPr>
          <a:xfrm>
            <a:off x="533400" y="508000"/>
            <a:ext cx="10160000" cy="508000"/>
          </a:xfrm>
          <a:prstGeom prst="rect">
            <a:avLst/>
          </a:prstGeom>
          <a:noFill/>
          <a:ln>
            <a:noFill/>
          </a:ln>
        </p:spPr>
        <p:txBody>
          <a:bodyPr/>
          <a:lstStyle/>
          <a:p>
            <a:pPr marL="0" indent="0" algn="l">
              <a:buNone/>
            </a:pPr>
            <a:r>
              <a:rPr lang="en-IN" sz="2400" b="1" dirty="0">
                <a:solidFill>
                  <a:srgbClr val="16223A"/>
                </a:solidFill>
                <a:latin typeface="Calibri" pitchFamily="34" charset="0"/>
              </a:rPr>
              <a:t>Simulation-Based Validation of Control Architecture</a:t>
            </a:r>
          </a:p>
        </p:txBody>
      </p:sp>
      <p:pic>
        <p:nvPicPr>
          <p:cNvPr id="2" name="Picture 1">
            <a:extLst>
              <a:ext uri="{FF2B5EF4-FFF2-40B4-BE49-F238E27FC236}">
                <a16:creationId xmlns:a16="http://schemas.microsoft.com/office/drawing/2014/main" id="{FF57F7DB-A372-8BEE-AF61-AC58FDC57F17}"/>
              </a:ext>
            </a:extLst>
          </p:cNvPr>
          <p:cNvPicPr>
            <a:picLocks noChangeAspect="1"/>
          </p:cNvPicPr>
          <p:nvPr/>
        </p:nvPicPr>
        <p:blipFill>
          <a:blip r:embed="rId2"/>
          <a:stretch>
            <a:fillRect/>
          </a:stretch>
        </p:blipFill>
        <p:spPr>
          <a:xfrm>
            <a:off x="533400" y="1270000"/>
            <a:ext cx="6350000" cy="4772421"/>
          </a:xfrm>
          <a:prstGeom prst="rect">
            <a:avLst/>
          </a:prstGeom>
        </p:spPr>
      </p:pic>
      <p:sp>
        <p:nvSpPr>
          <p:cNvPr id="3" name="ImgFrame">
            <a:extLst>
              <a:ext uri="{FF2B5EF4-FFF2-40B4-BE49-F238E27FC236}">
                <a16:creationId xmlns:a16="http://schemas.microsoft.com/office/drawing/2014/main" id="{4BAB2F69-E5D7-47C1-A740-AD4ADA6781C8}"/>
              </a:ext>
            </a:extLst>
          </p:cNvPr>
          <p:cNvSpPr/>
          <p:nvPr/>
        </p:nvSpPr>
        <p:spPr>
          <a:xfrm>
            <a:off x="520700" y="1257300"/>
            <a:ext cx="6375400" cy="4800600"/>
          </a:xfrm>
          <a:prstGeom prst="rect">
            <a:avLst/>
          </a:prstGeom>
          <a:no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Caption">
            <a:extLst>
              <a:ext uri="{FF2B5EF4-FFF2-40B4-BE49-F238E27FC236}">
                <a16:creationId xmlns:a16="http://schemas.microsoft.com/office/drawing/2014/main" id="{0A70087A-913A-4173-8A2B-10264A92E2F2}"/>
              </a:ext>
            </a:extLst>
          </p:cNvPr>
          <p:cNvSpPr txBox="1"/>
          <p:nvPr/>
        </p:nvSpPr>
        <p:spPr>
          <a:xfrm>
            <a:off x="533400" y="6121400"/>
            <a:ext cx="6350000" cy="584200"/>
          </a:xfrm>
          <a:prstGeom prst="rect">
            <a:avLst/>
          </a:prstGeom>
          <a:noFill/>
        </p:spPr>
        <p:txBody>
          <a:bodyPr vertOverflow="overflow" vert="horz" wrap="square" rtlCol="0" anchor="t" anchorCtr="0">
            <a:spAutoFit/>
          </a:bodyPr>
          <a:lstStyle/>
          <a:p>
            <a:pPr algn="l"/>
            <a:r>
              <a:rPr lang="en-US" sz="1050" i="1">
                <a:solidFill>
                  <a:srgbClr val="6B7280"/>
                </a:solidFill>
                <a:latin typeface="Calibri"/>
                <a:ea typeface="Calibri"/>
                <a:cs typeface="Calibri"/>
              </a:rPr>
              <a:t>Wokwi-based simulation environment developed to validate locomotion control, sensor integration, and communication architecture before physical Dynamixel hardware arrival.</a:t>
            </a:r>
            <a:endParaRPr lang="en-IN" sz="1050" i="1">
              <a:solidFill>
                <a:srgbClr val="6B7280"/>
              </a:solidFill>
              <a:latin typeface="Calibri"/>
              <a:ea typeface="Calibri"/>
              <a:cs typeface="Calibri"/>
            </a:endParaRPr>
          </a:p>
        </p:txBody>
      </p:sp>
      <p:sp>
        <p:nvSpPr>
          <p:cNvPr id="5" name="ColSep">
            <a:extLst>
              <a:ext uri="{FF2B5EF4-FFF2-40B4-BE49-F238E27FC236}">
                <a16:creationId xmlns:a16="http://schemas.microsoft.com/office/drawing/2014/main" id="{F4B4824F-43FB-40F3-A930-950484DEE059}"/>
              </a:ext>
            </a:extLst>
          </p:cNvPr>
          <p:cNvSpPr/>
          <p:nvPr/>
        </p:nvSpPr>
        <p:spPr>
          <a:xfrm>
            <a:off x="7010400" y="1219200"/>
            <a:ext cx="12700" cy="5486400"/>
          </a:xfrm>
          <a:prstGeom prst="rect">
            <a:avLst/>
          </a:prstGeom>
          <a:solidFill>
            <a:srgbClr val="D0D7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ObjBar">
            <a:extLst>
              <a:ext uri="{FF2B5EF4-FFF2-40B4-BE49-F238E27FC236}">
                <a16:creationId xmlns:a16="http://schemas.microsoft.com/office/drawing/2014/main" id="{178EDC1E-CA49-4444-807D-C176B8B794B6}"/>
              </a:ext>
            </a:extLst>
          </p:cNvPr>
          <p:cNvSpPr/>
          <p:nvPr/>
        </p:nvSpPr>
        <p:spPr>
          <a:xfrm>
            <a:off x="7112000" y="1270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SIMULATION OBJECTIVE</a:t>
            </a:r>
          </a:p>
        </p:txBody>
      </p:sp>
      <p:sp>
        <p:nvSpPr>
          <p:cNvPr id="7" name="ObjText">
            <a:extLst>
              <a:ext uri="{FF2B5EF4-FFF2-40B4-BE49-F238E27FC236}">
                <a16:creationId xmlns:a16="http://schemas.microsoft.com/office/drawing/2014/main" id="{AB2E6402-3A0B-4197-BB71-81ED271D7DB2}"/>
              </a:ext>
            </a:extLst>
          </p:cNvPr>
          <p:cNvSpPr txBox="1"/>
          <p:nvPr/>
        </p:nvSpPr>
        <p:spPr>
          <a:xfrm>
            <a:off x="7112000" y="1549400"/>
            <a:ext cx="4546600" cy="812800"/>
          </a:xfrm>
          <a:prstGeom prst="rect">
            <a:avLst/>
          </a:prstGeom>
          <a:noFill/>
        </p:spPr>
        <p:txBody>
          <a:bodyPr vertOverflow="overflow" vert="horz" wrap="square" rtlCol="0" anchor="t" anchorCtr="0">
            <a:spAutoFit/>
          </a:bodyPr>
          <a:lstStyle/>
          <a:p>
            <a:pPr algn="l"/>
            <a:r>
              <a:rPr lang="en-US" sz="1050">
                <a:solidFill>
                  <a:srgbClr val="16223A"/>
                </a:solidFill>
                <a:latin typeface="Calibri"/>
                <a:ea typeface="Calibri"/>
                <a:cs typeface="Calibri"/>
              </a:rPr>
              <a:t>A virtual testing platform to validate the control architecture before Dynamixel actuators and communication hardware arrive — enabling software development, algorithm verification, and sensor integration in parallel with procurement.</a:t>
            </a:r>
            <a:endParaRPr lang="en-IN" sz="1050">
              <a:solidFill>
                <a:srgbClr val="16223A"/>
              </a:solidFill>
              <a:latin typeface="Calibri"/>
              <a:ea typeface="Calibri"/>
              <a:cs typeface="Calibri"/>
            </a:endParaRPr>
          </a:p>
        </p:txBody>
      </p:sp>
      <p:sp>
        <p:nvSpPr>
          <p:cNvPr id="8" name="CompBar">
            <a:extLst>
              <a:ext uri="{FF2B5EF4-FFF2-40B4-BE49-F238E27FC236}">
                <a16:creationId xmlns:a16="http://schemas.microsoft.com/office/drawing/2014/main" id="{13A72280-DA83-4A91-A182-E29B80090FB4}"/>
              </a:ext>
            </a:extLst>
          </p:cNvPr>
          <p:cNvSpPr/>
          <p:nvPr/>
        </p:nvSpPr>
        <p:spPr>
          <a:xfrm>
            <a:off x="7112000" y="2413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COMPONENTS SIMULATED</a:t>
            </a:r>
          </a:p>
        </p:txBody>
      </p:sp>
      <p:pic>
        <p:nvPicPr>
          <p:cNvPr id="14" name="Graphic 14" descr="Controll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0600" y="2743200"/>
            <a:ext cx="330200" cy="330200"/>
          </a:xfrm>
          <a:prstGeom prst="rect">
            <a:avLst/>
          </a:prstGeom>
        </p:spPr>
      </p:pic>
      <p:pic>
        <p:nvPicPr>
          <p:cNvPr id="15" name="Graphic 15" descr="Sensor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3600" y="2743200"/>
            <a:ext cx="330200" cy="330200"/>
          </a:xfrm>
          <a:prstGeom prst="rect">
            <a:avLst/>
          </a:prstGeom>
        </p:spPr>
      </p:pic>
      <p:pic>
        <p:nvPicPr>
          <p:cNvPr id="16" name="Graphic 16" descr="Displa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26600" y="2743200"/>
            <a:ext cx="330200" cy="330200"/>
          </a:xfrm>
          <a:prstGeom prst="rect">
            <a:avLst/>
          </a:prstGeom>
        </p:spPr>
      </p:pic>
      <p:pic>
        <p:nvPicPr>
          <p:cNvPr id="17" name="Graphic 17" descr="Actuator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69600" y="2743200"/>
            <a:ext cx="330200" cy="330200"/>
          </a:xfrm>
          <a:prstGeom prst="rect">
            <a:avLst/>
          </a:prstGeom>
        </p:spPr>
      </p:pic>
      <p:sp>
        <p:nvSpPr>
          <p:cNvPr id="9" name="TextBox 8">
            <a:extLst>
              <a:ext uri="{FF2B5EF4-FFF2-40B4-BE49-F238E27FC236}">
                <a16:creationId xmlns:a16="http://schemas.microsoft.com/office/drawing/2014/main" id="{F14FDCAF-EA1B-4688-86EC-4FDF39171679}"/>
              </a:ext>
            </a:extLst>
          </p:cNvPr>
          <p:cNvSpPr txBox="1"/>
          <p:nvPr/>
        </p:nvSpPr>
        <p:spPr>
          <a:xfrm>
            <a:off x="6946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Controller</a:t>
            </a:r>
          </a:p>
        </p:txBody>
      </p:sp>
      <p:sp>
        <p:nvSpPr>
          <p:cNvPr id="18" name="TextBox 17">
            <a:extLst>
              <a:ext uri="{FF2B5EF4-FFF2-40B4-BE49-F238E27FC236}">
                <a16:creationId xmlns:a16="http://schemas.microsoft.com/office/drawing/2014/main" id="{BCAC9736-26F2-4544-A0F4-600AE742E3F5}"/>
              </a:ext>
            </a:extLst>
          </p:cNvPr>
          <p:cNvSpPr txBox="1"/>
          <p:nvPr/>
        </p:nvSpPr>
        <p:spPr>
          <a:xfrm>
            <a:off x="8089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Sensors</a:t>
            </a:r>
          </a:p>
        </p:txBody>
      </p:sp>
      <p:sp>
        <p:nvSpPr>
          <p:cNvPr id="19" name="TextBox 18">
            <a:extLst>
              <a:ext uri="{FF2B5EF4-FFF2-40B4-BE49-F238E27FC236}">
                <a16:creationId xmlns:a16="http://schemas.microsoft.com/office/drawing/2014/main" id="{73C8DB26-9565-46C7-9618-2E76312967B5}"/>
              </a:ext>
            </a:extLst>
          </p:cNvPr>
          <p:cNvSpPr txBox="1"/>
          <p:nvPr/>
        </p:nvSpPr>
        <p:spPr>
          <a:xfrm>
            <a:off x="9232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Display</a:t>
            </a:r>
          </a:p>
        </p:txBody>
      </p:sp>
      <p:sp>
        <p:nvSpPr>
          <p:cNvPr id="20" name="TextBox 19">
            <a:extLst>
              <a:ext uri="{FF2B5EF4-FFF2-40B4-BE49-F238E27FC236}">
                <a16:creationId xmlns:a16="http://schemas.microsoft.com/office/drawing/2014/main" id="{943EA61A-F56F-4D25-A1D6-D7B8CDF5A8FC}"/>
              </a:ext>
            </a:extLst>
          </p:cNvPr>
          <p:cNvSpPr txBox="1"/>
          <p:nvPr/>
        </p:nvSpPr>
        <p:spPr>
          <a:xfrm>
            <a:off x="10375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Actuators</a:t>
            </a:r>
          </a:p>
        </p:txBody>
      </p:sp>
      <p:sp>
        <p:nvSpPr>
          <p:cNvPr id="21" name="CompSub">
            <a:extLst>
              <a:ext uri="{FF2B5EF4-FFF2-40B4-BE49-F238E27FC236}">
                <a16:creationId xmlns:a16="http://schemas.microsoft.com/office/drawing/2014/main" id="{E9BA4A95-644D-43CC-86B7-250148BF0C59}"/>
              </a:ext>
            </a:extLst>
          </p:cNvPr>
          <p:cNvSpPr txBox="1"/>
          <p:nvPr/>
        </p:nvSpPr>
        <p:spPr>
          <a:xfrm>
            <a:off x="7112000" y="3327400"/>
            <a:ext cx="4546600" cy="330200"/>
          </a:xfrm>
          <a:prstGeom prst="rect">
            <a:avLst/>
          </a:prstGeom>
          <a:noFill/>
        </p:spPr>
        <p:txBody>
          <a:bodyPr vertOverflow="overflow" vert="horz" wrap="square" rtlCol="0" anchor="t" anchorCtr="0">
            <a:spAutoFit/>
          </a:bodyPr>
          <a:lstStyle/>
          <a:p>
            <a:pPr algn="l"/>
            <a:r>
              <a:rPr lang="en-IN" sz="900" i="1">
                <a:solidFill>
                  <a:srgbClr val="6B7280"/>
                </a:solidFill>
                <a:latin typeface="Calibri"/>
                <a:ea typeface="Calibri"/>
                <a:cs typeface="Calibri"/>
              </a:rPr>
              <a:t>ESP32 · 5-Servo joint network · MPU6050 IMU · HC-SR04 ultrasonic · SSD1306 OLED · control &amp; communication framework</a:t>
            </a:r>
          </a:p>
        </p:txBody>
      </p:sp>
      <p:sp>
        <p:nvSpPr>
          <p:cNvPr id="22" name="ValBar">
            <a:extLst>
              <a:ext uri="{FF2B5EF4-FFF2-40B4-BE49-F238E27FC236}">
                <a16:creationId xmlns:a16="http://schemas.microsoft.com/office/drawing/2014/main" id="{969CB65F-F6A4-423C-A59B-AAE9CC13FF12}"/>
              </a:ext>
            </a:extLst>
          </p:cNvPr>
          <p:cNvSpPr/>
          <p:nvPr/>
        </p:nvSpPr>
        <p:spPr>
          <a:xfrm>
            <a:off x="7112000" y="37084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FUNCTIONAL VALIDATION COMPLETED</a:t>
            </a:r>
          </a:p>
        </p:txBody>
      </p:sp>
      <p:sp>
        <p:nvSpPr>
          <p:cNvPr id="23" name="BenBar">
            <a:extLst>
              <a:ext uri="{FF2B5EF4-FFF2-40B4-BE49-F238E27FC236}">
                <a16:creationId xmlns:a16="http://schemas.microsoft.com/office/drawing/2014/main" id="{17226090-79FF-4BDE-85B8-E78705648C85}"/>
              </a:ext>
            </a:extLst>
          </p:cNvPr>
          <p:cNvSpPr/>
          <p:nvPr/>
        </p:nvSpPr>
        <p:spPr>
          <a:xfrm>
            <a:off x="7112000" y="52832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ENGINEERING BENEFITS</a:t>
            </a:r>
          </a:p>
        </p:txBody>
      </p:sp>
      <p:sp>
        <p:nvSpPr>
          <p:cNvPr id="24" name="ValList">
            <a:extLst>
              <a:ext uri="{FF2B5EF4-FFF2-40B4-BE49-F238E27FC236}">
                <a16:creationId xmlns:a16="http://schemas.microsoft.com/office/drawing/2014/main" id="{8F2F53C0-A6EB-4C72-B492-9B0DAB6755D0}"/>
              </a:ext>
            </a:extLst>
          </p:cNvPr>
          <p:cNvSpPr txBox="1"/>
          <p:nvPr/>
        </p:nvSpPr>
        <p:spPr>
          <a:xfrm>
            <a:off x="7112000" y="3987800"/>
            <a:ext cx="4546600" cy="1244600"/>
          </a:xfrm>
          <a:prstGeom prst="rect">
            <a:avLst/>
          </a:prstGeom>
          <a:noFill/>
        </p:spPr>
        <p:txBody>
          <a:bodyPr vertOverflow="overflow" vert="horz" wrap="square" rtlCol="0" anchor="t" anchorCtr="0">
            <a:noAutofit/>
          </a:bodyPr>
          <a:lstStyle/>
          <a:p>
            <a:pPr marL="170000" indent="-170000">
              <a:lnSpc>
                <a:spcPts val="1380"/>
              </a:lnSpc>
              <a:spcAft>
                <a:spcPts val="200"/>
              </a:spcAft>
              <a:buClr>
                <a:srgbClr val="1F9D55"/>
              </a:buClr>
              <a:buFont typeface="Arial"/>
              <a:buChar char="✓"/>
            </a:pPr>
            <a:r>
              <a:rPr lang="en-IN" sz="1000" dirty="0">
                <a:solidFill>
                  <a:srgbClr val="16223A"/>
                </a:solidFill>
                <a:latin typeface="Calibri"/>
              </a:rPr>
              <a:t>Multi-joint servo coordination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Travelling-wave serpentine gait generation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Obstacle detection via ultrasonic sensing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IMU integration for orientation feedback</a:t>
            </a:r>
          </a:p>
          <a:p>
            <a:pPr marL="170000" indent="-170000">
              <a:lnSpc>
                <a:spcPts val="1380"/>
              </a:lnSpc>
              <a:spcAft>
                <a:spcPts val="200"/>
              </a:spcAft>
              <a:buClr>
                <a:srgbClr val="1F9D55"/>
              </a:buClr>
              <a:buFont typeface="Arial"/>
              <a:buChar char="✓"/>
            </a:pPr>
            <a:r>
              <a:rPr lang="en-IN" sz="1000" dirty="0">
                <a:solidFill>
                  <a:srgbClr val="16223A"/>
                </a:solidFill>
                <a:latin typeface="Calibri"/>
              </a:rPr>
              <a:t>OLED-based system status monitoring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Sensor–controller–actuator communication</a:t>
            </a:r>
          </a:p>
        </p:txBody>
      </p:sp>
      <p:sp>
        <p:nvSpPr>
          <p:cNvPr id="25" name="BenList">
            <a:extLst>
              <a:ext uri="{FF2B5EF4-FFF2-40B4-BE49-F238E27FC236}">
                <a16:creationId xmlns:a16="http://schemas.microsoft.com/office/drawing/2014/main" id="{FF6D1A2A-EA57-464C-91D6-7133350B2A9C}"/>
              </a:ext>
            </a:extLst>
          </p:cNvPr>
          <p:cNvSpPr txBox="1"/>
          <p:nvPr/>
        </p:nvSpPr>
        <p:spPr>
          <a:xfrm>
            <a:off x="7112000" y="5562600"/>
            <a:ext cx="4546600" cy="609600"/>
          </a:xfrm>
          <a:prstGeom prst="rect">
            <a:avLst/>
          </a:prstGeom>
          <a:noFill/>
        </p:spPr>
        <p:txBody>
          <a:bodyPr vertOverflow="overflow" vert="horz" wrap="square" rtlCol="0" anchor="t" anchorCtr="0">
            <a:noAutofit/>
          </a:bodyPr>
          <a:lstStyle/>
          <a:p>
            <a:pPr marL="150000" indent="-150000">
              <a:lnSpc>
                <a:spcPts val="1180"/>
              </a:lnSpc>
              <a:spcAft>
                <a:spcPts val="150"/>
              </a:spcAft>
              <a:buFont typeface="Arial"/>
              <a:buChar char="•"/>
            </a:pPr>
            <a:r>
              <a:rPr lang="en-IN" sz="950" dirty="0">
                <a:solidFill>
                  <a:srgbClr val="16223A"/>
                </a:solidFill>
                <a:latin typeface="Calibri"/>
              </a:rPr>
              <a:t>Reduced dependence on hardware delivery timelines</a:t>
            </a:r>
          </a:p>
          <a:p>
            <a:pPr marL="150000" indent="-150000">
              <a:lnSpc>
                <a:spcPts val="1180"/>
              </a:lnSpc>
              <a:spcAft>
                <a:spcPts val="150"/>
              </a:spcAft>
              <a:buFont typeface="Arial"/>
              <a:buChar char="•"/>
            </a:pPr>
            <a:r>
              <a:rPr lang="en-IN" sz="950" dirty="0">
                <a:solidFill>
                  <a:srgbClr val="16223A"/>
                </a:solidFill>
                <a:latin typeface="Calibri"/>
              </a:rPr>
              <a:t>Enabled early software debugging &amp; control-architecture verification</a:t>
            </a:r>
          </a:p>
          <a:p>
            <a:pPr marL="150000" indent="-150000">
              <a:lnSpc>
                <a:spcPts val="1180"/>
              </a:lnSpc>
              <a:spcAft>
                <a:spcPts val="150"/>
              </a:spcAft>
              <a:buFont typeface="Arial"/>
              <a:buChar char="•"/>
            </a:pPr>
            <a:r>
              <a:rPr lang="en-IN" sz="950" dirty="0">
                <a:solidFill>
                  <a:srgbClr val="16223A"/>
                </a:solidFill>
                <a:latin typeface="Calibri"/>
              </a:rPr>
              <a:t>Established migration path to Raspberry Pi 5 + Dynamixel XL330, reducing integration risk</a:t>
            </a:r>
          </a:p>
        </p:txBody>
      </p:sp>
      <p:sp>
        <p:nvSpPr>
          <p:cNvPr id="26" name="OutcomeBox">
            <a:extLst>
              <a:ext uri="{FF2B5EF4-FFF2-40B4-BE49-F238E27FC236}">
                <a16:creationId xmlns:a16="http://schemas.microsoft.com/office/drawing/2014/main" id="{A1111AB1-B2DD-4A6B-94F7-1E0F10B973B3}"/>
              </a:ext>
            </a:extLst>
          </p:cNvPr>
          <p:cNvSpPr/>
          <p:nvPr/>
        </p:nvSpPr>
        <p:spPr>
          <a:xfrm>
            <a:off x="7112000" y="6248400"/>
            <a:ext cx="4546600" cy="508000"/>
          </a:xfrm>
          <a:prstGeom prst="rect">
            <a:avLst/>
          </a:prstGeom>
          <a:solidFill>
            <a:srgbClr val="EAF7FA"/>
          </a:solid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buNone/>
            </a:pPr>
            <a:r>
              <a:rPr lang="en-IN" sz="950" b="1" dirty="0">
                <a:solidFill>
                  <a:srgbClr val="0A7A8E"/>
                </a:solidFill>
                <a:latin typeface="Calibri"/>
              </a:rPr>
              <a:t>KEY OUTCOME  </a:t>
            </a:r>
            <a:r>
              <a:rPr lang="en-IN" sz="950" dirty="0">
                <a:solidFill>
                  <a:srgbClr val="16223A"/>
                </a:solidFill>
                <a:latin typeface="Calibri"/>
              </a:rPr>
              <a:t>A complete software-validation framework was developed, allowing locomotion, sensing, and control workflows to be tested before physical robot assembly.</a:t>
            </a:r>
          </a:p>
        </p:txBody>
      </p:sp>
    </p:spTree>
    <p:extLst>
      <p:ext uri="{BB962C8B-B14F-4D97-AF65-F5344CB8AC3E}">
        <p14:creationId xmlns:p14="http://schemas.microsoft.com/office/powerpoint/2010/main" val="3745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opBar">
            <a:extLst>
              <a:ext uri="{FF2B5EF4-FFF2-40B4-BE49-F238E27FC236}">
                <a16:creationId xmlns:a16="http://schemas.microsoft.com/office/drawing/2014/main" id="{30ED9168-1A8D-46D3-AF26-084DB3ADAA2A}"/>
              </a:ext>
            </a:extLst>
          </p:cNvPr>
          <p:cNvSpPr/>
          <p:nvPr/>
        </p:nvSpPr>
        <p:spPr>
          <a:xfrm>
            <a:off x="0" y="0"/>
            <a:ext cx="12192000" cy="762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Eyebrow">
            <a:extLst>
              <a:ext uri="{FF2B5EF4-FFF2-40B4-BE49-F238E27FC236}">
                <a16:creationId xmlns:a16="http://schemas.microsoft.com/office/drawing/2014/main" id="{18DBE4B9-D6CE-44B5-B1C7-914B242C66E1}"/>
              </a:ext>
            </a:extLst>
          </p:cNvPr>
          <p:cNvSpPr txBox="1"/>
          <p:nvPr/>
        </p:nvSpPr>
        <p:spPr>
          <a:xfrm>
            <a:off x="533400" y="177800"/>
            <a:ext cx="8890000" cy="228600"/>
          </a:xfrm>
          <a:prstGeom prst="rect">
            <a:avLst/>
          </a:prstGeom>
          <a:noFill/>
        </p:spPr>
        <p:txBody>
          <a:bodyPr vertOverflow="overflow" vert="horz" wrap="square" rtlCol="0" anchor="ctr" anchorCtr="0">
            <a:spAutoFit/>
          </a:bodyPr>
          <a:lstStyle/>
          <a:p>
            <a:pPr algn="l"/>
            <a:r>
              <a:rPr lang="en-IN" sz="1100" b="1">
                <a:solidFill>
                  <a:srgbClr val="0E96AC"/>
                </a:solidFill>
                <a:latin typeface="Calibri"/>
                <a:ea typeface="Calibri"/>
                <a:cs typeface="Calibri"/>
              </a:rPr>
              <a:t>FUTURE WORK &amp; DEVELOPMENT ROADMAP</a:t>
            </a:r>
          </a:p>
        </p:txBody>
      </p:sp>
      <p:sp>
        <p:nvSpPr>
          <p:cNvPr id="4" name="AccentLine">
            <a:extLst>
              <a:ext uri="{FF2B5EF4-FFF2-40B4-BE49-F238E27FC236}">
                <a16:creationId xmlns:a16="http://schemas.microsoft.com/office/drawing/2014/main" id="{442F3D03-E326-4CE5-A515-22A546C90469}"/>
              </a:ext>
            </a:extLst>
          </p:cNvPr>
          <p:cNvSpPr/>
          <p:nvPr/>
        </p:nvSpPr>
        <p:spPr>
          <a:xfrm>
            <a:off x="533400" y="431800"/>
            <a:ext cx="11125200" cy="127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MainTitle">
            <a:extLst>
              <a:ext uri="{FF2B5EF4-FFF2-40B4-BE49-F238E27FC236}">
                <a16:creationId xmlns:a16="http://schemas.microsoft.com/office/drawing/2014/main" id="{5EE60894-65EF-4387-A4AF-239835B25496}"/>
              </a:ext>
            </a:extLst>
          </p:cNvPr>
          <p:cNvSpPr txBox="1"/>
          <p:nvPr/>
        </p:nvSpPr>
        <p:spPr>
          <a:xfrm>
            <a:off x="533400" y="508000"/>
            <a:ext cx="11125200" cy="508000"/>
          </a:xfrm>
          <a:prstGeom prst="rect">
            <a:avLst/>
          </a:prstGeom>
          <a:noFill/>
        </p:spPr>
        <p:txBody>
          <a:bodyPr vertOverflow="overflow" vert="horz" wrap="square" rtlCol="0" anchor="ctr" anchorCtr="0">
            <a:spAutoFit/>
          </a:bodyPr>
          <a:lstStyle/>
          <a:p>
            <a:pPr algn="l"/>
            <a:r>
              <a:rPr lang="en-US" sz="2400" b="1">
                <a:solidFill>
                  <a:srgbClr val="16223A"/>
                </a:solidFill>
                <a:latin typeface="Calibri"/>
                <a:ea typeface="Calibri"/>
                <a:cs typeface="Calibri"/>
              </a:rPr>
              <a:t>Planned Activities for the Next Development Phase</a:t>
            </a:r>
            <a:endParaRPr lang="en-IN" sz="2400" b="1">
              <a:solidFill>
                <a:srgbClr val="16223A"/>
              </a:solidFill>
              <a:latin typeface="Calibri"/>
              <a:ea typeface="Calibri"/>
              <a:cs typeface="Calibri"/>
            </a:endParaRPr>
          </a:p>
        </p:txBody>
      </p:sp>
      <p:sp>
        <p:nvSpPr>
          <p:cNvPr id="201" name="Pill0"/>
          <p:cNvSpPr/>
          <p:nvPr/>
        </p:nvSpPr>
        <p:spPr>
          <a:xfrm>
            <a:off x="533400" y="1219200"/>
            <a:ext cx="1752600" cy="584200"/>
          </a:xfrm>
          <a:prstGeom prst="roundRect">
            <a:avLst/>
          </a:prstGeom>
          <a:solidFill>
            <a:srgbClr val="1F9D55"/>
          </a:solidFill>
          <a:ln>
            <a:noFill/>
          </a:ln>
        </p:spPr>
        <p:txBody>
          <a:bodyPr/>
          <a:lstStyle/>
          <a:p>
            <a:endParaRPr/>
          </a:p>
        </p:txBody>
      </p:sp>
      <p:sp>
        <p:nvSpPr>
          <p:cNvPr id="202" name="Num0"/>
          <p:cNvSpPr/>
          <p:nvPr/>
        </p:nvSpPr>
        <p:spPr>
          <a:xfrm>
            <a:off x="635000" y="1346200"/>
            <a:ext cx="330200" cy="330200"/>
          </a:xfrm>
          <a:prstGeom prst="ellipse">
            <a:avLst/>
          </a:prstGeom>
          <a:solidFill>
            <a:srgbClr val="FFFFFF"/>
          </a:solidFill>
          <a:ln>
            <a:noFill/>
          </a:ln>
        </p:spPr>
        <p:txBody>
          <a:bodyPr/>
          <a:lstStyle/>
          <a:p>
            <a:endParaRPr/>
          </a:p>
        </p:txBody>
      </p:sp>
      <p:sp>
        <p:nvSpPr>
          <p:cNvPr id="203" name="NumT0"/>
          <p:cNvSpPr txBox="1"/>
          <p:nvPr/>
        </p:nvSpPr>
        <p:spPr>
          <a:xfrm>
            <a:off x="635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1</a:t>
            </a:r>
          </a:p>
        </p:txBody>
      </p:sp>
      <p:sp>
        <p:nvSpPr>
          <p:cNvPr id="204" name="PillT0"/>
          <p:cNvSpPr txBox="1"/>
          <p:nvPr/>
        </p:nvSpPr>
        <p:spPr>
          <a:xfrm>
            <a:off x="1016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Hardware Arrival</a:t>
            </a:r>
          </a:p>
        </p:txBody>
      </p:sp>
      <p:sp>
        <p:nvSpPr>
          <p:cNvPr id="205" name="Card0"/>
          <p:cNvSpPr/>
          <p:nvPr/>
        </p:nvSpPr>
        <p:spPr>
          <a:xfrm>
            <a:off x="533400" y="1905000"/>
            <a:ext cx="1752600" cy="1676400"/>
          </a:xfrm>
          <a:prstGeom prst="roundRect">
            <a:avLst/>
          </a:prstGeom>
          <a:solidFill>
            <a:srgbClr val="FFFFFF"/>
          </a:solidFill>
          <a:ln w="9525">
            <a:solidFill>
              <a:srgbClr val="D0D7E5"/>
            </a:solidFill>
          </a:ln>
        </p:spPr>
        <p:txBody>
          <a:bodyPr/>
          <a:lstStyle/>
          <a:p>
            <a:endParaRPr/>
          </a:p>
        </p:txBody>
      </p:sp>
      <p:sp>
        <p:nvSpPr>
          <p:cNvPr id="206" name="Strip0"/>
          <p:cNvSpPr/>
          <p:nvPr/>
        </p:nvSpPr>
        <p:spPr>
          <a:xfrm>
            <a:off x="533400" y="1905000"/>
            <a:ext cx="1752600" cy="38100"/>
          </a:xfrm>
          <a:prstGeom prst="rect">
            <a:avLst/>
          </a:prstGeom>
          <a:solidFill>
            <a:srgbClr val="1F9D55"/>
          </a:solidFill>
          <a:ln>
            <a:noFill/>
          </a:ln>
        </p:spPr>
        <p:txBody>
          <a:bodyPr/>
          <a:lstStyle/>
          <a:p>
            <a:endParaRPr/>
          </a:p>
        </p:txBody>
      </p:sp>
      <p:sp>
        <p:nvSpPr>
          <p:cNvPr id="207" name="CardT0"/>
          <p:cNvSpPr txBox="1"/>
          <p:nvPr/>
        </p:nvSpPr>
        <p:spPr>
          <a:xfrm>
            <a:off x="635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Dynamixel XL330 motors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U2D2 interface</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Verify purchased components</a:t>
            </a:r>
          </a:p>
        </p:txBody>
      </p:sp>
      <p:sp>
        <p:nvSpPr>
          <p:cNvPr id="209" name="Pill1"/>
          <p:cNvSpPr/>
          <p:nvPr/>
        </p:nvSpPr>
        <p:spPr>
          <a:xfrm>
            <a:off x="2387600" y="1219200"/>
            <a:ext cx="1752600" cy="584200"/>
          </a:xfrm>
          <a:prstGeom prst="roundRect">
            <a:avLst/>
          </a:prstGeom>
          <a:solidFill>
            <a:srgbClr val="1F9D55"/>
          </a:solidFill>
          <a:ln>
            <a:noFill/>
          </a:ln>
        </p:spPr>
        <p:txBody>
          <a:bodyPr/>
          <a:lstStyle/>
          <a:p>
            <a:endParaRPr/>
          </a:p>
        </p:txBody>
      </p:sp>
      <p:sp>
        <p:nvSpPr>
          <p:cNvPr id="210" name="Num1"/>
          <p:cNvSpPr/>
          <p:nvPr/>
        </p:nvSpPr>
        <p:spPr>
          <a:xfrm>
            <a:off x="2489200" y="1346200"/>
            <a:ext cx="330200" cy="330200"/>
          </a:xfrm>
          <a:prstGeom prst="ellipse">
            <a:avLst/>
          </a:prstGeom>
          <a:solidFill>
            <a:srgbClr val="FFFFFF"/>
          </a:solidFill>
          <a:ln>
            <a:noFill/>
          </a:ln>
        </p:spPr>
        <p:txBody>
          <a:bodyPr/>
          <a:lstStyle/>
          <a:p>
            <a:endParaRPr/>
          </a:p>
        </p:txBody>
      </p:sp>
      <p:sp>
        <p:nvSpPr>
          <p:cNvPr id="211" name="NumT1"/>
          <p:cNvSpPr txBox="1"/>
          <p:nvPr/>
        </p:nvSpPr>
        <p:spPr>
          <a:xfrm>
            <a:off x="24892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2</a:t>
            </a:r>
          </a:p>
        </p:txBody>
      </p:sp>
      <p:sp>
        <p:nvSpPr>
          <p:cNvPr id="212" name="PillT1"/>
          <p:cNvSpPr txBox="1"/>
          <p:nvPr/>
        </p:nvSpPr>
        <p:spPr>
          <a:xfrm>
            <a:off x="28702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Mechanical Assembly</a:t>
            </a:r>
          </a:p>
        </p:txBody>
      </p:sp>
      <p:sp>
        <p:nvSpPr>
          <p:cNvPr id="213" name="Card1"/>
          <p:cNvSpPr/>
          <p:nvPr/>
        </p:nvSpPr>
        <p:spPr>
          <a:xfrm>
            <a:off x="2387600" y="1905000"/>
            <a:ext cx="1752600" cy="1676400"/>
          </a:xfrm>
          <a:prstGeom prst="roundRect">
            <a:avLst/>
          </a:prstGeom>
          <a:solidFill>
            <a:srgbClr val="FFFFFF"/>
          </a:solidFill>
          <a:ln w="9525">
            <a:solidFill>
              <a:srgbClr val="D0D7E5"/>
            </a:solidFill>
          </a:ln>
        </p:spPr>
        <p:txBody>
          <a:bodyPr/>
          <a:lstStyle/>
          <a:p>
            <a:endParaRPr/>
          </a:p>
        </p:txBody>
      </p:sp>
      <p:sp>
        <p:nvSpPr>
          <p:cNvPr id="214" name="Strip1"/>
          <p:cNvSpPr/>
          <p:nvPr/>
        </p:nvSpPr>
        <p:spPr>
          <a:xfrm>
            <a:off x="2387600" y="1905000"/>
            <a:ext cx="1752600" cy="38100"/>
          </a:xfrm>
          <a:prstGeom prst="rect">
            <a:avLst/>
          </a:prstGeom>
          <a:solidFill>
            <a:srgbClr val="1F9D55"/>
          </a:solidFill>
          <a:ln>
            <a:noFill/>
          </a:ln>
        </p:spPr>
        <p:txBody>
          <a:bodyPr/>
          <a:lstStyle/>
          <a:p>
            <a:endParaRPr/>
          </a:p>
        </p:txBody>
      </p:sp>
      <p:sp>
        <p:nvSpPr>
          <p:cNvPr id="215" name="CardT1"/>
          <p:cNvSpPr txBox="1"/>
          <p:nvPr/>
        </p:nvSpPr>
        <p:spPr>
          <a:xfrm>
            <a:off x="24892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Assemble complete snake body</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Install Dynamixel actuators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Route communication cables</a:t>
            </a:r>
          </a:p>
        </p:txBody>
      </p:sp>
      <p:sp>
        <p:nvSpPr>
          <p:cNvPr id="217" name="Pill2"/>
          <p:cNvSpPr/>
          <p:nvPr/>
        </p:nvSpPr>
        <p:spPr>
          <a:xfrm>
            <a:off x="4241800" y="1219200"/>
            <a:ext cx="1752600" cy="584200"/>
          </a:xfrm>
          <a:prstGeom prst="roundRect">
            <a:avLst/>
          </a:prstGeom>
          <a:solidFill>
            <a:srgbClr val="1E6FD6"/>
          </a:solidFill>
          <a:ln>
            <a:noFill/>
          </a:ln>
        </p:spPr>
        <p:txBody>
          <a:bodyPr/>
          <a:lstStyle/>
          <a:p>
            <a:endParaRPr/>
          </a:p>
        </p:txBody>
      </p:sp>
      <p:sp>
        <p:nvSpPr>
          <p:cNvPr id="218" name="Num2"/>
          <p:cNvSpPr/>
          <p:nvPr/>
        </p:nvSpPr>
        <p:spPr>
          <a:xfrm>
            <a:off x="4343400" y="1346200"/>
            <a:ext cx="330200" cy="330200"/>
          </a:xfrm>
          <a:prstGeom prst="ellipse">
            <a:avLst/>
          </a:prstGeom>
          <a:solidFill>
            <a:srgbClr val="FFFFFF"/>
          </a:solidFill>
          <a:ln>
            <a:noFill/>
          </a:ln>
        </p:spPr>
        <p:txBody>
          <a:bodyPr/>
          <a:lstStyle/>
          <a:p>
            <a:endParaRPr/>
          </a:p>
        </p:txBody>
      </p:sp>
      <p:sp>
        <p:nvSpPr>
          <p:cNvPr id="219" name="NumT2"/>
          <p:cNvSpPr txBox="1"/>
          <p:nvPr/>
        </p:nvSpPr>
        <p:spPr>
          <a:xfrm>
            <a:off x="43434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3</a:t>
            </a:r>
          </a:p>
        </p:txBody>
      </p:sp>
      <p:sp>
        <p:nvSpPr>
          <p:cNvPr id="220" name="PillT2"/>
          <p:cNvSpPr txBox="1"/>
          <p:nvPr/>
        </p:nvSpPr>
        <p:spPr>
          <a:xfrm>
            <a:off x="47244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Communication Setup</a:t>
            </a:r>
          </a:p>
        </p:txBody>
      </p:sp>
      <p:sp>
        <p:nvSpPr>
          <p:cNvPr id="221" name="Card2"/>
          <p:cNvSpPr/>
          <p:nvPr/>
        </p:nvSpPr>
        <p:spPr>
          <a:xfrm>
            <a:off x="4241800" y="1905000"/>
            <a:ext cx="1752600" cy="1676400"/>
          </a:xfrm>
          <a:prstGeom prst="roundRect">
            <a:avLst/>
          </a:prstGeom>
          <a:solidFill>
            <a:srgbClr val="FFFFFF"/>
          </a:solidFill>
          <a:ln w="9525">
            <a:solidFill>
              <a:srgbClr val="D0D7E5"/>
            </a:solidFill>
          </a:ln>
        </p:spPr>
        <p:txBody>
          <a:bodyPr/>
          <a:lstStyle/>
          <a:p>
            <a:endParaRPr/>
          </a:p>
        </p:txBody>
      </p:sp>
      <p:sp>
        <p:nvSpPr>
          <p:cNvPr id="222" name="Strip2"/>
          <p:cNvSpPr/>
          <p:nvPr/>
        </p:nvSpPr>
        <p:spPr>
          <a:xfrm>
            <a:off x="4241800" y="1905000"/>
            <a:ext cx="1752600" cy="38100"/>
          </a:xfrm>
          <a:prstGeom prst="rect">
            <a:avLst/>
          </a:prstGeom>
          <a:solidFill>
            <a:srgbClr val="1E6FD6"/>
          </a:solidFill>
          <a:ln>
            <a:noFill/>
          </a:ln>
        </p:spPr>
        <p:txBody>
          <a:bodyPr/>
          <a:lstStyle/>
          <a:p>
            <a:endParaRPr/>
          </a:p>
        </p:txBody>
      </p:sp>
      <p:sp>
        <p:nvSpPr>
          <p:cNvPr id="223" name="CardT2"/>
          <p:cNvSpPr txBox="1"/>
          <p:nvPr/>
        </p:nvSpPr>
        <p:spPr>
          <a:xfrm>
            <a:off x="43434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Configure motor IDs</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Establish serial communication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Validate daisy-chain architecture</a:t>
            </a:r>
          </a:p>
        </p:txBody>
      </p:sp>
      <p:sp>
        <p:nvSpPr>
          <p:cNvPr id="225" name="Pill3"/>
          <p:cNvSpPr/>
          <p:nvPr/>
        </p:nvSpPr>
        <p:spPr>
          <a:xfrm>
            <a:off x="6096000" y="1219200"/>
            <a:ext cx="1752600" cy="584200"/>
          </a:xfrm>
          <a:prstGeom prst="roundRect">
            <a:avLst/>
          </a:prstGeom>
          <a:solidFill>
            <a:srgbClr val="1E6FD6"/>
          </a:solidFill>
          <a:ln>
            <a:noFill/>
          </a:ln>
        </p:spPr>
        <p:txBody>
          <a:bodyPr/>
          <a:lstStyle/>
          <a:p>
            <a:endParaRPr/>
          </a:p>
        </p:txBody>
      </p:sp>
      <p:sp>
        <p:nvSpPr>
          <p:cNvPr id="226" name="Num3"/>
          <p:cNvSpPr/>
          <p:nvPr/>
        </p:nvSpPr>
        <p:spPr>
          <a:xfrm>
            <a:off x="6197600" y="1346200"/>
            <a:ext cx="330200" cy="330200"/>
          </a:xfrm>
          <a:prstGeom prst="ellipse">
            <a:avLst/>
          </a:prstGeom>
          <a:solidFill>
            <a:srgbClr val="FFFFFF"/>
          </a:solidFill>
          <a:ln>
            <a:noFill/>
          </a:ln>
        </p:spPr>
        <p:txBody>
          <a:bodyPr/>
          <a:lstStyle/>
          <a:p>
            <a:endParaRPr/>
          </a:p>
        </p:txBody>
      </p:sp>
      <p:sp>
        <p:nvSpPr>
          <p:cNvPr id="227" name="NumT3"/>
          <p:cNvSpPr txBox="1"/>
          <p:nvPr/>
        </p:nvSpPr>
        <p:spPr>
          <a:xfrm>
            <a:off x="61976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4</a:t>
            </a:r>
          </a:p>
        </p:txBody>
      </p:sp>
      <p:sp>
        <p:nvSpPr>
          <p:cNvPr id="228" name="PillT3"/>
          <p:cNvSpPr txBox="1"/>
          <p:nvPr/>
        </p:nvSpPr>
        <p:spPr>
          <a:xfrm>
            <a:off x="65786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Locomotion Development</a:t>
            </a:r>
          </a:p>
        </p:txBody>
      </p:sp>
      <p:sp>
        <p:nvSpPr>
          <p:cNvPr id="229" name="Card3"/>
          <p:cNvSpPr/>
          <p:nvPr/>
        </p:nvSpPr>
        <p:spPr>
          <a:xfrm>
            <a:off x="6096000" y="1905000"/>
            <a:ext cx="1752600" cy="1676400"/>
          </a:xfrm>
          <a:prstGeom prst="roundRect">
            <a:avLst/>
          </a:prstGeom>
          <a:solidFill>
            <a:srgbClr val="FFFFFF"/>
          </a:solidFill>
          <a:ln w="9525">
            <a:solidFill>
              <a:srgbClr val="D0D7E5"/>
            </a:solidFill>
          </a:ln>
        </p:spPr>
        <p:txBody>
          <a:bodyPr/>
          <a:lstStyle/>
          <a:p>
            <a:endParaRPr/>
          </a:p>
        </p:txBody>
      </p:sp>
      <p:sp>
        <p:nvSpPr>
          <p:cNvPr id="230" name="Strip3"/>
          <p:cNvSpPr/>
          <p:nvPr/>
        </p:nvSpPr>
        <p:spPr>
          <a:xfrm>
            <a:off x="6096000" y="1905000"/>
            <a:ext cx="1752600" cy="38100"/>
          </a:xfrm>
          <a:prstGeom prst="rect">
            <a:avLst/>
          </a:prstGeom>
          <a:solidFill>
            <a:srgbClr val="1E6FD6"/>
          </a:solidFill>
          <a:ln>
            <a:noFill/>
          </a:ln>
        </p:spPr>
        <p:txBody>
          <a:bodyPr/>
          <a:lstStyle/>
          <a:p>
            <a:endParaRPr/>
          </a:p>
        </p:txBody>
      </p:sp>
      <p:sp>
        <p:nvSpPr>
          <p:cNvPr id="231" name="CardT3"/>
          <p:cNvSpPr txBox="1"/>
          <p:nvPr/>
        </p:nvSpPr>
        <p:spPr>
          <a:xfrm>
            <a:off x="61976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Port simulation code to Pi 5</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Implement serpentine locomotion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Synchronize multi-joint movement</a:t>
            </a:r>
          </a:p>
        </p:txBody>
      </p:sp>
      <p:sp>
        <p:nvSpPr>
          <p:cNvPr id="233" name="Pill4"/>
          <p:cNvSpPr/>
          <p:nvPr/>
        </p:nvSpPr>
        <p:spPr>
          <a:xfrm>
            <a:off x="7950200" y="1219200"/>
            <a:ext cx="1752600" cy="584200"/>
          </a:xfrm>
          <a:prstGeom prst="roundRect">
            <a:avLst/>
          </a:prstGeom>
          <a:solidFill>
            <a:srgbClr val="E8821E"/>
          </a:solidFill>
          <a:ln>
            <a:noFill/>
          </a:ln>
        </p:spPr>
        <p:txBody>
          <a:bodyPr/>
          <a:lstStyle/>
          <a:p>
            <a:endParaRPr/>
          </a:p>
        </p:txBody>
      </p:sp>
      <p:sp>
        <p:nvSpPr>
          <p:cNvPr id="234" name="Num4"/>
          <p:cNvSpPr/>
          <p:nvPr/>
        </p:nvSpPr>
        <p:spPr>
          <a:xfrm>
            <a:off x="8051800" y="1346200"/>
            <a:ext cx="330200" cy="330200"/>
          </a:xfrm>
          <a:prstGeom prst="ellipse">
            <a:avLst/>
          </a:prstGeom>
          <a:solidFill>
            <a:srgbClr val="FFFFFF"/>
          </a:solidFill>
          <a:ln>
            <a:noFill/>
          </a:ln>
        </p:spPr>
        <p:txBody>
          <a:bodyPr/>
          <a:lstStyle/>
          <a:p>
            <a:endParaRPr/>
          </a:p>
        </p:txBody>
      </p:sp>
      <p:sp>
        <p:nvSpPr>
          <p:cNvPr id="235" name="NumT4"/>
          <p:cNvSpPr txBox="1"/>
          <p:nvPr/>
        </p:nvSpPr>
        <p:spPr>
          <a:xfrm>
            <a:off x="80518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5</a:t>
            </a:r>
          </a:p>
        </p:txBody>
      </p:sp>
      <p:sp>
        <p:nvSpPr>
          <p:cNvPr id="236" name="PillT4"/>
          <p:cNvSpPr txBox="1"/>
          <p:nvPr/>
        </p:nvSpPr>
        <p:spPr>
          <a:xfrm>
            <a:off x="84328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Sensor Integration</a:t>
            </a:r>
          </a:p>
        </p:txBody>
      </p:sp>
      <p:sp>
        <p:nvSpPr>
          <p:cNvPr id="237" name="Card4"/>
          <p:cNvSpPr/>
          <p:nvPr/>
        </p:nvSpPr>
        <p:spPr>
          <a:xfrm>
            <a:off x="7950200" y="1905000"/>
            <a:ext cx="1752600" cy="1676400"/>
          </a:xfrm>
          <a:prstGeom prst="roundRect">
            <a:avLst/>
          </a:prstGeom>
          <a:solidFill>
            <a:srgbClr val="FFFFFF"/>
          </a:solidFill>
          <a:ln w="9525">
            <a:solidFill>
              <a:srgbClr val="D0D7E5"/>
            </a:solidFill>
          </a:ln>
        </p:spPr>
        <p:txBody>
          <a:bodyPr/>
          <a:lstStyle/>
          <a:p>
            <a:endParaRPr/>
          </a:p>
        </p:txBody>
      </p:sp>
      <p:sp>
        <p:nvSpPr>
          <p:cNvPr id="238" name="Strip4"/>
          <p:cNvSpPr/>
          <p:nvPr/>
        </p:nvSpPr>
        <p:spPr>
          <a:xfrm>
            <a:off x="7950200" y="1905000"/>
            <a:ext cx="1752600" cy="38100"/>
          </a:xfrm>
          <a:prstGeom prst="rect">
            <a:avLst/>
          </a:prstGeom>
          <a:solidFill>
            <a:srgbClr val="E8821E"/>
          </a:solidFill>
          <a:ln>
            <a:noFill/>
          </a:ln>
        </p:spPr>
        <p:txBody>
          <a:bodyPr/>
          <a:lstStyle/>
          <a:p>
            <a:endParaRPr/>
          </a:p>
        </p:txBody>
      </p:sp>
      <p:sp>
        <p:nvSpPr>
          <p:cNvPr id="239" name="CardT4"/>
          <p:cNvSpPr txBox="1"/>
          <p:nvPr/>
        </p:nvSpPr>
        <p:spPr>
          <a:xfrm>
            <a:off x="80518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MPU6050 IMU</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obstacle detection</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Implement feedback control</a:t>
            </a:r>
          </a:p>
        </p:txBody>
      </p:sp>
      <p:sp>
        <p:nvSpPr>
          <p:cNvPr id="240" name="Pill5"/>
          <p:cNvSpPr/>
          <p:nvPr/>
        </p:nvSpPr>
        <p:spPr>
          <a:xfrm>
            <a:off x="9804400" y="1219200"/>
            <a:ext cx="1752600" cy="584200"/>
          </a:xfrm>
          <a:prstGeom prst="roundRect">
            <a:avLst/>
          </a:prstGeom>
          <a:solidFill>
            <a:srgbClr val="E8821E"/>
          </a:solidFill>
          <a:ln>
            <a:noFill/>
          </a:ln>
        </p:spPr>
        <p:txBody>
          <a:bodyPr/>
          <a:lstStyle/>
          <a:p>
            <a:endParaRPr/>
          </a:p>
        </p:txBody>
      </p:sp>
      <p:sp>
        <p:nvSpPr>
          <p:cNvPr id="241" name="Num5"/>
          <p:cNvSpPr/>
          <p:nvPr/>
        </p:nvSpPr>
        <p:spPr>
          <a:xfrm>
            <a:off x="9906000" y="1346200"/>
            <a:ext cx="330200" cy="330200"/>
          </a:xfrm>
          <a:prstGeom prst="ellipse">
            <a:avLst/>
          </a:prstGeom>
          <a:solidFill>
            <a:srgbClr val="FFFFFF"/>
          </a:solidFill>
          <a:ln>
            <a:noFill/>
          </a:ln>
        </p:spPr>
        <p:txBody>
          <a:bodyPr/>
          <a:lstStyle/>
          <a:p>
            <a:endParaRPr/>
          </a:p>
        </p:txBody>
      </p:sp>
      <p:sp>
        <p:nvSpPr>
          <p:cNvPr id="242" name="NumT5"/>
          <p:cNvSpPr txBox="1"/>
          <p:nvPr/>
        </p:nvSpPr>
        <p:spPr>
          <a:xfrm>
            <a:off x="9906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6</a:t>
            </a:r>
          </a:p>
        </p:txBody>
      </p:sp>
      <p:sp>
        <p:nvSpPr>
          <p:cNvPr id="243" name="PillT5"/>
          <p:cNvSpPr txBox="1"/>
          <p:nvPr/>
        </p:nvSpPr>
        <p:spPr>
          <a:xfrm>
            <a:off x="10287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Testing &amp; Optimization</a:t>
            </a:r>
          </a:p>
        </p:txBody>
      </p:sp>
      <p:sp>
        <p:nvSpPr>
          <p:cNvPr id="244" name="Card5"/>
          <p:cNvSpPr/>
          <p:nvPr/>
        </p:nvSpPr>
        <p:spPr>
          <a:xfrm>
            <a:off x="9804400" y="1905000"/>
            <a:ext cx="1752600" cy="1676400"/>
          </a:xfrm>
          <a:prstGeom prst="roundRect">
            <a:avLst/>
          </a:prstGeom>
          <a:solidFill>
            <a:srgbClr val="FFFFFF"/>
          </a:solidFill>
          <a:ln w="9525">
            <a:solidFill>
              <a:srgbClr val="D0D7E5"/>
            </a:solidFill>
          </a:ln>
        </p:spPr>
        <p:txBody>
          <a:bodyPr/>
          <a:lstStyle/>
          <a:p>
            <a:endParaRPr/>
          </a:p>
        </p:txBody>
      </p:sp>
      <p:sp>
        <p:nvSpPr>
          <p:cNvPr id="245" name="Strip5"/>
          <p:cNvSpPr/>
          <p:nvPr/>
        </p:nvSpPr>
        <p:spPr>
          <a:xfrm>
            <a:off x="9804400" y="1905000"/>
            <a:ext cx="1752600" cy="38100"/>
          </a:xfrm>
          <a:prstGeom prst="rect">
            <a:avLst/>
          </a:prstGeom>
          <a:solidFill>
            <a:srgbClr val="E8821E"/>
          </a:solidFill>
          <a:ln>
            <a:noFill/>
          </a:ln>
        </p:spPr>
        <p:txBody>
          <a:bodyPr/>
          <a:lstStyle/>
          <a:p>
            <a:endParaRPr/>
          </a:p>
        </p:txBody>
      </p:sp>
      <p:sp>
        <p:nvSpPr>
          <p:cNvPr id="246" name="CardT5"/>
          <p:cNvSpPr txBox="1"/>
          <p:nvPr/>
        </p:nvSpPr>
        <p:spPr>
          <a:xfrm>
            <a:off x="9906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Motion performance testing</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Power &amp; reliability analysis</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System optimization</a:t>
            </a:r>
          </a:p>
        </p:txBody>
      </p:sp>
      <p:pic>
        <p:nvPicPr>
          <p:cNvPr id="247" name="Graphic 247" descr="Hardware arrival"/>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0400" y="1993900"/>
            <a:ext cx="279400" cy="279400"/>
          </a:xfrm>
          <a:prstGeom prst="rect">
            <a:avLst/>
          </a:prstGeom>
        </p:spPr>
      </p:pic>
      <p:pic>
        <p:nvPicPr>
          <p:cNvPr id="248" name="Graphic 248" descr="Mechanical assembl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4600" y="1993900"/>
            <a:ext cx="279400" cy="279400"/>
          </a:xfrm>
          <a:prstGeom prst="rect">
            <a:avLst/>
          </a:prstGeom>
        </p:spPr>
      </p:pic>
      <p:pic>
        <p:nvPicPr>
          <p:cNvPr id="249" name="Graphic 249" descr="Communication setu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1993900"/>
            <a:ext cx="279400" cy="279400"/>
          </a:xfrm>
          <a:prstGeom prst="rect">
            <a:avLst/>
          </a:prstGeom>
        </p:spPr>
      </p:pic>
      <p:pic>
        <p:nvPicPr>
          <p:cNvPr id="250" name="Graphic 250" descr="Locomotion developmen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93000" y="1993900"/>
            <a:ext cx="279400" cy="279400"/>
          </a:xfrm>
          <a:prstGeom prst="rect">
            <a:avLst/>
          </a:prstGeom>
        </p:spPr>
      </p:pic>
      <p:pic>
        <p:nvPicPr>
          <p:cNvPr id="251" name="Graphic 251" descr="Sensor integr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47200" y="1993900"/>
            <a:ext cx="279400" cy="279400"/>
          </a:xfrm>
          <a:prstGeom prst="rect">
            <a:avLst/>
          </a:prstGeom>
        </p:spPr>
      </p:pic>
      <p:pic>
        <p:nvPicPr>
          <p:cNvPr id="252" name="Graphic 252" descr="Testing and optimiz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01400" y="1993900"/>
            <a:ext cx="279400" cy="279400"/>
          </a:xfrm>
          <a:prstGeom prst="rect">
            <a:avLst/>
          </a:prstGeom>
        </p:spPr>
      </p:pic>
      <p:sp>
        <p:nvSpPr>
          <p:cNvPr id="400" name="Lg"/>
          <p:cNvSpPr/>
          <p:nvPr/>
        </p:nvSpPr>
        <p:spPr>
          <a:xfrm>
            <a:off x="533400" y="3759200"/>
            <a:ext cx="139700" cy="139700"/>
          </a:xfrm>
          <a:prstGeom prst="ellipse">
            <a:avLst/>
          </a:prstGeom>
          <a:solidFill>
            <a:srgbClr val="1F9D55"/>
          </a:solidFill>
          <a:ln>
            <a:noFill/>
          </a:ln>
        </p:spPr>
        <p:txBody>
          <a:bodyPr/>
          <a:lstStyle/>
          <a:p>
            <a:endParaRPr/>
          </a:p>
        </p:txBody>
      </p:sp>
      <p:sp>
        <p:nvSpPr>
          <p:cNvPr id="401" name="LgT"/>
          <p:cNvSpPr txBox="1"/>
          <p:nvPr/>
        </p:nvSpPr>
        <p:spPr>
          <a:xfrm>
            <a:off x="72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Completed phase</a:t>
            </a:r>
          </a:p>
        </p:txBody>
      </p:sp>
      <p:sp>
        <p:nvSpPr>
          <p:cNvPr id="402" name="Lg"/>
          <p:cNvSpPr/>
          <p:nvPr/>
        </p:nvSpPr>
        <p:spPr>
          <a:xfrm>
            <a:off x="2438400" y="3759200"/>
            <a:ext cx="139700" cy="139700"/>
          </a:xfrm>
          <a:prstGeom prst="ellipse">
            <a:avLst/>
          </a:prstGeom>
          <a:solidFill>
            <a:srgbClr val="1E6FD6"/>
          </a:solidFill>
          <a:ln>
            <a:noFill/>
          </a:ln>
        </p:spPr>
        <p:txBody>
          <a:bodyPr/>
          <a:lstStyle/>
          <a:p>
            <a:endParaRPr/>
          </a:p>
        </p:txBody>
      </p:sp>
      <p:sp>
        <p:nvSpPr>
          <p:cNvPr id="403" name="LgT"/>
          <p:cNvSpPr txBox="1"/>
          <p:nvPr/>
        </p:nvSpPr>
        <p:spPr>
          <a:xfrm>
            <a:off x="2628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Ongoing work</a:t>
            </a:r>
          </a:p>
        </p:txBody>
      </p:sp>
      <p:sp>
        <p:nvSpPr>
          <p:cNvPr id="404" name="Lg"/>
          <p:cNvSpPr/>
          <p:nvPr/>
        </p:nvSpPr>
        <p:spPr>
          <a:xfrm>
            <a:off x="4343400" y="3759200"/>
            <a:ext cx="139700" cy="139700"/>
          </a:xfrm>
          <a:prstGeom prst="ellipse">
            <a:avLst/>
          </a:prstGeom>
          <a:solidFill>
            <a:srgbClr val="E8821E"/>
          </a:solidFill>
          <a:ln>
            <a:noFill/>
          </a:ln>
        </p:spPr>
        <p:txBody>
          <a:bodyPr/>
          <a:lstStyle/>
          <a:p>
            <a:endParaRPr/>
          </a:p>
        </p:txBody>
      </p:sp>
      <p:sp>
        <p:nvSpPr>
          <p:cNvPr id="405" name="LgT"/>
          <p:cNvSpPr txBox="1"/>
          <p:nvPr/>
        </p:nvSpPr>
        <p:spPr>
          <a:xfrm>
            <a:off x="453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Future milestone</a:t>
            </a:r>
          </a:p>
        </p:txBody>
      </p:sp>
      <p:sp>
        <p:nvSpPr>
          <p:cNvPr id="406" name="DelCard"/>
          <p:cNvSpPr/>
          <p:nvPr/>
        </p:nvSpPr>
        <p:spPr>
          <a:xfrm>
            <a:off x="533400" y="4064000"/>
            <a:ext cx="5461000" cy="2489200"/>
          </a:xfrm>
          <a:prstGeom prst="roundRect">
            <a:avLst/>
          </a:prstGeom>
          <a:solidFill>
            <a:srgbClr val="F7F9FC"/>
          </a:solidFill>
          <a:ln w="9525">
            <a:solidFill>
              <a:srgbClr val="D0D7E5"/>
            </a:solidFill>
          </a:ln>
        </p:spPr>
        <p:txBody>
          <a:bodyPr/>
          <a:lstStyle/>
          <a:p>
            <a:endParaRPr/>
          </a:p>
        </p:txBody>
      </p:sp>
      <p:sp>
        <p:nvSpPr>
          <p:cNvPr id="407" name="DelStrip"/>
          <p:cNvSpPr/>
          <p:nvPr/>
        </p:nvSpPr>
        <p:spPr>
          <a:xfrm>
            <a:off x="533400" y="4064000"/>
            <a:ext cx="63500" cy="2489200"/>
          </a:xfrm>
          <a:prstGeom prst="rect">
            <a:avLst/>
          </a:prstGeom>
          <a:solidFill>
            <a:srgbClr val="0E96AC"/>
          </a:solidFill>
          <a:ln>
            <a:noFill/>
          </a:ln>
        </p:spPr>
        <p:txBody>
          <a:bodyPr/>
          <a:lstStyle/>
          <a:p>
            <a:endParaRPr/>
          </a:p>
        </p:txBody>
      </p:sp>
      <p:sp>
        <p:nvSpPr>
          <p:cNvPr id="408" name="DelHead"/>
          <p:cNvSpPr txBox="1"/>
          <p:nvPr/>
        </p:nvSpPr>
        <p:spPr>
          <a:xfrm>
            <a:off x="736600" y="4191000"/>
            <a:ext cx="5130800" cy="279400"/>
          </a:xfrm>
          <a:prstGeom prst="rect">
            <a:avLst/>
          </a:prstGeom>
          <a:noFill/>
        </p:spPr>
        <p:txBody>
          <a:bodyPr wrap="square" lIns="50800" tIns="25400" rIns="50800" bIns="25400" anchor="t">
            <a:noAutofit/>
          </a:bodyPr>
          <a:lstStyle/>
          <a:p>
            <a:pPr>
              <a:buNone/>
            </a:pPr>
            <a:r>
              <a:rPr lang="en-IN" sz="1200" b="1" dirty="0">
                <a:solidFill>
                  <a:srgbClr val="16223A"/>
                </a:solidFill>
                <a:latin typeface="Calibri"/>
              </a:rPr>
              <a:t>EXPECTED DELIVERABLES</a:t>
            </a:r>
          </a:p>
        </p:txBody>
      </p:sp>
      <p:sp>
        <p:nvSpPr>
          <p:cNvPr id="409" name="DelList"/>
          <p:cNvSpPr txBox="1"/>
          <p:nvPr/>
        </p:nvSpPr>
        <p:spPr>
          <a:xfrm>
            <a:off x="736600" y="4546600"/>
            <a:ext cx="5080000" cy="1905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Wingdings"/>
              <a:buChar char="Ø"/>
            </a:pPr>
            <a:r>
              <a:rPr lang="en-IN" sz="1000" dirty="0">
                <a:solidFill>
                  <a:srgbClr val="16223A"/>
                </a:solidFill>
                <a:latin typeface="Calibri"/>
              </a:rPr>
              <a:t>Fully assembled snake robot</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Dynamixel-based locomotion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Sensor-assisted navigation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Integrated Raspberry Pi 5 control system</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Demonstration-ready prototype</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Final SURGE project showcase</a:t>
            </a:r>
          </a:p>
        </p:txBody>
      </p:sp>
      <p:sp>
        <p:nvSpPr>
          <p:cNvPr id="410" name="TgtCard"/>
          <p:cNvSpPr/>
          <p:nvPr/>
        </p:nvSpPr>
        <p:spPr>
          <a:xfrm>
            <a:off x="6197600" y="4064000"/>
            <a:ext cx="5461000" cy="2489200"/>
          </a:xfrm>
          <a:prstGeom prst="roundRect">
            <a:avLst/>
          </a:prstGeom>
          <a:solidFill>
            <a:srgbClr val="EAF7FA"/>
          </a:solidFill>
          <a:ln w="19050">
            <a:solidFill>
              <a:srgbClr val="0E96AC"/>
            </a:solidFill>
          </a:ln>
        </p:spPr>
        <p:txBody>
          <a:bodyPr/>
          <a:lstStyle/>
          <a:p>
            <a:endParaRPr/>
          </a:p>
        </p:txBody>
      </p:sp>
      <p:sp>
        <p:nvSpPr>
          <p:cNvPr id="411" name="TgtHead"/>
          <p:cNvSpPr txBox="1"/>
          <p:nvPr/>
        </p:nvSpPr>
        <p:spPr>
          <a:xfrm>
            <a:off x="6400800" y="4191000"/>
            <a:ext cx="5130800" cy="279400"/>
          </a:xfrm>
          <a:prstGeom prst="rect">
            <a:avLst/>
          </a:prstGeom>
          <a:noFill/>
        </p:spPr>
        <p:txBody>
          <a:bodyPr wrap="square" lIns="50800" tIns="25400" rIns="50800" bIns="25400" anchor="t">
            <a:noAutofit/>
          </a:bodyPr>
          <a:lstStyle/>
          <a:p>
            <a:pPr>
              <a:buNone/>
            </a:pPr>
            <a:r>
              <a:rPr lang="en-IN" sz="1200" b="1" dirty="0">
                <a:solidFill>
                  <a:srgbClr val="0A7A8E"/>
                </a:solidFill>
                <a:latin typeface="Calibri"/>
              </a:rPr>
              <a:t>TARGET FOR NEXT REVIEW</a:t>
            </a:r>
          </a:p>
        </p:txBody>
      </p:sp>
      <p:sp>
        <p:nvSpPr>
          <p:cNvPr id="412" name="TgtList"/>
          <p:cNvSpPr txBox="1"/>
          <p:nvPr/>
        </p:nvSpPr>
        <p:spPr>
          <a:xfrm>
            <a:off x="6400800" y="4546600"/>
            <a:ext cx="5080000" cy="1397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Arial"/>
              <a:buChar char="•"/>
            </a:pPr>
            <a:r>
              <a:rPr lang="en-IN" sz="1000" dirty="0">
                <a:solidFill>
                  <a:srgbClr val="16223A"/>
                </a:solidFill>
                <a:latin typeface="Calibri"/>
              </a:rPr>
              <a:t>Complete hardware integration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Demonstrate basic snake locomotion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communication architecture</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sensing framework</a:t>
            </a:r>
          </a:p>
        </p:txBody>
      </p:sp>
      <p:sp>
        <p:nvSpPr>
          <p:cNvPr id="413" name="TgtBadge"/>
          <p:cNvSpPr/>
          <p:nvPr/>
        </p:nvSpPr>
        <p:spPr>
          <a:xfrm>
            <a:off x="6400800" y="5994400"/>
            <a:ext cx="5054600" cy="406400"/>
          </a:xfrm>
          <a:prstGeom prst="roundRect">
            <a:avLst/>
          </a:prstGeom>
          <a:solidFill>
            <a:srgbClr val="0A7A8E"/>
          </a:solidFill>
          <a:ln>
            <a:noFill/>
          </a:ln>
        </p:spPr>
        <p:txBody>
          <a:bodyPr/>
          <a:lstStyle/>
          <a:p>
            <a:endParaRPr/>
          </a:p>
        </p:txBody>
      </p:sp>
      <p:sp>
        <p:nvSpPr>
          <p:cNvPr id="414" name="TgtBadgeT"/>
          <p:cNvSpPr txBox="1"/>
          <p:nvPr/>
        </p:nvSpPr>
        <p:spPr>
          <a:xfrm>
            <a:off x="6400800" y="5994400"/>
            <a:ext cx="5054600" cy="406400"/>
          </a:xfrm>
          <a:prstGeom prst="rect">
            <a:avLst/>
          </a:prstGeom>
          <a:noFill/>
        </p:spPr>
        <p:txBody>
          <a:bodyPr wrap="square" lIns="50800" tIns="25400" rIns="50800" bIns="25400" anchor="ctr">
            <a:noAutofit/>
          </a:bodyPr>
          <a:lstStyle/>
          <a:p>
            <a:pPr algn="ctr">
              <a:buNone/>
            </a:pPr>
            <a:r>
              <a:rPr lang="en-IN" sz="1100" b="1" dirty="0">
                <a:solidFill>
                  <a:srgbClr val="FFFFFF"/>
                </a:solidFill>
                <a:latin typeface="Calibri"/>
              </a:rPr>
              <a:t>Goal: ~60–70% project completion</a:t>
            </a:r>
          </a:p>
        </p:txBody>
      </p:sp>
      <p:sp>
        <p:nvSpPr>
          <p:cNvPr id="600" name="Chev0"/>
          <p:cNvSpPr/>
          <p:nvPr/>
        </p:nvSpPr>
        <p:spPr>
          <a:xfrm>
            <a:off x="2222500" y="1397000"/>
            <a:ext cx="228600" cy="228600"/>
          </a:xfrm>
          <a:prstGeom prst="chevron">
            <a:avLst/>
          </a:prstGeom>
          <a:solidFill>
            <a:srgbClr val="16223A"/>
          </a:solidFill>
          <a:ln>
            <a:noFill/>
          </a:ln>
        </p:spPr>
        <p:txBody>
          <a:bodyPr/>
          <a:lstStyle/>
          <a:p>
            <a:endParaRPr/>
          </a:p>
        </p:txBody>
      </p:sp>
      <p:sp>
        <p:nvSpPr>
          <p:cNvPr id="601" name="Chev1"/>
          <p:cNvSpPr/>
          <p:nvPr/>
        </p:nvSpPr>
        <p:spPr>
          <a:xfrm>
            <a:off x="4076700" y="1397000"/>
            <a:ext cx="228600" cy="228600"/>
          </a:xfrm>
          <a:prstGeom prst="chevron">
            <a:avLst/>
          </a:prstGeom>
          <a:solidFill>
            <a:srgbClr val="16223A"/>
          </a:solidFill>
          <a:ln>
            <a:noFill/>
          </a:ln>
        </p:spPr>
        <p:txBody>
          <a:bodyPr/>
          <a:lstStyle/>
          <a:p>
            <a:endParaRPr/>
          </a:p>
        </p:txBody>
      </p:sp>
      <p:sp>
        <p:nvSpPr>
          <p:cNvPr id="602" name="Chev2"/>
          <p:cNvSpPr/>
          <p:nvPr/>
        </p:nvSpPr>
        <p:spPr>
          <a:xfrm>
            <a:off x="5930900" y="1397000"/>
            <a:ext cx="228600" cy="228600"/>
          </a:xfrm>
          <a:prstGeom prst="chevron">
            <a:avLst/>
          </a:prstGeom>
          <a:solidFill>
            <a:srgbClr val="16223A"/>
          </a:solidFill>
          <a:ln>
            <a:noFill/>
          </a:ln>
        </p:spPr>
        <p:txBody>
          <a:bodyPr/>
          <a:lstStyle/>
          <a:p>
            <a:endParaRPr/>
          </a:p>
        </p:txBody>
      </p:sp>
      <p:sp>
        <p:nvSpPr>
          <p:cNvPr id="603" name="Chev3"/>
          <p:cNvSpPr/>
          <p:nvPr/>
        </p:nvSpPr>
        <p:spPr>
          <a:xfrm>
            <a:off x="7785100" y="1397000"/>
            <a:ext cx="228600" cy="228600"/>
          </a:xfrm>
          <a:prstGeom prst="chevron">
            <a:avLst/>
          </a:prstGeom>
          <a:solidFill>
            <a:srgbClr val="16223A"/>
          </a:solidFill>
          <a:ln>
            <a:noFill/>
          </a:ln>
        </p:spPr>
        <p:txBody>
          <a:bodyPr/>
          <a:lstStyle/>
          <a:p>
            <a:endParaRPr/>
          </a:p>
        </p:txBody>
      </p:sp>
      <p:sp>
        <p:nvSpPr>
          <p:cNvPr id="604" name="Chev4"/>
          <p:cNvSpPr/>
          <p:nvPr/>
        </p:nvSpPr>
        <p:spPr>
          <a:xfrm>
            <a:off x="9639300" y="1397000"/>
            <a:ext cx="228600" cy="228600"/>
          </a:xfrm>
          <a:prstGeom prst="chevron">
            <a:avLst/>
          </a:prstGeom>
          <a:solidFill>
            <a:srgbClr val="16223A"/>
          </a:solidFill>
          <a:ln>
            <a:noFill/>
          </a:ln>
        </p:spPr>
        <p:txBody>
          <a:bodyPr/>
          <a:lstStyle/>
          <a:p>
            <a:endParaRPr/>
          </a:p>
        </p:txBody>
      </p:sp>
    </p:spTree>
    <p:extLst>
      <p:ext uri="{BB962C8B-B14F-4D97-AF65-F5344CB8AC3E}">
        <p14:creationId xmlns:p14="http://schemas.microsoft.com/office/powerpoint/2010/main" val="3269739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BAC171A-BA13-4D20-B9AF-0C30E18506C1}">
  <we:reference id="wa200010001" version="1.0.0.1" store="en-US" storeType="OMEX"/>
  <we:alternateReferences>
    <we:reference id="wa200010001" version="1.0.0.1" store="en-US" storeType="OMEX"/>
  </we:alternateReferences>
  <we:properties>
    <we:property name="claude.fileId" value="&quot;04626739-5839-4d70-8398-f326990042e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93CA139-346A-433A-B20E-75068D131751}">
  <we:reference id="wa200007130" version="1.0.0.1" store="en-IN"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599</TotalTime>
  <Words>1775</Words>
  <Application>Microsoft Office PowerPoint</Application>
  <PresentationFormat>Widescreen</PresentationFormat>
  <Paragraphs>400</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Snake Robot with Dynamixel Motors</dc:title>
  <dc:subject>PptxGenJS Presentation</dc:subject>
  <dc:creator>SURGE 090</dc:creator>
  <cp:lastModifiedBy>Shashank Jangir</cp:lastModifiedBy>
  <cp:revision>18</cp:revision>
  <dcterms:created xsi:type="dcterms:W3CDTF">2026-06-10T16:14:03Z</dcterms:created>
  <dcterms:modified xsi:type="dcterms:W3CDTF">2026-06-24T09:41:36Z</dcterms:modified>
</cp:coreProperties>
</file>